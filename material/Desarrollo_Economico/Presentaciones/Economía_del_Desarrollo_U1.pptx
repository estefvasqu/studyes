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fanny vasquez" userId="d5a657f96adc8ecf" providerId="LiveId" clId="{98A29601-CF73-4DD9-B5EE-BFDCD35D78FF}"/>
    <pc:docChg chg="modSld">
      <pc:chgData name="estefanny vasquez" userId="d5a657f96adc8ecf" providerId="LiveId" clId="{98A29601-CF73-4DD9-B5EE-BFDCD35D78FF}" dt="2026-05-07T02:06:41.368" v="0" actId="14100"/>
      <pc:docMkLst>
        <pc:docMk/>
      </pc:docMkLst>
      <pc:sldChg chg="modSp mod">
        <pc:chgData name="estefanny vasquez" userId="d5a657f96adc8ecf" providerId="LiveId" clId="{98A29601-CF73-4DD9-B5EE-BFDCD35D78FF}" dt="2026-05-07T02:06:41.368" v="0" actId="14100"/>
        <pc:sldMkLst>
          <pc:docMk/>
          <pc:sldMk cId="0" sldId="258"/>
        </pc:sldMkLst>
        <pc:spChg chg="mod">
          <ac:chgData name="estefanny vasquez" userId="d5a657f96adc8ecf" providerId="LiveId" clId="{98A29601-CF73-4DD9-B5EE-BFDCD35D78FF}" dt="2026-05-07T02:06:41.368" v="0" actId="14100"/>
          <ac:spMkLst>
            <pc:docMk/>
            <pc:sldMk cId="0" sldId="258"/>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691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B"/>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D4A853"/>
          </a:solidFill>
          <a:ln w="12700">
            <a:solidFill>
              <a:srgbClr val="D4A853"/>
            </a:solidFill>
            <a:prstDash val="solid"/>
          </a:ln>
        </p:spPr>
        <p:txBody>
          <a:bodyPr/>
          <a:lstStyle/>
          <a:p>
            <a:endParaRPr lang="es-AR"/>
          </a:p>
        </p:txBody>
      </p:sp>
      <p:sp>
        <p:nvSpPr>
          <p:cNvPr id="3" name="Text 1"/>
          <p:cNvSpPr/>
          <p:nvPr/>
        </p:nvSpPr>
        <p:spPr>
          <a:xfrm>
            <a:off x="640080" y="548640"/>
            <a:ext cx="5486400" cy="182880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Economía</a:t>
            </a:r>
            <a:endParaRPr lang="en-US" sz="4600" dirty="0"/>
          </a:p>
          <a:p>
            <a:pPr marL="0" indent="0">
              <a:buNone/>
            </a:pPr>
            <a:r>
              <a:rPr lang="en-US" sz="4600" b="1" dirty="0">
                <a:solidFill>
                  <a:srgbClr val="FFFFFF"/>
                </a:solidFill>
                <a:latin typeface="Georgia" pitchFamily="34" charset="0"/>
                <a:ea typeface="Georgia" pitchFamily="34" charset="-122"/>
                <a:cs typeface="Georgia" pitchFamily="34" charset="-120"/>
              </a:rPr>
              <a:t>del Desarrollo</a:t>
            </a:r>
            <a:endParaRPr lang="en-US" sz="4600" dirty="0"/>
          </a:p>
        </p:txBody>
      </p:sp>
      <p:sp>
        <p:nvSpPr>
          <p:cNvPr id="4" name="Text 2"/>
          <p:cNvSpPr/>
          <p:nvPr/>
        </p:nvSpPr>
        <p:spPr>
          <a:xfrm>
            <a:off x="640080" y="2514600"/>
            <a:ext cx="5943600" cy="914400"/>
          </a:xfrm>
          <a:prstGeom prst="rect">
            <a:avLst/>
          </a:prstGeom>
          <a:noFill/>
          <a:ln/>
        </p:spPr>
        <p:txBody>
          <a:bodyPr wrap="square" lIns="0" tIns="0" rIns="0" bIns="0" rtlCol="0" anchor="ctr"/>
          <a:lstStyle/>
          <a:p>
            <a:pPr marL="0" indent="0">
              <a:buNone/>
            </a:pPr>
            <a:r>
              <a:rPr lang="en-US" sz="1600" i="1" dirty="0">
                <a:solidFill>
                  <a:srgbClr val="D4A853"/>
                </a:solidFill>
                <a:latin typeface="Calibri" pitchFamily="34" charset="0"/>
                <a:ea typeface="Calibri" pitchFamily="34" charset="-122"/>
                <a:cs typeface="Calibri" pitchFamily="34" charset="-120"/>
              </a:rPr>
              <a:t>U1.1 — Introducción</a:t>
            </a:r>
            <a:endParaRPr lang="en-US" sz="1600" dirty="0"/>
          </a:p>
          <a:p>
            <a:pPr marL="0" indent="0">
              <a:buNone/>
            </a:pPr>
            <a:r>
              <a:rPr lang="en-US" sz="1600" i="1" dirty="0">
                <a:solidFill>
                  <a:srgbClr val="D4A853"/>
                </a:solidFill>
                <a:latin typeface="Calibri" pitchFamily="34" charset="0"/>
                <a:ea typeface="Calibri" pitchFamily="34" charset="-122"/>
                <a:cs typeface="Calibri" pitchFamily="34" charset="-120"/>
              </a:rPr>
              <a:t>U1.2 — Similitudes y diferencias entre países en desarrollo</a:t>
            </a:r>
            <a:endParaRPr lang="en-US" sz="1600" dirty="0"/>
          </a:p>
        </p:txBody>
      </p:sp>
      <p:sp>
        <p:nvSpPr>
          <p:cNvPr id="5" name="Shape 3"/>
          <p:cNvSpPr/>
          <p:nvPr/>
        </p:nvSpPr>
        <p:spPr>
          <a:xfrm>
            <a:off x="640080" y="3474720"/>
            <a:ext cx="5486400" cy="0"/>
          </a:xfrm>
          <a:prstGeom prst="line">
            <a:avLst/>
          </a:prstGeom>
          <a:noFill/>
          <a:ln w="12700">
            <a:solidFill>
              <a:srgbClr val="CBD5E0"/>
            </a:solidFill>
            <a:prstDash val="solid"/>
          </a:ln>
        </p:spPr>
        <p:txBody>
          <a:bodyPr/>
          <a:lstStyle/>
          <a:p>
            <a:endParaRPr lang="es-AR"/>
          </a:p>
        </p:txBody>
      </p:sp>
      <p:sp>
        <p:nvSpPr>
          <p:cNvPr id="6" name="Text 4"/>
          <p:cNvSpPr/>
          <p:nvPr/>
        </p:nvSpPr>
        <p:spPr>
          <a:xfrm>
            <a:off x="640080" y="3611880"/>
            <a:ext cx="640080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Estudio profundo · Preparación para examen · Prof. Jimena Marina Maccio</a:t>
            </a:r>
            <a:endParaRPr lang="en-US" sz="1000" dirty="0"/>
          </a:p>
        </p:txBody>
      </p:sp>
      <p:sp>
        <p:nvSpPr>
          <p:cNvPr id="7" name="Shape 5"/>
          <p:cNvSpPr/>
          <p:nvPr/>
        </p:nvSpPr>
        <p:spPr>
          <a:xfrm>
            <a:off x="7955280" y="457200"/>
            <a:ext cx="1188720" cy="1645920"/>
          </a:xfrm>
          <a:prstGeom prst="rect">
            <a:avLst/>
          </a:prstGeom>
          <a:solidFill>
            <a:srgbClr val="2C5282">
              <a:alpha val="40000"/>
            </a:srgbClr>
          </a:solidFill>
          <a:ln w="12700">
            <a:solidFill>
              <a:srgbClr val="2C5282">
                <a:alpha val="60000"/>
              </a:srgbClr>
            </a:solidFill>
            <a:prstDash val="solid"/>
          </a:ln>
        </p:spPr>
        <p:txBody>
          <a:bodyPr/>
          <a:lstStyle/>
          <a:p>
            <a:endParaRPr lang="es-AR"/>
          </a:p>
        </p:txBody>
      </p:sp>
      <p:sp>
        <p:nvSpPr>
          <p:cNvPr id="8" name="Shape 6"/>
          <p:cNvSpPr/>
          <p:nvPr/>
        </p:nvSpPr>
        <p:spPr>
          <a:xfrm>
            <a:off x="7955280" y="2240280"/>
            <a:ext cx="1188720" cy="1371600"/>
          </a:xfrm>
          <a:prstGeom prst="rect">
            <a:avLst/>
          </a:prstGeom>
          <a:solidFill>
            <a:srgbClr val="2E8B74">
              <a:alpha val="40000"/>
            </a:srgbClr>
          </a:solidFill>
          <a:ln w="12700">
            <a:solidFill>
              <a:srgbClr val="2E8B74">
                <a:alpha val="60000"/>
              </a:srgbClr>
            </a:solidFill>
            <a:prstDash val="solid"/>
          </a:ln>
        </p:spPr>
        <p:txBody>
          <a:bodyPr/>
          <a:lstStyle/>
          <a:p>
            <a:endParaRPr lang="es-AR"/>
          </a:p>
        </p:txBody>
      </p:sp>
      <p:sp>
        <p:nvSpPr>
          <p:cNvPr id="9" name="Shape 7"/>
          <p:cNvSpPr/>
          <p:nvPr/>
        </p:nvSpPr>
        <p:spPr>
          <a:xfrm>
            <a:off x="7955280" y="3749040"/>
            <a:ext cx="1188720" cy="1371600"/>
          </a:xfrm>
          <a:prstGeom prst="rect">
            <a:avLst/>
          </a:prstGeom>
          <a:solidFill>
            <a:srgbClr val="C0533A">
              <a:alpha val="40000"/>
            </a:srgbClr>
          </a:solidFill>
          <a:ln w="12700">
            <a:solidFill>
              <a:srgbClr val="C0533A">
                <a:alpha val="60000"/>
              </a:srgbClr>
            </a:solidFill>
            <a:prstDash val="solid"/>
          </a:ln>
        </p:spPr>
        <p:txBody>
          <a:bodyPr/>
          <a:lstStyle/>
          <a:p>
            <a:endParaRPr lang="es-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Mapa General de la Unidad</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VISIÓN DE CONJUNTO</a:t>
            </a:r>
            <a:endParaRPr lang="en-US" sz="900" dirty="0"/>
          </a:p>
        </p:txBody>
      </p:sp>
      <p:sp>
        <p:nvSpPr>
          <p:cNvPr id="7" name="Shape 5"/>
          <p:cNvSpPr/>
          <p:nvPr/>
        </p:nvSpPr>
        <p:spPr>
          <a:xfrm>
            <a:off x="365760" y="1005840"/>
            <a:ext cx="4160520" cy="3749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4160520" cy="384048"/>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502920" y="1042416"/>
            <a:ext cx="384048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U1.1 — Introducción</a:t>
            </a:r>
            <a:endParaRPr lang="en-US" sz="1300" dirty="0"/>
          </a:p>
        </p:txBody>
      </p:sp>
      <p:sp>
        <p:nvSpPr>
          <p:cNvPr id="10" name="Text 8"/>
          <p:cNvSpPr/>
          <p:nvPr/>
        </p:nvSpPr>
        <p:spPr>
          <a:xfrm>
            <a:off x="548640" y="1481328"/>
            <a:ext cx="3749040" cy="420624"/>
          </a:xfrm>
          <a:prstGeom prst="rect">
            <a:avLst/>
          </a:prstGeom>
          <a:noFill/>
          <a:ln/>
        </p:spPr>
        <p:txBody>
          <a:bodyPr wrap="square" lIns="0" tIns="0" rIns="0" bIns="0" rtlCol="0" anchor="ctr"/>
          <a:lstStyle/>
          <a:p>
            <a:pPr marL="0" indent="0">
              <a:buNone/>
            </a:pPr>
            <a:r>
              <a:rPr lang="en-US" sz="1200" b="1" dirty="0">
                <a:solidFill>
                  <a:srgbClr val="2C5282"/>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¿Qué es el desarrollo económico?</a:t>
            </a:r>
            <a:endParaRPr lang="en-US" sz="1200" dirty="0"/>
          </a:p>
        </p:txBody>
      </p:sp>
      <p:sp>
        <p:nvSpPr>
          <p:cNvPr id="11" name="Text 9"/>
          <p:cNvSpPr/>
          <p:nvPr/>
        </p:nvSpPr>
        <p:spPr>
          <a:xfrm>
            <a:off x="548640" y="1975104"/>
            <a:ext cx="3749040" cy="420624"/>
          </a:xfrm>
          <a:prstGeom prst="rect">
            <a:avLst/>
          </a:prstGeom>
          <a:noFill/>
          <a:ln/>
        </p:spPr>
        <p:txBody>
          <a:bodyPr wrap="square" lIns="0" tIns="0" rIns="0" bIns="0" rtlCol="0" anchor="ctr"/>
          <a:lstStyle/>
          <a:p>
            <a:pPr marL="0" indent="0">
              <a:buNone/>
            </a:pPr>
            <a:r>
              <a:rPr lang="en-US" sz="1200" b="1" dirty="0">
                <a:solidFill>
                  <a:srgbClr val="2C5282"/>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Economía del desarrollo vs. economía tradicional</a:t>
            </a:r>
            <a:endParaRPr lang="en-US" sz="1200" dirty="0"/>
          </a:p>
        </p:txBody>
      </p:sp>
      <p:sp>
        <p:nvSpPr>
          <p:cNvPr id="12" name="Text 10"/>
          <p:cNvSpPr/>
          <p:nvPr/>
        </p:nvSpPr>
        <p:spPr>
          <a:xfrm>
            <a:off x="548640" y="2468880"/>
            <a:ext cx="3749040" cy="420624"/>
          </a:xfrm>
          <a:prstGeom prst="rect">
            <a:avLst/>
          </a:prstGeom>
          <a:noFill/>
          <a:ln/>
        </p:spPr>
        <p:txBody>
          <a:bodyPr wrap="square" lIns="0" tIns="0" rIns="0" bIns="0" rtlCol="0" anchor="ctr"/>
          <a:lstStyle/>
          <a:p>
            <a:pPr marL="0" indent="0">
              <a:buNone/>
            </a:pPr>
            <a:r>
              <a:rPr lang="en-US" sz="1200" b="1" dirty="0">
                <a:solidFill>
                  <a:srgbClr val="2C5282"/>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Evolución histórica del concepto</a:t>
            </a:r>
            <a:endParaRPr lang="en-US" sz="1200" dirty="0"/>
          </a:p>
        </p:txBody>
      </p:sp>
      <p:sp>
        <p:nvSpPr>
          <p:cNvPr id="13" name="Text 11"/>
          <p:cNvSpPr/>
          <p:nvPr/>
        </p:nvSpPr>
        <p:spPr>
          <a:xfrm>
            <a:off x="548640" y="2962656"/>
            <a:ext cx="3749040" cy="420624"/>
          </a:xfrm>
          <a:prstGeom prst="rect">
            <a:avLst/>
          </a:prstGeom>
          <a:noFill/>
          <a:ln/>
        </p:spPr>
        <p:txBody>
          <a:bodyPr wrap="square" lIns="0" tIns="0" rIns="0" bIns="0" rtlCol="0" anchor="ctr"/>
          <a:lstStyle/>
          <a:p>
            <a:pPr marL="0" indent="0">
              <a:buNone/>
            </a:pPr>
            <a:r>
              <a:rPr lang="en-US" sz="1200" b="1" dirty="0">
                <a:solidFill>
                  <a:srgbClr val="2C5282"/>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Consenso de Washington</a:t>
            </a:r>
            <a:endParaRPr lang="en-US" sz="1200" dirty="0"/>
          </a:p>
        </p:txBody>
      </p:sp>
      <p:sp>
        <p:nvSpPr>
          <p:cNvPr id="14" name="Text 12"/>
          <p:cNvSpPr/>
          <p:nvPr/>
        </p:nvSpPr>
        <p:spPr>
          <a:xfrm>
            <a:off x="548640" y="3456432"/>
            <a:ext cx="3749040" cy="420624"/>
          </a:xfrm>
          <a:prstGeom prst="rect">
            <a:avLst/>
          </a:prstGeom>
          <a:noFill/>
          <a:ln/>
        </p:spPr>
        <p:txBody>
          <a:bodyPr wrap="square" lIns="0" tIns="0" rIns="0" bIns="0" rtlCol="0" anchor="ctr"/>
          <a:lstStyle/>
          <a:p>
            <a:pPr marL="0" indent="0">
              <a:buNone/>
            </a:pPr>
            <a:r>
              <a:rPr lang="en-US" sz="1200" b="1" dirty="0">
                <a:solidFill>
                  <a:srgbClr val="2C5282"/>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Enfoques de bienestar</a:t>
            </a:r>
            <a:endParaRPr lang="en-US" sz="1200" dirty="0"/>
          </a:p>
        </p:txBody>
      </p:sp>
      <p:sp>
        <p:nvSpPr>
          <p:cNvPr id="15" name="Shape 13"/>
          <p:cNvSpPr/>
          <p:nvPr/>
        </p:nvSpPr>
        <p:spPr>
          <a:xfrm>
            <a:off x="4846320" y="1005840"/>
            <a:ext cx="4160520" cy="3749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6" name="Shape 14"/>
          <p:cNvSpPr/>
          <p:nvPr/>
        </p:nvSpPr>
        <p:spPr>
          <a:xfrm>
            <a:off x="4846320" y="1005840"/>
            <a:ext cx="4160520" cy="384048"/>
          </a:xfrm>
          <a:prstGeom prst="rect">
            <a:avLst/>
          </a:prstGeom>
          <a:solidFill>
            <a:srgbClr val="2E8B74"/>
          </a:solidFill>
          <a:ln w="12700">
            <a:solidFill>
              <a:srgbClr val="2E8B74"/>
            </a:solidFill>
            <a:prstDash val="solid"/>
          </a:ln>
        </p:spPr>
        <p:txBody>
          <a:bodyPr/>
          <a:lstStyle/>
          <a:p>
            <a:endParaRPr lang="es-AR"/>
          </a:p>
        </p:txBody>
      </p:sp>
      <p:sp>
        <p:nvSpPr>
          <p:cNvPr id="17" name="Text 15"/>
          <p:cNvSpPr/>
          <p:nvPr/>
        </p:nvSpPr>
        <p:spPr>
          <a:xfrm>
            <a:off x="4983480" y="1042416"/>
            <a:ext cx="384048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U1.2 — Similitudes y diferencias</a:t>
            </a:r>
            <a:endParaRPr lang="en-US" sz="1300" dirty="0"/>
          </a:p>
        </p:txBody>
      </p:sp>
      <p:sp>
        <p:nvSpPr>
          <p:cNvPr id="18" name="Text 16"/>
          <p:cNvSpPr/>
          <p:nvPr/>
        </p:nvSpPr>
        <p:spPr>
          <a:xfrm>
            <a:off x="5029200" y="1481328"/>
            <a:ext cx="3749040" cy="420624"/>
          </a:xfrm>
          <a:prstGeom prst="rect">
            <a:avLst/>
          </a:prstGeom>
          <a:noFill/>
          <a:ln/>
        </p:spPr>
        <p:txBody>
          <a:bodyPr wrap="square" lIns="0" tIns="0" rIns="0" bIns="0" rtlCol="0" anchor="ctr"/>
          <a:lstStyle/>
          <a:p>
            <a:pPr marL="0" indent="0">
              <a:buNone/>
            </a:pPr>
            <a:r>
              <a:rPr lang="en-US" sz="1200" b="1" dirty="0">
                <a:solidFill>
                  <a:srgbClr val="2E8B74"/>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Diversidad entre países en desarrollo</a:t>
            </a:r>
            <a:endParaRPr lang="en-US" sz="1200" dirty="0"/>
          </a:p>
        </p:txBody>
      </p:sp>
      <p:sp>
        <p:nvSpPr>
          <p:cNvPr id="19" name="Text 17"/>
          <p:cNvSpPr/>
          <p:nvPr/>
        </p:nvSpPr>
        <p:spPr>
          <a:xfrm>
            <a:off x="5029200" y="1975104"/>
            <a:ext cx="3749040" cy="420624"/>
          </a:xfrm>
          <a:prstGeom prst="rect">
            <a:avLst/>
          </a:prstGeom>
          <a:noFill/>
          <a:ln/>
        </p:spPr>
        <p:txBody>
          <a:bodyPr wrap="square" lIns="0" tIns="0" rIns="0" bIns="0" rtlCol="0" anchor="ctr"/>
          <a:lstStyle/>
          <a:p>
            <a:pPr marL="0" indent="0">
              <a:buNone/>
            </a:pPr>
            <a:r>
              <a:rPr lang="en-US" sz="1200" b="1" dirty="0">
                <a:solidFill>
                  <a:srgbClr val="2E8B74"/>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Dimensiones del desarrollo</a:t>
            </a:r>
            <a:endParaRPr lang="en-US" sz="1200" dirty="0"/>
          </a:p>
        </p:txBody>
      </p:sp>
      <p:sp>
        <p:nvSpPr>
          <p:cNvPr id="20" name="Text 18"/>
          <p:cNvSpPr/>
          <p:nvPr/>
        </p:nvSpPr>
        <p:spPr>
          <a:xfrm>
            <a:off x="5029200" y="2468880"/>
            <a:ext cx="3749040" cy="420624"/>
          </a:xfrm>
          <a:prstGeom prst="rect">
            <a:avLst/>
          </a:prstGeom>
          <a:noFill/>
          <a:ln/>
        </p:spPr>
        <p:txBody>
          <a:bodyPr wrap="square" lIns="0" tIns="0" rIns="0" bIns="0" rtlCol="0" anchor="ctr"/>
          <a:lstStyle/>
          <a:p>
            <a:pPr marL="0" indent="0">
              <a:buNone/>
            </a:pPr>
            <a:r>
              <a:rPr lang="en-US" sz="1200" b="1" dirty="0">
                <a:solidFill>
                  <a:srgbClr val="2E8B74"/>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Características estructurales demográficas</a:t>
            </a:r>
            <a:endParaRPr lang="en-US" sz="1200" dirty="0"/>
          </a:p>
        </p:txBody>
      </p:sp>
      <p:sp>
        <p:nvSpPr>
          <p:cNvPr id="21" name="Text 19"/>
          <p:cNvSpPr/>
          <p:nvPr/>
        </p:nvSpPr>
        <p:spPr>
          <a:xfrm>
            <a:off x="5029200" y="2962656"/>
            <a:ext cx="3749040" cy="420624"/>
          </a:xfrm>
          <a:prstGeom prst="rect">
            <a:avLst/>
          </a:prstGeom>
          <a:noFill/>
          <a:ln/>
        </p:spPr>
        <p:txBody>
          <a:bodyPr wrap="square" lIns="0" tIns="0" rIns="0" bIns="0" rtlCol="0" anchor="ctr"/>
          <a:lstStyle/>
          <a:p>
            <a:pPr marL="0" indent="0">
              <a:buNone/>
            </a:pPr>
            <a:r>
              <a:rPr lang="en-US" sz="1200" b="1" dirty="0">
                <a:solidFill>
                  <a:srgbClr val="2E8B74"/>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Estructura productiva y migración</a:t>
            </a:r>
            <a:endParaRPr lang="en-US" sz="1200" dirty="0"/>
          </a:p>
        </p:txBody>
      </p:sp>
      <p:sp>
        <p:nvSpPr>
          <p:cNvPr id="22" name="Text 20"/>
          <p:cNvSpPr/>
          <p:nvPr/>
        </p:nvSpPr>
        <p:spPr>
          <a:xfrm>
            <a:off x="5029200" y="3456432"/>
            <a:ext cx="3749040" cy="420624"/>
          </a:xfrm>
          <a:prstGeom prst="rect">
            <a:avLst/>
          </a:prstGeom>
          <a:noFill/>
          <a:ln/>
        </p:spPr>
        <p:txBody>
          <a:bodyPr wrap="square" lIns="0" tIns="0" rIns="0" bIns="0" rtlCol="0" anchor="ctr"/>
          <a:lstStyle/>
          <a:p>
            <a:pPr marL="0" indent="0">
              <a:buNone/>
            </a:pPr>
            <a:r>
              <a:rPr lang="en-US" sz="1200" b="1" dirty="0">
                <a:solidFill>
                  <a:srgbClr val="2E8B74"/>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Heterogeneidad estructural</a:t>
            </a:r>
            <a:endParaRPr lang="en-US" sz="1200" dirty="0"/>
          </a:p>
        </p:txBody>
      </p:sp>
      <p:sp>
        <p:nvSpPr>
          <p:cNvPr id="23" name="Text 21"/>
          <p:cNvSpPr/>
          <p:nvPr/>
        </p:nvSpPr>
        <p:spPr>
          <a:xfrm>
            <a:off x="5029200" y="3950208"/>
            <a:ext cx="3749040" cy="420624"/>
          </a:xfrm>
          <a:prstGeom prst="rect">
            <a:avLst/>
          </a:prstGeom>
          <a:noFill/>
          <a:ln/>
        </p:spPr>
        <p:txBody>
          <a:bodyPr wrap="square" lIns="0" tIns="0" rIns="0" bIns="0" rtlCol="0" anchor="ctr"/>
          <a:lstStyle/>
          <a:p>
            <a:pPr marL="0" indent="0">
              <a:buNone/>
            </a:pPr>
            <a:r>
              <a:rPr lang="en-US" sz="1200" b="1" dirty="0">
                <a:solidFill>
                  <a:srgbClr val="2E8B74"/>
                </a:solidFill>
                <a:latin typeface="Calibri" pitchFamily="34" charset="0"/>
                <a:ea typeface="Calibri" pitchFamily="34" charset="-122"/>
                <a:cs typeface="Calibri" pitchFamily="34" charset="-120"/>
              </a:rPr>
              <a:t>▸  </a:t>
            </a:r>
            <a:r>
              <a:rPr lang="en-US" sz="1200" dirty="0">
                <a:solidFill>
                  <a:srgbClr val="1A202C"/>
                </a:solidFill>
                <a:latin typeface="Calibri" pitchFamily="34" charset="0"/>
                <a:ea typeface="Calibri" pitchFamily="34" charset="-122"/>
                <a:cs typeface="Calibri" pitchFamily="34" charset="-120"/>
              </a:rPr>
              <a:t>Problemas comunes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528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731520" y="822960"/>
            <a:ext cx="7680960" cy="182880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¿Por qué algunos países son ricos</a:t>
            </a:r>
            <a:endParaRPr lang="en-US" sz="3400" dirty="0"/>
          </a:p>
          <a:p>
            <a:pPr marL="0" indent="0" algn="ctr">
              <a:buNone/>
            </a:pPr>
            <a:r>
              <a:rPr lang="en-US" sz="3400" b="1" dirty="0">
                <a:solidFill>
                  <a:srgbClr val="FFFFFF"/>
                </a:solidFill>
                <a:latin typeface="Georgia" pitchFamily="34" charset="0"/>
                <a:ea typeface="Georgia" pitchFamily="34" charset="-122"/>
                <a:cs typeface="Georgia" pitchFamily="34" charset="-120"/>
              </a:rPr>
              <a:t>y otros siguen siendo pobres?</a:t>
            </a:r>
            <a:endParaRPr lang="en-US" sz="3400" dirty="0"/>
          </a:p>
        </p:txBody>
      </p:sp>
      <p:sp>
        <p:nvSpPr>
          <p:cNvPr id="5" name="Shape 3"/>
          <p:cNvSpPr/>
          <p:nvPr/>
        </p:nvSpPr>
        <p:spPr>
          <a:xfrm>
            <a:off x="1828800" y="2743200"/>
            <a:ext cx="5486400" cy="0"/>
          </a:xfrm>
          <a:prstGeom prst="line">
            <a:avLst/>
          </a:prstGeom>
          <a:noFill/>
          <a:ln w="25400">
            <a:solidFill>
              <a:srgbClr val="D4A853"/>
            </a:solidFill>
            <a:prstDash val="solid"/>
          </a:ln>
        </p:spPr>
        <p:txBody>
          <a:bodyPr/>
          <a:lstStyle/>
          <a:p>
            <a:endParaRPr lang="es-AR"/>
          </a:p>
        </p:txBody>
      </p:sp>
      <p:sp>
        <p:nvSpPr>
          <p:cNvPr id="6" name="Text 4"/>
          <p:cNvSpPr/>
          <p:nvPr/>
        </p:nvSpPr>
        <p:spPr>
          <a:xfrm>
            <a:off x="731520" y="2880360"/>
            <a:ext cx="7680960" cy="914400"/>
          </a:xfrm>
          <a:prstGeom prst="rect">
            <a:avLst/>
          </a:prstGeom>
          <a:noFill/>
          <a:ln/>
        </p:spPr>
        <p:txBody>
          <a:bodyPr wrap="square" lIns="0" tIns="0" rIns="0" bIns="0" rtlCol="0" anchor="ctr"/>
          <a:lstStyle/>
          <a:p>
            <a:pPr marL="0" indent="0" algn="ctr">
              <a:buNone/>
            </a:pPr>
            <a:r>
              <a:rPr lang="en-US" sz="1400" i="1" dirty="0">
                <a:solidFill>
                  <a:srgbClr val="EDF2F7"/>
                </a:solidFill>
                <a:latin typeface="Calibri" pitchFamily="34" charset="0"/>
                <a:ea typeface="Calibri" pitchFamily="34" charset="-122"/>
                <a:cs typeface="Calibri" pitchFamily="34" charset="-120"/>
              </a:rPr>
              <a:t>Esta pregunta es el motor de toda la materia.</a:t>
            </a:r>
            <a:endParaRPr lang="en-US" sz="1400" dirty="0"/>
          </a:p>
          <a:p>
            <a:pPr marL="0" indent="0" algn="ctr">
              <a:buNone/>
            </a:pPr>
            <a:r>
              <a:rPr lang="en-US" sz="1400" i="1" dirty="0">
                <a:solidFill>
                  <a:srgbClr val="EDF2F7"/>
                </a:solidFill>
                <a:latin typeface="Calibri" pitchFamily="34" charset="0"/>
                <a:ea typeface="Calibri" pitchFamily="34" charset="-122"/>
                <a:cs typeface="Calibri" pitchFamily="34" charset="-120"/>
              </a:rPr>
              <a:t>Lucas (1988) la definió como el problema fundamental del desarrollo económico.</a:t>
            </a:r>
            <a:endParaRPr lang="en-US" sz="1400" dirty="0"/>
          </a:p>
        </p:txBody>
      </p:sp>
      <p:sp>
        <p:nvSpPr>
          <p:cNvPr id="7" name="Shape 5"/>
          <p:cNvSpPr/>
          <p:nvPr/>
        </p:nvSpPr>
        <p:spPr>
          <a:xfrm>
            <a:off x="1188720" y="4023360"/>
            <a:ext cx="1184148" cy="201168"/>
          </a:xfrm>
          <a:prstGeom prst="rect">
            <a:avLst/>
          </a:prstGeom>
          <a:solidFill>
            <a:srgbClr val="D4A853"/>
          </a:solidFill>
          <a:ln w="12700">
            <a:solidFill>
              <a:srgbClr val="D4A853"/>
            </a:solidFill>
            <a:prstDash val="solid"/>
          </a:ln>
        </p:spPr>
        <p:txBody>
          <a:bodyPr/>
          <a:lstStyle/>
          <a:p>
            <a:endParaRPr lang="es-AR"/>
          </a:p>
        </p:txBody>
      </p:sp>
      <p:sp>
        <p:nvSpPr>
          <p:cNvPr id="8" name="Text 6"/>
          <p:cNvSpPr/>
          <p:nvPr/>
        </p:nvSpPr>
        <p:spPr>
          <a:xfrm>
            <a:off x="1280160" y="4041648"/>
            <a:ext cx="1001268"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Crecimiento</a:t>
            </a:r>
            <a:endParaRPr lang="en-US" sz="800" dirty="0"/>
          </a:p>
        </p:txBody>
      </p:sp>
      <p:sp>
        <p:nvSpPr>
          <p:cNvPr id="9" name="Shape 7"/>
          <p:cNvSpPr/>
          <p:nvPr/>
        </p:nvSpPr>
        <p:spPr>
          <a:xfrm>
            <a:off x="2560320" y="4023360"/>
            <a:ext cx="1184148" cy="201168"/>
          </a:xfrm>
          <a:prstGeom prst="rect">
            <a:avLst/>
          </a:prstGeom>
          <a:solidFill>
            <a:srgbClr val="D4A853"/>
          </a:solidFill>
          <a:ln w="12700">
            <a:solidFill>
              <a:srgbClr val="D4A853"/>
            </a:solidFill>
            <a:prstDash val="solid"/>
          </a:ln>
        </p:spPr>
        <p:txBody>
          <a:bodyPr/>
          <a:lstStyle/>
          <a:p>
            <a:endParaRPr lang="es-AR"/>
          </a:p>
        </p:txBody>
      </p:sp>
      <p:sp>
        <p:nvSpPr>
          <p:cNvPr id="10" name="Text 8"/>
          <p:cNvSpPr/>
          <p:nvPr/>
        </p:nvSpPr>
        <p:spPr>
          <a:xfrm>
            <a:off x="2651760" y="4041648"/>
            <a:ext cx="1001268"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Desigualdad</a:t>
            </a:r>
            <a:endParaRPr lang="en-US" sz="800" dirty="0"/>
          </a:p>
        </p:txBody>
      </p:sp>
      <p:sp>
        <p:nvSpPr>
          <p:cNvPr id="11" name="Shape 9"/>
          <p:cNvSpPr/>
          <p:nvPr/>
        </p:nvSpPr>
        <p:spPr>
          <a:xfrm>
            <a:off x="3931920" y="4023360"/>
            <a:ext cx="1094252" cy="201168"/>
          </a:xfrm>
          <a:prstGeom prst="rect">
            <a:avLst/>
          </a:prstGeom>
          <a:solidFill>
            <a:srgbClr val="D4A853"/>
          </a:solidFill>
          <a:ln w="12700">
            <a:solidFill>
              <a:srgbClr val="D4A853"/>
            </a:solidFill>
            <a:prstDash val="solid"/>
          </a:ln>
        </p:spPr>
        <p:txBody>
          <a:bodyPr/>
          <a:lstStyle/>
          <a:p>
            <a:endParaRPr lang="es-AR"/>
          </a:p>
        </p:txBody>
      </p:sp>
      <p:sp>
        <p:nvSpPr>
          <p:cNvPr id="12" name="Text 10"/>
          <p:cNvSpPr/>
          <p:nvPr/>
        </p:nvSpPr>
        <p:spPr>
          <a:xfrm>
            <a:off x="4023360" y="4041648"/>
            <a:ext cx="1175004"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Instituciones</a:t>
            </a:r>
            <a:endParaRPr lang="en-US" sz="800" dirty="0"/>
          </a:p>
        </p:txBody>
      </p:sp>
      <p:sp>
        <p:nvSpPr>
          <p:cNvPr id="13" name="Shape 11"/>
          <p:cNvSpPr/>
          <p:nvPr/>
        </p:nvSpPr>
        <p:spPr>
          <a:xfrm>
            <a:off x="5303520" y="4023360"/>
            <a:ext cx="1010412" cy="201168"/>
          </a:xfrm>
          <a:prstGeom prst="rect">
            <a:avLst/>
          </a:prstGeom>
          <a:solidFill>
            <a:srgbClr val="D4A853"/>
          </a:solidFill>
          <a:ln w="12700">
            <a:solidFill>
              <a:srgbClr val="D4A853"/>
            </a:solidFill>
            <a:prstDash val="solid"/>
          </a:ln>
        </p:spPr>
        <p:txBody>
          <a:bodyPr/>
          <a:lstStyle/>
          <a:p>
            <a:endParaRPr lang="es-AR"/>
          </a:p>
        </p:txBody>
      </p:sp>
      <p:sp>
        <p:nvSpPr>
          <p:cNvPr id="14" name="Text 12"/>
          <p:cNvSpPr/>
          <p:nvPr/>
        </p:nvSpPr>
        <p:spPr>
          <a:xfrm>
            <a:off x="5394960" y="4041648"/>
            <a:ext cx="827532"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Políticas</a:t>
            </a:r>
            <a:endParaRPr lang="en-US" sz="800" dirty="0"/>
          </a:p>
        </p:txBody>
      </p:sp>
      <p:sp>
        <p:nvSpPr>
          <p:cNvPr id="15" name="Shape 13"/>
          <p:cNvSpPr/>
          <p:nvPr/>
        </p:nvSpPr>
        <p:spPr>
          <a:xfrm>
            <a:off x="6675120" y="4023360"/>
            <a:ext cx="1184148" cy="201168"/>
          </a:xfrm>
          <a:prstGeom prst="rect">
            <a:avLst/>
          </a:prstGeom>
          <a:solidFill>
            <a:srgbClr val="D4A853"/>
          </a:solidFill>
          <a:ln w="12700">
            <a:solidFill>
              <a:srgbClr val="D4A853"/>
            </a:solidFill>
            <a:prstDash val="solid"/>
          </a:ln>
        </p:spPr>
        <p:txBody>
          <a:bodyPr/>
          <a:lstStyle/>
          <a:p>
            <a:endParaRPr lang="es-AR"/>
          </a:p>
        </p:txBody>
      </p:sp>
      <p:sp>
        <p:nvSpPr>
          <p:cNvPr id="16" name="Text 14"/>
          <p:cNvSpPr/>
          <p:nvPr/>
        </p:nvSpPr>
        <p:spPr>
          <a:xfrm>
            <a:off x="6766560" y="4041648"/>
            <a:ext cx="1001268"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Estructuras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¿Qué es el Desarrollo Económico?</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U1.1 — DEFINICIÓN CENTRAL</a:t>
            </a:r>
            <a:endParaRPr lang="en-US" sz="900" dirty="0"/>
          </a:p>
        </p:txBody>
      </p:sp>
      <p:sp>
        <p:nvSpPr>
          <p:cNvPr id="7" name="Shape 5"/>
          <p:cNvSpPr/>
          <p:nvPr/>
        </p:nvSpPr>
        <p:spPr>
          <a:xfrm>
            <a:off x="365760" y="1005840"/>
            <a:ext cx="8412480" cy="9601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960120"/>
          </a:xfrm>
          <a:prstGeom prst="rect">
            <a:avLst/>
          </a:prstGeom>
          <a:solidFill>
            <a:srgbClr val="D4A853"/>
          </a:solidFill>
          <a:ln w="12700">
            <a:solidFill>
              <a:srgbClr val="D4A853"/>
            </a:solidFill>
            <a:prstDash val="solid"/>
          </a:ln>
        </p:spPr>
        <p:txBody>
          <a:bodyPr/>
          <a:lstStyle/>
          <a:p>
            <a:endParaRPr lang="es-AR"/>
          </a:p>
        </p:txBody>
      </p:sp>
      <p:sp>
        <p:nvSpPr>
          <p:cNvPr id="9" name="Text 7"/>
          <p:cNvSpPr/>
          <p:nvPr/>
        </p:nvSpPr>
        <p:spPr>
          <a:xfrm>
            <a:off x="548640" y="1051560"/>
            <a:ext cx="8046720" cy="82296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El desarrollo económico NO tiene una definición única ni neutral. Es un concepto en disputa permanente que involucra preguntas valorativas sobre qué cuenta como bienestar y qué sociedad queremos construir.</a:t>
            </a:r>
            <a:endParaRPr lang="en-US" sz="1250" dirty="0"/>
          </a:p>
        </p:txBody>
      </p:sp>
      <p:sp>
        <p:nvSpPr>
          <p:cNvPr id="10" name="Shape 8"/>
          <p:cNvSpPr/>
          <p:nvPr/>
        </p:nvSpPr>
        <p:spPr>
          <a:xfrm>
            <a:off x="365760" y="2103120"/>
            <a:ext cx="2651760" cy="2606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365760" y="2103120"/>
            <a:ext cx="2651760" cy="347472"/>
          </a:xfrm>
          <a:prstGeom prst="rect">
            <a:avLst/>
          </a:prstGeom>
          <a:solidFill>
            <a:srgbClr val="2C5282"/>
          </a:solidFill>
          <a:ln w="12700">
            <a:solidFill>
              <a:srgbClr val="2C5282"/>
            </a:solidFill>
            <a:prstDash val="solid"/>
          </a:ln>
        </p:spPr>
        <p:txBody>
          <a:bodyPr/>
          <a:lstStyle/>
          <a:p>
            <a:endParaRPr lang="es-AR"/>
          </a:p>
        </p:txBody>
      </p:sp>
      <p:sp>
        <p:nvSpPr>
          <p:cNvPr id="12" name="Text 10"/>
          <p:cNvSpPr/>
          <p:nvPr/>
        </p:nvSpPr>
        <p:spPr>
          <a:xfrm>
            <a:off x="457200" y="2130552"/>
            <a:ext cx="2468880" cy="292608"/>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Lucas (1988)</a:t>
            </a:r>
            <a:endParaRPr lang="en-US" sz="1200" dirty="0"/>
          </a:p>
        </p:txBody>
      </p:sp>
      <p:sp>
        <p:nvSpPr>
          <p:cNvPr id="13" name="Text 11"/>
          <p:cNvSpPr/>
          <p:nvPr/>
        </p:nvSpPr>
        <p:spPr>
          <a:xfrm>
            <a:off x="475488" y="2505456"/>
            <a:ext cx="2432304" cy="173736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Explicar las diferencias en el ingreso per cápita y sus tasas de crecimiento entre países a lo largo del tiempo.</a:t>
            </a:r>
            <a:endParaRPr lang="en-US" sz="1050" dirty="0"/>
          </a:p>
        </p:txBody>
      </p:sp>
      <p:sp>
        <p:nvSpPr>
          <p:cNvPr id="14" name="Shape 12"/>
          <p:cNvSpPr/>
          <p:nvPr/>
        </p:nvSpPr>
        <p:spPr>
          <a:xfrm>
            <a:off x="475488" y="4526280"/>
            <a:ext cx="1965960" cy="201168"/>
          </a:xfrm>
          <a:prstGeom prst="rect">
            <a:avLst/>
          </a:prstGeom>
          <a:solidFill>
            <a:srgbClr val="2C5282"/>
          </a:solidFill>
          <a:ln w="12700">
            <a:solidFill>
              <a:srgbClr val="2C5282"/>
            </a:solidFill>
            <a:prstDash val="solid"/>
          </a:ln>
        </p:spPr>
        <p:txBody>
          <a:bodyPr/>
          <a:lstStyle/>
          <a:p>
            <a:endParaRPr lang="es-AR"/>
          </a:p>
        </p:txBody>
      </p:sp>
      <p:sp>
        <p:nvSpPr>
          <p:cNvPr id="15" name="Text 13"/>
          <p:cNvSpPr/>
          <p:nvPr/>
        </p:nvSpPr>
        <p:spPr>
          <a:xfrm>
            <a:off x="566928" y="4544568"/>
            <a:ext cx="1783080"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Enfoque cuantitativo</a:t>
            </a:r>
            <a:endParaRPr lang="en-US" sz="800" dirty="0"/>
          </a:p>
        </p:txBody>
      </p:sp>
      <p:sp>
        <p:nvSpPr>
          <p:cNvPr id="16" name="Shape 14"/>
          <p:cNvSpPr/>
          <p:nvPr/>
        </p:nvSpPr>
        <p:spPr>
          <a:xfrm>
            <a:off x="3246120" y="2103120"/>
            <a:ext cx="2651760" cy="2606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7" name="Shape 15"/>
          <p:cNvSpPr/>
          <p:nvPr/>
        </p:nvSpPr>
        <p:spPr>
          <a:xfrm>
            <a:off x="3246120" y="2103120"/>
            <a:ext cx="2651760" cy="347472"/>
          </a:xfrm>
          <a:prstGeom prst="rect">
            <a:avLst/>
          </a:prstGeom>
          <a:solidFill>
            <a:srgbClr val="2E8B74"/>
          </a:solidFill>
          <a:ln w="12700">
            <a:solidFill>
              <a:srgbClr val="2E8B74"/>
            </a:solidFill>
            <a:prstDash val="solid"/>
          </a:ln>
        </p:spPr>
        <p:txBody>
          <a:bodyPr/>
          <a:lstStyle/>
          <a:p>
            <a:endParaRPr lang="es-AR"/>
          </a:p>
        </p:txBody>
      </p:sp>
      <p:sp>
        <p:nvSpPr>
          <p:cNvPr id="18" name="Text 16"/>
          <p:cNvSpPr/>
          <p:nvPr/>
        </p:nvSpPr>
        <p:spPr>
          <a:xfrm>
            <a:off x="3337560" y="2130552"/>
            <a:ext cx="2468880" cy="292608"/>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Todaro</a:t>
            </a:r>
            <a:endParaRPr lang="en-US" sz="1200" dirty="0"/>
          </a:p>
        </p:txBody>
      </p:sp>
      <p:sp>
        <p:nvSpPr>
          <p:cNvPr id="19" name="Text 17"/>
          <p:cNvSpPr/>
          <p:nvPr/>
        </p:nvSpPr>
        <p:spPr>
          <a:xfrm>
            <a:off x="3355848" y="2505456"/>
            <a:ext cx="2432304" cy="173736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Proceso físico y mental por el cual una sociedad logra un mejor nivel de vida combinando procesos económicos, sociales e institucionales.</a:t>
            </a:r>
            <a:endParaRPr lang="en-US" sz="1050" dirty="0"/>
          </a:p>
        </p:txBody>
      </p:sp>
      <p:sp>
        <p:nvSpPr>
          <p:cNvPr id="20" name="Shape 18"/>
          <p:cNvSpPr/>
          <p:nvPr/>
        </p:nvSpPr>
        <p:spPr>
          <a:xfrm>
            <a:off x="3355848" y="4526280"/>
            <a:ext cx="1618488" cy="201168"/>
          </a:xfrm>
          <a:prstGeom prst="rect">
            <a:avLst/>
          </a:prstGeom>
          <a:solidFill>
            <a:srgbClr val="2E8B74"/>
          </a:solidFill>
          <a:ln w="12700">
            <a:solidFill>
              <a:srgbClr val="2E8B74"/>
            </a:solidFill>
            <a:prstDash val="solid"/>
          </a:ln>
        </p:spPr>
        <p:txBody>
          <a:bodyPr/>
          <a:lstStyle/>
          <a:p>
            <a:endParaRPr lang="es-AR"/>
          </a:p>
        </p:txBody>
      </p:sp>
      <p:sp>
        <p:nvSpPr>
          <p:cNvPr id="21" name="Text 19"/>
          <p:cNvSpPr/>
          <p:nvPr/>
        </p:nvSpPr>
        <p:spPr>
          <a:xfrm>
            <a:off x="3447288" y="4544568"/>
            <a:ext cx="1435608"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Enfoque integral</a:t>
            </a:r>
            <a:endParaRPr lang="en-US" sz="800" dirty="0"/>
          </a:p>
        </p:txBody>
      </p:sp>
      <p:sp>
        <p:nvSpPr>
          <p:cNvPr id="22" name="Shape 20"/>
          <p:cNvSpPr/>
          <p:nvPr/>
        </p:nvSpPr>
        <p:spPr>
          <a:xfrm>
            <a:off x="6126480" y="2103120"/>
            <a:ext cx="2651760" cy="2606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3" name="Shape 21"/>
          <p:cNvSpPr/>
          <p:nvPr/>
        </p:nvSpPr>
        <p:spPr>
          <a:xfrm>
            <a:off x="6126480" y="2103120"/>
            <a:ext cx="2651760" cy="347472"/>
          </a:xfrm>
          <a:prstGeom prst="rect">
            <a:avLst/>
          </a:prstGeom>
          <a:solidFill>
            <a:srgbClr val="C0533A"/>
          </a:solidFill>
          <a:ln w="12700">
            <a:solidFill>
              <a:srgbClr val="C0533A"/>
            </a:solidFill>
            <a:prstDash val="solid"/>
          </a:ln>
        </p:spPr>
        <p:txBody>
          <a:bodyPr/>
          <a:lstStyle/>
          <a:p>
            <a:endParaRPr lang="es-AR"/>
          </a:p>
        </p:txBody>
      </p:sp>
      <p:sp>
        <p:nvSpPr>
          <p:cNvPr id="24" name="Text 22"/>
          <p:cNvSpPr/>
          <p:nvPr/>
        </p:nvSpPr>
        <p:spPr>
          <a:xfrm>
            <a:off x="6217920" y="2130552"/>
            <a:ext cx="2468880" cy="292608"/>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Olivera</a:t>
            </a:r>
            <a:endParaRPr lang="en-US" sz="1200" dirty="0"/>
          </a:p>
        </p:txBody>
      </p:sp>
      <p:sp>
        <p:nvSpPr>
          <p:cNvPr id="25" name="Text 23"/>
          <p:cNvSpPr/>
          <p:nvPr/>
        </p:nvSpPr>
        <p:spPr>
          <a:xfrm>
            <a:off x="6236208" y="2505456"/>
            <a:ext cx="2432304" cy="173736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Utilización cada vez mayor de la potencialidad productiva de un país.</a:t>
            </a:r>
            <a:endParaRPr lang="en-US" sz="1050" dirty="0"/>
          </a:p>
        </p:txBody>
      </p:sp>
      <p:sp>
        <p:nvSpPr>
          <p:cNvPr id="26" name="Shape 24"/>
          <p:cNvSpPr/>
          <p:nvPr/>
        </p:nvSpPr>
        <p:spPr>
          <a:xfrm>
            <a:off x="6236208" y="4526280"/>
            <a:ext cx="2052828" cy="201168"/>
          </a:xfrm>
          <a:prstGeom prst="rect">
            <a:avLst/>
          </a:prstGeom>
          <a:solidFill>
            <a:srgbClr val="C0533A"/>
          </a:solidFill>
          <a:ln w="12700">
            <a:solidFill>
              <a:srgbClr val="C0533A"/>
            </a:solidFill>
            <a:prstDash val="solid"/>
          </a:ln>
        </p:spPr>
        <p:txBody>
          <a:bodyPr/>
          <a:lstStyle/>
          <a:p>
            <a:endParaRPr lang="es-AR"/>
          </a:p>
        </p:txBody>
      </p:sp>
      <p:sp>
        <p:nvSpPr>
          <p:cNvPr id="27" name="Text 25"/>
          <p:cNvSpPr/>
          <p:nvPr/>
        </p:nvSpPr>
        <p:spPr>
          <a:xfrm>
            <a:off x="6327648" y="4544568"/>
            <a:ext cx="1869948"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Enfoque productivista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El Concepto está en Disputa</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U1.1 — PREGUNTAS ABIERTAS</a:t>
            </a:r>
            <a:endParaRPr lang="en-US" sz="900" dirty="0"/>
          </a:p>
        </p:txBody>
      </p:sp>
      <p:sp>
        <p:nvSpPr>
          <p:cNvPr id="7" name="Text 5"/>
          <p:cNvSpPr/>
          <p:nvPr/>
        </p:nvSpPr>
        <p:spPr>
          <a:xfrm>
            <a:off x="457200" y="1005840"/>
            <a:ext cx="8229600" cy="34747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Antes de estudiar modelos, debemos entender que el desarrollo es un concepto normativo:</a:t>
            </a:r>
            <a:endParaRPr lang="en-US" sz="1200" dirty="0"/>
          </a:p>
        </p:txBody>
      </p:sp>
      <p:sp>
        <p:nvSpPr>
          <p:cNvPr id="8" name="Shape 6"/>
          <p:cNvSpPr/>
          <p:nvPr/>
        </p:nvSpPr>
        <p:spPr>
          <a:xfrm>
            <a:off x="365760" y="1417320"/>
            <a:ext cx="8412480" cy="768096"/>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9" name="Text 7"/>
          <p:cNvSpPr/>
          <p:nvPr/>
        </p:nvSpPr>
        <p:spPr>
          <a:xfrm>
            <a:off x="457200" y="1463040"/>
            <a:ext cx="502920" cy="676656"/>
          </a:xfrm>
          <a:prstGeom prst="rect">
            <a:avLst/>
          </a:prstGeom>
          <a:noFill/>
          <a:ln/>
        </p:spPr>
        <p:txBody>
          <a:bodyPr wrap="square" lIns="0" tIns="0" rIns="0" bIns="0" rtlCol="0" anchor="ctr"/>
          <a:lstStyle/>
          <a:p>
            <a:pPr marL="0" indent="0" algn="ctr">
              <a:buNone/>
            </a:pPr>
            <a:r>
              <a:rPr lang="en-US" sz="2800" b="1" dirty="0">
                <a:solidFill>
                  <a:srgbClr val="C0533A"/>
                </a:solidFill>
                <a:latin typeface="Georgia" pitchFamily="34" charset="0"/>
                <a:ea typeface="Georgia" pitchFamily="34" charset="-122"/>
                <a:cs typeface="Georgia" pitchFamily="34" charset="-120"/>
              </a:rPr>
              <a:t>?</a:t>
            </a:r>
            <a:endParaRPr lang="en-US" sz="2800" dirty="0"/>
          </a:p>
        </p:txBody>
      </p:sp>
      <p:sp>
        <p:nvSpPr>
          <p:cNvPr id="10" name="Shape 8"/>
          <p:cNvSpPr/>
          <p:nvPr/>
        </p:nvSpPr>
        <p:spPr>
          <a:xfrm>
            <a:off x="1024128" y="1463040"/>
            <a:ext cx="0" cy="676656"/>
          </a:xfrm>
          <a:prstGeom prst="line">
            <a:avLst/>
          </a:prstGeom>
          <a:noFill/>
          <a:ln w="12700">
            <a:solidFill>
              <a:srgbClr val="CBD5E0"/>
            </a:solidFill>
            <a:prstDash val="solid"/>
          </a:ln>
        </p:spPr>
        <p:txBody>
          <a:bodyPr/>
          <a:lstStyle/>
          <a:p>
            <a:endParaRPr lang="es-AR"/>
          </a:p>
        </p:txBody>
      </p:sp>
      <p:sp>
        <p:nvSpPr>
          <p:cNvPr id="11" name="Text 9"/>
          <p:cNvSpPr/>
          <p:nvPr/>
        </p:nvSpPr>
        <p:spPr>
          <a:xfrm>
            <a:off x="1143000" y="1481328"/>
            <a:ext cx="5943600" cy="402336"/>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¿Alcanza con satisfacer necesidades materiales mínimas?</a:t>
            </a:r>
            <a:endParaRPr lang="en-US" sz="1200" dirty="0"/>
          </a:p>
        </p:txBody>
      </p:sp>
      <p:sp>
        <p:nvSpPr>
          <p:cNvPr id="12" name="Text 10"/>
          <p:cNvSpPr/>
          <p:nvPr/>
        </p:nvSpPr>
        <p:spPr>
          <a:xfrm>
            <a:off x="1143000" y="1865376"/>
            <a:ext cx="594360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Enfoque de necesidades básicas</a:t>
            </a:r>
            <a:endParaRPr lang="en-US" sz="1000" dirty="0"/>
          </a:p>
        </p:txBody>
      </p:sp>
      <p:sp>
        <p:nvSpPr>
          <p:cNvPr id="13" name="Shape 11"/>
          <p:cNvSpPr/>
          <p:nvPr/>
        </p:nvSpPr>
        <p:spPr>
          <a:xfrm>
            <a:off x="365760" y="2258568"/>
            <a:ext cx="8412480" cy="768096"/>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4" name="Text 12"/>
          <p:cNvSpPr/>
          <p:nvPr/>
        </p:nvSpPr>
        <p:spPr>
          <a:xfrm>
            <a:off x="457200" y="2304288"/>
            <a:ext cx="502920" cy="676656"/>
          </a:xfrm>
          <a:prstGeom prst="rect">
            <a:avLst/>
          </a:prstGeom>
          <a:noFill/>
          <a:ln/>
        </p:spPr>
        <p:txBody>
          <a:bodyPr wrap="square" lIns="0" tIns="0" rIns="0" bIns="0" rtlCol="0" anchor="ctr"/>
          <a:lstStyle/>
          <a:p>
            <a:pPr marL="0" indent="0" algn="ctr">
              <a:buNone/>
            </a:pPr>
            <a:r>
              <a:rPr lang="en-US" sz="2800" b="1" dirty="0">
                <a:solidFill>
                  <a:srgbClr val="C0533A"/>
                </a:solidFill>
                <a:latin typeface="Georgia" pitchFamily="34" charset="0"/>
                <a:ea typeface="Georgia" pitchFamily="34" charset="-122"/>
                <a:cs typeface="Georgia" pitchFamily="34" charset="-120"/>
              </a:rPr>
              <a:t>?</a:t>
            </a:r>
            <a:endParaRPr lang="en-US" sz="2800" dirty="0"/>
          </a:p>
        </p:txBody>
      </p:sp>
      <p:sp>
        <p:nvSpPr>
          <p:cNvPr id="15" name="Shape 13"/>
          <p:cNvSpPr/>
          <p:nvPr/>
        </p:nvSpPr>
        <p:spPr>
          <a:xfrm>
            <a:off x="1024128" y="2304288"/>
            <a:ext cx="0" cy="676656"/>
          </a:xfrm>
          <a:prstGeom prst="line">
            <a:avLst/>
          </a:prstGeom>
          <a:noFill/>
          <a:ln w="12700">
            <a:solidFill>
              <a:srgbClr val="CBD5E0"/>
            </a:solidFill>
            <a:prstDash val="solid"/>
          </a:ln>
        </p:spPr>
        <p:txBody>
          <a:bodyPr/>
          <a:lstStyle/>
          <a:p>
            <a:endParaRPr lang="es-AR"/>
          </a:p>
        </p:txBody>
      </p:sp>
      <p:sp>
        <p:nvSpPr>
          <p:cNvPr id="16" name="Text 14"/>
          <p:cNvSpPr/>
          <p:nvPr/>
        </p:nvSpPr>
        <p:spPr>
          <a:xfrm>
            <a:off x="1143000" y="2322576"/>
            <a:ext cx="5943600" cy="402336"/>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¿Las libertades políticas y la cultura forman parte del desarrollo?</a:t>
            </a:r>
            <a:endParaRPr lang="en-US" sz="1200" dirty="0"/>
          </a:p>
        </p:txBody>
      </p:sp>
      <p:sp>
        <p:nvSpPr>
          <p:cNvPr id="17" name="Text 15"/>
          <p:cNvSpPr/>
          <p:nvPr/>
        </p:nvSpPr>
        <p:spPr>
          <a:xfrm>
            <a:off x="1143000" y="2706624"/>
            <a:ext cx="594360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Enfoque de Sen / capacidades</a:t>
            </a:r>
            <a:endParaRPr lang="en-US" sz="1000" dirty="0"/>
          </a:p>
        </p:txBody>
      </p:sp>
      <p:sp>
        <p:nvSpPr>
          <p:cNvPr id="18" name="Shape 16"/>
          <p:cNvSpPr/>
          <p:nvPr/>
        </p:nvSpPr>
        <p:spPr>
          <a:xfrm>
            <a:off x="365760" y="3099816"/>
            <a:ext cx="8412480" cy="768096"/>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9" name="Text 17"/>
          <p:cNvSpPr/>
          <p:nvPr/>
        </p:nvSpPr>
        <p:spPr>
          <a:xfrm>
            <a:off x="457200" y="3145536"/>
            <a:ext cx="502920" cy="676656"/>
          </a:xfrm>
          <a:prstGeom prst="rect">
            <a:avLst/>
          </a:prstGeom>
          <a:noFill/>
          <a:ln/>
        </p:spPr>
        <p:txBody>
          <a:bodyPr wrap="square" lIns="0" tIns="0" rIns="0" bIns="0" rtlCol="0" anchor="ctr"/>
          <a:lstStyle/>
          <a:p>
            <a:pPr marL="0" indent="0" algn="ctr">
              <a:buNone/>
            </a:pPr>
            <a:r>
              <a:rPr lang="en-US" sz="2800" b="1" dirty="0">
                <a:solidFill>
                  <a:srgbClr val="C0533A"/>
                </a:solidFill>
                <a:latin typeface="Georgia" pitchFamily="34" charset="0"/>
                <a:ea typeface="Georgia" pitchFamily="34" charset="-122"/>
                <a:cs typeface="Georgia" pitchFamily="34" charset="-120"/>
              </a:rPr>
              <a:t>?</a:t>
            </a:r>
            <a:endParaRPr lang="en-US" sz="2800" dirty="0"/>
          </a:p>
        </p:txBody>
      </p:sp>
      <p:sp>
        <p:nvSpPr>
          <p:cNvPr id="20" name="Shape 18"/>
          <p:cNvSpPr/>
          <p:nvPr/>
        </p:nvSpPr>
        <p:spPr>
          <a:xfrm>
            <a:off x="1024128" y="3145536"/>
            <a:ext cx="0" cy="676656"/>
          </a:xfrm>
          <a:prstGeom prst="line">
            <a:avLst/>
          </a:prstGeom>
          <a:noFill/>
          <a:ln w="12700">
            <a:solidFill>
              <a:srgbClr val="CBD5E0"/>
            </a:solidFill>
            <a:prstDash val="solid"/>
          </a:ln>
        </p:spPr>
        <p:txBody>
          <a:bodyPr/>
          <a:lstStyle/>
          <a:p>
            <a:endParaRPr lang="es-AR"/>
          </a:p>
        </p:txBody>
      </p:sp>
      <p:sp>
        <p:nvSpPr>
          <p:cNvPr id="21" name="Text 19"/>
          <p:cNvSpPr/>
          <p:nvPr/>
        </p:nvSpPr>
        <p:spPr>
          <a:xfrm>
            <a:off x="1143000" y="3163824"/>
            <a:ext cx="5943600" cy="402336"/>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¿El bienestar material alto es sinónimo de desarrollo?</a:t>
            </a:r>
            <a:endParaRPr lang="en-US" sz="1200" dirty="0"/>
          </a:p>
        </p:txBody>
      </p:sp>
      <p:sp>
        <p:nvSpPr>
          <p:cNvPr id="22" name="Text 20"/>
          <p:cNvSpPr/>
          <p:nvPr/>
        </p:nvSpPr>
        <p:spPr>
          <a:xfrm>
            <a:off x="1143000" y="3547872"/>
            <a:ext cx="594360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Límites del PBI como indicador</a:t>
            </a:r>
            <a:endParaRPr lang="en-US" sz="1000" dirty="0"/>
          </a:p>
        </p:txBody>
      </p:sp>
      <p:sp>
        <p:nvSpPr>
          <p:cNvPr id="23" name="Shape 21"/>
          <p:cNvSpPr/>
          <p:nvPr/>
        </p:nvSpPr>
        <p:spPr>
          <a:xfrm>
            <a:off x="365760" y="3941064"/>
            <a:ext cx="8412480" cy="768096"/>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4" name="Text 22"/>
          <p:cNvSpPr/>
          <p:nvPr/>
        </p:nvSpPr>
        <p:spPr>
          <a:xfrm>
            <a:off x="457200" y="3986784"/>
            <a:ext cx="502920" cy="676656"/>
          </a:xfrm>
          <a:prstGeom prst="rect">
            <a:avLst/>
          </a:prstGeom>
          <a:noFill/>
          <a:ln/>
        </p:spPr>
        <p:txBody>
          <a:bodyPr wrap="square" lIns="0" tIns="0" rIns="0" bIns="0" rtlCol="0" anchor="ctr"/>
          <a:lstStyle/>
          <a:p>
            <a:pPr marL="0" indent="0" algn="ctr">
              <a:buNone/>
            </a:pPr>
            <a:r>
              <a:rPr lang="en-US" sz="2800" b="1" dirty="0">
                <a:solidFill>
                  <a:srgbClr val="C0533A"/>
                </a:solidFill>
                <a:latin typeface="Georgia" pitchFamily="34" charset="0"/>
                <a:ea typeface="Georgia" pitchFamily="34" charset="-122"/>
                <a:cs typeface="Georgia" pitchFamily="34" charset="-120"/>
              </a:rPr>
              <a:t>?</a:t>
            </a:r>
            <a:endParaRPr lang="en-US" sz="2800" dirty="0"/>
          </a:p>
        </p:txBody>
      </p:sp>
      <p:sp>
        <p:nvSpPr>
          <p:cNvPr id="25" name="Shape 23"/>
          <p:cNvSpPr/>
          <p:nvPr/>
        </p:nvSpPr>
        <p:spPr>
          <a:xfrm>
            <a:off x="1024128" y="3986784"/>
            <a:ext cx="0" cy="676656"/>
          </a:xfrm>
          <a:prstGeom prst="line">
            <a:avLst/>
          </a:prstGeom>
          <a:noFill/>
          <a:ln w="12700">
            <a:solidFill>
              <a:srgbClr val="CBD5E0"/>
            </a:solidFill>
            <a:prstDash val="solid"/>
          </a:ln>
        </p:spPr>
        <p:txBody>
          <a:bodyPr/>
          <a:lstStyle/>
          <a:p>
            <a:endParaRPr lang="es-AR"/>
          </a:p>
        </p:txBody>
      </p:sp>
      <p:sp>
        <p:nvSpPr>
          <p:cNvPr id="26" name="Text 24"/>
          <p:cNvSpPr/>
          <p:nvPr/>
        </p:nvSpPr>
        <p:spPr>
          <a:xfrm>
            <a:off x="1143000" y="4005072"/>
            <a:ext cx="5943600" cy="402336"/>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¿Es suficiente el crecimiento del PBI o necesitamos ver quién se beneficia?</a:t>
            </a:r>
            <a:endParaRPr lang="en-US" sz="1200" dirty="0"/>
          </a:p>
        </p:txBody>
      </p:sp>
      <p:sp>
        <p:nvSpPr>
          <p:cNvPr id="27" name="Text 25"/>
          <p:cNvSpPr/>
          <p:nvPr/>
        </p:nvSpPr>
        <p:spPr>
          <a:xfrm>
            <a:off x="1143000" y="4389120"/>
            <a:ext cx="594360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Desigualdad y distribución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Economía Tradicional vs. Economía del Desarrollo</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U1.1 — DIFERENCIAS CONCEPTUALES</a:t>
            </a:r>
            <a:endParaRPr lang="en-US" sz="900" dirty="0"/>
          </a:p>
        </p:txBody>
      </p:sp>
      <p:sp>
        <p:nvSpPr>
          <p:cNvPr id="7" name="Shape 5"/>
          <p:cNvSpPr/>
          <p:nvPr/>
        </p:nvSpPr>
        <p:spPr>
          <a:xfrm>
            <a:off x="365760" y="1005840"/>
            <a:ext cx="4160520" cy="3749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4160520" cy="365760"/>
          </a:xfrm>
          <a:prstGeom prst="rect">
            <a:avLst/>
          </a:prstGeom>
          <a:solidFill>
            <a:srgbClr val="64748B"/>
          </a:solidFill>
          <a:ln w="12700">
            <a:solidFill>
              <a:srgbClr val="64748B"/>
            </a:solidFill>
            <a:prstDash val="solid"/>
          </a:ln>
        </p:spPr>
        <p:txBody>
          <a:bodyPr/>
          <a:lstStyle/>
          <a:p>
            <a:endParaRPr lang="es-AR"/>
          </a:p>
        </p:txBody>
      </p:sp>
      <p:sp>
        <p:nvSpPr>
          <p:cNvPr id="9" name="Text 7"/>
          <p:cNvSpPr/>
          <p:nvPr/>
        </p:nvSpPr>
        <p:spPr>
          <a:xfrm>
            <a:off x="475488" y="1033272"/>
            <a:ext cx="393192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Economía Tradicional</a:t>
            </a:r>
            <a:endParaRPr lang="en-US" sz="1300" dirty="0"/>
          </a:p>
        </p:txBody>
      </p:sp>
      <p:sp>
        <p:nvSpPr>
          <p:cNvPr id="10" name="Text 8"/>
          <p:cNvSpPr/>
          <p:nvPr/>
        </p:nvSpPr>
        <p:spPr>
          <a:xfrm>
            <a:off x="502920" y="1463040"/>
            <a:ext cx="3840480" cy="31089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Asignación eficiente de recursos escasos</a:t>
            </a:r>
            <a:endParaRPr lang="en-US" sz="1150" dirty="0"/>
          </a:p>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Supone mercados que funcionan bien</a:t>
            </a:r>
            <a:endParaRPr lang="en-US" sz="1150" dirty="0"/>
          </a:p>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Agentes racionales y perfectamente informados</a:t>
            </a:r>
            <a:endParaRPr lang="en-US" sz="1150" dirty="0"/>
          </a:p>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Precio como mecanismo de coordinación</a:t>
            </a:r>
            <a:endParaRPr lang="en-US" sz="1150" dirty="0"/>
          </a:p>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Abstracta y universal</a:t>
            </a:r>
            <a:endParaRPr lang="en-US" sz="1150" dirty="0"/>
          </a:p>
        </p:txBody>
      </p:sp>
      <p:sp>
        <p:nvSpPr>
          <p:cNvPr id="11" name="Shape 9"/>
          <p:cNvSpPr/>
          <p:nvPr/>
        </p:nvSpPr>
        <p:spPr>
          <a:xfrm>
            <a:off x="4800600" y="1005840"/>
            <a:ext cx="4160520" cy="3749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2" name="Shape 10"/>
          <p:cNvSpPr/>
          <p:nvPr/>
        </p:nvSpPr>
        <p:spPr>
          <a:xfrm>
            <a:off x="4800600" y="1005840"/>
            <a:ext cx="4160520" cy="365760"/>
          </a:xfrm>
          <a:prstGeom prst="rect">
            <a:avLst/>
          </a:prstGeom>
          <a:solidFill>
            <a:srgbClr val="2E8B74"/>
          </a:solidFill>
          <a:ln w="12700">
            <a:solidFill>
              <a:srgbClr val="2E8B74"/>
            </a:solidFill>
            <a:prstDash val="solid"/>
          </a:ln>
        </p:spPr>
        <p:txBody>
          <a:bodyPr/>
          <a:lstStyle/>
          <a:p>
            <a:endParaRPr lang="es-AR"/>
          </a:p>
        </p:txBody>
      </p:sp>
      <p:sp>
        <p:nvSpPr>
          <p:cNvPr id="13" name="Text 11"/>
          <p:cNvSpPr/>
          <p:nvPr/>
        </p:nvSpPr>
        <p:spPr>
          <a:xfrm>
            <a:off x="4910328" y="1033272"/>
            <a:ext cx="393192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Economía del Desarrollo</a:t>
            </a:r>
            <a:endParaRPr lang="en-US" sz="1300" dirty="0"/>
          </a:p>
        </p:txBody>
      </p:sp>
      <p:sp>
        <p:nvSpPr>
          <p:cNvPr id="14" name="Text 12"/>
          <p:cNvSpPr/>
          <p:nvPr/>
        </p:nvSpPr>
        <p:spPr>
          <a:xfrm>
            <a:off x="4937760" y="1463040"/>
            <a:ext cx="3840480" cy="31089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Explica por qué hay países ricos y pobres</a:t>
            </a:r>
            <a:endParaRPr lang="en-US" sz="1150" dirty="0"/>
          </a:p>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Reconoce que los mercados fallan sistemáticamente</a:t>
            </a:r>
            <a:endParaRPr lang="en-US" sz="1150" dirty="0"/>
          </a:p>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Factores no económicos son determinantes</a:t>
            </a:r>
            <a:endParaRPr lang="en-US" sz="1150" dirty="0"/>
          </a:p>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Estado y poder político juegan un rol central</a:t>
            </a:r>
            <a:endParaRPr lang="en-US" sz="1150" dirty="0"/>
          </a:p>
          <a:p>
            <a:pPr marL="342900" indent="-3429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Específica al contexto histórico y estructural</a:t>
            </a:r>
            <a:endParaRPr lang="en-US" sz="1150" dirty="0"/>
          </a:p>
        </p:txBody>
      </p:sp>
      <p:sp>
        <p:nvSpPr>
          <p:cNvPr id="15" name="Shape 13"/>
          <p:cNvSpPr/>
          <p:nvPr/>
        </p:nvSpPr>
        <p:spPr>
          <a:xfrm>
            <a:off x="4206240" y="2468880"/>
            <a:ext cx="548640" cy="548640"/>
          </a:xfrm>
          <a:prstGeom prst="ellipse">
            <a:avLst/>
          </a:prstGeom>
          <a:solidFill>
            <a:srgbClr val="1B2A3B"/>
          </a:solidFill>
          <a:ln w="12700">
            <a:solidFill>
              <a:srgbClr val="1B2A3B"/>
            </a:solidFill>
            <a:prstDash val="solid"/>
          </a:ln>
        </p:spPr>
        <p:txBody>
          <a:bodyPr/>
          <a:lstStyle/>
          <a:p>
            <a:endParaRPr lang="es-AR"/>
          </a:p>
        </p:txBody>
      </p:sp>
      <p:sp>
        <p:nvSpPr>
          <p:cNvPr id="16" name="Text 14"/>
          <p:cNvSpPr/>
          <p:nvPr/>
        </p:nvSpPr>
        <p:spPr>
          <a:xfrm>
            <a:off x="4206240" y="2487168"/>
            <a:ext cx="54864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VS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¿Por qué surge la Economía del Desarrollo?</a:t>
            </a:r>
            <a:endParaRPr lang="en-US" sz="2800" dirty="0"/>
          </a:p>
        </p:txBody>
      </p:sp>
      <p:sp>
        <p:nvSpPr>
          <p:cNvPr id="5" name="Shape 3"/>
          <p:cNvSpPr/>
          <p:nvPr/>
        </p:nvSpPr>
        <p:spPr>
          <a:xfrm>
            <a:off x="457200" y="731520"/>
            <a:ext cx="36576" cy="201168"/>
          </a:xfrm>
          <a:prstGeom prst="rect">
            <a:avLst/>
          </a:prstGeom>
          <a:solidFill>
            <a:srgbClr val="2E8B74"/>
          </a:solidFill>
          <a:ln w="12700">
            <a:solidFill>
              <a:srgbClr val="2E8B74"/>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2E8B74"/>
                </a:solidFill>
                <a:latin typeface="Calibri" pitchFamily="34" charset="0"/>
                <a:ea typeface="Calibri" pitchFamily="34" charset="-122"/>
                <a:cs typeface="Calibri" pitchFamily="34" charset="-120"/>
              </a:rPr>
              <a:t>U1.1 — CONTEXTO HISTÓRICO</a:t>
            </a:r>
            <a:endParaRPr lang="en-US" sz="900" dirty="0"/>
          </a:p>
        </p:txBody>
      </p:sp>
      <p:sp>
        <p:nvSpPr>
          <p:cNvPr id="7" name="Shape 5"/>
          <p:cNvSpPr/>
          <p:nvPr/>
        </p:nvSpPr>
        <p:spPr>
          <a:xfrm>
            <a:off x="2377440" y="2697480"/>
            <a:ext cx="137160" cy="0"/>
          </a:xfrm>
          <a:prstGeom prst="line">
            <a:avLst/>
          </a:prstGeom>
          <a:noFill/>
          <a:ln w="19050">
            <a:solidFill>
              <a:srgbClr val="CBD5E0"/>
            </a:solidFill>
            <a:prstDash val="solid"/>
          </a:ln>
        </p:spPr>
        <p:txBody>
          <a:bodyPr/>
          <a:lstStyle/>
          <a:p>
            <a:endParaRPr lang="es-AR"/>
          </a:p>
        </p:txBody>
      </p:sp>
      <p:sp>
        <p:nvSpPr>
          <p:cNvPr id="8" name="Text 6"/>
          <p:cNvSpPr/>
          <p:nvPr/>
        </p:nvSpPr>
        <p:spPr>
          <a:xfrm>
            <a:off x="2441448" y="2542032"/>
            <a:ext cx="201168" cy="274320"/>
          </a:xfrm>
          <a:prstGeom prst="rect">
            <a:avLst/>
          </a:prstGeom>
          <a:noFill/>
          <a:ln/>
        </p:spPr>
        <p:txBody>
          <a:bodyPr wrap="square" lIns="0" tIns="0" rIns="0" bIns="0" rtlCol="0" anchor="ctr"/>
          <a:lstStyle/>
          <a:p>
            <a:pPr marL="0" indent="0">
              <a:buNone/>
            </a:pPr>
            <a:r>
              <a:rPr lang="en-US" sz="1400" dirty="0">
                <a:solidFill>
                  <a:srgbClr val="64748B"/>
                </a:solidFill>
              </a:rPr>
              <a:t>→</a:t>
            </a:r>
            <a:endParaRPr lang="en-US" sz="1400" dirty="0"/>
          </a:p>
        </p:txBody>
      </p:sp>
      <p:sp>
        <p:nvSpPr>
          <p:cNvPr id="9" name="Shape 7"/>
          <p:cNvSpPr/>
          <p:nvPr/>
        </p:nvSpPr>
        <p:spPr>
          <a:xfrm>
            <a:off x="365760" y="1005840"/>
            <a:ext cx="2011680" cy="32918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0" name="Shape 8"/>
          <p:cNvSpPr/>
          <p:nvPr/>
        </p:nvSpPr>
        <p:spPr>
          <a:xfrm>
            <a:off x="365760" y="1005840"/>
            <a:ext cx="2011680" cy="329184"/>
          </a:xfrm>
          <a:prstGeom prst="rect">
            <a:avLst/>
          </a:prstGeom>
          <a:solidFill>
            <a:srgbClr val="2C5282"/>
          </a:solidFill>
          <a:ln w="12700">
            <a:solidFill>
              <a:srgbClr val="2C5282"/>
            </a:solidFill>
            <a:prstDash val="solid"/>
          </a:ln>
        </p:spPr>
        <p:txBody>
          <a:bodyPr/>
          <a:lstStyle/>
          <a:p>
            <a:endParaRPr lang="es-AR"/>
          </a:p>
        </p:txBody>
      </p:sp>
      <p:sp>
        <p:nvSpPr>
          <p:cNvPr id="11" name="Text 9"/>
          <p:cNvSpPr/>
          <p:nvPr/>
        </p:nvSpPr>
        <p:spPr>
          <a:xfrm>
            <a:off x="457200" y="1024128"/>
            <a:ext cx="274320" cy="29260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2" name="Text 10"/>
          <p:cNvSpPr/>
          <p:nvPr/>
        </p:nvSpPr>
        <p:spPr>
          <a:xfrm>
            <a:off x="713232" y="1024128"/>
            <a:ext cx="1572768"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Post-WWII (1945–)</a:t>
            </a:r>
            <a:endParaRPr lang="en-US" sz="1000" dirty="0"/>
          </a:p>
        </p:txBody>
      </p:sp>
      <p:sp>
        <p:nvSpPr>
          <p:cNvPr id="13" name="Text 11"/>
          <p:cNvSpPr/>
          <p:nvPr/>
        </p:nvSpPr>
        <p:spPr>
          <a:xfrm>
            <a:off x="475488" y="1417320"/>
            <a:ext cx="1792224" cy="274320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Se necesita reconstruir países destruidos y explicar por qué las colonias permanecen pobres. Surge la economía del desarrollo como campo específico.</a:t>
            </a:r>
            <a:endParaRPr lang="en-US" sz="1050" dirty="0"/>
          </a:p>
        </p:txBody>
      </p:sp>
      <p:sp>
        <p:nvSpPr>
          <p:cNvPr id="14" name="Shape 12"/>
          <p:cNvSpPr/>
          <p:nvPr/>
        </p:nvSpPr>
        <p:spPr>
          <a:xfrm>
            <a:off x="4526280" y="2697480"/>
            <a:ext cx="137160" cy="0"/>
          </a:xfrm>
          <a:prstGeom prst="line">
            <a:avLst/>
          </a:prstGeom>
          <a:noFill/>
          <a:ln w="19050">
            <a:solidFill>
              <a:srgbClr val="CBD5E0"/>
            </a:solidFill>
            <a:prstDash val="solid"/>
          </a:ln>
        </p:spPr>
        <p:txBody>
          <a:bodyPr/>
          <a:lstStyle/>
          <a:p>
            <a:endParaRPr lang="es-AR"/>
          </a:p>
        </p:txBody>
      </p:sp>
      <p:sp>
        <p:nvSpPr>
          <p:cNvPr id="15" name="Text 13"/>
          <p:cNvSpPr/>
          <p:nvPr/>
        </p:nvSpPr>
        <p:spPr>
          <a:xfrm>
            <a:off x="4590288" y="2542032"/>
            <a:ext cx="201168" cy="274320"/>
          </a:xfrm>
          <a:prstGeom prst="rect">
            <a:avLst/>
          </a:prstGeom>
          <a:noFill/>
          <a:ln/>
        </p:spPr>
        <p:txBody>
          <a:bodyPr wrap="square" lIns="0" tIns="0" rIns="0" bIns="0" rtlCol="0" anchor="ctr"/>
          <a:lstStyle/>
          <a:p>
            <a:pPr marL="0" indent="0">
              <a:buNone/>
            </a:pPr>
            <a:r>
              <a:rPr lang="en-US" sz="1400" dirty="0">
                <a:solidFill>
                  <a:srgbClr val="64748B"/>
                </a:solidFill>
              </a:rPr>
              <a:t>→</a:t>
            </a:r>
            <a:endParaRPr lang="en-US" sz="1400" dirty="0"/>
          </a:p>
        </p:txBody>
      </p:sp>
      <p:sp>
        <p:nvSpPr>
          <p:cNvPr id="16" name="Shape 14"/>
          <p:cNvSpPr/>
          <p:nvPr/>
        </p:nvSpPr>
        <p:spPr>
          <a:xfrm>
            <a:off x="2514600" y="1005840"/>
            <a:ext cx="2011680" cy="32918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7" name="Shape 15"/>
          <p:cNvSpPr/>
          <p:nvPr/>
        </p:nvSpPr>
        <p:spPr>
          <a:xfrm>
            <a:off x="2514600" y="1005840"/>
            <a:ext cx="2011680" cy="329184"/>
          </a:xfrm>
          <a:prstGeom prst="rect">
            <a:avLst/>
          </a:prstGeom>
          <a:solidFill>
            <a:srgbClr val="2E8B74"/>
          </a:solidFill>
          <a:ln w="12700">
            <a:solidFill>
              <a:srgbClr val="2E8B74"/>
            </a:solidFill>
            <a:prstDash val="solid"/>
          </a:ln>
        </p:spPr>
        <p:txBody>
          <a:bodyPr/>
          <a:lstStyle/>
          <a:p>
            <a:endParaRPr lang="es-AR"/>
          </a:p>
        </p:txBody>
      </p:sp>
      <p:sp>
        <p:nvSpPr>
          <p:cNvPr id="18" name="Text 16"/>
          <p:cNvSpPr/>
          <p:nvPr/>
        </p:nvSpPr>
        <p:spPr>
          <a:xfrm>
            <a:off x="2606040" y="1024128"/>
            <a:ext cx="274320" cy="29260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9" name="Text 17"/>
          <p:cNvSpPr/>
          <p:nvPr/>
        </p:nvSpPr>
        <p:spPr>
          <a:xfrm>
            <a:off x="2862072" y="1024128"/>
            <a:ext cx="1572768"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Estado desarrollista</a:t>
            </a:r>
            <a:endParaRPr lang="en-US" sz="1000" dirty="0"/>
          </a:p>
        </p:txBody>
      </p:sp>
      <p:sp>
        <p:nvSpPr>
          <p:cNvPr id="20" name="Text 18"/>
          <p:cNvSpPr/>
          <p:nvPr/>
        </p:nvSpPr>
        <p:spPr>
          <a:xfrm>
            <a:off x="2624328" y="1417320"/>
            <a:ext cx="1792224" cy="274320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El Estado es el motor del desarrollo: industrialización, sustitución de importaciones, planificación. Rol activo y central.</a:t>
            </a:r>
            <a:endParaRPr lang="en-US" sz="1050" dirty="0"/>
          </a:p>
        </p:txBody>
      </p:sp>
      <p:sp>
        <p:nvSpPr>
          <p:cNvPr id="21" name="Shape 19"/>
          <p:cNvSpPr/>
          <p:nvPr/>
        </p:nvSpPr>
        <p:spPr>
          <a:xfrm>
            <a:off x="6675120" y="2697480"/>
            <a:ext cx="137160" cy="0"/>
          </a:xfrm>
          <a:prstGeom prst="line">
            <a:avLst/>
          </a:prstGeom>
          <a:noFill/>
          <a:ln w="19050">
            <a:solidFill>
              <a:srgbClr val="CBD5E0"/>
            </a:solidFill>
            <a:prstDash val="solid"/>
          </a:ln>
        </p:spPr>
        <p:txBody>
          <a:bodyPr/>
          <a:lstStyle/>
          <a:p>
            <a:endParaRPr lang="es-AR"/>
          </a:p>
        </p:txBody>
      </p:sp>
      <p:sp>
        <p:nvSpPr>
          <p:cNvPr id="22" name="Text 20"/>
          <p:cNvSpPr/>
          <p:nvPr/>
        </p:nvSpPr>
        <p:spPr>
          <a:xfrm>
            <a:off x="6739128" y="2542032"/>
            <a:ext cx="201168" cy="274320"/>
          </a:xfrm>
          <a:prstGeom prst="rect">
            <a:avLst/>
          </a:prstGeom>
          <a:noFill/>
          <a:ln/>
        </p:spPr>
        <p:txBody>
          <a:bodyPr wrap="square" lIns="0" tIns="0" rIns="0" bIns="0" rtlCol="0" anchor="ctr"/>
          <a:lstStyle/>
          <a:p>
            <a:pPr marL="0" indent="0">
              <a:buNone/>
            </a:pPr>
            <a:r>
              <a:rPr lang="en-US" sz="1400" dirty="0">
                <a:solidFill>
                  <a:srgbClr val="64748B"/>
                </a:solidFill>
              </a:rPr>
              <a:t>→</a:t>
            </a:r>
            <a:endParaRPr lang="en-US" sz="1400" dirty="0"/>
          </a:p>
        </p:txBody>
      </p:sp>
      <p:sp>
        <p:nvSpPr>
          <p:cNvPr id="23" name="Shape 21"/>
          <p:cNvSpPr/>
          <p:nvPr/>
        </p:nvSpPr>
        <p:spPr>
          <a:xfrm>
            <a:off x="4663440" y="1005840"/>
            <a:ext cx="2011680" cy="32918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4" name="Shape 22"/>
          <p:cNvSpPr/>
          <p:nvPr/>
        </p:nvSpPr>
        <p:spPr>
          <a:xfrm>
            <a:off x="4663440" y="1005840"/>
            <a:ext cx="2011680" cy="329184"/>
          </a:xfrm>
          <a:prstGeom prst="rect">
            <a:avLst/>
          </a:prstGeom>
          <a:solidFill>
            <a:srgbClr val="C0533A"/>
          </a:solidFill>
          <a:ln w="12700">
            <a:solidFill>
              <a:srgbClr val="C0533A"/>
            </a:solidFill>
            <a:prstDash val="solid"/>
          </a:ln>
        </p:spPr>
        <p:txBody>
          <a:bodyPr/>
          <a:lstStyle/>
          <a:p>
            <a:endParaRPr lang="es-AR"/>
          </a:p>
        </p:txBody>
      </p:sp>
      <p:sp>
        <p:nvSpPr>
          <p:cNvPr id="25" name="Text 23"/>
          <p:cNvSpPr/>
          <p:nvPr/>
        </p:nvSpPr>
        <p:spPr>
          <a:xfrm>
            <a:off x="4754880" y="1024128"/>
            <a:ext cx="274320" cy="29260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6" name="Text 24"/>
          <p:cNvSpPr/>
          <p:nvPr/>
        </p:nvSpPr>
        <p:spPr>
          <a:xfrm>
            <a:off x="5010912" y="1024128"/>
            <a:ext cx="1572768"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Crisis del Estado (70-80s)</a:t>
            </a:r>
            <a:endParaRPr lang="en-US" sz="1000" dirty="0"/>
          </a:p>
        </p:txBody>
      </p:sp>
      <p:sp>
        <p:nvSpPr>
          <p:cNvPr id="27" name="Text 25"/>
          <p:cNvSpPr/>
          <p:nvPr/>
        </p:nvSpPr>
        <p:spPr>
          <a:xfrm>
            <a:off x="4773168" y="1417320"/>
            <a:ext cx="1792224" cy="274320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Estanflación, gasto excesivo, ineficiencia. El Estado se 'descarrila'. Surge la crítica neoliberal.</a:t>
            </a:r>
            <a:endParaRPr lang="en-US" sz="1050" dirty="0"/>
          </a:p>
        </p:txBody>
      </p:sp>
      <p:sp>
        <p:nvSpPr>
          <p:cNvPr id="28" name="Shape 26"/>
          <p:cNvSpPr/>
          <p:nvPr/>
        </p:nvSpPr>
        <p:spPr>
          <a:xfrm>
            <a:off x="6812280" y="1005840"/>
            <a:ext cx="2011680" cy="32918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9" name="Shape 27"/>
          <p:cNvSpPr/>
          <p:nvPr/>
        </p:nvSpPr>
        <p:spPr>
          <a:xfrm>
            <a:off x="6812280" y="1005840"/>
            <a:ext cx="2011680" cy="329184"/>
          </a:xfrm>
          <a:prstGeom prst="rect">
            <a:avLst/>
          </a:prstGeom>
          <a:solidFill>
            <a:srgbClr val="D4A853"/>
          </a:solidFill>
          <a:ln w="12700">
            <a:solidFill>
              <a:srgbClr val="D4A853"/>
            </a:solidFill>
            <a:prstDash val="solid"/>
          </a:ln>
        </p:spPr>
        <p:txBody>
          <a:bodyPr/>
          <a:lstStyle/>
          <a:p>
            <a:endParaRPr lang="es-AR"/>
          </a:p>
        </p:txBody>
      </p:sp>
      <p:sp>
        <p:nvSpPr>
          <p:cNvPr id="30" name="Text 28"/>
          <p:cNvSpPr/>
          <p:nvPr/>
        </p:nvSpPr>
        <p:spPr>
          <a:xfrm>
            <a:off x="6903720" y="1024128"/>
            <a:ext cx="274320" cy="29260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31" name="Text 29"/>
          <p:cNvSpPr/>
          <p:nvPr/>
        </p:nvSpPr>
        <p:spPr>
          <a:xfrm>
            <a:off x="7159752" y="1024128"/>
            <a:ext cx="1572768"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Consenso de Washington</a:t>
            </a:r>
            <a:endParaRPr lang="en-US" sz="1000" dirty="0"/>
          </a:p>
        </p:txBody>
      </p:sp>
      <p:sp>
        <p:nvSpPr>
          <p:cNvPr id="32" name="Text 30"/>
          <p:cNvSpPr/>
          <p:nvPr/>
        </p:nvSpPr>
        <p:spPr>
          <a:xfrm>
            <a:off x="6922008" y="1417320"/>
            <a:ext cx="1792224" cy="274320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Solución: privatizar, desregular, abrir la economía. Estado mínimo. Paradigma dominante de los 90.</a:t>
            </a:r>
            <a:endParaRPr lang="en-US" sz="1050" dirty="0"/>
          </a:p>
        </p:txBody>
      </p:sp>
      <p:sp>
        <p:nvSpPr>
          <p:cNvPr id="33" name="Shape 31"/>
          <p:cNvSpPr/>
          <p:nvPr/>
        </p:nvSpPr>
        <p:spPr>
          <a:xfrm>
            <a:off x="365760" y="4407408"/>
            <a:ext cx="8412480" cy="502920"/>
          </a:xfrm>
          <a:prstGeom prst="rect">
            <a:avLst/>
          </a:prstGeom>
          <a:solidFill>
            <a:srgbClr val="FFF8E7"/>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4" name="Text 32"/>
          <p:cNvSpPr/>
          <p:nvPr/>
        </p:nvSpPr>
        <p:spPr>
          <a:xfrm>
            <a:off x="548640" y="4453128"/>
            <a:ext cx="8046720" cy="384048"/>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Las políticas de desarrollo pueden fallar por componentes NO económicos: cultura, creencias religiosas, estructuras administrativas, poder político.</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Evolución Histórica del Concepto de Desarrollo</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U1.1 — LÍNEA DE TIEMPO CONCEPTUAL</a:t>
            </a:r>
            <a:endParaRPr lang="en-US" sz="900" dirty="0"/>
          </a:p>
        </p:txBody>
      </p:sp>
      <p:sp>
        <p:nvSpPr>
          <p:cNvPr id="7" name="Shape 5"/>
          <p:cNvSpPr/>
          <p:nvPr/>
        </p:nvSpPr>
        <p:spPr>
          <a:xfrm>
            <a:off x="640080" y="2011680"/>
            <a:ext cx="8046720" cy="0"/>
          </a:xfrm>
          <a:prstGeom prst="line">
            <a:avLst/>
          </a:prstGeom>
          <a:noFill/>
          <a:ln w="25400">
            <a:solidFill>
              <a:srgbClr val="CBD5E0"/>
            </a:solidFill>
            <a:prstDash val="solid"/>
          </a:ln>
        </p:spPr>
        <p:txBody>
          <a:bodyPr/>
          <a:lstStyle/>
          <a:p>
            <a:endParaRPr lang="es-AR"/>
          </a:p>
        </p:txBody>
      </p:sp>
      <p:sp>
        <p:nvSpPr>
          <p:cNvPr id="8" name="Shape 6"/>
          <p:cNvSpPr/>
          <p:nvPr/>
        </p:nvSpPr>
        <p:spPr>
          <a:xfrm>
            <a:off x="868680" y="1892808"/>
            <a:ext cx="237744" cy="237744"/>
          </a:xfrm>
          <a:prstGeom prst="ellipse">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457200" y="1572768"/>
            <a:ext cx="1463040" cy="274320"/>
          </a:xfrm>
          <a:prstGeom prst="rect">
            <a:avLst/>
          </a:prstGeom>
          <a:noFill/>
          <a:ln/>
        </p:spPr>
        <p:txBody>
          <a:bodyPr wrap="square" lIns="0" tIns="0" rIns="0" bIns="0" rtlCol="0" anchor="ctr"/>
          <a:lstStyle/>
          <a:p>
            <a:pPr marL="0" indent="0" algn="ctr">
              <a:buNone/>
            </a:pPr>
            <a:r>
              <a:rPr lang="en-US" sz="1100" b="1" dirty="0">
                <a:solidFill>
                  <a:srgbClr val="2C5282"/>
                </a:solidFill>
                <a:latin typeface="Georgia" pitchFamily="34" charset="0"/>
                <a:ea typeface="Georgia" pitchFamily="34" charset="-122"/>
                <a:cs typeface="Georgia" pitchFamily="34" charset="-120"/>
              </a:rPr>
              <a:t>40–50s</a:t>
            </a:r>
            <a:endParaRPr lang="en-US" sz="1100" dirty="0"/>
          </a:p>
        </p:txBody>
      </p:sp>
      <p:sp>
        <p:nvSpPr>
          <p:cNvPr id="10" name="Shape 8"/>
          <p:cNvSpPr/>
          <p:nvPr/>
        </p:nvSpPr>
        <p:spPr>
          <a:xfrm>
            <a:off x="457200" y="2194560"/>
            <a:ext cx="1572768" cy="26517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457200" y="2194560"/>
            <a:ext cx="1572768" cy="54864"/>
          </a:xfrm>
          <a:prstGeom prst="rect">
            <a:avLst/>
          </a:prstGeom>
          <a:solidFill>
            <a:srgbClr val="2C5282"/>
          </a:solidFill>
          <a:ln w="12700">
            <a:solidFill>
              <a:srgbClr val="2C5282"/>
            </a:solidFill>
            <a:prstDash val="solid"/>
          </a:ln>
        </p:spPr>
        <p:txBody>
          <a:bodyPr/>
          <a:lstStyle/>
          <a:p>
            <a:endParaRPr lang="es-AR"/>
          </a:p>
        </p:txBody>
      </p:sp>
      <p:sp>
        <p:nvSpPr>
          <p:cNvPr id="12" name="Text 10"/>
          <p:cNvSpPr/>
          <p:nvPr/>
        </p:nvSpPr>
        <p:spPr>
          <a:xfrm>
            <a:off x="548640" y="2286000"/>
            <a:ext cx="1389888" cy="2487168"/>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Desarrollo = crecimiento del PBI. Industrialización post-WWII. CEPAL: hipótesis centro-periferia (Prebisch).</a:t>
            </a:r>
            <a:endParaRPr lang="en-US" sz="950" dirty="0"/>
          </a:p>
        </p:txBody>
      </p:sp>
      <p:sp>
        <p:nvSpPr>
          <p:cNvPr id="13" name="Shape 11"/>
          <p:cNvSpPr/>
          <p:nvPr/>
        </p:nvSpPr>
        <p:spPr>
          <a:xfrm>
            <a:off x="2532888" y="1892808"/>
            <a:ext cx="237744" cy="237744"/>
          </a:xfrm>
          <a:prstGeom prst="ellipse">
            <a:avLst/>
          </a:prstGeom>
          <a:solidFill>
            <a:srgbClr val="2E8B74"/>
          </a:solidFill>
          <a:ln w="12700">
            <a:solidFill>
              <a:srgbClr val="2E8B74"/>
            </a:solidFill>
            <a:prstDash val="solid"/>
          </a:ln>
        </p:spPr>
        <p:txBody>
          <a:bodyPr/>
          <a:lstStyle/>
          <a:p>
            <a:endParaRPr lang="es-AR"/>
          </a:p>
        </p:txBody>
      </p:sp>
      <p:sp>
        <p:nvSpPr>
          <p:cNvPr id="14" name="Text 12"/>
          <p:cNvSpPr/>
          <p:nvPr/>
        </p:nvSpPr>
        <p:spPr>
          <a:xfrm>
            <a:off x="2121408" y="1572768"/>
            <a:ext cx="1463040" cy="274320"/>
          </a:xfrm>
          <a:prstGeom prst="rect">
            <a:avLst/>
          </a:prstGeom>
          <a:noFill/>
          <a:ln/>
        </p:spPr>
        <p:txBody>
          <a:bodyPr wrap="square" lIns="0" tIns="0" rIns="0" bIns="0" rtlCol="0" anchor="ctr"/>
          <a:lstStyle/>
          <a:p>
            <a:pPr marL="0" indent="0" algn="ctr">
              <a:buNone/>
            </a:pPr>
            <a:r>
              <a:rPr lang="en-US" sz="1100" b="1" dirty="0">
                <a:solidFill>
                  <a:srgbClr val="2E8B74"/>
                </a:solidFill>
                <a:latin typeface="Georgia" pitchFamily="34" charset="0"/>
                <a:ea typeface="Georgia" pitchFamily="34" charset="-122"/>
                <a:cs typeface="Georgia" pitchFamily="34" charset="-120"/>
              </a:rPr>
              <a:t>60–70s</a:t>
            </a:r>
            <a:endParaRPr lang="en-US" sz="1100" dirty="0"/>
          </a:p>
        </p:txBody>
      </p:sp>
      <p:sp>
        <p:nvSpPr>
          <p:cNvPr id="15" name="Shape 13"/>
          <p:cNvSpPr/>
          <p:nvPr/>
        </p:nvSpPr>
        <p:spPr>
          <a:xfrm>
            <a:off x="2121408" y="2194560"/>
            <a:ext cx="1572768" cy="26517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6" name="Shape 14"/>
          <p:cNvSpPr/>
          <p:nvPr/>
        </p:nvSpPr>
        <p:spPr>
          <a:xfrm>
            <a:off x="2121408" y="2194560"/>
            <a:ext cx="1572768" cy="54864"/>
          </a:xfrm>
          <a:prstGeom prst="rect">
            <a:avLst/>
          </a:prstGeom>
          <a:solidFill>
            <a:srgbClr val="2E8B74"/>
          </a:solidFill>
          <a:ln w="12700">
            <a:solidFill>
              <a:srgbClr val="2E8B74"/>
            </a:solidFill>
            <a:prstDash val="solid"/>
          </a:ln>
        </p:spPr>
        <p:txBody>
          <a:bodyPr/>
          <a:lstStyle/>
          <a:p>
            <a:endParaRPr lang="es-AR"/>
          </a:p>
        </p:txBody>
      </p:sp>
      <p:sp>
        <p:nvSpPr>
          <p:cNvPr id="17" name="Text 15"/>
          <p:cNvSpPr/>
          <p:nvPr/>
        </p:nvSpPr>
        <p:spPr>
          <a:xfrm>
            <a:off x="2212848" y="2286000"/>
            <a:ext cx="1389888" cy="2487168"/>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Bienestar = mejora en nivel de vida. Se cuestiona el 'efecto derrame' de Kuznets. Teorías de desarrollo dual (sector moderno vs atrasado).</a:t>
            </a:r>
            <a:endParaRPr lang="en-US" sz="950" dirty="0"/>
          </a:p>
        </p:txBody>
      </p:sp>
      <p:sp>
        <p:nvSpPr>
          <p:cNvPr id="18" name="Shape 16"/>
          <p:cNvSpPr/>
          <p:nvPr/>
        </p:nvSpPr>
        <p:spPr>
          <a:xfrm>
            <a:off x="4197096" y="1892808"/>
            <a:ext cx="237744" cy="237744"/>
          </a:xfrm>
          <a:prstGeom prst="ellipse">
            <a:avLst/>
          </a:prstGeom>
          <a:solidFill>
            <a:srgbClr val="C0533A"/>
          </a:solidFill>
          <a:ln w="12700">
            <a:solidFill>
              <a:srgbClr val="C0533A"/>
            </a:solidFill>
            <a:prstDash val="solid"/>
          </a:ln>
        </p:spPr>
        <p:txBody>
          <a:bodyPr/>
          <a:lstStyle/>
          <a:p>
            <a:endParaRPr lang="es-AR"/>
          </a:p>
        </p:txBody>
      </p:sp>
      <p:sp>
        <p:nvSpPr>
          <p:cNvPr id="19" name="Text 17"/>
          <p:cNvSpPr/>
          <p:nvPr/>
        </p:nvSpPr>
        <p:spPr>
          <a:xfrm>
            <a:off x="3785616" y="1572768"/>
            <a:ext cx="1463040" cy="274320"/>
          </a:xfrm>
          <a:prstGeom prst="rect">
            <a:avLst/>
          </a:prstGeom>
          <a:noFill/>
          <a:ln/>
        </p:spPr>
        <p:txBody>
          <a:bodyPr wrap="square" lIns="0" tIns="0" rIns="0" bIns="0" rtlCol="0" anchor="ctr"/>
          <a:lstStyle/>
          <a:p>
            <a:pPr marL="0" indent="0" algn="ctr">
              <a:buNone/>
            </a:pPr>
            <a:r>
              <a:rPr lang="en-US" sz="1100" b="1" dirty="0">
                <a:solidFill>
                  <a:srgbClr val="C0533A"/>
                </a:solidFill>
                <a:latin typeface="Georgia" pitchFamily="34" charset="0"/>
                <a:ea typeface="Georgia" pitchFamily="34" charset="-122"/>
                <a:cs typeface="Georgia" pitchFamily="34" charset="-120"/>
              </a:rPr>
              <a:t>80s</a:t>
            </a:r>
            <a:endParaRPr lang="en-US" sz="1100" dirty="0"/>
          </a:p>
        </p:txBody>
      </p:sp>
      <p:sp>
        <p:nvSpPr>
          <p:cNvPr id="20" name="Shape 18"/>
          <p:cNvSpPr/>
          <p:nvPr/>
        </p:nvSpPr>
        <p:spPr>
          <a:xfrm>
            <a:off x="3785616" y="2194560"/>
            <a:ext cx="1572768" cy="26517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1" name="Shape 19"/>
          <p:cNvSpPr/>
          <p:nvPr/>
        </p:nvSpPr>
        <p:spPr>
          <a:xfrm>
            <a:off x="3785616" y="2194560"/>
            <a:ext cx="1572768" cy="54864"/>
          </a:xfrm>
          <a:prstGeom prst="rect">
            <a:avLst/>
          </a:prstGeom>
          <a:solidFill>
            <a:srgbClr val="C0533A"/>
          </a:solidFill>
          <a:ln w="12700">
            <a:solidFill>
              <a:srgbClr val="C0533A"/>
            </a:solidFill>
            <a:prstDash val="solid"/>
          </a:ln>
        </p:spPr>
        <p:txBody>
          <a:bodyPr/>
          <a:lstStyle/>
          <a:p>
            <a:endParaRPr lang="es-AR"/>
          </a:p>
        </p:txBody>
      </p:sp>
      <p:sp>
        <p:nvSpPr>
          <p:cNvPr id="22" name="Text 20"/>
          <p:cNvSpPr/>
          <p:nvPr/>
        </p:nvSpPr>
        <p:spPr>
          <a:xfrm>
            <a:off x="3877056" y="2286000"/>
            <a:ext cx="1389888" cy="2487168"/>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Pobreza = falta de condiciones básicas, no solo ingresos. Indicadores de Necesidades Básicas Insatisfechas (NBI).</a:t>
            </a:r>
            <a:endParaRPr lang="en-US" sz="950" dirty="0"/>
          </a:p>
        </p:txBody>
      </p:sp>
      <p:sp>
        <p:nvSpPr>
          <p:cNvPr id="23" name="Shape 21"/>
          <p:cNvSpPr/>
          <p:nvPr/>
        </p:nvSpPr>
        <p:spPr>
          <a:xfrm>
            <a:off x="5861304" y="1892808"/>
            <a:ext cx="237744" cy="237744"/>
          </a:xfrm>
          <a:prstGeom prst="ellipse">
            <a:avLst/>
          </a:prstGeom>
          <a:solidFill>
            <a:srgbClr val="D4A853"/>
          </a:solidFill>
          <a:ln w="12700">
            <a:solidFill>
              <a:srgbClr val="D4A853"/>
            </a:solidFill>
            <a:prstDash val="solid"/>
          </a:ln>
        </p:spPr>
        <p:txBody>
          <a:bodyPr/>
          <a:lstStyle/>
          <a:p>
            <a:endParaRPr lang="es-AR"/>
          </a:p>
        </p:txBody>
      </p:sp>
      <p:sp>
        <p:nvSpPr>
          <p:cNvPr id="24" name="Text 22"/>
          <p:cNvSpPr/>
          <p:nvPr/>
        </p:nvSpPr>
        <p:spPr>
          <a:xfrm>
            <a:off x="5449824" y="1572768"/>
            <a:ext cx="1463040" cy="274320"/>
          </a:xfrm>
          <a:prstGeom prst="rect">
            <a:avLst/>
          </a:prstGeom>
          <a:noFill/>
          <a:ln/>
        </p:spPr>
        <p:txBody>
          <a:bodyPr wrap="square" lIns="0" tIns="0" rIns="0" bIns="0" rtlCol="0" anchor="ctr"/>
          <a:lstStyle/>
          <a:p>
            <a:pPr marL="0" indent="0" algn="ctr">
              <a:buNone/>
            </a:pPr>
            <a:r>
              <a:rPr lang="en-US" sz="1100" b="1" dirty="0">
                <a:solidFill>
                  <a:srgbClr val="D4A853"/>
                </a:solidFill>
                <a:latin typeface="Georgia" pitchFamily="34" charset="0"/>
                <a:ea typeface="Georgia" pitchFamily="34" charset="-122"/>
                <a:cs typeface="Georgia" pitchFamily="34" charset="-120"/>
              </a:rPr>
              <a:t>90s</a:t>
            </a:r>
            <a:endParaRPr lang="en-US" sz="1100" dirty="0"/>
          </a:p>
        </p:txBody>
      </p:sp>
      <p:sp>
        <p:nvSpPr>
          <p:cNvPr id="25" name="Shape 23"/>
          <p:cNvSpPr/>
          <p:nvPr/>
        </p:nvSpPr>
        <p:spPr>
          <a:xfrm>
            <a:off x="5449824" y="2194560"/>
            <a:ext cx="1572768" cy="26517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6" name="Shape 24"/>
          <p:cNvSpPr/>
          <p:nvPr/>
        </p:nvSpPr>
        <p:spPr>
          <a:xfrm>
            <a:off x="5449824" y="2194560"/>
            <a:ext cx="1572768" cy="54864"/>
          </a:xfrm>
          <a:prstGeom prst="rect">
            <a:avLst/>
          </a:prstGeom>
          <a:solidFill>
            <a:srgbClr val="D4A853"/>
          </a:solidFill>
          <a:ln w="12700">
            <a:solidFill>
              <a:srgbClr val="D4A853"/>
            </a:solidFill>
            <a:prstDash val="solid"/>
          </a:ln>
        </p:spPr>
        <p:txBody>
          <a:bodyPr/>
          <a:lstStyle/>
          <a:p>
            <a:endParaRPr lang="es-AR"/>
          </a:p>
        </p:txBody>
      </p:sp>
      <p:sp>
        <p:nvSpPr>
          <p:cNvPr id="27" name="Text 25"/>
          <p:cNvSpPr/>
          <p:nvPr/>
        </p:nvSpPr>
        <p:spPr>
          <a:xfrm>
            <a:off x="5541264" y="2286000"/>
            <a:ext cx="1389888" cy="2487168"/>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IDH (salud + educación + ingresos). Sen: desarrollo = expansión de libertades. El foco pasa de medios a fines.</a:t>
            </a:r>
            <a:endParaRPr lang="en-US" sz="950" dirty="0"/>
          </a:p>
        </p:txBody>
      </p:sp>
      <p:sp>
        <p:nvSpPr>
          <p:cNvPr id="28" name="Shape 26"/>
          <p:cNvSpPr/>
          <p:nvPr/>
        </p:nvSpPr>
        <p:spPr>
          <a:xfrm>
            <a:off x="7525512" y="1892808"/>
            <a:ext cx="237744" cy="237744"/>
          </a:xfrm>
          <a:prstGeom prst="ellipse">
            <a:avLst/>
          </a:prstGeom>
          <a:solidFill>
            <a:srgbClr val="7B5EA7"/>
          </a:solidFill>
          <a:ln w="12700">
            <a:solidFill>
              <a:srgbClr val="7B5EA7"/>
            </a:solidFill>
            <a:prstDash val="solid"/>
          </a:ln>
        </p:spPr>
        <p:txBody>
          <a:bodyPr/>
          <a:lstStyle/>
          <a:p>
            <a:endParaRPr lang="es-AR"/>
          </a:p>
        </p:txBody>
      </p:sp>
      <p:sp>
        <p:nvSpPr>
          <p:cNvPr id="29" name="Text 27"/>
          <p:cNvSpPr/>
          <p:nvPr/>
        </p:nvSpPr>
        <p:spPr>
          <a:xfrm>
            <a:off x="7114032" y="1572768"/>
            <a:ext cx="1463040" cy="274320"/>
          </a:xfrm>
          <a:prstGeom prst="rect">
            <a:avLst/>
          </a:prstGeom>
          <a:noFill/>
          <a:ln/>
        </p:spPr>
        <p:txBody>
          <a:bodyPr wrap="square" lIns="0" tIns="0" rIns="0" bIns="0" rtlCol="0" anchor="ctr"/>
          <a:lstStyle/>
          <a:p>
            <a:pPr marL="0" indent="0" algn="ctr">
              <a:buNone/>
            </a:pPr>
            <a:r>
              <a:rPr lang="en-US" sz="1100" b="1" dirty="0">
                <a:solidFill>
                  <a:srgbClr val="7B5EA7"/>
                </a:solidFill>
                <a:latin typeface="Georgia" pitchFamily="34" charset="0"/>
                <a:ea typeface="Georgia" pitchFamily="34" charset="-122"/>
                <a:cs typeface="Georgia" pitchFamily="34" charset="-120"/>
              </a:rPr>
              <a:t>S. XXI</a:t>
            </a:r>
            <a:endParaRPr lang="en-US" sz="1100" dirty="0"/>
          </a:p>
        </p:txBody>
      </p:sp>
      <p:sp>
        <p:nvSpPr>
          <p:cNvPr id="30" name="Shape 28"/>
          <p:cNvSpPr/>
          <p:nvPr/>
        </p:nvSpPr>
        <p:spPr>
          <a:xfrm>
            <a:off x="7114032" y="2194560"/>
            <a:ext cx="1572768" cy="26517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1" name="Shape 29"/>
          <p:cNvSpPr/>
          <p:nvPr/>
        </p:nvSpPr>
        <p:spPr>
          <a:xfrm>
            <a:off x="7114032" y="2194560"/>
            <a:ext cx="1572768" cy="54864"/>
          </a:xfrm>
          <a:prstGeom prst="rect">
            <a:avLst/>
          </a:prstGeom>
          <a:solidFill>
            <a:srgbClr val="7B5EA7"/>
          </a:solidFill>
          <a:ln w="12700">
            <a:solidFill>
              <a:srgbClr val="7B5EA7"/>
            </a:solidFill>
            <a:prstDash val="solid"/>
          </a:ln>
        </p:spPr>
        <p:txBody>
          <a:bodyPr/>
          <a:lstStyle/>
          <a:p>
            <a:endParaRPr lang="es-AR"/>
          </a:p>
        </p:txBody>
      </p:sp>
      <p:sp>
        <p:nvSpPr>
          <p:cNvPr id="32" name="Text 30"/>
          <p:cNvSpPr/>
          <p:nvPr/>
        </p:nvSpPr>
        <p:spPr>
          <a:xfrm>
            <a:off x="7205472" y="2286000"/>
            <a:ext cx="1389888" cy="2487168"/>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Desarrollo = derechos humanos + múltiples dimensiones. ODS. Desigualdades de género, étnicas y urbano-rurales.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La Hipótesis de Kuznets y su Fracaso</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U1.1 — CRECIMIENTO Y DESIGUALDAD</a:t>
            </a:r>
            <a:endParaRPr lang="en-US" sz="900" dirty="0"/>
          </a:p>
        </p:txBody>
      </p:sp>
      <p:sp>
        <p:nvSpPr>
          <p:cNvPr id="7" name="Shape 5"/>
          <p:cNvSpPr/>
          <p:nvPr/>
        </p:nvSpPr>
        <p:spPr>
          <a:xfrm>
            <a:off x="365760" y="1005840"/>
            <a:ext cx="3931920" cy="3749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3931920" cy="347472"/>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502920" y="1033272"/>
            <a:ext cx="36576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¿Qué dice Kuznets?</a:t>
            </a:r>
            <a:endParaRPr lang="en-US" sz="1300" dirty="0"/>
          </a:p>
        </p:txBody>
      </p:sp>
      <p:sp>
        <p:nvSpPr>
          <p:cNvPr id="10" name="Text 8"/>
          <p:cNvSpPr/>
          <p:nvPr/>
        </p:nvSpPr>
        <p:spPr>
          <a:xfrm>
            <a:off x="502920" y="1417320"/>
            <a:ext cx="3611880" cy="3200400"/>
          </a:xfrm>
          <a:prstGeom prst="rect">
            <a:avLst/>
          </a:prstGeom>
          <a:noFill/>
          <a:ln/>
        </p:spPr>
        <p:txBody>
          <a:bodyPr wrap="square" lIns="0" tIns="0" rIns="0" bIns="0" rtlCol="0" anchor="ctr"/>
          <a:lstStyle/>
          <a:p>
            <a:pPr marL="0" indent="0">
              <a:buNone/>
            </a:pPr>
            <a:r>
              <a:rPr lang="en-US" sz="1100" b="1" dirty="0">
                <a:solidFill>
                  <a:srgbClr val="C0533A"/>
                </a:solidFill>
                <a:latin typeface="Calibri" pitchFamily="34" charset="0"/>
                <a:ea typeface="Calibri" pitchFamily="34" charset="-122"/>
                <a:cs typeface="Calibri" pitchFamily="34" charset="-120"/>
              </a:rPr>
              <a:t>Etapa 1 — Al inicio del crecimiento:
</a:t>
            </a:r>
            <a:r>
              <a:rPr lang="en-US" sz="1100" dirty="0">
                <a:solidFill>
                  <a:srgbClr val="1A202C"/>
                </a:solidFill>
                <a:latin typeface="Calibri" pitchFamily="34" charset="0"/>
                <a:ea typeface="Calibri" pitchFamily="34" charset="-122"/>
                <a:cs typeface="Calibri" pitchFamily="34" charset="-120"/>
              </a:rPr>
              <a:t>Solo crece el sector industrial. Algunos ganan mucho más que otros → la desigualdad SUBE.
</a:t>
            </a:r>
            <a:r>
              <a:rPr lang="en-US" sz="1100" b="1" dirty="0">
                <a:solidFill>
                  <a:srgbClr val="2E8B74"/>
                </a:solidFill>
                <a:latin typeface="Calibri" pitchFamily="34" charset="0"/>
                <a:ea typeface="Calibri" pitchFamily="34" charset="-122"/>
                <a:cs typeface="Calibri" pitchFamily="34" charset="-120"/>
              </a:rPr>
              <a:t>Etapa 2 — Con más desarrollo:
</a:t>
            </a:r>
            <a:r>
              <a:rPr lang="en-US" sz="1100" dirty="0">
                <a:solidFill>
                  <a:srgbClr val="1A202C"/>
                </a:solidFill>
                <a:latin typeface="Calibri" pitchFamily="34" charset="0"/>
                <a:ea typeface="Calibri" pitchFamily="34" charset="-122"/>
                <a:cs typeface="Calibri" pitchFamily="34" charset="-120"/>
              </a:rPr>
              <a:t>Más personas migran al sector moderno. Los salarios se igualan. Hay más educación y políticas públicas → la desigualdad BAJA.
</a:t>
            </a:r>
            <a:r>
              <a:rPr lang="en-US" sz="1100" b="1" i="1" dirty="0">
                <a:solidFill>
                  <a:srgbClr val="64748B"/>
                </a:solidFill>
                <a:latin typeface="Calibri" pitchFamily="34" charset="0"/>
                <a:ea typeface="Calibri" pitchFamily="34" charset="-122"/>
                <a:cs typeface="Calibri" pitchFamily="34" charset="-120"/>
              </a:rPr>
              <a:t>Resultado: curva en U invertida.</a:t>
            </a:r>
            <a:endParaRPr lang="en-US" sz="1100" dirty="0"/>
          </a:p>
        </p:txBody>
      </p:sp>
      <p:sp>
        <p:nvSpPr>
          <p:cNvPr id="11" name="Shape 9"/>
          <p:cNvSpPr/>
          <p:nvPr/>
        </p:nvSpPr>
        <p:spPr>
          <a:xfrm>
            <a:off x="4434840" y="1005840"/>
            <a:ext cx="4389120" cy="3749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2" name="Shape 10"/>
          <p:cNvSpPr/>
          <p:nvPr/>
        </p:nvSpPr>
        <p:spPr>
          <a:xfrm>
            <a:off x="4434840" y="1005840"/>
            <a:ext cx="4389120" cy="347472"/>
          </a:xfrm>
          <a:prstGeom prst="rect">
            <a:avLst/>
          </a:prstGeom>
          <a:solidFill>
            <a:srgbClr val="C0533A"/>
          </a:solidFill>
          <a:ln w="12700">
            <a:solidFill>
              <a:srgbClr val="C0533A"/>
            </a:solidFill>
            <a:prstDash val="solid"/>
          </a:ln>
        </p:spPr>
        <p:txBody>
          <a:bodyPr/>
          <a:lstStyle/>
          <a:p>
            <a:endParaRPr lang="es-AR"/>
          </a:p>
        </p:txBody>
      </p:sp>
      <p:sp>
        <p:nvSpPr>
          <p:cNvPr id="13" name="Text 11"/>
          <p:cNvSpPr/>
          <p:nvPr/>
        </p:nvSpPr>
        <p:spPr>
          <a:xfrm>
            <a:off x="4572000" y="1033272"/>
            <a:ext cx="41148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¿Por qué NO se cumple en AL?</a:t>
            </a:r>
            <a:endParaRPr lang="en-US" sz="1300" dirty="0"/>
          </a:p>
        </p:txBody>
      </p:sp>
      <p:sp>
        <p:nvSpPr>
          <p:cNvPr id="14" name="Text 12"/>
          <p:cNvSpPr/>
          <p:nvPr/>
        </p:nvSpPr>
        <p:spPr>
          <a:xfrm>
            <a:off x="4572000" y="1417320"/>
            <a:ext cx="4069080" cy="3200400"/>
          </a:xfrm>
          <a:prstGeom prst="rect">
            <a:avLst/>
          </a:prstGeom>
          <a:noFill/>
          <a:ln/>
        </p:spPr>
        <p:txBody>
          <a:bodyPr wrap="square" lIns="0" tIns="0" rIns="0" bIns="0" rtlCol="0" anchor="ctr"/>
          <a:lstStyle/>
          <a:p>
            <a:pPr marL="0" indent="0">
              <a:buNone/>
            </a:pPr>
            <a:r>
              <a:rPr lang="en-US" sz="1100" b="1" dirty="0">
                <a:solidFill>
                  <a:srgbClr val="C0533A"/>
                </a:solidFill>
                <a:latin typeface="Calibri" pitchFamily="34" charset="0"/>
                <a:ea typeface="Calibri" pitchFamily="34" charset="-122"/>
                <a:cs typeface="Calibri" pitchFamily="34" charset="-120"/>
              </a:rPr>
              <a:t>Heterogeneidad estructural (CEPAL):
</a:t>
            </a:r>
            <a:r>
              <a:rPr lang="en-US" sz="1100" dirty="0">
                <a:solidFill>
                  <a:srgbClr val="1A202C"/>
                </a:solidFill>
                <a:latin typeface="Calibri" pitchFamily="34" charset="0"/>
                <a:ea typeface="Calibri" pitchFamily="34" charset="-122"/>
                <a:cs typeface="Calibri" pitchFamily="34" charset="-120"/>
              </a:rPr>
              <a:t>Siempre coexisten un sector moderno (productivo, tecnificado, formal) y un sector atrasado (informal, subsistencia, baja productividad).
</a:t>
            </a:r>
            <a:r>
              <a:rPr lang="en-US" sz="1100" b="1" dirty="0">
                <a:solidFill>
                  <a:srgbClr val="C0533A"/>
                </a:solidFill>
                <a:latin typeface="Calibri" pitchFamily="34" charset="0"/>
                <a:ea typeface="Calibri" pitchFamily="34" charset="-122"/>
                <a:cs typeface="Calibri" pitchFamily="34" charset="-120"/>
              </a:rPr>
              <a:t>Esta brecha es PERMANENTE:
</a:t>
            </a:r>
            <a:r>
              <a:rPr lang="en-US" sz="1100" dirty="0">
                <a:solidFill>
                  <a:srgbClr val="1A202C"/>
                </a:solidFill>
                <a:latin typeface="Calibri" pitchFamily="34" charset="0"/>
                <a:ea typeface="Calibri" pitchFamily="34" charset="-122"/>
                <a:cs typeface="Calibri" pitchFamily="34" charset="-120"/>
              </a:rPr>
              <a:t>Los que están en el sector moderno tienen mayores ingresos. Los del sector atrasado quedan excluidos. La desigualdad no cae aunque el PBI suba.
</a:t>
            </a:r>
            <a:r>
              <a:rPr lang="en-US" sz="1100" b="1" i="1" dirty="0">
                <a:solidFill>
                  <a:srgbClr val="64748B"/>
                </a:solidFill>
                <a:latin typeface="Calibri" pitchFamily="34" charset="0"/>
                <a:ea typeface="Calibri" pitchFamily="34" charset="-122"/>
                <a:cs typeface="Calibri" pitchFamily="34" charset="-120"/>
              </a:rPr>
              <a:t>→ El efecto derrame no se produce.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Heterogeneidad Estructural</a:t>
            </a:r>
            <a:endParaRPr lang="en-US" sz="2800" dirty="0"/>
          </a:p>
        </p:txBody>
      </p:sp>
      <p:sp>
        <p:nvSpPr>
          <p:cNvPr id="5" name="Shape 3"/>
          <p:cNvSpPr/>
          <p:nvPr/>
        </p:nvSpPr>
        <p:spPr>
          <a:xfrm>
            <a:off x="457200" y="731520"/>
            <a:ext cx="36576" cy="201168"/>
          </a:xfrm>
          <a:prstGeom prst="rect">
            <a:avLst/>
          </a:prstGeom>
          <a:solidFill>
            <a:srgbClr val="2E8B74"/>
          </a:solidFill>
          <a:ln w="12700">
            <a:solidFill>
              <a:srgbClr val="2E8B74"/>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2E8B74"/>
                </a:solidFill>
                <a:latin typeface="Calibri" pitchFamily="34" charset="0"/>
                <a:ea typeface="Calibri" pitchFamily="34" charset="-122"/>
                <a:cs typeface="Calibri" pitchFamily="34" charset="-120"/>
              </a:rPr>
              <a:t>U1.1 / U1.2 — CONCEPTO CLAVE DE LA CEPAL</a:t>
            </a:r>
            <a:endParaRPr lang="en-US" sz="900" dirty="0"/>
          </a:p>
        </p:txBody>
      </p:sp>
      <p:sp>
        <p:nvSpPr>
          <p:cNvPr id="7" name="Shape 5"/>
          <p:cNvSpPr/>
          <p:nvPr/>
        </p:nvSpPr>
        <p:spPr>
          <a:xfrm>
            <a:off x="365760" y="1005840"/>
            <a:ext cx="8412480" cy="804672"/>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804672"/>
          </a:xfrm>
          <a:prstGeom prst="rect">
            <a:avLst/>
          </a:prstGeom>
          <a:solidFill>
            <a:srgbClr val="2E8B74"/>
          </a:solidFill>
          <a:ln w="12700">
            <a:solidFill>
              <a:srgbClr val="2E8B74"/>
            </a:solidFill>
            <a:prstDash val="solid"/>
          </a:ln>
        </p:spPr>
        <p:txBody>
          <a:bodyPr/>
          <a:lstStyle/>
          <a:p>
            <a:endParaRPr lang="es-AR"/>
          </a:p>
        </p:txBody>
      </p:sp>
      <p:sp>
        <p:nvSpPr>
          <p:cNvPr id="9" name="Text 7"/>
          <p:cNvSpPr/>
          <p:nvPr/>
        </p:nvSpPr>
        <p:spPr>
          <a:xfrm>
            <a:off x="548640" y="1060704"/>
            <a:ext cx="8046720" cy="68580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La coexistencia permanente de un sector moderno y un sector atrasado dentro de la misma economía. No es temporal: persiste indefinidamente y es la causa principal de la desigualdad en países como Argentina.</a:t>
            </a:r>
            <a:endParaRPr lang="en-US" sz="1200" dirty="0"/>
          </a:p>
        </p:txBody>
      </p:sp>
      <p:sp>
        <p:nvSpPr>
          <p:cNvPr id="10" name="Shape 8"/>
          <p:cNvSpPr/>
          <p:nvPr/>
        </p:nvSpPr>
        <p:spPr>
          <a:xfrm>
            <a:off x="365760" y="1901952"/>
            <a:ext cx="4160520" cy="29260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365760" y="1901952"/>
            <a:ext cx="4160520" cy="347472"/>
          </a:xfrm>
          <a:prstGeom prst="rect">
            <a:avLst/>
          </a:prstGeom>
          <a:solidFill>
            <a:srgbClr val="2E8B74"/>
          </a:solidFill>
          <a:ln w="12700">
            <a:solidFill>
              <a:srgbClr val="2E8B74"/>
            </a:solidFill>
            <a:prstDash val="solid"/>
          </a:ln>
        </p:spPr>
        <p:txBody>
          <a:bodyPr/>
          <a:lstStyle/>
          <a:p>
            <a:endParaRPr lang="es-AR"/>
          </a:p>
        </p:txBody>
      </p:sp>
      <p:sp>
        <p:nvSpPr>
          <p:cNvPr id="12" name="Text 10"/>
          <p:cNvSpPr/>
          <p:nvPr/>
        </p:nvSpPr>
        <p:spPr>
          <a:xfrm>
            <a:off x="475488" y="1929384"/>
            <a:ext cx="39319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Sector MODERNO</a:t>
            </a:r>
            <a:endParaRPr lang="en-US" sz="1300" dirty="0"/>
          </a:p>
        </p:txBody>
      </p:sp>
      <p:sp>
        <p:nvSpPr>
          <p:cNvPr id="13" name="Text 11"/>
          <p:cNvSpPr/>
          <p:nvPr/>
        </p:nvSpPr>
        <p:spPr>
          <a:xfrm>
            <a:off x="502920" y="2304288"/>
            <a:ext cx="3840480" cy="23774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Alta productividad y tecnología</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Insertado en el comercio internacional</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Trabajadores formales con protección social</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Altos salarios y buenas condiciones</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Ejemplos: empresas exportadoras, tech, petróleo</a:t>
            </a:r>
            <a:endParaRPr lang="en-US" sz="1100" dirty="0"/>
          </a:p>
        </p:txBody>
      </p:sp>
      <p:sp>
        <p:nvSpPr>
          <p:cNvPr id="14" name="Shape 12"/>
          <p:cNvSpPr/>
          <p:nvPr/>
        </p:nvSpPr>
        <p:spPr>
          <a:xfrm>
            <a:off x="4800600" y="1901952"/>
            <a:ext cx="4160520" cy="29260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5" name="Shape 13"/>
          <p:cNvSpPr/>
          <p:nvPr/>
        </p:nvSpPr>
        <p:spPr>
          <a:xfrm>
            <a:off x="4800600" y="1901952"/>
            <a:ext cx="4160520" cy="347472"/>
          </a:xfrm>
          <a:prstGeom prst="rect">
            <a:avLst/>
          </a:prstGeom>
          <a:solidFill>
            <a:srgbClr val="C0533A"/>
          </a:solidFill>
          <a:ln w="12700">
            <a:solidFill>
              <a:srgbClr val="C0533A"/>
            </a:solidFill>
            <a:prstDash val="solid"/>
          </a:ln>
        </p:spPr>
        <p:txBody>
          <a:bodyPr/>
          <a:lstStyle/>
          <a:p>
            <a:endParaRPr lang="es-AR"/>
          </a:p>
        </p:txBody>
      </p:sp>
      <p:sp>
        <p:nvSpPr>
          <p:cNvPr id="16" name="Text 14"/>
          <p:cNvSpPr/>
          <p:nvPr/>
        </p:nvSpPr>
        <p:spPr>
          <a:xfrm>
            <a:off x="4910328" y="1929384"/>
            <a:ext cx="39319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Sector ATRASADO</a:t>
            </a:r>
            <a:endParaRPr lang="en-US" sz="1300" dirty="0"/>
          </a:p>
        </p:txBody>
      </p:sp>
      <p:sp>
        <p:nvSpPr>
          <p:cNvPr id="17" name="Text 15"/>
          <p:cNvSpPr/>
          <p:nvPr/>
        </p:nvSpPr>
        <p:spPr>
          <a:xfrm>
            <a:off x="4937760" y="2304288"/>
            <a:ext cx="3840480" cy="23774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Baja productividad, mínimo capital</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Sin acceso al mercado externo</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Trabajadores informales sin protección</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Bajos salarios e inestabilidad</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Ejemplos: vendedores ambulantes, trabajo doméstico, pymes familiares</a:t>
            </a:r>
            <a:endParaRPr lang="en-US" sz="1100" dirty="0"/>
          </a:p>
        </p:txBody>
      </p:sp>
      <p:sp>
        <p:nvSpPr>
          <p:cNvPr id="18" name="Shape 16"/>
          <p:cNvSpPr/>
          <p:nvPr/>
        </p:nvSpPr>
        <p:spPr>
          <a:xfrm>
            <a:off x="4206240" y="3017520"/>
            <a:ext cx="548640" cy="548640"/>
          </a:xfrm>
          <a:prstGeom prst="ellipse">
            <a:avLst/>
          </a:prstGeom>
          <a:solidFill>
            <a:srgbClr val="1B2A3B"/>
          </a:solidFill>
          <a:ln w="12700">
            <a:solidFill>
              <a:srgbClr val="1B2A3B"/>
            </a:solidFill>
            <a:prstDash val="solid"/>
          </a:ln>
        </p:spPr>
        <p:txBody>
          <a:bodyPr/>
          <a:lstStyle/>
          <a:p>
            <a:endParaRPr lang="es-AR"/>
          </a:p>
        </p:txBody>
      </p:sp>
      <p:sp>
        <p:nvSpPr>
          <p:cNvPr id="19" name="Text 17"/>
          <p:cNvSpPr/>
          <p:nvPr/>
        </p:nvSpPr>
        <p:spPr>
          <a:xfrm>
            <a:off x="4206240" y="3035808"/>
            <a:ext cx="548640"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a:t>
            </a:r>
            <a:endParaRPr lang="en-US" sz="2000" dirty="0"/>
          </a:p>
        </p:txBody>
      </p:sp>
      <p:sp>
        <p:nvSpPr>
          <p:cNvPr id="20" name="Shape 18"/>
          <p:cNvSpPr/>
          <p:nvPr/>
        </p:nvSpPr>
        <p:spPr>
          <a:xfrm>
            <a:off x="365760" y="4892040"/>
            <a:ext cx="8412480" cy="182880"/>
          </a:xfrm>
          <a:prstGeom prst="rect">
            <a:avLst/>
          </a:prstGeom>
          <a:solidFill>
            <a:srgbClr val="FFFBF0"/>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Ejemplo Aplicado — Argentina</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HETEROGENEIDAD ESTRUCTURAL EN ACCIÓN</a:t>
            </a:r>
            <a:endParaRPr lang="en-US" sz="900" dirty="0"/>
          </a:p>
        </p:txBody>
      </p:sp>
      <p:sp>
        <p:nvSpPr>
          <p:cNvPr id="7" name="Text 5"/>
          <p:cNvSpPr/>
          <p:nvPr/>
        </p:nvSpPr>
        <p:spPr>
          <a:xfrm>
            <a:off x="457200" y="1005840"/>
            <a:ext cx="8229600" cy="292608"/>
          </a:xfrm>
          <a:prstGeom prst="rect">
            <a:avLst/>
          </a:prstGeom>
          <a:noFill/>
          <a:ln/>
        </p:spPr>
        <p:txBody>
          <a:bodyPr wrap="square" lIns="0" tIns="0" rIns="0" bIns="0"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Como explicó la profesora Maccio en clase:</a:t>
            </a:r>
            <a:endParaRPr lang="en-US" sz="1150" dirty="0"/>
          </a:p>
        </p:txBody>
      </p:sp>
      <p:sp>
        <p:nvSpPr>
          <p:cNvPr id="8" name="Shape 6"/>
          <p:cNvSpPr/>
          <p:nvPr/>
        </p:nvSpPr>
        <p:spPr>
          <a:xfrm>
            <a:off x="365760" y="1371600"/>
            <a:ext cx="8412480" cy="621792"/>
          </a:xfrm>
          <a:prstGeom prst="rect">
            <a:avLst/>
          </a:prstGeom>
          <a:solidFill>
            <a:srgbClr val="FFFFFF"/>
          </a:solidFill>
          <a:ln w="12700">
            <a:solidFill>
              <a:srgbClr val="CBD5E0"/>
            </a:solidFill>
            <a:prstDash val="solid"/>
          </a:ln>
        </p:spPr>
        <p:txBody>
          <a:bodyPr/>
          <a:lstStyle/>
          <a:p>
            <a:endParaRPr lang="es-AR"/>
          </a:p>
        </p:txBody>
      </p:sp>
      <p:sp>
        <p:nvSpPr>
          <p:cNvPr id="9" name="Text 7"/>
          <p:cNvSpPr/>
          <p:nvPr/>
        </p:nvSpPr>
        <p:spPr>
          <a:xfrm>
            <a:off x="457200" y="1463040"/>
            <a:ext cx="457200" cy="438912"/>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0" name="Text 8"/>
          <p:cNvSpPr/>
          <p:nvPr/>
        </p:nvSpPr>
        <p:spPr>
          <a:xfrm>
            <a:off x="1005840" y="1481328"/>
            <a:ext cx="1188720" cy="402336"/>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Salud</a:t>
            </a:r>
            <a:endParaRPr lang="en-US" sz="1200" dirty="0"/>
          </a:p>
        </p:txBody>
      </p:sp>
      <p:sp>
        <p:nvSpPr>
          <p:cNvPr id="11" name="Shape 9"/>
          <p:cNvSpPr/>
          <p:nvPr/>
        </p:nvSpPr>
        <p:spPr>
          <a:xfrm>
            <a:off x="2286000" y="1444752"/>
            <a:ext cx="3017520" cy="475488"/>
          </a:xfrm>
          <a:prstGeom prst="rect">
            <a:avLst/>
          </a:prstGeom>
          <a:solidFill>
            <a:srgbClr val="2E8B74">
              <a:alpha val="15000"/>
            </a:srgbClr>
          </a:solidFill>
          <a:ln w="12700">
            <a:solidFill>
              <a:srgbClr val="2E8B74">
                <a:alpha val="40000"/>
              </a:srgbClr>
            </a:solidFill>
            <a:prstDash val="solid"/>
          </a:ln>
        </p:spPr>
        <p:txBody>
          <a:bodyPr/>
          <a:lstStyle/>
          <a:p>
            <a:endParaRPr lang="es-AR"/>
          </a:p>
        </p:txBody>
      </p:sp>
      <p:sp>
        <p:nvSpPr>
          <p:cNvPr id="12" name="Text 10"/>
          <p:cNvSpPr/>
          <p:nvPr/>
        </p:nvSpPr>
        <p:spPr>
          <a:xfrm>
            <a:off x="2377440" y="1481328"/>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Obra social / prepaga (OSDE, Swiss Medical)</a:t>
            </a:r>
            <a:endParaRPr lang="en-US" sz="1050" dirty="0"/>
          </a:p>
        </p:txBody>
      </p:sp>
      <p:sp>
        <p:nvSpPr>
          <p:cNvPr id="13" name="Shape 11"/>
          <p:cNvSpPr/>
          <p:nvPr/>
        </p:nvSpPr>
        <p:spPr>
          <a:xfrm>
            <a:off x="5486400" y="1444752"/>
            <a:ext cx="3017520" cy="475488"/>
          </a:xfrm>
          <a:prstGeom prst="rect">
            <a:avLst/>
          </a:prstGeom>
          <a:solidFill>
            <a:srgbClr val="C0533A">
              <a:alpha val="15000"/>
            </a:srgbClr>
          </a:solidFill>
          <a:ln w="12700">
            <a:solidFill>
              <a:srgbClr val="C0533A">
                <a:alpha val="40000"/>
              </a:srgbClr>
            </a:solidFill>
            <a:prstDash val="solid"/>
          </a:ln>
        </p:spPr>
        <p:txBody>
          <a:bodyPr/>
          <a:lstStyle/>
          <a:p>
            <a:endParaRPr lang="es-AR"/>
          </a:p>
        </p:txBody>
      </p:sp>
      <p:sp>
        <p:nvSpPr>
          <p:cNvPr id="14" name="Text 12"/>
          <p:cNvSpPr/>
          <p:nvPr/>
        </p:nvSpPr>
        <p:spPr>
          <a:xfrm>
            <a:off x="5577840" y="1481328"/>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Hospital público</a:t>
            </a:r>
            <a:endParaRPr lang="en-US" sz="1050" dirty="0"/>
          </a:p>
        </p:txBody>
      </p:sp>
      <p:sp>
        <p:nvSpPr>
          <p:cNvPr id="15" name="Shape 13"/>
          <p:cNvSpPr/>
          <p:nvPr/>
        </p:nvSpPr>
        <p:spPr>
          <a:xfrm>
            <a:off x="365760" y="2066544"/>
            <a:ext cx="8412480" cy="621792"/>
          </a:xfrm>
          <a:prstGeom prst="rect">
            <a:avLst/>
          </a:prstGeom>
          <a:solidFill>
            <a:srgbClr val="F7F9FC"/>
          </a:solidFill>
          <a:ln w="12700">
            <a:solidFill>
              <a:srgbClr val="CBD5E0"/>
            </a:solidFill>
            <a:prstDash val="solid"/>
          </a:ln>
        </p:spPr>
        <p:txBody>
          <a:bodyPr/>
          <a:lstStyle/>
          <a:p>
            <a:endParaRPr lang="es-AR"/>
          </a:p>
        </p:txBody>
      </p:sp>
      <p:sp>
        <p:nvSpPr>
          <p:cNvPr id="16" name="Text 14"/>
          <p:cNvSpPr/>
          <p:nvPr/>
        </p:nvSpPr>
        <p:spPr>
          <a:xfrm>
            <a:off x="457200" y="2157984"/>
            <a:ext cx="457200" cy="438912"/>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7" name="Text 15"/>
          <p:cNvSpPr/>
          <p:nvPr/>
        </p:nvSpPr>
        <p:spPr>
          <a:xfrm>
            <a:off x="1005840" y="2176272"/>
            <a:ext cx="1188720" cy="402336"/>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Educación</a:t>
            </a:r>
            <a:endParaRPr lang="en-US" sz="1200" dirty="0"/>
          </a:p>
        </p:txBody>
      </p:sp>
      <p:sp>
        <p:nvSpPr>
          <p:cNvPr id="18" name="Shape 16"/>
          <p:cNvSpPr/>
          <p:nvPr/>
        </p:nvSpPr>
        <p:spPr>
          <a:xfrm>
            <a:off x="2286000" y="2139696"/>
            <a:ext cx="3017520" cy="475488"/>
          </a:xfrm>
          <a:prstGeom prst="rect">
            <a:avLst/>
          </a:prstGeom>
          <a:solidFill>
            <a:srgbClr val="2E8B74">
              <a:alpha val="15000"/>
            </a:srgbClr>
          </a:solidFill>
          <a:ln w="12700">
            <a:solidFill>
              <a:srgbClr val="2E8B74">
                <a:alpha val="40000"/>
              </a:srgbClr>
            </a:solidFill>
            <a:prstDash val="solid"/>
          </a:ln>
        </p:spPr>
        <p:txBody>
          <a:bodyPr/>
          <a:lstStyle/>
          <a:p>
            <a:endParaRPr lang="es-AR"/>
          </a:p>
        </p:txBody>
      </p:sp>
      <p:sp>
        <p:nvSpPr>
          <p:cNvPr id="19" name="Text 17"/>
          <p:cNvSpPr/>
          <p:nvPr/>
        </p:nvSpPr>
        <p:spPr>
          <a:xfrm>
            <a:off x="2377440" y="2176272"/>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Escuela y universidad privada</a:t>
            </a:r>
            <a:endParaRPr lang="en-US" sz="1050" dirty="0"/>
          </a:p>
        </p:txBody>
      </p:sp>
      <p:sp>
        <p:nvSpPr>
          <p:cNvPr id="20" name="Shape 18"/>
          <p:cNvSpPr/>
          <p:nvPr/>
        </p:nvSpPr>
        <p:spPr>
          <a:xfrm>
            <a:off x="5486400" y="2139696"/>
            <a:ext cx="3017520" cy="475488"/>
          </a:xfrm>
          <a:prstGeom prst="rect">
            <a:avLst/>
          </a:prstGeom>
          <a:solidFill>
            <a:srgbClr val="C0533A">
              <a:alpha val="15000"/>
            </a:srgbClr>
          </a:solidFill>
          <a:ln w="12700">
            <a:solidFill>
              <a:srgbClr val="C0533A">
                <a:alpha val="40000"/>
              </a:srgbClr>
            </a:solidFill>
            <a:prstDash val="solid"/>
          </a:ln>
        </p:spPr>
        <p:txBody>
          <a:bodyPr/>
          <a:lstStyle/>
          <a:p>
            <a:endParaRPr lang="es-AR"/>
          </a:p>
        </p:txBody>
      </p:sp>
      <p:sp>
        <p:nvSpPr>
          <p:cNvPr id="21" name="Text 19"/>
          <p:cNvSpPr/>
          <p:nvPr/>
        </p:nvSpPr>
        <p:spPr>
          <a:xfrm>
            <a:off x="5577840" y="2176272"/>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Escuela pública</a:t>
            </a:r>
            <a:endParaRPr lang="en-US" sz="1050" dirty="0"/>
          </a:p>
        </p:txBody>
      </p:sp>
      <p:sp>
        <p:nvSpPr>
          <p:cNvPr id="22" name="Shape 20"/>
          <p:cNvSpPr/>
          <p:nvPr/>
        </p:nvSpPr>
        <p:spPr>
          <a:xfrm>
            <a:off x="365760" y="2761488"/>
            <a:ext cx="8412480" cy="621792"/>
          </a:xfrm>
          <a:prstGeom prst="rect">
            <a:avLst/>
          </a:prstGeom>
          <a:solidFill>
            <a:srgbClr val="FFFFFF"/>
          </a:solidFill>
          <a:ln w="12700">
            <a:solidFill>
              <a:srgbClr val="CBD5E0"/>
            </a:solidFill>
            <a:prstDash val="solid"/>
          </a:ln>
        </p:spPr>
        <p:txBody>
          <a:bodyPr/>
          <a:lstStyle/>
          <a:p>
            <a:endParaRPr lang="es-AR"/>
          </a:p>
        </p:txBody>
      </p:sp>
      <p:sp>
        <p:nvSpPr>
          <p:cNvPr id="23" name="Text 21"/>
          <p:cNvSpPr/>
          <p:nvPr/>
        </p:nvSpPr>
        <p:spPr>
          <a:xfrm>
            <a:off x="457200" y="2852928"/>
            <a:ext cx="457200" cy="438912"/>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24" name="Text 22"/>
          <p:cNvSpPr/>
          <p:nvPr/>
        </p:nvSpPr>
        <p:spPr>
          <a:xfrm>
            <a:off x="1005840" y="2871216"/>
            <a:ext cx="1188720" cy="402336"/>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Seguridad</a:t>
            </a:r>
            <a:endParaRPr lang="en-US" sz="1200" dirty="0"/>
          </a:p>
        </p:txBody>
      </p:sp>
      <p:sp>
        <p:nvSpPr>
          <p:cNvPr id="25" name="Shape 23"/>
          <p:cNvSpPr/>
          <p:nvPr/>
        </p:nvSpPr>
        <p:spPr>
          <a:xfrm>
            <a:off x="2286000" y="2834640"/>
            <a:ext cx="3017520" cy="475488"/>
          </a:xfrm>
          <a:prstGeom prst="rect">
            <a:avLst/>
          </a:prstGeom>
          <a:solidFill>
            <a:srgbClr val="2E8B74">
              <a:alpha val="15000"/>
            </a:srgbClr>
          </a:solidFill>
          <a:ln w="12700">
            <a:solidFill>
              <a:srgbClr val="2E8B74">
                <a:alpha val="40000"/>
              </a:srgbClr>
            </a:solidFill>
            <a:prstDash val="solid"/>
          </a:ln>
        </p:spPr>
        <p:txBody>
          <a:bodyPr/>
          <a:lstStyle/>
          <a:p>
            <a:endParaRPr lang="es-AR"/>
          </a:p>
        </p:txBody>
      </p:sp>
      <p:sp>
        <p:nvSpPr>
          <p:cNvPr id="26" name="Text 24"/>
          <p:cNvSpPr/>
          <p:nvPr/>
        </p:nvSpPr>
        <p:spPr>
          <a:xfrm>
            <a:off x="2377440" y="2871216"/>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Empresa de seguridad privada (Prosegur)</a:t>
            </a:r>
            <a:endParaRPr lang="en-US" sz="1050" dirty="0"/>
          </a:p>
        </p:txBody>
      </p:sp>
      <p:sp>
        <p:nvSpPr>
          <p:cNvPr id="27" name="Shape 25"/>
          <p:cNvSpPr/>
          <p:nvPr/>
        </p:nvSpPr>
        <p:spPr>
          <a:xfrm>
            <a:off x="5486400" y="2834640"/>
            <a:ext cx="3017520" cy="475488"/>
          </a:xfrm>
          <a:prstGeom prst="rect">
            <a:avLst/>
          </a:prstGeom>
          <a:solidFill>
            <a:srgbClr val="C0533A">
              <a:alpha val="15000"/>
            </a:srgbClr>
          </a:solidFill>
          <a:ln w="12700">
            <a:solidFill>
              <a:srgbClr val="C0533A">
                <a:alpha val="40000"/>
              </a:srgbClr>
            </a:solidFill>
            <a:prstDash val="solid"/>
          </a:ln>
        </p:spPr>
        <p:txBody>
          <a:bodyPr/>
          <a:lstStyle/>
          <a:p>
            <a:endParaRPr lang="es-AR"/>
          </a:p>
        </p:txBody>
      </p:sp>
      <p:sp>
        <p:nvSpPr>
          <p:cNvPr id="28" name="Text 26"/>
          <p:cNvSpPr/>
          <p:nvPr/>
        </p:nvSpPr>
        <p:spPr>
          <a:xfrm>
            <a:off x="5577840" y="2871216"/>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Policía pública</a:t>
            </a:r>
            <a:endParaRPr lang="en-US" sz="1050" dirty="0"/>
          </a:p>
        </p:txBody>
      </p:sp>
      <p:sp>
        <p:nvSpPr>
          <p:cNvPr id="29" name="Shape 27"/>
          <p:cNvSpPr/>
          <p:nvPr/>
        </p:nvSpPr>
        <p:spPr>
          <a:xfrm>
            <a:off x="365760" y="3456432"/>
            <a:ext cx="8412480" cy="621792"/>
          </a:xfrm>
          <a:prstGeom prst="rect">
            <a:avLst/>
          </a:prstGeom>
          <a:solidFill>
            <a:srgbClr val="F7F9FC"/>
          </a:solidFill>
          <a:ln w="12700">
            <a:solidFill>
              <a:srgbClr val="CBD5E0"/>
            </a:solidFill>
            <a:prstDash val="solid"/>
          </a:ln>
        </p:spPr>
        <p:txBody>
          <a:bodyPr/>
          <a:lstStyle/>
          <a:p>
            <a:endParaRPr lang="es-AR"/>
          </a:p>
        </p:txBody>
      </p:sp>
      <p:sp>
        <p:nvSpPr>
          <p:cNvPr id="30" name="Text 28"/>
          <p:cNvSpPr/>
          <p:nvPr/>
        </p:nvSpPr>
        <p:spPr>
          <a:xfrm>
            <a:off x="457200" y="3547872"/>
            <a:ext cx="457200" cy="438912"/>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31" name="Text 29"/>
          <p:cNvSpPr/>
          <p:nvPr/>
        </p:nvSpPr>
        <p:spPr>
          <a:xfrm>
            <a:off x="1005840" y="3566160"/>
            <a:ext cx="1188720" cy="402336"/>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Transporte</a:t>
            </a:r>
            <a:endParaRPr lang="en-US" sz="1200" dirty="0"/>
          </a:p>
        </p:txBody>
      </p:sp>
      <p:sp>
        <p:nvSpPr>
          <p:cNvPr id="32" name="Shape 30"/>
          <p:cNvSpPr/>
          <p:nvPr/>
        </p:nvSpPr>
        <p:spPr>
          <a:xfrm>
            <a:off x="2286000" y="3529584"/>
            <a:ext cx="3017520" cy="475488"/>
          </a:xfrm>
          <a:prstGeom prst="rect">
            <a:avLst/>
          </a:prstGeom>
          <a:solidFill>
            <a:srgbClr val="2E8B74">
              <a:alpha val="15000"/>
            </a:srgbClr>
          </a:solidFill>
          <a:ln w="12700">
            <a:solidFill>
              <a:srgbClr val="2E8B74">
                <a:alpha val="40000"/>
              </a:srgbClr>
            </a:solidFill>
            <a:prstDash val="solid"/>
          </a:ln>
        </p:spPr>
        <p:txBody>
          <a:bodyPr/>
          <a:lstStyle/>
          <a:p>
            <a:endParaRPr lang="es-AR"/>
          </a:p>
        </p:txBody>
      </p:sp>
      <p:sp>
        <p:nvSpPr>
          <p:cNvPr id="33" name="Text 31"/>
          <p:cNvSpPr/>
          <p:nvPr/>
        </p:nvSpPr>
        <p:spPr>
          <a:xfrm>
            <a:off x="2377440" y="3566160"/>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Auto propio</a:t>
            </a:r>
            <a:endParaRPr lang="en-US" sz="1050" dirty="0"/>
          </a:p>
        </p:txBody>
      </p:sp>
      <p:sp>
        <p:nvSpPr>
          <p:cNvPr id="34" name="Shape 32"/>
          <p:cNvSpPr/>
          <p:nvPr/>
        </p:nvSpPr>
        <p:spPr>
          <a:xfrm>
            <a:off x="5486400" y="3529584"/>
            <a:ext cx="3017520" cy="475488"/>
          </a:xfrm>
          <a:prstGeom prst="rect">
            <a:avLst/>
          </a:prstGeom>
          <a:solidFill>
            <a:srgbClr val="C0533A">
              <a:alpha val="15000"/>
            </a:srgbClr>
          </a:solidFill>
          <a:ln w="12700">
            <a:solidFill>
              <a:srgbClr val="C0533A">
                <a:alpha val="40000"/>
              </a:srgbClr>
            </a:solidFill>
            <a:prstDash val="solid"/>
          </a:ln>
        </p:spPr>
        <p:txBody>
          <a:bodyPr/>
          <a:lstStyle/>
          <a:p>
            <a:endParaRPr lang="es-AR"/>
          </a:p>
        </p:txBody>
      </p:sp>
      <p:sp>
        <p:nvSpPr>
          <p:cNvPr id="35" name="Text 33"/>
          <p:cNvSpPr/>
          <p:nvPr/>
        </p:nvSpPr>
        <p:spPr>
          <a:xfrm>
            <a:off x="5577840" y="3566160"/>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Colectivo</a:t>
            </a:r>
            <a:endParaRPr lang="en-US" sz="1050" dirty="0"/>
          </a:p>
        </p:txBody>
      </p:sp>
      <p:sp>
        <p:nvSpPr>
          <p:cNvPr id="36" name="Shape 34"/>
          <p:cNvSpPr/>
          <p:nvPr/>
        </p:nvSpPr>
        <p:spPr>
          <a:xfrm>
            <a:off x="365760" y="4151376"/>
            <a:ext cx="8412480" cy="621792"/>
          </a:xfrm>
          <a:prstGeom prst="rect">
            <a:avLst/>
          </a:prstGeom>
          <a:solidFill>
            <a:srgbClr val="FFFFFF"/>
          </a:solidFill>
          <a:ln w="12700">
            <a:solidFill>
              <a:srgbClr val="CBD5E0"/>
            </a:solidFill>
            <a:prstDash val="solid"/>
          </a:ln>
        </p:spPr>
        <p:txBody>
          <a:bodyPr/>
          <a:lstStyle/>
          <a:p>
            <a:endParaRPr lang="es-AR"/>
          </a:p>
        </p:txBody>
      </p:sp>
      <p:sp>
        <p:nvSpPr>
          <p:cNvPr id="37" name="Text 35"/>
          <p:cNvSpPr/>
          <p:nvPr/>
        </p:nvSpPr>
        <p:spPr>
          <a:xfrm>
            <a:off x="457200" y="4242816"/>
            <a:ext cx="457200" cy="438912"/>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38" name="Text 36"/>
          <p:cNvSpPr/>
          <p:nvPr/>
        </p:nvSpPr>
        <p:spPr>
          <a:xfrm>
            <a:off x="1005840" y="4261104"/>
            <a:ext cx="1188720" cy="402336"/>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Esparcimiento</a:t>
            </a:r>
            <a:endParaRPr lang="en-US" sz="1200" dirty="0"/>
          </a:p>
        </p:txBody>
      </p:sp>
      <p:sp>
        <p:nvSpPr>
          <p:cNvPr id="39" name="Shape 37"/>
          <p:cNvSpPr/>
          <p:nvPr/>
        </p:nvSpPr>
        <p:spPr>
          <a:xfrm>
            <a:off x="2286000" y="4224528"/>
            <a:ext cx="3017520" cy="475488"/>
          </a:xfrm>
          <a:prstGeom prst="rect">
            <a:avLst/>
          </a:prstGeom>
          <a:solidFill>
            <a:srgbClr val="2E8B74">
              <a:alpha val="15000"/>
            </a:srgbClr>
          </a:solidFill>
          <a:ln w="12700">
            <a:solidFill>
              <a:srgbClr val="2E8B74">
                <a:alpha val="40000"/>
              </a:srgbClr>
            </a:solidFill>
            <a:prstDash val="solid"/>
          </a:ln>
        </p:spPr>
        <p:txBody>
          <a:bodyPr/>
          <a:lstStyle/>
          <a:p>
            <a:endParaRPr lang="es-AR"/>
          </a:p>
        </p:txBody>
      </p:sp>
      <p:sp>
        <p:nvSpPr>
          <p:cNvPr id="40" name="Text 38"/>
          <p:cNvSpPr/>
          <p:nvPr/>
        </p:nvSpPr>
        <p:spPr>
          <a:xfrm>
            <a:off x="2377440" y="4261104"/>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Club privado / gimnasio</a:t>
            </a:r>
            <a:endParaRPr lang="en-US" sz="1050" dirty="0"/>
          </a:p>
        </p:txBody>
      </p:sp>
      <p:sp>
        <p:nvSpPr>
          <p:cNvPr id="41" name="Shape 39"/>
          <p:cNvSpPr/>
          <p:nvPr/>
        </p:nvSpPr>
        <p:spPr>
          <a:xfrm>
            <a:off x="5486400" y="4224528"/>
            <a:ext cx="3017520" cy="475488"/>
          </a:xfrm>
          <a:prstGeom prst="rect">
            <a:avLst/>
          </a:prstGeom>
          <a:solidFill>
            <a:srgbClr val="C0533A">
              <a:alpha val="15000"/>
            </a:srgbClr>
          </a:solidFill>
          <a:ln w="12700">
            <a:solidFill>
              <a:srgbClr val="C0533A">
                <a:alpha val="40000"/>
              </a:srgbClr>
            </a:solidFill>
            <a:prstDash val="solid"/>
          </a:ln>
        </p:spPr>
        <p:txBody>
          <a:bodyPr/>
          <a:lstStyle/>
          <a:p>
            <a:endParaRPr lang="es-AR"/>
          </a:p>
        </p:txBody>
      </p:sp>
      <p:sp>
        <p:nvSpPr>
          <p:cNvPr id="42" name="Text 40"/>
          <p:cNvSpPr/>
          <p:nvPr/>
        </p:nvSpPr>
        <p:spPr>
          <a:xfrm>
            <a:off x="5577840" y="4261104"/>
            <a:ext cx="2834640" cy="402336"/>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 Plaza municipal</a:t>
            </a:r>
            <a:endParaRPr lang="en-US" sz="1050" dirty="0"/>
          </a:p>
        </p:txBody>
      </p:sp>
      <p:sp>
        <p:nvSpPr>
          <p:cNvPr id="43" name="Shape 41"/>
          <p:cNvSpPr/>
          <p:nvPr/>
        </p:nvSpPr>
        <p:spPr>
          <a:xfrm>
            <a:off x="365760" y="4846320"/>
            <a:ext cx="8412480" cy="201168"/>
          </a:xfrm>
          <a:prstGeom prst="rect">
            <a:avLst/>
          </a:prstGeom>
          <a:solidFill>
            <a:srgbClr val="FFF3CD"/>
          </a:solidFill>
          <a:ln w="12700">
            <a:solidFill>
              <a:srgbClr val="CBD5E0"/>
            </a:solidFill>
            <a:prstDash val="solid"/>
          </a:ln>
        </p:spPr>
        <p:txBody>
          <a:bodyPr/>
          <a:lstStyle/>
          <a:p>
            <a:endParaRPr lang="es-AR"/>
          </a:p>
        </p:txBody>
      </p:sp>
      <p:sp>
        <p:nvSpPr>
          <p:cNvPr id="44" name="Text 42"/>
          <p:cNvSpPr/>
          <p:nvPr/>
        </p:nvSpPr>
        <p:spPr>
          <a:xfrm>
            <a:off x="548640" y="4864608"/>
            <a:ext cx="8046720" cy="164592"/>
          </a:xfrm>
          <a:prstGeom prst="rect">
            <a:avLst/>
          </a:prstGeom>
          <a:noFill/>
          <a:ln/>
        </p:spPr>
        <p:txBody>
          <a:bodyPr wrap="square" lIns="0" tIns="0" rIns="0" bIns="0" rtlCol="0" anchor="ctr"/>
          <a:lstStyle/>
          <a:p>
            <a:pPr marL="0" indent="0">
              <a:buNone/>
            </a:pPr>
            <a:r>
              <a:rPr lang="en-US" sz="1000" b="1" dirty="0">
                <a:solidFill>
                  <a:srgbClr val="C0533A"/>
                </a:solidFill>
                <a:latin typeface="Calibri" pitchFamily="34" charset="0"/>
                <a:ea typeface="Calibri" pitchFamily="34" charset="-122"/>
                <a:cs typeface="Calibri" pitchFamily="34" charset="-120"/>
              </a:rPr>
              <a:t>Conclusión: Distintos estratos socioeconómicos NO comparten espacios → falta de cohesión social.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El Consenso de Washington (1989)</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U1.1 — POLÍTICA ECONÓMICA NEOLIBERAL</a:t>
            </a:r>
            <a:endParaRPr lang="en-US" sz="900" dirty="0"/>
          </a:p>
        </p:txBody>
      </p:sp>
      <p:sp>
        <p:nvSpPr>
          <p:cNvPr id="7" name="Text 5"/>
          <p:cNvSpPr/>
          <p:nvPr/>
        </p:nvSpPr>
        <p:spPr>
          <a:xfrm>
            <a:off x="457200" y="1005840"/>
            <a:ext cx="8229600" cy="3657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Respuesta a las crisis fiscales y de deuda de los 80s en América Latina. Propuesto por el FMI, Banco Mundial y Tesoro de EE.UU.</a:t>
            </a:r>
            <a:endParaRPr lang="en-US" sz="1200" dirty="0"/>
          </a:p>
        </p:txBody>
      </p:sp>
      <p:sp>
        <p:nvSpPr>
          <p:cNvPr id="8" name="Shape 6"/>
          <p:cNvSpPr/>
          <p:nvPr/>
        </p:nvSpPr>
        <p:spPr>
          <a:xfrm>
            <a:off x="365760" y="1463040"/>
            <a:ext cx="4114800" cy="585216"/>
          </a:xfrm>
          <a:prstGeom prst="rect">
            <a:avLst/>
          </a:prstGeom>
          <a:solidFill>
            <a:srgbClr val="FFFFFF"/>
          </a:solidFill>
          <a:ln w="12700">
            <a:solidFill>
              <a:srgbClr val="CBD5E0"/>
            </a:solidFill>
            <a:prstDash val="solid"/>
          </a:ln>
        </p:spPr>
        <p:txBody>
          <a:bodyPr/>
          <a:lstStyle/>
          <a:p>
            <a:endParaRPr lang="es-AR"/>
          </a:p>
        </p:txBody>
      </p:sp>
      <p:sp>
        <p:nvSpPr>
          <p:cNvPr id="9" name="Shape 7"/>
          <p:cNvSpPr/>
          <p:nvPr/>
        </p:nvSpPr>
        <p:spPr>
          <a:xfrm>
            <a:off x="365760" y="1463040"/>
            <a:ext cx="292608" cy="585216"/>
          </a:xfrm>
          <a:prstGeom prst="rect">
            <a:avLst/>
          </a:prstGeom>
          <a:solidFill>
            <a:srgbClr val="2C5282">
              <a:alpha val="80000"/>
            </a:srgbClr>
          </a:solidFill>
          <a:ln w="12700">
            <a:solidFill>
              <a:srgbClr val="2C5282"/>
            </a:solidFill>
            <a:prstDash val="solid"/>
          </a:ln>
        </p:spPr>
        <p:txBody>
          <a:bodyPr/>
          <a:lstStyle/>
          <a:p>
            <a:endParaRPr lang="es-AR"/>
          </a:p>
        </p:txBody>
      </p:sp>
      <p:sp>
        <p:nvSpPr>
          <p:cNvPr id="10" name="Text 8"/>
          <p:cNvSpPr/>
          <p:nvPr/>
        </p:nvSpPr>
        <p:spPr>
          <a:xfrm>
            <a:off x="749808" y="1508760"/>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1. Disciplina fiscal — Eliminar déficit</a:t>
            </a:r>
            <a:endParaRPr lang="en-US" sz="1050" dirty="0"/>
          </a:p>
        </p:txBody>
      </p:sp>
      <p:sp>
        <p:nvSpPr>
          <p:cNvPr id="11" name="Shape 9"/>
          <p:cNvSpPr/>
          <p:nvPr/>
        </p:nvSpPr>
        <p:spPr>
          <a:xfrm>
            <a:off x="365760" y="2121408"/>
            <a:ext cx="4114800" cy="585216"/>
          </a:xfrm>
          <a:prstGeom prst="rect">
            <a:avLst/>
          </a:prstGeom>
          <a:solidFill>
            <a:srgbClr val="FFFFFF"/>
          </a:solidFill>
          <a:ln w="12700">
            <a:solidFill>
              <a:srgbClr val="CBD5E0"/>
            </a:solidFill>
            <a:prstDash val="solid"/>
          </a:ln>
        </p:spPr>
        <p:txBody>
          <a:bodyPr/>
          <a:lstStyle/>
          <a:p>
            <a:endParaRPr lang="es-AR"/>
          </a:p>
        </p:txBody>
      </p:sp>
      <p:sp>
        <p:nvSpPr>
          <p:cNvPr id="12" name="Shape 10"/>
          <p:cNvSpPr/>
          <p:nvPr/>
        </p:nvSpPr>
        <p:spPr>
          <a:xfrm>
            <a:off x="365760" y="2121408"/>
            <a:ext cx="292608" cy="585216"/>
          </a:xfrm>
          <a:prstGeom prst="rect">
            <a:avLst/>
          </a:prstGeom>
          <a:solidFill>
            <a:srgbClr val="2C5282">
              <a:alpha val="80000"/>
            </a:srgbClr>
          </a:solidFill>
          <a:ln w="12700">
            <a:solidFill>
              <a:srgbClr val="2C5282"/>
            </a:solidFill>
            <a:prstDash val="solid"/>
          </a:ln>
        </p:spPr>
        <p:txBody>
          <a:bodyPr/>
          <a:lstStyle/>
          <a:p>
            <a:endParaRPr lang="es-AR"/>
          </a:p>
        </p:txBody>
      </p:sp>
      <p:sp>
        <p:nvSpPr>
          <p:cNvPr id="13" name="Text 11"/>
          <p:cNvSpPr/>
          <p:nvPr/>
        </p:nvSpPr>
        <p:spPr>
          <a:xfrm>
            <a:off x="749808" y="2167128"/>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2. Redirigir gasto — Hacia salud, educación, infraestructura</a:t>
            </a:r>
            <a:endParaRPr lang="en-US" sz="1050" dirty="0"/>
          </a:p>
        </p:txBody>
      </p:sp>
      <p:sp>
        <p:nvSpPr>
          <p:cNvPr id="14" name="Shape 12"/>
          <p:cNvSpPr/>
          <p:nvPr/>
        </p:nvSpPr>
        <p:spPr>
          <a:xfrm>
            <a:off x="365760" y="2779776"/>
            <a:ext cx="4114800" cy="585216"/>
          </a:xfrm>
          <a:prstGeom prst="rect">
            <a:avLst/>
          </a:prstGeom>
          <a:solidFill>
            <a:srgbClr val="FFFFFF"/>
          </a:solidFill>
          <a:ln w="12700">
            <a:solidFill>
              <a:srgbClr val="CBD5E0"/>
            </a:solidFill>
            <a:prstDash val="solid"/>
          </a:ln>
        </p:spPr>
        <p:txBody>
          <a:bodyPr/>
          <a:lstStyle/>
          <a:p>
            <a:endParaRPr lang="es-AR"/>
          </a:p>
        </p:txBody>
      </p:sp>
      <p:sp>
        <p:nvSpPr>
          <p:cNvPr id="15" name="Shape 13"/>
          <p:cNvSpPr/>
          <p:nvPr/>
        </p:nvSpPr>
        <p:spPr>
          <a:xfrm>
            <a:off x="365760" y="2779776"/>
            <a:ext cx="292608" cy="585216"/>
          </a:xfrm>
          <a:prstGeom prst="rect">
            <a:avLst/>
          </a:prstGeom>
          <a:solidFill>
            <a:srgbClr val="2C5282">
              <a:alpha val="80000"/>
            </a:srgbClr>
          </a:solidFill>
          <a:ln w="12700">
            <a:solidFill>
              <a:srgbClr val="2C5282"/>
            </a:solidFill>
            <a:prstDash val="solid"/>
          </a:ln>
        </p:spPr>
        <p:txBody>
          <a:bodyPr/>
          <a:lstStyle/>
          <a:p>
            <a:endParaRPr lang="es-AR"/>
          </a:p>
        </p:txBody>
      </p:sp>
      <p:sp>
        <p:nvSpPr>
          <p:cNvPr id="16" name="Text 14"/>
          <p:cNvSpPr/>
          <p:nvPr/>
        </p:nvSpPr>
        <p:spPr>
          <a:xfrm>
            <a:off x="749808" y="2825496"/>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3. Reforma impositiva — Ampliar base, bajar tasas</a:t>
            </a:r>
            <a:endParaRPr lang="en-US" sz="1050" dirty="0"/>
          </a:p>
        </p:txBody>
      </p:sp>
      <p:sp>
        <p:nvSpPr>
          <p:cNvPr id="17" name="Shape 15"/>
          <p:cNvSpPr/>
          <p:nvPr/>
        </p:nvSpPr>
        <p:spPr>
          <a:xfrm>
            <a:off x="365760" y="3438144"/>
            <a:ext cx="4114800" cy="585216"/>
          </a:xfrm>
          <a:prstGeom prst="rect">
            <a:avLst/>
          </a:prstGeom>
          <a:solidFill>
            <a:srgbClr val="FFFFFF"/>
          </a:solidFill>
          <a:ln w="12700">
            <a:solidFill>
              <a:srgbClr val="CBD5E0"/>
            </a:solidFill>
            <a:prstDash val="solid"/>
          </a:ln>
        </p:spPr>
        <p:txBody>
          <a:bodyPr/>
          <a:lstStyle/>
          <a:p>
            <a:endParaRPr lang="es-AR"/>
          </a:p>
        </p:txBody>
      </p:sp>
      <p:sp>
        <p:nvSpPr>
          <p:cNvPr id="18" name="Shape 16"/>
          <p:cNvSpPr/>
          <p:nvPr/>
        </p:nvSpPr>
        <p:spPr>
          <a:xfrm>
            <a:off x="365760" y="3438144"/>
            <a:ext cx="292608" cy="585216"/>
          </a:xfrm>
          <a:prstGeom prst="rect">
            <a:avLst/>
          </a:prstGeom>
          <a:solidFill>
            <a:srgbClr val="2C5282">
              <a:alpha val="80000"/>
            </a:srgbClr>
          </a:solidFill>
          <a:ln w="12700">
            <a:solidFill>
              <a:srgbClr val="2C5282"/>
            </a:solidFill>
            <a:prstDash val="solid"/>
          </a:ln>
        </p:spPr>
        <p:txBody>
          <a:bodyPr/>
          <a:lstStyle/>
          <a:p>
            <a:endParaRPr lang="es-AR"/>
          </a:p>
        </p:txBody>
      </p:sp>
      <p:sp>
        <p:nvSpPr>
          <p:cNvPr id="19" name="Text 17"/>
          <p:cNvSpPr/>
          <p:nvPr/>
        </p:nvSpPr>
        <p:spPr>
          <a:xfrm>
            <a:off x="749808" y="3483864"/>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4. Liberalización financiera — Tasas de mercado</a:t>
            </a:r>
            <a:endParaRPr lang="en-US" sz="1050" dirty="0"/>
          </a:p>
        </p:txBody>
      </p:sp>
      <p:sp>
        <p:nvSpPr>
          <p:cNvPr id="20" name="Shape 18"/>
          <p:cNvSpPr/>
          <p:nvPr/>
        </p:nvSpPr>
        <p:spPr>
          <a:xfrm>
            <a:off x="365760" y="4096512"/>
            <a:ext cx="4114800" cy="585216"/>
          </a:xfrm>
          <a:prstGeom prst="rect">
            <a:avLst/>
          </a:prstGeom>
          <a:solidFill>
            <a:srgbClr val="FFFFFF"/>
          </a:solidFill>
          <a:ln w="12700">
            <a:solidFill>
              <a:srgbClr val="CBD5E0"/>
            </a:solidFill>
            <a:prstDash val="solid"/>
          </a:ln>
        </p:spPr>
        <p:txBody>
          <a:bodyPr/>
          <a:lstStyle/>
          <a:p>
            <a:endParaRPr lang="es-AR"/>
          </a:p>
        </p:txBody>
      </p:sp>
      <p:sp>
        <p:nvSpPr>
          <p:cNvPr id="21" name="Shape 19"/>
          <p:cNvSpPr/>
          <p:nvPr/>
        </p:nvSpPr>
        <p:spPr>
          <a:xfrm>
            <a:off x="365760" y="4096512"/>
            <a:ext cx="292608" cy="585216"/>
          </a:xfrm>
          <a:prstGeom prst="rect">
            <a:avLst/>
          </a:prstGeom>
          <a:solidFill>
            <a:srgbClr val="2C5282">
              <a:alpha val="80000"/>
            </a:srgbClr>
          </a:solidFill>
          <a:ln w="12700">
            <a:solidFill>
              <a:srgbClr val="2C5282"/>
            </a:solidFill>
            <a:prstDash val="solid"/>
          </a:ln>
        </p:spPr>
        <p:txBody>
          <a:bodyPr/>
          <a:lstStyle/>
          <a:p>
            <a:endParaRPr lang="es-AR"/>
          </a:p>
        </p:txBody>
      </p:sp>
      <p:sp>
        <p:nvSpPr>
          <p:cNvPr id="22" name="Text 20"/>
          <p:cNvSpPr/>
          <p:nvPr/>
        </p:nvSpPr>
        <p:spPr>
          <a:xfrm>
            <a:off x="749808" y="4142232"/>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5. Tipo de cambio competitivo — Determinado por mercado</a:t>
            </a:r>
            <a:endParaRPr lang="en-US" sz="1050" dirty="0"/>
          </a:p>
        </p:txBody>
      </p:sp>
      <p:sp>
        <p:nvSpPr>
          <p:cNvPr id="23" name="Shape 21"/>
          <p:cNvSpPr/>
          <p:nvPr/>
        </p:nvSpPr>
        <p:spPr>
          <a:xfrm>
            <a:off x="4663440" y="1463040"/>
            <a:ext cx="4114800" cy="585216"/>
          </a:xfrm>
          <a:prstGeom prst="rect">
            <a:avLst/>
          </a:prstGeom>
          <a:solidFill>
            <a:srgbClr val="FFFFFF"/>
          </a:solidFill>
          <a:ln w="12700">
            <a:solidFill>
              <a:srgbClr val="CBD5E0"/>
            </a:solidFill>
            <a:prstDash val="solid"/>
          </a:ln>
        </p:spPr>
        <p:txBody>
          <a:bodyPr/>
          <a:lstStyle/>
          <a:p>
            <a:endParaRPr lang="es-AR"/>
          </a:p>
        </p:txBody>
      </p:sp>
      <p:sp>
        <p:nvSpPr>
          <p:cNvPr id="24" name="Shape 22"/>
          <p:cNvSpPr/>
          <p:nvPr/>
        </p:nvSpPr>
        <p:spPr>
          <a:xfrm>
            <a:off x="4663440" y="1463040"/>
            <a:ext cx="292608" cy="585216"/>
          </a:xfrm>
          <a:prstGeom prst="rect">
            <a:avLst/>
          </a:prstGeom>
          <a:solidFill>
            <a:srgbClr val="D4A853">
              <a:alpha val="80000"/>
            </a:srgbClr>
          </a:solidFill>
          <a:ln w="12700">
            <a:solidFill>
              <a:srgbClr val="D4A853"/>
            </a:solidFill>
            <a:prstDash val="solid"/>
          </a:ln>
        </p:spPr>
        <p:txBody>
          <a:bodyPr/>
          <a:lstStyle/>
          <a:p>
            <a:endParaRPr lang="es-AR"/>
          </a:p>
        </p:txBody>
      </p:sp>
      <p:sp>
        <p:nvSpPr>
          <p:cNvPr id="25" name="Text 23"/>
          <p:cNvSpPr/>
          <p:nvPr/>
        </p:nvSpPr>
        <p:spPr>
          <a:xfrm>
            <a:off x="5047488" y="1508760"/>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6. Liberalización comercial — Eliminar protecciones</a:t>
            </a:r>
            <a:endParaRPr lang="en-US" sz="1050" dirty="0"/>
          </a:p>
        </p:txBody>
      </p:sp>
      <p:sp>
        <p:nvSpPr>
          <p:cNvPr id="26" name="Shape 24"/>
          <p:cNvSpPr/>
          <p:nvPr/>
        </p:nvSpPr>
        <p:spPr>
          <a:xfrm>
            <a:off x="4663440" y="2121408"/>
            <a:ext cx="4114800" cy="585216"/>
          </a:xfrm>
          <a:prstGeom prst="rect">
            <a:avLst/>
          </a:prstGeom>
          <a:solidFill>
            <a:srgbClr val="FFFFFF"/>
          </a:solidFill>
          <a:ln w="12700">
            <a:solidFill>
              <a:srgbClr val="CBD5E0"/>
            </a:solidFill>
            <a:prstDash val="solid"/>
          </a:ln>
        </p:spPr>
        <p:txBody>
          <a:bodyPr/>
          <a:lstStyle/>
          <a:p>
            <a:endParaRPr lang="es-AR"/>
          </a:p>
        </p:txBody>
      </p:sp>
      <p:sp>
        <p:nvSpPr>
          <p:cNvPr id="27" name="Shape 25"/>
          <p:cNvSpPr/>
          <p:nvPr/>
        </p:nvSpPr>
        <p:spPr>
          <a:xfrm>
            <a:off x="4663440" y="2121408"/>
            <a:ext cx="292608" cy="585216"/>
          </a:xfrm>
          <a:prstGeom prst="rect">
            <a:avLst/>
          </a:prstGeom>
          <a:solidFill>
            <a:srgbClr val="D4A853">
              <a:alpha val="80000"/>
            </a:srgbClr>
          </a:solidFill>
          <a:ln w="12700">
            <a:solidFill>
              <a:srgbClr val="D4A853"/>
            </a:solidFill>
            <a:prstDash val="solid"/>
          </a:ln>
        </p:spPr>
        <p:txBody>
          <a:bodyPr/>
          <a:lstStyle/>
          <a:p>
            <a:endParaRPr lang="es-AR"/>
          </a:p>
        </p:txBody>
      </p:sp>
      <p:sp>
        <p:nvSpPr>
          <p:cNvPr id="28" name="Text 26"/>
          <p:cNvSpPr/>
          <p:nvPr/>
        </p:nvSpPr>
        <p:spPr>
          <a:xfrm>
            <a:off x="5047488" y="2167128"/>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7. Inversión extranjera — Igualar con nacional</a:t>
            </a:r>
            <a:endParaRPr lang="en-US" sz="1050" dirty="0"/>
          </a:p>
        </p:txBody>
      </p:sp>
      <p:sp>
        <p:nvSpPr>
          <p:cNvPr id="29" name="Shape 27"/>
          <p:cNvSpPr/>
          <p:nvPr/>
        </p:nvSpPr>
        <p:spPr>
          <a:xfrm>
            <a:off x="4663440" y="2779776"/>
            <a:ext cx="4114800" cy="585216"/>
          </a:xfrm>
          <a:prstGeom prst="rect">
            <a:avLst/>
          </a:prstGeom>
          <a:solidFill>
            <a:srgbClr val="FFFFFF"/>
          </a:solidFill>
          <a:ln w="12700">
            <a:solidFill>
              <a:srgbClr val="CBD5E0"/>
            </a:solidFill>
            <a:prstDash val="solid"/>
          </a:ln>
        </p:spPr>
        <p:txBody>
          <a:bodyPr/>
          <a:lstStyle/>
          <a:p>
            <a:endParaRPr lang="es-AR"/>
          </a:p>
        </p:txBody>
      </p:sp>
      <p:sp>
        <p:nvSpPr>
          <p:cNvPr id="30" name="Shape 28"/>
          <p:cNvSpPr/>
          <p:nvPr/>
        </p:nvSpPr>
        <p:spPr>
          <a:xfrm>
            <a:off x="4663440" y="2779776"/>
            <a:ext cx="292608" cy="585216"/>
          </a:xfrm>
          <a:prstGeom prst="rect">
            <a:avLst/>
          </a:prstGeom>
          <a:solidFill>
            <a:srgbClr val="D4A853">
              <a:alpha val="80000"/>
            </a:srgbClr>
          </a:solidFill>
          <a:ln w="12700">
            <a:solidFill>
              <a:srgbClr val="D4A853"/>
            </a:solidFill>
            <a:prstDash val="solid"/>
          </a:ln>
        </p:spPr>
        <p:txBody>
          <a:bodyPr/>
          <a:lstStyle/>
          <a:p>
            <a:endParaRPr lang="es-AR"/>
          </a:p>
        </p:txBody>
      </p:sp>
      <p:sp>
        <p:nvSpPr>
          <p:cNvPr id="31" name="Text 29"/>
          <p:cNvSpPr/>
          <p:nvPr/>
        </p:nvSpPr>
        <p:spPr>
          <a:xfrm>
            <a:off x="5047488" y="2825496"/>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8. Privatizaciones — Empresas estatales al sector privado</a:t>
            </a:r>
            <a:endParaRPr lang="en-US" sz="1050" dirty="0"/>
          </a:p>
        </p:txBody>
      </p:sp>
      <p:sp>
        <p:nvSpPr>
          <p:cNvPr id="32" name="Shape 30"/>
          <p:cNvSpPr/>
          <p:nvPr/>
        </p:nvSpPr>
        <p:spPr>
          <a:xfrm>
            <a:off x="4663440" y="3438144"/>
            <a:ext cx="4114800" cy="585216"/>
          </a:xfrm>
          <a:prstGeom prst="rect">
            <a:avLst/>
          </a:prstGeom>
          <a:solidFill>
            <a:srgbClr val="FFFFFF"/>
          </a:solidFill>
          <a:ln w="12700">
            <a:solidFill>
              <a:srgbClr val="CBD5E0"/>
            </a:solidFill>
            <a:prstDash val="solid"/>
          </a:ln>
        </p:spPr>
        <p:txBody>
          <a:bodyPr/>
          <a:lstStyle/>
          <a:p>
            <a:endParaRPr lang="es-AR"/>
          </a:p>
        </p:txBody>
      </p:sp>
      <p:sp>
        <p:nvSpPr>
          <p:cNvPr id="33" name="Shape 31"/>
          <p:cNvSpPr/>
          <p:nvPr/>
        </p:nvSpPr>
        <p:spPr>
          <a:xfrm>
            <a:off x="4663440" y="3438144"/>
            <a:ext cx="292608" cy="585216"/>
          </a:xfrm>
          <a:prstGeom prst="rect">
            <a:avLst/>
          </a:prstGeom>
          <a:solidFill>
            <a:srgbClr val="D4A853">
              <a:alpha val="80000"/>
            </a:srgbClr>
          </a:solidFill>
          <a:ln w="12700">
            <a:solidFill>
              <a:srgbClr val="D4A853"/>
            </a:solidFill>
            <a:prstDash val="solid"/>
          </a:ln>
        </p:spPr>
        <p:txBody>
          <a:bodyPr/>
          <a:lstStyle/>
          <a:p>
            <a:endParaRPr lang="es-AR"/>
          </a:p>
        </p:txBody>
      </p:sp>
      <p:sp>
        <p:nvSpPr>
          <p:cNvPr id="34" name="Text 32"/>
          <p:cNvSpPr/>
          <p:nvPr/>
        </p:nvSpPr>
        <p:spPr>
          <a:xfrm>
            <a:off x="5047488" y="3483864"/>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9. Desregulación — Eliminar barreras a la competencia</a:t>
            </a:r>
            <a:endParaRPr lang="en-US" sz="1050" dirty="0"/>
          </a:p>
        </p:txBody>
      </p:sp>
      <p:sp>
        <p:nvSpPr>
          <p:cNvPr id="35" name="Shape 33"/>
          <p:cNvSpPr/>
          <p:nvPr/>
        </p:nvSpPr>
        <p:spPr>
          <a:xfrm>
            <a:off x="4663440" y="4096512"/>
            <a:ext cx="4114800" cy="585216"/>
          </a:xfrm>
          <a:prstGeom prst="rect">
            <a:avLst/>
          </a:prstGeom>
          <a:solidFill>
            <a:srgbClr val="FFFFFF"/>
          </a:solidFill>
          <a:ln w="12700">
            <a:solidFill>
              <a:srgbClr val="CBD5E0"/>
            </a:solidFill>
            <a:prstDash val="solid"/>
          </a:ln>
        </p:spPr>
        <p:txBody>
          <a:bodyPr/>
          <a:lstStyle/>
          <a:p>
            <a:endParaRPr lang="es-AR"/>
          </a:p>
        </p:txBody>
      </p:sp>
      <p:sp>
        <p:nvSpPr>
          <p:cNvPr id="36" name="Shape 34"/>
          <p:cNvSpPr/>
          <p:nvPr/>
        </p:nvSpPr>
        <p:spPr>
          <a:xfrm>
            <a:off x="4663440" y="4096512"/>
            <a:ext cx="292608" cy="585216"/>
          </a:xfrm>
          <a:prstGeom prst="rect">
            <a:avLst/>
          </a:prstGeom>
          <a:solidFill>
            <a:srgbClr val="D4A853">
              <a:alpha val="80000"/>
            </a:srgbClr>
          </a:solidFill>
          <a:ln w="12700">
            <a:solidFill>
              <a:srgbClr val="D4A853"/>
            </a:solidFill>
            <a:prstDash val="solid"/>
          </a:ln>
        </p:spPr>
        <p:txBody>
          <a:bodyPr/>
          <a:lstStyle/>
          <a:p>
            <a:endParaRPr lang="es-AR"/>
          </a:p>
        </p:txBody>
      </p:sp>
      <p:sp>
        <p:nvSpPr>
          <p:cNvPr id="37" name="Text 35"/>
          <p:cNvSpPr/>
          <p:nvPr/>
        </p:nvSpPr>
        <p:spPr>
          <a:xfrm>
            <a:off x="5047488" y="4142232"/>
            <a:ext cx="3639312" cy="475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10. Derechos de propiedad — Protección legal efectiva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¿Funcionó el Consenso de Washington?</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U1.1 — EVALUACIÓN CRÍTICA</a:t>
            </a:r>
            <a:endParaRPr lang="en-US" sz="900" dirty="0"/>
          </a:p>
        </p:txBody>
      </p:sp>
      <p:sp>
        <p:nvSpPr>
          <p:cNvPr id="7" name="Shape 5"/>
          <p:cNvSpPr/>
          <p:nvPr/>
        </p:nvSpPr>
        <p:spPr>
          <a:xfrm>
            <a:off x="365760" y="1051560"/>
            <a:ext cx="4160520" cy="32004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51560"/>
            <a:ext cx="4160520" cy="347472"/>
          </a:xfrm>
          <a:prstGeom prst="rect">
            <a:avLst/>
          </a:prstGeom>
          <a:solidFill>
            <a:srgbClr val="2E8B74"/>
          </a:solidFill>
          <a:ln w="12700">
            <a:solidFill>
              <a:srgbClr val="2E8B74"/>
            </a:solidFill>
            <a:prstDash val="solid"/>
          </a:ln>
        </p:spPr>
        <p:txBody>
          <a:bodyPr/>
          <a:lstStyle/>
          <a:p>
            <a:endParaRPr lang="es-AR"/>
          </a:p>
        </p:txBody>
      </p:sp>
      <p:sp>
        <p:nvSpPr>
          <p:cNvPr id="9" name="Text 7"/>
          <p:cNvSpPr/>
          <p:nvPr/>
        </p:nvSpPr>
        <p:spPr>
          <a:xfrm>
            <a:off x="475488" y="1078992"/>
            <a:ext cx="39319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Lo que logró</a:t>
            </a:r>
            <a:endParaRPr lang="en-US" sz="1300" dirty="0"/>
          </a:p>
        </p:txBody>
      </p:sp>
      <p:sp>
        <p:nvSpPr>
          <p:cNvPr id="10" name="Text 8"/>
          <p:cNvSpPr/>
          <p:nvPr/>
        </p:nvSpPr>
        <p:spPr>
          <a:xfrm>
            <a:off x="502920" y="1463040"/>
            <a:ext cx="3840480" cy="260604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A202C"/>
                </a:solidFill>
                <a:latin typeface="Calibri" pitchFamily="34" charset="0"/>
                <a:ea typeface="Calibri" pitchFamily="34" charset="-122"/>
                <a:cs typeface="Calibri" pitchFamily="34" charset="-120"/>
              </a:rPr>
              <a:t>Estabilidad macroeconómica en varios países</a:t>
            </a:r>
            <a:endParaRPr lang="en-US" sz="1150" dirty="0"/>
          </a:p>
          <a:p>
            <a:pPr marL="342900" indent="-342900">
              <a:spcAft>
                <a:spcPts val="800"/>
              </a:spcAft>
              <a:buSzPct val="100000"/>
              <a:buChar char="•"/>
            </a:pPr>
            <a:r>
              <a:rPr lang="en-US" sz="1150" dirty="0">
                <a:solidFill>
                  <a:srgbClr val="1A202C"/>
                </a:solidFill>
                <a:latin typeface="Calibri" pitchFamily="34" charset="0"/>
                <a:ea typeface="Calibri" pitchFamily="34" charset="-122"/>
                <a:cs typeface="Calibri" pitchFamily="34" charset="-120"/>
              </a:rPr>
              <a:t>Reducción de la inflación en muchos casos</a:t>
            </a:r>
            <a:endParaRPr lang="en-US" sz="1150" dirty="0"/>
          </a:p>
          <a:p>
            <a:pPr marL="342900" indent="-342900">
              <a:spcAft>
                <a:spcPts val="800"/>
              </a:spcAft>
              <a:buSzPct val="100000"/>
              <a:buChar char="•"/>
            </a:pPr>
            <a:r>
              <a:rPr lang="en-US" sz="1150" dirty="0">
                <a:solidFill>
                  <a:srgbClr val="1A202C"/>
                </a:solidFill>
                <a:latin typeface="Calibri" pitchFamily="34" charset="0"/>
                <a:ea typeface="Calibri" pitchFamily="34" charset="-122"/>
                <a:cs typeface="Calibri" pitchFamily="34" charset="-120"/>
              </a:rPr>
              <a:t>Apertura al comercio internacional</a:t>
            </a:r>
            <a:endParaRPr lang="en-US" sz="1150" dirty="0"/>
          </a:p>
          <a:p>
            <a:pPr marL="342900" indent="-342900">
              <a:spcAft>
                <a:spcPts val="800"/>
              </a:spcAft>
              <a:buSzPct val="100000"/>
              <a:buChar char="•"/>
            </a:pPr>
            <a:r>
              <a:rPr lang="en-US" sz="1150" dirty="0">
                <a:solidFill>
                  <a:srgbClr val="1A202C"/>
                </a:solidFill>
                <a:latin typeface="Calibri" pitchFamily="34" charset="0"/>
                <a:ea typeface="Calibri" pitchFamily="34" charset="-122"/>
                <a:cs typeface="Calibri" pitchFamily="34" charset="-120"/>
              </a:rPr>
              <a:t>Atracción de inversión extranjera</a:t>
            </a:r>
            <a:endParaRPr lang="en-US" sz="1150" dirty="0"/>
          </a:p>
        </p:txBody>
      </p:sp>
      <p:sp>
        <p:nvSpPr>
          <p:cNvPr id="11" name="Shape 9"/>
          <p:cNvSpPr/>
          <p:nvPr/>
        </p:nvSpPr>
        <p:spPr>
          <a:xfrm>
            <a:off x="4663440" y="1051560"/>
            <a:ext cx="4160520" cy="32004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2" name="Shape 10"/>
          <p:cNvSpPr/>
          <p:nvPr/>
        </p:nvSpPr>
        <p:spPr>
          <a:xfrm>
            <a:off x="4663440" y="1051560"/>
            <a:ext cx="4160520" cy="347472"/>
          </a:xfrm>
          <a:prstGeom prst="rect">
            <a:avLst/>
          </a:prstGeom>
          <a:solidFill>
            <a:srgbClr val="C0533A"/>
          </a:solidFill>
          <a:ln w="12700">
            <a:solidFill>
              <a:srgbClr val="C0533A"/>
            </a:solidFill>
            <a:prstDash val="solid"/>
          </a:ln>
        </p:spPr>
        <p:txBody>
          <a:bodyPr/>
          <a:lstStyle/>
          <a:p>
            <a:endParaRPr lang="es-AR"/>
          </a:p>
        </p:txBody>
      </p:sp>
      <p:sp>
        <p:nvSpPr>
          <p:cNvPr id="13" name="Text 11"/>
          <p:cNvSpPr/>
          <p:nvPr/>
        </p:nvSpPr>
        <p:spPr>
          <a:xfrm>
            <a:off x="4773168" y="1078992"/>
            <a:ext cx="39319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Lo que falló</a:t>
            </a:r>
            <a:endParaRPr lang="en-US" sz="1300" dirty="0"/>
          </a:p>
        </p:txBody>
      </p:sp>
      <p:sp>
        <p:nvSpPr>
          <p:cNvPr id="14" name="Text 12"/>
          <p:cNvSpPr/>
          <p:nvPr/>
        </p:nvSpPr>
        <p:spPr>
          <a:xfrm>
            <a:off x="4800600" y="1463040"/>
            <a:ext cx="3840480" cy="260604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A202C"/>
                </a:solidFill>
                <a:latin typeface="Calibri" pitchFamily="34" charset="0"/>
                <a:ea typeface="Calibri" pitchFamily="34" charset="-122"/>
                <a:cs typeface="Calibri" pitchFamily="34" charset="-120"/>
              </a:rPr>
              <a:t>Aumento de la desigualdad en varios países</a:t>
            </a:r>
            <a:endParaRPr lang="en-US" sz="1150" dirty="0"/>
          </a:p>
          <a:p>
            <a:pPr marL="342900" indent="-342900">
              <a:spcAft>
                <a:spcPts val="800"/>
              </a:spcAft>
              <a:buSzPct val="100000"/>
              <a:buChar char="•"/>
            </a:pPr>
            <a:r>
              <a:rPr lang="en-US" sz="1150" dirty="0">
                <a:solidFill>
                  <a:srgbClr val="1A202C"/>
                </a:solidFill>
                <a:latin typeface="Calibri" pitchFamily="34" charset="0"/>
                <a:ea typeface="Calibri" pitchFamily="34" charset="-122"/>
                <a:cs typeface="Calibri" pitchFamily="34" charset="-120"/>
              </a:rPr>
              <a:t>Crisis financieras: Tequilazo (1994), Corralito Argentina (2001)</a:t>
            </a:r>
            <a:endParaRPr lang="en-US" sz="1150" dirty="0"/>
          </a:p>
          <a:p>
            <a:pPr marL="342900" indent="-342900">
              <a:spcAft>
                <a:spcPts val="800"/>
              </a:spcAft>
              <a:buSzPct val="100000"/>
              <a:buChar char="•"/>
            </a:pPr>
            <a:r>
              <a:rPr lang="en-US" sz="1150" dirty="0">
                <a:solidFill>
                  <a:srgbClr val="1A202C"/>
                </a:solidFill>
                <a:latin typeface="Calibri" pitchFamily="34" charset="0"/>
                <a:ea typeface="Calibri" pitchFamily="34" charset="-122"/>
                <a:cs typeface="Calibri" pitchFamily="34" charset="-120"/>
              </a:rPr>
              <a:t>Desindustrialización en economías protegidas</a:t>
            </a:r>
            <a:endParaRPr lang="en-US" sz="1150" dirty="0"/>
          </a:p>
          <a:p>
            <a:pPr marL="342900" indent="-342900">
              <a:spcAft>
                <a:spcPts val="800"/>
              </a:spcAft>
              <a:buSzPct val="100000"/>
              <a:buChar char="•"/>
            </a:pPr>
            <a:r>
              <a:rPr lang="en-US" sz="1150" dirty="0">
                <a:solidFill>
                  <a:srgbClr val="1A202C"/>
                </a:solidFill>
                <a:latin typeface="Calibri" pitchFamily="34" charset="0"/>
                <a:ea typeface="Calibri" pitchFamily="34" charset="-122"/>
                <a:cs typeface="Calibri" pitchFamily="34" charset="-120"/>
              </a:rPr>
              <a:t>Desempleo y precarización laboral</a:t>
            </a:r>
            <a:endParaRPr lang="en-US" sz="1150" dirty="0"/>
          </a:p>
        </p:txBody>
      </p:sp>
      <p:sp>
        <p:nvSpPr>
          <p:cNvPr id="15" name="Shape 13"/>
          <p:cNvSpPr/>
          <p:nvPr/>
        </p:nvSpPr>
        <p:spPr>
          <a:xfrm>
            <a:off x="365760" y="4370832"/>
            <a:ext cx="8412480" cy="658368"/>
          </a:xfrm>
          <a:prstGeom prst="rect">
            <a:avLst/>
          </a:prstGeom>
          <a:solidFill>
            <a:srgbClr val="FFF3CD"/>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6" name="Shape 14"/>
          <p:cNvSpPr/>
          <p:nvPr/>
        </p:nvSpPr>
        <p:spPr>
          <a:xfrm>
            <a:off x="365760" y="4370832"/>
            <a:ext cx="54864" cy="658368"/>
          </a:xfrm>
          <a:prstGeom prst="rect">
            <a:avLst/>
          </a:prstGeom>
          <a:solidFill>
            <a:srgbClr val="D4A853"/>
          </a:solidFill>
          <a:ln w="12700">
            <a:solidFill>
              <a:srgbClr val="D4A853"/>
            </a:solidFill>
            <a:prstDash val="solid"/>
          </a:ln>
        </p:spPr>
        <p:txBody>
          <a:bodyPr/>
          <a:lstStyle/>
          <a:p>
            <a:endParaRPr lang="es-AR"/>
          </a:p>
        </p:txBody>
      </p:sp>
      <p:sp>
        <p:nvSpPr>
          <p:cNvPr id="17" name="Text 15"/>
          <p:cNvSpPr/>
          <p:nvPr/>
        </p:nvSpPr>
        <p:spPr>
          <a:xfrm>
            <a:off x="548640" y="4416552"/>
            <a:ext cx="8046720" cy="54864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Lección: las políticas económicas sin considerar el contexto institucional, cultural y de poder generan resultados opuestos a los esperados. El mercado no funciona igual en todos los países.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E8B74"/>
        </a:solidFill>
        <a:effectLst/>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FFFFFF">
              <a:alpha val="40000"/>
            </a:srgbClr>
          </a:solidFill>
          <a:ln w="12700">
            <a:solidFill>
              <a:srgbClr val="FFFFFF">
                <a:alpha val="40000"/>
              </a:srgbClr>
            </a:solidFill>
            <a:prstDash val="solid"/>
          </a:ln>
        </p:spPr>
        <p:txBody>
          <a:bodyPr/>
          <a:lstStyle/>
          <a:p>
            <a:endParaRPr lang="es-AR"/>
          </a:p>
        </p:txBody>
      </p:sp>
      <p:sp>
        <p:nvSpPr>
          <p:cNvPr id="3" name="Shape 1"/>
          <p:cNvSpPr/>
          <p:nvPr/>
        </p:nvSpPr>
        <p:spPr>
          <a:xfrm>
            <a:off x="8778240" y="0"/>
            <a:ext cx="365760" cy="5143500"/>
          </a:xfrm>
          <a:prstGeom prst="rect">
            <a:avLst/>
          </a:prstGeom>
          <a:solidFill>
            <a:srgbClr val="FFFFFF">
              <a:alpha val="40000"/>
            </a:srgbClr>
          </a:solidFill>
          <a:ln w="12700">
            <a:solidFill>
              <a:srgbClr val="FFFFFF">
                <a:alpha val="40000"/>
              </a:srgbClr>
            </a:solidFill>
            <a:prstDash val="solid"/>
          </a:ln>
        </p:spPr>
        <p:txBody>
          <a:bodyPr/>
          <a:lstStyle/>
          <a:p>
            <a:endParaRPr lang="es-AR"/>
          </a:p>
        </p:txBody>
      </p:sp>
      <p:sp>
        <p:nvSpPr>
          <p:cNvPr id="4" name="Text 2"/>
          <p:cNvSpPr/>
          <p:nvPr/>
        </p:nvSpPr>
        <p:spPr>
          <a:xfrm>
            <a:off x="0" y="731520"/>
            <a:ext cx="9144000" cy="914400"/>
          </a:xfrm>
          <a:prstGeom prst="rect">
            <a:avLst/>
          </a:prstGeom>
          <a:noFill/>
          <a:ln/>
        </p:spPr>
        <p:txBody>
          <a:bodyPr wrap="square" lIns="0" tIns="0" rIns="0" bIns="0" rtlCol="0" anchor="ctr"/>
          <a:lstStyle/>
          <a:p>
            <a:pPr marL="0" indent="0" algn="ctr">
              <a:buNone/>
            </a:pPr>
            <a:r>
              <a:rPr lang="en-US" sz="6400" b="1" dirty="0">
                <a:solidFill>
                  <a:srgbClr val="FFFFFF"/>
                </a:solidFill>
                <a:latin typeface="Georgia" pitchFamily="34" charset="0"/>
                <a:ea typeface="Georgia" pitchFamily="34" charset="-122"/>
                <a:cs typeface="Georgia" pitchFamily="34" charset="-120"/>
              </a:rPr>
              <a:t>U1.2</a:t>
            </a:r>
            <a:endParaRPr lang="en-US" sz="6400" dirty="0"/>
          </a:p>
        </p:txBody>
      </p:sp>
      <p:sp>
        <p:nvSpPr>
          <p:cNvPr id="5" name="Text 3"/>
          <p:cNvSpPr/>
          <p:nvPr/>
        </p:nvSpPr>
        <p:spPr>
          <a:xfrm>
            <a:off x="914400" y="1828800"/>
            <a:ext cx="7315200" cy="1188720"/>
          </a:xfrm>
          <a:prstGeom prst="rect">
            <a:avLst/>
          </a:prstGeom>
          <a:noFill/>
          <a:ln/>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Similitudes y Diferencias</a:t>
            </a:r>
            <a:endParaRPr lang="en-US" sz="2600" dirty="0"/>
          </a:p>
          <a:p>
            <a:pPr marL="0" indent="0" algn="ctr">
              <a:buNone/>
            </a:pPr>
            <a:r>
              <a:rPr lang="en-US" sz="2600" dirty="0">
                <a:solidFill>
                  <a:srgbClr val="FFFFFF"/>
                </a:solidFill>
                <a:latin typeface="Calibri" pitchFamily="34" charset="0"/>
                <a:ea typeface="Calibri" pitchFamily="34" charset="-122"/>
                <a:cs typeface="Calibri" pitchFamily="34" charset="-120"/>
              </a:rPr>
              <a:t>entre Países en Desarrollo</a:t>
            </a:r>
            <a:endParaRPr lang="en-US" sz="2600" dirty="0"/>
          </a:p>
        </p:txBody>
      </p:sp>
      <p:sp>
        <p:nvSpPr>
          <p:cNvPr id="6" name="Shape 4"/>
          <p:cNvSpPr/>
          <p:nvPr/>
        </p:nvSpPr>
        <p:spPr>
          <a:xfrm>
            <a:off x="2286000" y="3108960"/>
            <a:ext cx="4572000" cy="0"/>
          </a:xfrm>
          <a:prstGeom prst="line">
            <a:avLst/>
          </a:prstGeom>
          <a:noFill/>
          <a:ln w="12700">
            <a:solidFill>
              <a:srgbClr val="FFFFFF">
                <a:alpha val="60000"/>
              </a:srgbClr>
            </a:solidFill>
            <a:prstDash val="solid"/>
          </a:ln>
        </p:spPr>
        <p:txBody>
          <a:bodyPr/>
          <a:lstStyle/>
          <a:p>
            <a:endParaRPr lang="es-AR"/>
          </a:p>
        </p:txBody>
      </p:sp>
      <p:sp>
        <p:nvSpPr>
          <p:cNvPr id="7" name="Text 5"/>
          <p:cNvSpPr/>
          <p:nvPr/>
        </p:nvSpPr>
        <p:spPr>
          <a:xfrm>
            <a:off x="914400" y="3246120"/>
            <a:ext cx="7315200" cy="457200"/>
          </a:xfrm>
          <a:prstGeom prst="rect">
            <a:avLst/>
          </a:prstGeom>
          <a:noFill/>
          <a:ln/>
        </p:spPr>
        <p:txBody>
          <a:bodyPr wrap="square" lIns="0" tIns="0" rIns="0" bIns="0"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¿Qué tienen en común y en qué difieren los países pobres?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Los Países en Desarrollo son muy Diversos</a:t>
            </a:r>
            <a:endParaRPr lang="en-US" sz="2800" dirty="0"/>
          </a:p>
        </p:txBody>
      </p:sp>
      <p:sp>
        <p:nvSpPr>
          <p:cNvPr id="5" name="Shape 3"/>
          <p:cNvSpPr/>
          <p:nvPr/>
        </p:nvSpPr>
        <p:spPr>
          <a:xfrm>
            <a:off x="457200" y="731520"/>
            <a:ext cx="36576" cy="201168"/>
          </a:xfrm>
          <a:prstGeom prst="rect">
            <a:avLst/>
          </a:prstGeom>
          <a:solidFill>
            <a:srgbClr val="2E8B74"/>
          </a:solidFill>
          <a:ln w="12700">
            <a:solidFill>
              <a:srgbClr val="2E8B74"/>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2E8B74"/>
                </a:solidFill>
                <a:latin typeface="Calibri" pitchFamily="34" charset="0"/>
                <a:ea typeface="Calibri" pitchFamily="34" charset="-122"/>
                <a:cs typeface="Calibri" pitchFamily="34" charset="-120"/>
              </a:rPr>
              <a:t>U1.2 — PUNTO DE PARTIDA</a:t>
            </a:r>
            <a:endParaRPr lang="en-US" sz="900" dirty="0"/>
          </a:p>
        </p:txBody>
      </p:sp>
      <p:sp>
        <p:nvSpPr>
          <p:cNvPr id="7" name="Text 5"/>
          <p:cNvSpPr/>
          <p:nvPr/>
        </p:nvSpPr>
        <p:spPr>
          <a:xfrm>
            <a:off x="457200" y="1005840"/>
            <a:ext cx="8229600" cy="5029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Error común: pensar que todos los países pobres son iguales. En realidad son muy distintos en múltiples dimensiones, aunque comparten ciertos problemas estructurales.</a:t>
            </a:r>
            <a:endParaRPr lang="en-US" sz="1200" dirty="0"/>
          </a:p>
        </p:txBody>
      </p:sp>
      <p:sp>
        <p:nvSpPr>
          <p:cNvPr id="8" name="Shape 6"/>
          <p:cNvSpPr/>
          <p:nvPr/>
        </p:nvSpPr>
        <p:spPr>
          <a:xfrm>
            <a:off x="365760" y="1572768"/>
            <a:ext cx="2011680" cy="14173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9" name="Text 7"/>
          <p:cNvSpPr/>
          <p:nvPr/>
        </p:nvSpPr>
        <p:spPr>
          <a:xfrm>
            <a:off x="457200" y="1682496"/>
            <a:ext cx="502920" cy="50292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0" name="Text 8"/>
          <p:cNvSpPr/>
          <p:nvPr/>
        </p:nvSpPr>
        <p:spPr>
          <a:xfrm>
            <a:off x="960120" y="1719072"/>
            <a:ext cx="1298448" cy="347472"/>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Educación</a:t>
            </a:r>
            <a:endParaRPr lang="en-US" sz="1100" dirty="0"/>
          </a:p>
        </p:txBody>
      </p:sp>
      <p:sp>
        <p:nvSpPr>
          <p:cNvPr id="11" name="Text 9"/>
          <p:cNvSpPr/>
          <p:nvPr/>
        </p:nvSpPr>
        <p:spPr>
          <a:xfrm>
            <a:off x="475488" y="2231136"/>
            <a:ext cx="1792224" cy="6583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¿Qué tan formada está la población? Calidad y acceso.</a:t>
            </a:r>
            <a:endParaRPr lang="en-US" sz="950" dirty="0"/>
          </a:p>
        </p:txBody>
      </p:sp>
      <p:sp>
        <p:nvSpPr>
          <p:cNvPr id="12" name="Shape 10"/>
          <p:cNvSpPr/>
          <p:nvPr/>
        </p:nvSpPr>
        <p:spPr>
          <a:xfrm>
            <a:off x="2514600" y="1572768"/>
            <a:ext cx="2011680" cy="14173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3" name="Text 11"/>
          <p:cNvSpPr/>
          <p:nvPr/>
        </p:nvSpPr>
        <p:spPr>
          <a:xfrm>
            <a:off x="2606040" y="1682496"/>
            <a:ext cx="502920" cy="50292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4" name="Text 12"/>
          <p:cNvSpPr/>
          <p:nvPr/>
        </p:nvSpPr>
        <p:spPr>
          <a:xfrm>
            <a:off x="3108960" y="1719072"/>
            <a:ext cx="1298448" cy="347472"/>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Salud</a:t>
            </a:r>
            <a:endParaRPr lang="en-US" sz="1100" dirty="0"/>
          </a:p>
        </p:txBody>
      </p:sp>
      <p:sp>
        <p:nvSpPr>
          <p:cNvPr id="15" name="Text 13"/>
          <p:cNvSpPr/>
          <p:nvPr/>
        </p:nvSpPr>
        <p:spPr>
          <a:xfrm>
            <a:off x="2624328" y="2231136"/>
            <a:ext cx="1792224" cy="6583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Tasas de mortalidad, nutrición, acceso a servicios.</a:t>
            </a:r>
            <a:endParaRPr lang="en-US" sz="950" dirty="0"/>
          </a:p>
        </p:txBody>
      </p:sp>
      <p:sp>
        <p:nvSpPr>
          <p:cNvPr id="16" name="Shape 14"/>
          <p:cNvSpPr/>
          <p:nvPr/>
        </p:nvSpPr>
        <p:spPr>
          <a:xfrm>
            <a:off x="4663440" y="1572768"/>
            <a:ext cx="2011680" cy="14173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7" name="Text 15"/>
          <p:cNvSpPr/>
          <p:nvPr/>
        </p:nvSpPr>
        <p:spPr>
          <a:xfrm>
            <a:off x="4754880" y="1682496"/>
            <a:ext cx="502920" cy="50292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8" name="Text 16"/>
          <p:cNvSpPr/>
          <p:nvPr/>
        </p:nvSpPr>
        <p:spPr>
          <a:xfrm>
            <a:off x="5257800" y="1719072"/>
            <a:ext cx="1298448" cy="347472"/>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Tecnología</a:t>
            </a:r>
            <a:endParaRPr lang="en-US" sz="1100" dirty="0"/>
          </a:p>
        </p:txBody>
      </p:sp>
      <p:sp>
        <p:nvSpPr>
          <p:cNvPr id="19" name="Text 17"/>
          <p:cNvSpPr/>
          <p:nvPr/>
        </p:nvSpPr>
        <p:spPr>
          <a:xfrm>
            <a:off x="4773168" y="2231136"/>
            <a:ext cx="1792224" cy="6583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Uso de herramientas modernas en producción.</a:t>
            </a:r>
            <a:endParaRPr lang="en-US" sz="950" dirty="0"/>
          </a:p>
        </p:txBody>
      </p:sp>
      <p:sp>
        <p:nvSpPr>
          <p:cNvPr id="20" name="Shape 18"/>
          <p:cNvSpPr/>
          <p:nvPr/>
        </p:nvSpPr>
        <p:spPr>
          <a:xfrm>
            <a:off x="6812280" y="1572768"/>
            <a:ext cx="2011680" cy="14173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1" name="Text 19"/>
          <p:cNvSpPr/>
          <p:nvPr/>
        </p:nvSpPr>
        <p:spPr>
          <a:xfrm>
            <a:off x="6903720" y="1682496"/>
            <a:ext cx="502920" cy="50292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22" name="Text 20"/>
          <p:cNvSpPr/>
          <p:nvPr/>
        </p:nvSpPr>
        <p:spPr>
          <a:xfrm>
            <a:off x="7406640" y="1719072"/>
            <a:ext cx="1298448" cy="347472"/>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Instituciones</a:t>
            </a:r>
            <a:endParaRPr lang="en-US" sz="1100" dirty="0"/>
          </a:p>
        </p:txBody>
      </p:sp>
      <p:sp>
        <p:nvSpPr>
          <p:cNvPr id="23" name="Text 21"/>
          <p:cNvSpPr/>
          <p:nvPr/>
        </p:nvSpPr>
        <p:spPr>
          <a:xfrm>
            <a:off x="6922008" y="2231136"/>
            <a:ext cx="1792224" cy="6583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Leyes, contratos, corrupción, Estado de derecho.</a:t>
            </a:r>
            <a:endParaRPr lang="en-US" sz="950" dirty="0"/>
          </a:p>
        </p:txBody>
      </p:sp>
      <p:sp>
        <p:nvSpPr>
          <p:cNvPr id="24" name="Shape 22"/>
          <p:cNvSpPr/>
          <p:nvPr/>
        </p:nvSpPr>
        <p:spPr>
          <a:xfrm>
            <a:off x="365760" y="3127248"/>
            <a:ext cx="2011680" cy="14173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5" name="Text 23"/>
          <p:cNvSpPr/>
          <p:nvPr/>
        </p:nvSpPr>
        <p:spPr>
          <a:xfrm>
            <a:off x="457200" y="3236976"/>
            <a:ext cx="502920" cy="50292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26" name="Text 24"/>
          <p:cNvSpPr/>
          <p:nvPr/>
        </p:nvSpPr>
        <p:spPr>
          <a:xfrm>
            <a:off x="960120" y="3273552"/>
            <a:ext cx="1298448" cy="347472"/>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Infraestructura</a:t>
            </a:r>
            <a:endParaRPr lang="en-US" sz="1100" dirty="0"/>
          </a:p>
        </p:txBody>
      </p:sp>
      <p:sp>
        <p:nvSpPr>
          <p:cNvPr id="27" name="Text 25"/>
          <p:cNvSpPr/>
          <p:nvPr/>
        </p:nvSpPr>
        <p:spPr>
          <a:xfrm>
            <a:off x="475488" y="3785616"/>
            <a:ext cx="1792224" cy="6583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Rutas, internet, electricidad, transporte.</a:t>
            </a:r>
            <a:endParaRPr lang="en-US" sz="950" dirty="0"/>
          </a:p>
        </p:txBody>
      </p:sp>
      <p:sp>
        <p:nvSpPr>
          <p:cNvPr id="28" name="Shape 26"/>
          <p:cNvSpPr/>
          <p:nvPr/>
        </p:nvSpPr>
        <p:spPr>
          <a:xfrm>
            <a:off x="2514600" y="3127248"/>
            <a:ext cx="2011680" cy="14173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9" name="Text 27"/>
          <p:cNvSpPr/>
          <p:nvPr/>
        </p:nvSpPr>
        <p:spPr>
          <a:xfrm>
            <a:off x="2606040" y="3236976"/>
            <a:ext cx="502920" cy="50292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30" name="Text 28"/>
          <p:cNvSpPr/>
          <p:nvPr/>
        </p:nvSpPr>
        <p:spPr>
          <a:xfrm>
            <a:off x="3108960" y="3273552"/>
            <a:ext cx="1298448" cy="347472"/>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Productividad</a:t>
            </a:r>
            <a:endParaRPr lang="en-US" sz="1100" dirty="0"/>
          </a:p>
        </p:txBody>
      </p:sp>
      <p:sp>
        <p:nvSpPr>
          <p:cNvPr id="31" name="Text 29"/>
          <p:cNvSpPr/>
          <p:nvPr/>
        </p:nvSpPr>
        <p:spPr>
          <a:xfrm>
            <a:off x="2624328" y="3785616"/>
            <a:ext cx="1792224" cy="6583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Cuánto produce cada trabajador.</a:t>
            </a:r>
            <a:endParaRPr lang="en-US" sz="950" dirty="0"/>
          </a:p>
        </p:txBody>
      </p:sp>
      <p:sp>
        <p:nvSpPr>
          <p:cNvPr id="32" name="Shape 30"/>
          <p:cNvSpPr/>
          <p:nvPr/>
        </p:nvSpPr>
        <p:spPr>
          <a:xfrm>
            <a:off x="4663440" y="3127248"/>
            <a:ext cx="2011680" cy="14173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3" name="Text 31"/>
          <p:cNvSpPr/>
          <p:nvPr/>
        </p:nvSpPr>
        <p:spPr>
          <a:xfrm>
            <a:off x="4754880" y="3236976"/>
            <a:ext cx="502920" cy="50292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34" name="Text 32"/>
          <p:cNvSpPr/>
          <p:nvPr/>
        </p:nvSpPr>
        <p:spPr>
          <a:xfrm>
            <a:off x="5257800" y="3273552"/>
            <a:ext cx="1298448" cy="347472"/>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Recursos naturales</a:t>
            </a:r>
            <a:endParaRPr lang="en-US" sz="1100" dirty="0"/>
          </a:p>
        </p:txBody>
      </p:sp>
      <p:sp>
        <p:nvSpPr>
          <p:cNvPr id="35" name="Text 33"/>
          <p:cNvSpPr/>
          <p:nvPr/>
        </p:nvSpPr>
        <p:spPr>
          <a:xfrm>
            <a:off x="4773168" y="3785616"/>
            <a:ext cx="1792224" cy="6583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Minerales, tierra, agua. No garantizan riqueza.</a:t>
            </a:r>
            <a:endParaRPr lang="en-US" sz="950" dirty="0"/>
          </a:p>
        </p:txBody>
      </p:sp>
      <p:sp>
        <p:nvSpPr>
          <p:cNvPr id="36" name="Shape 34"/>
          <p:cNvSpPr/>
          <p:nvPr/>
        </p:nvSpPr>
        <p:spPr>
          <a:xfrm>
            <a:off x="6812280" y="3127248"/>
            <a:ext cx="2011680" cy="14173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7" name="Text 35"/>
          <p:cNvSpPr/>
          <p:nvPr/>
        </p:nvSpPr>
        <p:spPr>
          <a:xfrm>
            <a:off x="6903720" y="3236976"/>
            <a:ext cx="502920" cy="50292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38" name="Text 36"/>
          <p:cNvSpPr/>
          <p:nvPr/>
        </p:nvSpPr>
        <p:spPr>
          <a:xfrm>
            <a:off x="7406640" y="3273552"/>
            <a:ext cx="1298448" cy="347472"/>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Cohesión social</a:t>
            </a:r>
            <a:endParaRPr lang="en-US" sz="1100" dirty="0"/>
          </a:p>
        </p:txBody>
      </p:sp>
      <p:sp>
        <p:nvSpPr>
          <p:cNvPr id="39" name="Text 37"/>
          <p:cNvSpPr/>
          <p:nvPr/>
        </p:nvSpPr>
        <p:spPr>
          <a:xfrm>
            <a:off x="6922008" y="3785616"/>
            <a:ext cx="1792224" cy="6583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Divisiones étnicas, religiosas, confianza social.</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Tamaño del País: Ventajas y Desventajas</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U1.2 — DIMENSIÓN ESTRUCTURAL</a:t>
            </a:r>
            <a:endParaRPr lang="en-US" sz="900" dirty="0"/>
          </a:p>
        </p:txBody>
      </p:sp>
      <p:sp>
        <p:nvSpPr>
          <p:cNvPr id="7" name="Text 5"/>
          <p:cNvSpPr/>
          <p:nvPr/>
        </p:nvSpPr>
        <p:spPr>
          <a:xfrm>
            <a:off x="457200" y="1005840"/>
            <a:ext cx="8229600" cy="34747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El tamaño geográfico y poblacional NO determina el nivel de desarrollo, pero sí condiciona los desafíos.</a:t>
            </a:r>
            <a:endParaRPr lang="en-US" sz="1200" dirty="0"/>
          </a:p>
        </p:txBody>
      </p:sp>
      <p:sp>
        <p:nvSpPr>
          <p:cNvPr id="8" name="Shape 6"/>
          <p:cNvSpPr/>
          <p:nvPr/>
        </p:nvSpPr>
        <p:spPr>
          <a:xfrm>
            <a:off x="365760" y="1417320"/>
            <a:ext cx="4160520" cy="34747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9" name="Shape 7"/>
          <p:cNvSpPr/>
          <p:nvPr/>
        </p:nvSpPr>
        <p:spPr>
          <a:xfrm>
            <a:off x="365760" y="1417320"/>
            <a:ext cx="4160520" cy="347472"/>
          </a:xfrm>
          <a:prstGeom prst="rect">
            <a:avLst/>
          </a:prstGeom>
          <a:solidFill>
            <a:srgbClr val="2C5282"/>
          </a:solidFill>
          <a:ln w="12700">
            <a:solidFill>
              <a:srgbClr val="2C5282"/>
            </a:solidFill>
            <a:prstDash val="solid"/>
          </a:ln>
        </p:spPr>
        <p:txBody>
          <a:bodyPr/>
          <a:lstStyle/>
          <a:p>
            <a:endParaRPr lang="es-AR"/>
          </a:p>
        </p:txBody>
      </p:sp>
      <p:sp>
        <p:nvSpPr>
          <p:cNvPr id="10" name="Text 8"/>
          <p:cNvSpPr/>
          <p:nvPr/>
        </p:nvSpPr>
        <p:spPr>
          <a:xfrm>
            <a:off x="475488" y="1444752"/>
            <a:ext cx="39319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Países GRANDES</a:t>
            </a:r>
            <a:endParaRPr lang="en-US" sz="1300" dirty="0"/>
          </a:p>
        </p:txBody>
      </p:sp>
      <p:sp>
        <p:nvSpPr>
          <p:cNvPr id="11" name="Text 9"/>
          <p:cNvSpPr/>
          <p:nvPr/>
        </p:nvSpPr>
        <p:spPr>
          <a:xfrm>
            <a:off x="502920" y="1828800"/>
            <a:ext cx="1828800" cy="256032"/>
          </a:xfrm>
          <a:prstGeom prst="rect">
            <a:avLst/>
          </a:prstGeom>
          <a:noFill/>
          <a:ln/>
        </p:spPr>
        <p:txBody>
          <a:bodyPr wrap="square" lIns="0" tIns="0" rIns="0" bIns="0" rtlCol="0" anchor="ctr"/>
          <a:lstStyle/>
          <a:p>
            <a:pPr marL="0" indent="0">
              <a:buNone/>
            </a:pPr>
            <a:r>
              <a:rPr lang="en-US" sz="1000" b="1" dirty="0">
                <a:solidFill>
                  <a:srgbClr val="2E8B74"/>
                </a:solidFill>
                <a:latin typeface="Calibri" pitchFamily="34" charset="0"/>
                <a:ea typeface="Calibri" pitchFamily="34" charset="-122"/>
                <a:cs typeface="Calibri" pitchFamily="34" charset="-120"/>
              </a:rPr>
              <a:t>✓ Ventajas</a:t>
            </a:r>
            <a:endParaRPr lang="en-US" sz="1000" dirty="0"/>
          </a:p>
        </p:txBody>
      </p:sp>
      <p:sp>
        <p:nvSpPr>
          <p:cNvPr id="12" name="Text 10"/>
          <p:cNvSpPr/>
          <p:nvPr/>
        </p:nvSpPr>
        <p:spPr>
          <a:xfrm>
            <a:off x="502920" y="2084832"/>
            <a:ext cx="3840480"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Economías de escala</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Mercado interno amplio</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Mayor diversidad de recursos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Más autonomía económica</a:t>
            </a:r>
            <a:endParaRPr lang="en-US" sz="1050" dirty="0"/>
          </a:p>
        </p:txBody>
      </p:sp>
      <p:sp>
        <p:nvSpPr>
          <p:cNvPr id="13" name="Text 11"/>
          <p:cNvSpPr/>
          <p:nvPr/>
        </p:nvSpPr>
        <p:spPr>
          <a:xfrm>
            <a:off x="502920" y="3310128"/>
            <a:ext cx="2011680" cy="256032"/>
          </a:xfrm>
          <a:prstGeom prst="rect">
            <a:avLst/>
          </a:prstGeom>
          <a:noFill/>
          <a:ln/>
        </p:spPr>
        <p:txBody>
          <a:bodyPr wrap="square" lIns="0" tIns="0" rIns="0" bIns="0" rtlCol="0" anchor="ctr"/>
          <a:lstStyle/>
          <a:p>
            <a:pPr marL="0" indent="0">
              <a:buNone/>
            </a:pPr>
            <a:r>
              <a:rPr lang="en-US" sz="1000" b="1" dirty="0">
                <a:solidFill>
                  <a:srgbClr val="C0533A"/>
                </a:solidFill>
                <a:latin typeface="Calibri" pitchFamily="34" charset="0"/>
                <a:ea typeface="Calibri" pitchFamily="34" charset="-122"/>
                <a:cs typeface="Calibri" pitchFamily="34" charset="-120"/>
              </a:rPr>
              <a:t>✗ Desventajas</a:t>
            </a:r>
            <a:endParaRPr lang="en-US" sz="1000" dirty="0"/>
          </a:p>
        </p:txBody>
      </p:sp>
      <p:sp>
        <p:nvSpPr>
          <p:cNvPr id="14" name="Text 12"/>
          <p:cNvSpPr/>
          <p:nvPr/>
        </p:nvSpPr>
        <p:spPr>
          <a:xfrm>
            <a:off x="502920" y="3566160"/>
            <a:ext cx="3840480"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Difícil administración y gobernanza</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Poca cohesión entre regiones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Desigualdad regional interna</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Inercia económica: difícil cambiar rápido</a:t>
            </a:r>
            <a:endParaRPr lang="en-US" sz="1050" dirty="0"/>
          </a:p>
        </p:txBody>
      </p:sp>
      <p:sp>
        <p:nvSpPr>
          <p:cNvPr id="15" name="Shape 13"/>
          <p:cNvSpPr/>
          <p:nvPr/>
        </p:nvSpPr>
        <p:spPr>
          <a:xfrm>
            <a:off x="4800600" y="1417320"/>
            <a:ext cx="4160520" cy="34747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6" name="Shape 14"/>
          <p:cNvSpPr/>
          <p:nvPr/>
        </p:nvSpPr>
        <p:spPr>
          <a:xfrm>
            <a:off x="4800600" y="1417320"/>
            <a:ext cx="4160520" cy="347472"/>
          </a:xfrm>
          <a:prstGeom prst="rect">
            <a:avLst/>
          </a:prstGeom>
          <a:solidFill>
            <a:srgbClr val="7B5EA7"/>
          </a:solidFill>
          <a:ln w="12700">
            <a:solidFill>
              <a:srgbClr val="7B5EA7"/>
            </a:solidFill>
            <a:prstDash val="solid"/>
          </a:ln>
        </p:spPr>
        <p:txBody>
          <a:bodyPr/>
          <a:lstStyle/>
          <a:p>
            <a:endParaRPr lang="es-AR"/>
          </a:p>
        </p:txBody>
      </p:sp>
      <p:sp>
        <p:nvSpPr>
          <p:cNvPr id="17" name="Text 15"/>
          <p:cNvSpPr/>
          <p:nvPr/>
        </p:nvSpPr>
        <p:spPr>
          <a:xfrm>
            <a:off x="4910328" y="1444752"/>
            <a:ext cx="39319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Países PEQUEÑOS</a:t>
            </a:r>
            <a:endParaRPr lang="en-US" sz="1300" dirty="0"/>
          </a:p>
        </p:txBody>
      </p:sp>
      <p:sp>
        <p:nvSpPr>
          <p:cNvPr id="18" name="Text 16"/>
          <p:cNvSpPr/>
          <p:nvPr/>
        </p:nvSpPr>
        <p:spPr>
          <a:xfrm>
            <a:off x="4937760" y="1828800"/>
            <a:ext cx="1828800" cy="256032"/>
          </a:xfrm>
          <a:prstGeom prst="rect">
            <a:avLst/>
          </a:prstGeom>
          <a:noFill/>
          <a:ln/>
        </p:spPr>
        <p:txBody>
          <a:bodyPr wrap="square" lIns="0" tIns="0" rIns="0" bIns="0" rtlCol="0" anchor="ctr"/>
          <a:lstStyle/>
          <a:p>
            <a:pPr marL="0" indent="0">
              <a:buNone/>
            </a:pPr>
            <a:r>
              <a:rPr lang="en-US" sz="1000" b="1" dirty="0">
                <a:solidFill>
                  <a:srgbClr val="2E8B74"/>
                </a:solidFill>
                <a:latin typeface="Calibri" pitchFamily="34" charset="0"/>
                <a:ea typeface="Calibri" pitchFamily="34" charset="-122"/>
                <a:cs typeface="Calibri" pitchFamily="34" charset="-120"/>
              </a:rPr>
              <a:t>✓ Ventajas</a:t>
            </a:r>
            <a:endParaRPr lang="en-US" sz="1000" dirty="0"/>
          </a:p>
        </p:txBody>
      </p:sp>
      <p:sp>
        <p:nvSpPr>
          <p:cNvPr id="19" name="Text 17"/>
          <p:cNvSpPr/>
          <p:nvPr/>
        </p:nvSpPr>
        <p:spPr>
          <a:xfrm>
            <a:off x="4937760" y="2084832"/>
            <a:ext cx="3840480"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Mayor cohesión social</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Más fáciles de gobernar</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Decisiones más ágiles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Menor desigualdad regional</a:t>
            </a:r>
            <a:endParaRPr lang="en-US" sz="1050" dirty="0"/>
          </a:p>
        </p:txBody>
      </p:sp>
      <p:sp>
        <p:nvSpPr>
          <p:cNvPr id="20" name="Text 18"/>
          <p:cNvSpPr/>
          <p:nvPr/>
        </p:nvSpPr>
        <p:spPr>
          <a:xfrm>
            <a:off x="4937760" y="3310128"/>
            <a:ext cx="2011680" cy="256032"/>
          </a:xfrm>
          <a:prstGeom prst="rect">
            <a:avLst/>
          </a:prstGeom>
          <a:noFill/>
          <a:ln/>
        </p:spPr>
        <p:txBody>
          <a:bodyPr wrap="square" lIns="0" tIns="0" rIns="0" bIns="0" rtlCol="0" anchor="ctr"/>
          <a:lstStyle/>
          <a:p>
            <a:pPr marL="0" indent="0">
              <a:buNone/>
            </a:pPr>
            <a:r>
              <a:rPr lang="en-US" sz="1000" b="1" dirty="0">
                <a:solidFill>
                  <a:srgbClr val="C0533A"/>
                </a:solidFill>
                <a:latin typeface="Calibri" pitchFamily="34" charset="0"/>
                <a:ea typeface="Calibri" pitchFamily="34" charset="-122"/>
                <a:cs typeface="Calibri" pitchFamily="34" charset="-120"/>
              </a:rPr>
              <a:t>✗ Desventajas</a:t>
            </a:r>
            <a:endParaRPr lang="en-US" sz="1000" dirty="0"/>
          </a:p>
        </p:txBody>
      </p:sp>
      <p:sp>
        <p:nvSpPr>
          <p:cNvPr id="21" name="Text 19"/>
          <p:cNvSpPr/>
          <p:nvPr/>
        </p:nvSpPr>
        <p:spPr>
          <a:xfrm>
            <a:off x="4937760" y="3566160"/>
            <a:ext cx="3840480"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Dificultad para ser autosuficientes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Vulnerable a shocks externos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Mercado interno limitado</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Menor diversificación productiva</a:t>
            </a:r>
            <a:endParaRPr lang="en-US" sz="1050" dirty="0"/>
          </a:p>
        </p:txBody>
      </p:sp>
      <p:sp>
        <p:nvSpPr>
          <p:cNvPr id="22" name="Shape 20"/>
          <p:cNvSpPr/>
          <p:nvPr/>
        </p:nvSpPr>
        <p:spPr>
          <a:xfrm>
            <a:off x="365760" y="4937760"/>
            <a:ext cx="8412480" cy="182880"/>
          </a:xfrm>
          <a:prstGeom prst="rect">
            <a:avLst/>
          </a:prstGeom>
          <a:solidFill>
            <a:srgbClr val="EBF5F0"/>
          </a:solidFill>
          <a:ln w="12700">
            <a:solidFill>
              <a:srgbClr val="CBD5E0"/>
            </a:solidFill>
            <a:prstDash val="solid"/>
          </a:ln>
        </p:spPr>
        <p:txBody>
          <a:bodyPr/>
          <a:lstStyle/>
          <a:p>
            <a:endParaRPr lang="es-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Características Demográficas</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U1.2 — CARACTERÍSTICA ESTRUCTURAL 1</a:t>
            </a:r>
            <a:endParaRPr lang="en-US" sz="900" dirty="0"/>
          </a:p>
        </p:txBody>
      </p:sp>
      <p:sp>
        <p:nvSpPr>
          <p:cNvPr id="7" name="Shape 5"/>
          <p:cNvSpPr/>
          <p:nvPr/>
        </p:nvSpPr>
        <p:spPr>
          <a:xfrm>
            <a:off x="365760" y="1005840"/>
            <a:ext cx="8412480" cy="13716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8412480" cy="329184"/>
          </a:xfrm>
          <a:prstGeom prst="rect">
            <a:avLst/>
          </a:prstGeom>
          <a:solidFill>
            <a:srgbClr val="C0533A"/>
          </a:solidFill>
          <a:ln w="12700">
            <a:solidFill>
              <a:srgbClr val="C0533A"/>
            </a:solidFill>
            <a:prstDash val="solid"/>
          </a:ln>
        </p:spPr>
        <p:txBody>
          <a:bodyPr/>
          <a:lstStyle/>
          <a:p>
            <a:endParaRPr lang="es-AR"/>
          </a:p>
        </p:txBody>
      </p:sp>
      <p:sp>
        <p:nvSpPr>
          <p:cNvPr id="9" name="Text 7"/>
          <p:cNvSpPr/>
          <p:nvPr/>
        </p:nvSpPr>
        <p:spPr>
          <a:xfrm>
            <a:off x="502920" y="1033272"/>
            <a:ext cx="813816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La Trampa Demográfica</a:t>
            </a:r>
            <a:endParaRPr lang="en-US" sz="1300" dirty="0"/>
          </a:p>
        </p:txBody>
      </p:sp>
      <p:sp>
        <p:nvSpPr>
          <p:cNvPr id="10" name="Text 8"/>
          <p:cNvSpPr/>
          <p:nvPr/>
        </p:nvSpPr>
        <p:spPr>
          <a:xfrm>
            <a:off x="502920" y="1389888"/>
            <a:ext cx="8138160" cy="896112"/>
          </a:xfrm>
          <a:prstGeom prst="rect">
            <a:avLst/>
          </a:prstGeom>
          <a:noFill/>
          <a:ln/>
        </p:spPr>
        <p:txBody>
          <a:bodyPr wrap="square" lIns="0" tIns="0" rIns="0" bIns="0" rtlCol="0" anchor="ctr"/>
          <a:lstStyle/>
          <a:p>
            <a:pPr marL="0" indent="0">
              <a:buNone/>
            </a:pPr>
            <a:r>
              <a:rPr lang="en-US" sz="1150" b="1" dirty="0">
                <a:solidFill>
                  <a:srgbClr val="1A202C"/>
                </a:solidFill>
                <a:latin typeface="Calibri" pitchFamily="34" charset="0"/>
                <a:ea typeface="Calibri" pitchFamily="34" charset="-122"/>
                <a:cs typeface="Calibri" pitchFamily="34" charset="-120"/>
              </a:rPr>
              <a:t>En países muy pobres: </a:t>
            </a:r>
            <a:r>
              <a:rPr lang="en-US" sz="1150" dirty="0">
                <a:solidFill>
                  <a:srgbClr val="1A202C"/>
                </a:solidFill>
                <a:latin typeface="Calibri" pitchFamily="34" charset="0"/>
                <a:ea typeface="Calibri" pitchFamily="34" charset="-122"/>
                <a:cs typeface="Calibri" pitchFamily="34" charset="-120"/>
              </a:rPr>
              <a:t>alta natalidad + alta mortalidad. Cuando empieza el desarrollo, </a:t>
            </a:r>
            <a:r>
              <a:rPr lang="en-US" sz="1150" b="1" dirty="0">
                <a:solidFill>
                  <a:srgbClr val="C0533A"/>
                </a:solidFill>
                <a:latin typeface="Calibri" pitchFamily="34" charset="0"/>
                <a:ea typeface="Calibri" pitchFamily="34" charset="-122"/>
                <a:cs typeface="Calibri" pitchFamily="34" charset="-120"/>
              </a:rPr>
              <a:t>la mortalidad baja PRIMERO </a:t>
            </a:r>
            <a:r>
              <a:rPr lang="en-US" sz="1150" dirty="0">
                <a:solidFill>
                  <a:srgbClr val="1A202C"/>
                </a:solidFill>
                <a:latin typeface="Calibri" pitchFamily="34" charset="0"/>
                <a:ea typeface="Calibri" pitchFamily="34" charset="-122"/>
                <a:cs typeface="Calibri" pitchFamily="34" charset="-120"/>
              </a:rPr>
              <a:t>(mejoras básicas en salud) mientras </a:t>
            </a:r>
            <a:r>
              <a:rPr lang="en-US" sz="1150" b="1" dirty="0">
                <a:solidFill>
                  <a:srgbClr val="C0533A"/>
                </a:solidFill>
                <a:latin typeface="Calibri" pitchFamily="34" charset="0"/>
                <a:ea typeface="Calibri" pitchFamily="34" charset="-122"/>
                <a:cs typeface="Calibri" pitchFamily="34" charset="-120"/>
              </a:rPr>
              <a:t>la natalidad tarda en bajar. </a:t>
            </a:r>
            <a:r>
              <a:rPr lang="en-US" sz="1150" dirty="0">
                <a:solidFill>
                  <a:srgbClr val="1A202C"/>
                </a:solidFill>
                <a:latin typeface="Calibri" pitchFamily="34" charset="0"/>
                <a:ea typeface="Calibri" pitchFamily="34" charset="-122"/>
                <a:cs typeface="Calibri" pitchFamily="34" charset="-120"/>
              </a:rPr>
              <a:t>Resultado: explosión demográfica transitoria.</a:t>
            </a:r>
            <a:endParaRPr lang="en-US" sz="1150" dirty="0"/>
          </a:p>
        </p:txBody>
      </p:sp>
      <p:sp>
        <p:nvSpPr>
          <p:cNvPr id="11" name="Shape 9"/>
          <p:cNvSpPr/>
          <p:nvPr/>
        </p:nvSpPr>
        <p:spPr>
          <a:xfrm>
            <a:off x="365760" y="2487168"/>
            <a:ext cx="2697480" cy="23957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2" name="Shape 10"/>
          <p:cNvSpPr/>
          <p:nvPr/>
        </p:nvSpPr>
        <p:spPr>
          <a:xfrm>
            <a:off x="365760" y="2487168"/>
            <a:ext cx="2697480" cy="54864"/>
          </a:xfrm>
          <a:prstGeom prst="rect">
            <a:avLst/>
          </a:prstGeom>
          <a:solidFill>
            <a:srgbClr val="C0533A"/>
          </a:solidFill>
          <a:ln w="12700">
            <a:solidFill>
              <a:srgbClr val="C0533A"/>
            </a:solidFill>
            <a:prstDash val="solid"/>
          </a:ln>
        </p:spPr>
        <p:txBody>
          <a:bodyPr/>
          <a:lstStyle/>
          <a:p>
            <a:endParaRPr lang="es-AR"/>
          </a:p>
        </p:txBody>
      </p:sp>
      <p:sp>
        <p:nvSpPr>
          <p:cNvPr id="13" name="Text 11"/>
          <p:cNvSpPr/>
          <p:nvPr/>
        </p:nvSpPr>
        <p:spPr>
          <a:xfrm>
            <a:off x="475488" y="2596896"/>
            <a:ext cx="2478024" cy="438912"/>
          </a:xfrm>
          <a:prstGeom prst="rect">
            <a:avLst/>
          </a:prstGeom>
          <a:noFill/>
          <a:ln/>
        </p:spPr>
        <p:txBody>
          <a:bodyPr wrap="square" lIns="0" tIns="0" rIns="0" bIns="0" rtlCol="0" anchor="ctr"/>
          <a:lstStyle/>
          <a:p>
            <a:pPr marL="0" indent="0">
              <a:buNone/>
            </a:pPr>
            <a:r>
              <a:rPr lang="en-US" sz="1150" b="1" dirty="0">
                <a:solidFill>
                  <a:srgbClr val="1A202C"/>
                </a:solidFill>
                <a:latin typeface="Calibri" pitchFamily="34" charset="0"/>
                <a:ea typeface="Calibri" pitchFamily="34" charset="-122"/>
                <a:cs typeface="Calibri" pitchFamily="34" charset="-120"/>
              </a:rPr>
              <a:t>Renta per cápita estancada</a:t>
            </a:r>
            <a:endParaRPr lang="en-US" sz="1150" dirty="0"/>
          </a:p>
        </p:txBody>
      </p:sp>
      <p:sp>
        <p:nvSpPr>
          <p:cNvPr id="14" name="Text 12"/>
          <p:cNvSpPr/>
          <p:nvPr/>
        </p:nvSpPr>
        <p:spPr>
          <a:xfrm>
            <a:off x="475488" y="3072384"/>
            <a:ext cx="2478024" cy="171907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Si la población crece más rápido que la economía, el PBI per cápita no mejora aunque el PBI total suba. Para mejorar el bienestar, la economía debe crecer MÁS rápido que la población.</a:t>
            </a:r>
            <a:endParaRPr lang="en-US" sz="1050" dirty="0"/>
          </a:p>
        </p:txBody>
      </p:sp>
      <p:sp>
        <p:nvSpPr>
          <p:cNvPr id="15" name="Shape 13"/>
          <p:cNvSpPr/>
          <p:nvPr/>
        </p:nvSpPr>
        <p:spPr>
          <a:xfrm>
            <a:off x="3246120" y="2487168"/>
            <a:ext cx="2697480" cy="23957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6" name="Shape 14"/>
          <p:cNvSpPr/>
          <p:nvPr/>
        </p:nvSpPr>
        <p:spPr>
          <a:xfrm>
            <a:off x="3246120" y="2487168"/>
            <a:ext cx="2697480" cy="54864"/>
          </a:xfrm>
          <a:prstGeom prst="rect">
            <a:avLst/>
          </a:prstGeom>
          <a:solidFill>
            <a:srgbClr val="2C5282"/>
          </a:solidFill>
          <a:ln w="12700">
            <a:solidFill>
              <a:srgbClr val="2C5282"/>
            </a:solidFill>
            <a:prstDash val="solid"/>
          </a:ln>
        </p:spPr>
        <p:txBody>
          <a:bodyPr/>
          <a:lstStyle/>
          <a:p>
            <a:endParaRPr lang="es-AR"/>
          </a:p>
        </p:txBody>
      </p:sp>
      <p:sp>
        <p:nvSpPr>
          <p:cNvPr id="17" name="Text 15"/>
          <p:cNvSpPr/>
          <p:nvPr/>
        </p:nvSpPr>
        <p:spPr>
          <a:xfrm>
            <a:off x="3355848" y="2596896"/>
            <a:ext cx="2478024" cy="438912"/>
          </a:xfrm>
          <a:prstGeom prst="rect">
            <a:avLst/>
          </a:prstGeom>
          <a:noFill/>
          <a:ln/>
        </p:spPr>
        <p:txBody>
          <a:bodyPr wrap="square" lIns="0" tIns="0" rIns="0" bIns="0" rtlCol="0" anchor="ctr"/>
          <a:lstStyle/>
          <a:p>
            <a:pPr marL="0" indent="0">
              <a:buNone/>
            </a:pPr>
            <a:r>
              <a:rPr lang="en-US" sz="1150" b="1" dirty="0">
                <a:solidFill>
                  <a:srgbClr val="1A202C"/>
                </a:solidFill>
                <a:latin typeface="Calibri" pitchFamily="34" charset="0"/>
                <a:ea typeface="Calibri" pitchFamily="34" charset="-122"/>
                <a:cs typeface="Calibri" pitchFamily="34" charset="-120"/>
              </a:rPr>
              <a:t>Pirámide muy joven</a:t>
            </a:r>
            <a:endParaRPr lang="en-US" sz="1150" dirty="0"/>
          </a:p>
        </p:txBody>
      </p:sp>
      <p:sp>
        <p:nvSpPr>
          <p:cNvPr id="18" name="Text 16"/>
          <p:cNvSpPr/>
          <p:nvPr/>
        </p:nvSpPr>
        <p:spPr>
          <a:xfrm>
            <a:off x="3355848" y="3072384"/>
            <a:ext cx="2478024" cy="171907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Muchos jóvenes, pocos adultos productivos. Genera: trabajo infantil, bajo nivel educativo, enorme presión sobre salud y educación que ya son débiles.</a:t>
            </a:r>
            <a:endParaRPr lang="en-US" sz="1050" dirty="0"/>
          </a:p>
        </p:txBody>
      </p:sp>
      <p:sp>
        <p:nvSpPr>
          <p:cNvPr id="19" name="Shape 17"/>
          <p:cNvSpPr/>
          <p:nvPr/>
        </p:nvSpPr>
        <p:spPr>
          <a:xfrm>
            <a:off x="6126480" y="2487168"/>
            <a:ext cx="2697480" cy="23957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0" name="Shape 18"/>
          <p:cNvSpPr/>
          <p:nvPr/>
        </p:nvSpPr>
        <p:spPr>
          <a:xfrm>
            <a:off x="6126480" y="2487168"/>
            <a:ext cx="2697480" cy="54864"/>
          </a:xfrm>
          <a:prstGeom prst="rect">
            <a:avLst/>
          </a:prstGeom>
          <a:solidFill>
            <a:srgbClr val="7B5EA7"/>
          </a:solidFill>
          <a:ln w="12700">
            <a:solidFill>
              <a:srgbClr val="7B5EA7"/>
            </a:solidFill>
            <a:prstDash val="solid"/>
          </a:ln>
        </p:spPr>
        <p:txBody>
          <a:bodyPr/>
          <a:lstStyle/>
          <a:p>
            <a:endParaRPr lang="es-AR"/>
          </a:p>
        </p:txBody>
      </p:sp>
      <p:sp>
        <p:nvSpPr>
          <p:cNvPr id="21" name="Text 19"/>
          <p:cNvSpPr/>
          <p:nvPr/>
        </p:nvSpPr>
        <p:spPr>
          <a:xfrm>
            <a:off x="6236208" y="2596896"/>
            <a:ext cx="2478024" cy="438912"/>
          </a:xfrm>
          <a:prstGeom prst="rect">
            <a:avLst/>
          </a:prstGeom>
          <a:noFill/>
          <a:ln/>
        </p:spPr>
        <p:txBody>
          <a:bodyPr wrap="square" lIns="0" tIns="0" rIns="0" bIns="0" rtlCol="0" anchor="ctr"/>
          <a:lstStyle/>
          <a:p>
            <a:pPr marL="0" indent="0">
              <a:buNone/>
            </a:pPr>
            <a:r>
              <a:rPr lang="en-US" sz="1150" b="1" dirty="0">
                <a:solidFill>
                  <a:srgbClr val="1A202C"/>
                </a:solidFill>
                <a:latin typeface="Calibri" pitchFamily="34" charset="0"/>
                <a:ea typeface="Calibri" pitchFamily="34" charset="-122"/>
                <a:cs typeface="Calibri" pitchFamily="34" charset="-120"/>
              </a:rPr>
              <a:t>Alta dependencia demográfica</a:t>
            </a:r>
            <a:endParaRPr lang="en-US" sz="1150" dirty="0"/>
          </a:p>
        </p:txBody>
      </p:sp>
      <p:sp>
        <p:nvSpPr>
          <p:cNvPr id="22" name="Text 20"/>
          <p:cNvSpPr/>
          <p:nvPr/>
        </p:nvSpPr>
        <p:spPr>
          <a:xfrm>
            <a:off x="6236208" y="3072384"/>
            <a:ext cx="2478024" cy="171907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La cantidad de personas que dependen de cada trabajador es muy alta. Esto reduce el ahorro disponible y frena la acumulación de capital.</a:t>
            </a:r>
            <a:endParaRPr lang="en-US" sz="1050" dirty="0"/>
          </a:p>
        </p:txBody>
      </p:sp>
      <p:sp>
        <p:nvSpPr>
          <p:cNvPr id="23" name="Shape 21"/>
          <p:cNvSpPr/>
          <p:nvPr/>
        </p:nvSpPr>
        <p:spPr>
          <a:xfrm>
            <a:off x="365760" y="4937760"/>
            <a:ext cx="8412480" cy="182880"/>
          </a:xfrm>
          <a:prstGeom prst="rect">
            <a:avLst/>
          </a:prstGeom>
          <a:solidFill>
            <a:srgbClr val="E8F5E9"/>
          </a:solidFill>
          <a:ln w="12700">
            <a:solidFill>
              <a:srgbClr val="CBD5E0"/>
            </a:solidFill>
            <a:prstDash val="solid"/>
          </a:ln>
        </p:spPr>
        <p:txBody>
          <a:bodyPr/>
          <a:lstStyle/>
          <a:p>
            <a:endParaRPr lang="es-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Transición Demográfica y Bono Demográfico</a:t>
            </a:r>
            <a:endParaRPr lang="en-US" sz="2800" dirty="0"/>
          </a:p>
        </p:txBody>
      </p:sp>
      <p:sp>
        <p:nvSpPr>
          <p:cNvPr id="5" name="Shape 3"/>
          <p:cNvSpPr/>
          <p:nvPr/>
        </p:nvSpPr>
        <p:spPr>
          <a:xfrm>
            <a:off x="457200" y="731520"/>
            <a:ext cx="36576" cy="201168"/>
          </a:xfrm>
          <a:prstGeom prst="rect">
            <a:avLst/>
          </a:prstGeom>
          <a:solidFill>
            <a:srgbClr val="2E8B74"/>
          </a:solidFill>
          <a:ln w="12700">
            <a:solidFill>
              <a:srgbClr val="2E8B74"/>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2E8B74"/>
                </a:solidFill>
                <a:latin typeface="Calibri" pitchFamily="34" charset="0"/>
                <a:ea typeface="Calibri" pitchFamily="34" charset="-122"/>
                <a:cs typeface="Calibri" pitchFamily="34" charset="-120"/>
              </a:rPr>
              <a:t>U1.2 — OPORTUNIDAD DE CRECIMIENTO</a:t>
            </a:r>
            <a:endParaRPr lang="en-US" sz="900" dirty="0"/>
          </a:p>
        </p:txBody>
      </p:sp>
      <p:sp>
        <p:nvSpPr>
          <p:cNvPr id="7" name="Shape 5"/>
          <p:cNvSpPr/>
          <p:nvPr/>
        </p:nvSpPr>
        <p:spPr>
          <a:xfrm>
            <a:off x="365760" y="1005840"/>
            <a:ext cx="2029968" cy="31089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2029968" cy="347472"/>
          </a:xfrm>
          <a:prstGeom prst="rect">
            <a:avLst/>
          </a:prstGeom>
          <a:solidFill>
            <a:srgbClr val="C0533A"/>
          </a:solidFill>
          <a:ln w="12700">
            <a:solidFill>
              <a:srgbClr val="C0533A"/>
            </a:solidFill>
            <a:prstDash val="solid"/>
          </a:ln>
        </p:spPr>
        <p:txBody>
          <a:bodyPr/>
          <a:lstStyle/>
          <a:p>
            <a:endParaRPr lang="es-AR"/>
          </a:p>
        </p:txBody>
      </p:sp>
      <p:sp>
        <p:nvSpPr>
          <p:cNvPr id="9" name="Text 7"/>
          <p:cNvSpPr/>
          <p:nvPr/>
        </p:nvSpPr>
        <p:spPr>
          <a:xfrm>
            <a:off x="457200" y="1033272"/>
            <a:ext cx="184708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País muy pobre</a:t>
            </a:r>
            <a:endParaRPr lang="en-US" sz="1050" dirty="0"/>
          </a:p>
        </p:txBody>
      </p:sp>
      <p:sp>
        <p:nvSpPr>
          <p:cNvPr id="10" name="Text 8"/>
          <p:cNvSpPr/>
          <p:nvPr/>
        </p:nvSpPr>
        <p:spPr>
          <a:xfrm>
            <a:off x="475488" y="1417320"/>
            <a:ext cx="1810512" cy="26060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Alta natalidad</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Alta mortalidad</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Población joven</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Poco crecimiento demo.</a:t>
            </a:r>
            <a:endParaRPr lang="en-US" sz="1050" dirty="0"/>
          </a:p>
        </p:txBody>
      </p:sp>
      <p:sp>
        <p:nvSpPr>
          <p:cNvPr id="11" name="Text 9"/>
          <p:cNvSpPr/>
          <p:nvPr/>
        </p:nvSpPr>
        <p:spPr>
          <a:xfrm>
            <a:off x="2395728" y="2377440"/>
            <a:ext cx="118872" cy="32004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12" name="Shape 10"/>
          <p:cNvSpPr/>
          <p:nvPr/>
        </p:nvSpPr>
        <p:spPr>
          <a:xfrm>
            <a:off x="2514600" y="1005840"/>
            <a:ext cx="2029968" cy="31089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3" name="Shape 11"/>
          <p:cNvSpPr/>
          <p:nvPr/>
        </p:nvSpPr>
        <p:spPr>
          <a:xfrm>
            <a:off x="2514600" y="1005840"/>
            <a:ext cx="2029968" cy="347472"/>
          </a:xfrm>
          <a:prstGeom prst="rect">
            <a:avLst/>
          </a:prstGeom>
          <a:solidFill>
            <a:srgbClr val="D4A853"/>
          </a:solidFill>
          <a:ln w="12700">
            <a:solidFill>
              <a:srgbClr val="D4A853"/>
            </a:solidFill>
            <a:prstDash val="solid"/>
          </a:ln>
        </p:spPr>
        <p:txBody>
          <a:bodyPr/>
          <a:lstStyle/>
          <a:p>
            <a:endParaRPr lang="es-AR"/>
          </a:p>
        </p:txBody>
      </p:sp>
      <p:sp>
        <p:nvSpPr>
          <p:cNvPr id="14" name="Text 12"/>
          <p:cNvSpPr/>
          <p:nvPr/>
        </p:nvSpPr>
        <p:spPr>
          <a:xfrm>
            <a:off x="2606040" y="1033272"/>
            <a:ext cx="184708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Inicio del desarrollo</a:t>
            </a:r>
            <a:endParaRPr lang="en-US" sz="1050" dirty="0"/>
          </a:p>
        </p:txBody>
      </p:sp>
      <p:sp>
        <p:nvSpPr>
          <p:cNvPr id="15" name="Text 13"/>
          <p:cNvSpPr/>
          <p:nvPr/>
        </p:nvSpPr>
        <p:spPr>
          <a:xfrm>
            <a:off x="2624328" y="1417320"/>
            <a:ext cx="1810512" cy="26060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Mortalidad baja ↓</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Natalidad aún alta</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Explosión demográfica</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PBI per cápita cae</a:t>
            </a:r>
            <a:endParaRPr lang="en-US" sz="1050" dirty="0"/>
          </a:p>
        </p:txBody>
      </p:sp>
      <p:sp>
        <p:nvSpPr>
          <p:cNvPr id="16" name="Text 14"/>
          <p:cNvSpPr/>
          <p:nvPr/>
        </p:nvSpPr>
        <p:spPr>
          <a:xfrm>
            <a:off x="4544568" y="2377440"/>
            <a:ext cx="118872" cy="32004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17" name="Shape 15"/>
          <p:cNvSpPr/>
          <p:nvPr/>
        </p:nvSpPr>
        <p:spPr>
          <a:xfrm>
            <a:off x="4663440" y="1005840"/>
            <a:ext cx="2029968" cy="31089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8" name="Shape 16"/>
          <p:cNvSpPr/>
          <p:nvPr/>
        </p:nvSpPr>
        <p:spPr>
          <a:xfrm>
            <a:off x="4663440" y="1005840"/>
            <a:ext cx="2029968" cy="347472"/>
          </a:xfrm>
          <a:prstGeom prst="rect">
            <a:avLst/>
          </a:prstGeom>
          <a:solidFill>
            <a:srgbClr val="2E8B74"/>
          </a:solidFill>
          <a:ln w="12700">
            <a:solidFill>
              <a:srgbClr val="2E8B74"/>
            </a:solidFill>
            <a:prstDash val="solid"/>
          </a:ln>
        </p:spPr>
        <p:txBody>
          <a:bodyPr/>
          <a:lstStyle/>
          <a:p>
            <a:endParaRPr lang="es-AR"/>
          </a:p>
        </p:txBody>
      </p:sp>
      <p:sp>
        <p:nvSpPr>
          <p:cNvPr id="19" name="Text 17"/>
          <p:cNvSpPr/>
          <p:nvPr/>
        </p:nvSpPr>
        <p:spPr>
          <a:xfrm>
            <a:off x="4754880" y="1033272"/>
            <a:ext cx="184708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Bono demográfico</a:t>
            </a:r>
            <a:endParaRPr lang="en-US" sz="1050" dirty="0"/>
          </a:p>
        </p:txBody>
      </p:sp>
      <p:sp>
        <p:nvSpPr>
          <p:cNvPr id="20" name="Text 18"/>
          <p:cNvSpPr/>
          <p:nvPr/>
        </p:nvSpPr>
        <p:spPr>
          <a:xfrm>
            <a:off x="4773168" y="1417320"/>
            <a:ext cx="1810512" cy="26060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Más adultos en edad productiva</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Menos dependientes por trabajador</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Más ahorro e inversión posibles</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Ventana de crecimiento</a:t>
            </a:r>
            <a:endParaRPr lang="en-US" sz="1050" dirty="0"/>
          </a:p>
        </p:txBody>
      </p:sp>
      <p:sp>
        <p:nvSpPr>
          <p:cNvPr id="21" name="Text 19"/>
          <p:cNvSpPr/>
          <p:nvPr/>
        </p:nvSpPr>
        <p:spPr>
          <a:xfrm>
            <a:off x="6693408" y="2377440"/>
            <a:ext cx="118872" cy="32004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22" name="Shape 20"/>
          <p:cNvSpPr/>
          <p:nvPr/>
        </p:nvSpPr>
        <p:spPr>
          <a:xfrm>
            <a:off x="6812280" y="1005840"/>
            <a:ext cx="2029968" cy="31089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3" name="Shape 21"/>
          <p:cNvSpPr/>
          <p:nvPr/>
        </p:nvSpPr>
        <p:spPr>
          <a:xfrm>
            <a:off x="6812280" y="1005840"/>
            <a:ext cx="2029968" cy="347472"/>
          </a:xfrm>
          <a:prstGeom prst="rect">
            <a:avLst/>
          </a:prstGeom>
          <a:solidFill>
            <a:srgbClr val="2C5282"/>
          </a:solidFill>
          <a:ln w="12700">
            <a:solidFill>
              <a:srgbClr val="2C5282"/>
            </a:solidFill>
            <a:prstDash val="solid"/>
          </a:ln>
        </p:spPr>
        <p:txBody>
          <a:bodyPr/>
          <a:lstStyle/>
          <a:p>
            <a:endParaRPr lang="es-AR"/>
          </a:p>
        </p:txBody>
      </p:sp>
      <p:sp>
        <p:nvSpPr>
          <p:cNvPr id="24" name="Text 22"/>
          <p:cNvSpPr/>
          <p:nvPr/>
        </p:nvSpPr>
        <p:spPr>
          <a:xfrm>
            <a:off x="6903720" y="1033272"/>
            <a:ext cx="184708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Envejecimiento</a:t>
            </a:r>
            <a:endParaRPr lang="en-US" sz="1050" dirty="0"/>
          </a:p>
        </p:txBody>
      </p:sp>
      <p:sp>
        <p:nvSpPr>
          <p:cNvPr id="25" name="Text 23"/>
          <p:cNvSpPr/>
          <p:nvPr/>
        </p:nvSpPr>
        <p:spPr>
          <a:xfrm>
            <a:off x="6922008" y="1417320"/>
            <a:ext cx="1810512" cy="26060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Natalidad baja ↓</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Mortalidad baja ↓</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Más adultos mayores</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Presión sobre jubilaciones</a:t>
            </a:r>
            <a:endParaRPr lang="en-US" sz="1050" dirty="0"/>
          </a:p>
        </p:txBody>
      </p:sp>
      <p:sp>
        <p:nvSpPr>
          <p:cNvPr id="26" name="Shape 24"/>
          <p:cNvSpPr/>
          <p:nvPr/>
        </p:nvSpPr>
        <p:spPr>
          <a:xfrm>
            <a:off x="365760" y="4224528"/>
            <a:ext cx="8412480" cy="8229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7" name="Shape 25"/>
          <p:cNvSpPr/>
          <p:nvPr/>
        </p:nvSpPr>
        <p:spPr>
          <a:xfrm>
            <a:off x="365760" y="4224528"/>
            <a:ext cx="54864" cy="822960"/>
          </a:xfrm>
          <a:prstGeom prst="rect">
            <a:avLst/>
          </a:prstGeom>
          <a:solidFill>
            <a:srgbClr val="2E8B74"/>
          </a:solidFill>
          <a:ln w="12700">
            <a:solidFill>
              <a:srgbClr val="2E8B74"/>
            </a:solidFill>
            <a:prstDash val="solid"/>
          </a:ln>
        </p:spPr>
        <p:txBody>
          <a:bodyPr/>
          <a:lstStyle/>
          <a:p>
            <a:endParaRPr lang="es-AR"/>
          </a:p>
        </p:txBody>
      </p:sp>
      <p:sp>
        <p:nvSpPr>
          <p:cNvPr id="28" name="Text 26"/>
          <p:cNvSpPr/>
          <p:nvPr/>
        </p:nvSpPr>
        <p:spPr>
          <a:xfrm>
            <a:off x="548640" y="4270248"/>
            <a:ext cx="8046720" cy="731520"/>
          </a:xfrm>
          <a:prstGeom prst="rect">
            <a:avLst/>
          </a:prstGeom>
          <a:noFill/>
          <a:ln/>
        </p:spPr>
        <p:txBody>
          <a:bodyPr wrap="square" lIns="0" tIns="0" rIns="0" bIns="0" rtlCol="0" anchor="ctr"/>
          <a:lstStyle/>
          <a:p>
            <a:pPr marL="0" indent="0">
              <a:buNone/>
            </a:pPr>
            <a:r>
              <a:rPr lang="en-US" sz="1100" b="1" dirty="0">
                <a:solidFill>
                  <a:srgbClr val="C0533A"/>
                </a:solidFill>
                <a:latin typeface="Calibri" pitchFamily="34" charset="0"/>
                <a:ea typeface="Calibri" pitchFamily="34" charset="-122"/>
                <a:cs typeface="Calibri" pitchFamily="34" charset="-120"/>
              </a:rPr>
              <a:t>⚠ El bono demográfico NO es automático:
</a:t>
            </a:r>
            <a:r>
              <a:rPr lang="en-US" sz="1100" dirty="0">
                <a:solidFill>
                  <a:srgbClr val="1A202C"/>
                </a:solidFill>
                <a:latin typeface="Calibri" pitchFamily="34" charset="0"/>
                <a:ea typeface="Calibri" pitchFamily="34" charset="-122"/>
                <a:cs typeface="Calibri" pitchFamily="34" charset="-120"/>
              </a:rPr>
              <a:t>Solo se aprovecha si hay inversión en educación, salud y generación de empleo productivo para la cohorte joven. Sin esas condiciones, la 'ventana' se cierra sin haber generado desarrollo.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Estructura Productiva: Agricultura de Subsistencia</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U1.2 — CARACTERÍSTICA ESTRUCTURAL 2</a:t>
            </a:r>
            <a:endParaRPr lang="en-US" sz="900" dirty="0"/>
          </a:p>
        </p:txBody>
      </p:sp>
      <p:sp>
        <p:nvSpPr>
          <p:cNvPr id="7" name="Shape 5"/>
          <p:cNvSpPr/>
          <p:nvPr/>
        </p:nvSpPr>
        <p:spPr>
          <a:xfrm>
            <a:off x="365760" y="1005840"/>
            <a:ext cx="8412480" cy="6858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685800"/>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548640" y="1051560"/>
            <a:ext cx="8046720" cy="566928"/>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En los países en desarrollo, la agricultura domina la estructura económica. Pero NO es una agricultura moderna: es subsistencia — se produce para consumo propio, con tecnología rudimentaria y casi sin capital.</a:t>
            </a:r>
            <a:endParaRPr lang="en-US" sz="1200" dirty="0"/>
          </a:p>
        </p:txBody>
      </p:sp>
      <p:sp>
        <p:nvSpPr>
          <p:cNvPr id="10" name="Shape 8"/>
          <p:cNvSpPr/>
          <p:nvPr/>
        </p:nvSpPr>
        <p:spPr>
          <a:xfrm>
            <a:off x="365760" y="1828800"/>
            <a:ext cx="4069080" cy="13716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Text 9"/>
          <p:cNvSpPr/>
          <p:nvPr/>
        </p:nvSpPr>
        <p:spPr>
          <a:xfrm>
            <a:off x="475488" y="2011680"/>
            <a:ext cx="502920" cy="54864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2" name="Text 10"/>
          <p:cNvSpPr/>
          <p:nvPr/>
        </p:nvSpPr>
        <p:spPr>
          <a:xfrm>
            <a:off x="1051560" y="1975104"/>
            <a:ext cx="3246120" cy="347472"/>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Alta ruralidad</a:t>
            </a:r>
            <a:endParaRPr lang="en-US" sz="1200" dirty="0"/>
          </a:p>
        </p:txBody>
      </p:sp>
      <p:sp>
        <p:nvSpPr>
          <p:cNvPr id="13" name="Text 11"/>
          <p:cNvSpPr/>
          <p:nvPr/>
        </p:nvSpPr>
        <p:spPr>
          <a:xfrm>
            <a:off x="1051560" y="2359152"/>
            <a:ext cx="3246120" cy="7498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Mayoría de la PEA vive en zonas rurales, lejos de centros de productividad y servicios.</a:t>
            </a:r>
            <a:endParaRPr lang="en-US" sz="1050" dirty="0"/>
          </a:p>
        </p:txBody>
      </p:sp>
      <p:sp>
        <p:nvSpPr>
          <p:cNvPr id="14" name="Shape 12"/>
          <p:cNvSpPr/>
          <p:nvPr/>
        </p:nvSpPr>
        <p:spPr>
          <a:xfrm>
            <a:off x="4663440" y="1828800"/>
            <a:ext cx="4069080" cy="13716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5" name="Text 13"/>
          <p:cNvSpPr/>
          <p:nvPr/>
        </p:nvSpPr>
        <p:spPr>
          <a:xfrm>
            <a:off x="4773168" y="2011680"/>
            <a:ext cx="502920" cy="54864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6" name="Text 14"/>
          <p:cNvSpPr/>
          <p:nvPr/>
        </p:nvSpPr>
        <p:spPr>
          <a:xfrm>
            <a:off x="5349240" y="1975104"/>
            <a:ext cx="3246120" cy="347472"/>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Baja tecnificación</a:t>
            </a:r>
            <a:endParaRPr lang="en-US" sz="1200" dirty="0"/>
          </a:p>
        </p:txBody>
      </p:sp>
      <p:sp>
        <p:nvSpPr>
          <p:cNvPr id="17" name="Text 15"/>
          <p:cNvSpPr/>
          <p:nvPr/>
        </p:nvSpPr>
        <p:spPr>
          <a:xfrm>
            <a:off x="5349240" y="2359152"/>
            <a:ext cx="3246120" cy="7498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Sin maquinaria, sin crédito, sin infraestructura de riego. Productividad muy limitada.</a:t>
            </a:r>
            <a:endParaRPr lang="en-US" sz="1050" dirty="0"/>
          </a:p>
        </p:txBody>
      </p:sp>
      <p:sp>
        <p:nvSpPr>
          <p:cNvPr id="18" name="Shape 16"/>
          <p:cNvSpPr/>
          <p:nvPr/>
        </p:nvSpPr>
        <p:spPr>
          <a:xfrm>
            <a:off x="365760" y="3337560"/>
            <a:ext cx="4069080" cy="13716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9" name="Text 17"/>
          <p:cNvSpPr/>
          <p:nvPr/>
        </p:nvSpPr>
        <p:spPr>
          <a:xfrm>
            <a:off x="475488" y="3520440"/>
            <a:ext cx="502920" cy="54864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20" name="Text 18"/>
          <p:cNvSpPr/>
          <p:nvPr/>
        </p:nvSpPr>
        <p:spPr>
          <a:xfrm>
            <a:off x="1051560" y="3483864"/>
            <a:ext cx="3246120" cy="347472"/>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Alto riesgo climático</a:t>
            </a:r>
            <a:endParaRPr lang="en-US" sz="1200" dirty="0"/>
          </a:p>
        </p:txBody>
      </p:sp>
      <p:sp>
        <p:nvSpPr>
          <p:cNvPr id="21" name="Text 19"/>
          <p:cNvSpPr/>
          <p:nvPr/>
        </p:nvSpPr>
        <p:spPr>
          <a:xfrm>
            <a:off x="1051560" y="3867912"/>
            <a:ext cx="3246120" cy="7498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Una sequía o plaga puede ser catastrófica para una familia entera. Sin seguros ni redes de seguridad.</a:t>
            </a:r>
            <a:endParaRPr lang="en-US" sz="1050" dirty="0"/>
          </a:p>
        </p:txBody>
      </p:sp>
      <p:sp>
        <p:nvSpPr>
          <p:cNvPr id="22" name="Shape 20"/>
          <p:cNvSpPr/>
          <p:nvPr/>
        </p:nvSpPr>
        <p:spPr>
          <a:xfrm>
            <a:off x="4663440" y="3337560"/>
            <a:ext cx="4069080" cy="13716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3" name="Text 21"/>
          <p:cNvSpPr/>
          <p:nvPr/>
        </p:nvSpPr>
        <p:spPr>
          <a:xfrm>
            <a:off x="4773168" y="3520440"/>
            <a:ext cx="502920" cy="54864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24" name="Text 22"/>
          <p:cNvSpPr/>
          <p:nvPr/>
        </p:nvSpPr>
        <p:spPr>
          <a:xfrm>
            <a:off x="5349240" y="3483864"/>
            <a:ext cx="3246120" cy="347472"/>
          </a:xfrm>
          <a:prstGeom prst="rect">
            <a:avLst/>
          </a:prstGeom>
          <a:noFill/>
          <a:ln/>
        </p:spPr>
        <p:txBody>
          <a:bodyPr wrap="square" lIns="0" tIns="0" rIns="0" bIns="0" rtlCol="0" anchor="ctr"/>
          <a:lstStyle/>
          <a:p>
            <a:pPr marL="0" indent="0">
              <a:buNone/>
            </a:pPr>
            <a:r>
              <a:rPr lang="en-US" sz="1200" b="1" dirty="0">
                <a:solidFill>
                  <a:srgbClr val="1A202C"/>
                </a:solidFill>
                <a:latin typeface="Calibri" pitchFamily="34" charset="0"/>
                <a:ea typeface="Calibri" pitchFamily="34" charset="-122"/>
                <a:cs typeface="Calibri" pitchFamily="34" charset="-120"/>
              </a:rPr>
              <a:t>Sin acumulación de capital</a:t>
            </a:r>
            <a:endParaRPr lang="en-US" sz="1200" dirty="0"/>
          </a:p>
        </p:txBody>
      </p:sp>
      <p:sp>
        <p:nvSpPr>
          <p:cNvPr id="25" name="Text 23"/>
          <p:cNvSpPr/>
          <p:nvPr/>
        </p:nvSpPr>
        <p:spPr>
          <a:xfrm>
            <a:off x="5349240" y="3867912"/>
            <a:ext cx="3246120" cy="7498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Sin excedentes no hay ahorro. Sin ahorro no hay inversión. Conecta directamente con el Modelo Harrod-Domar.</a:t>
            </a:r>
            <a:endParaRPr lang="en-US" sz="1050" dirty="0"/>
          </a:p>
        </p:txBody>
      </p:sp>
      <p:sp>
        <p:nvSpPr>
          <p:cNvPr id="26" name="Shape 24"/>
          <p:cNvSpPr/>
          <p:nvPr/>
        </p:nvSpPr>
        <p:spPr>
          <a:xfrm>
            <a:off x="365760" y="4901184"/>
            <a:ext cx="8412480" cy="201168"/>
          </a:xfrm>
          <a:prstGeom prst="rect">
            <a:avLst/>
          </a:prstGeom>
          <a:solidFill>
            <a:srgbClr val="EEF2FF"/>
          </a:solidFill>
          <a:ln w="12700">
            <a:solidFill>
              <a:srgbClr val="CBD5E0"/>
            </a:solidFill>
            <a:prstDash val="solid"/>
          </a:ln>
        </p:spPr>
        <p:txBody>
          <a:bodyPr/>
          <a:lstStyle/>
          <a:p>
            <a:endParaRPr lang="es-AR"/>
          </a:p>
        </p:txBody>
      </p:sp>
      <p:sp>
        <p:nvSpPr>
          <p:cNvPr id="27" name="Text 25"/>
          <p:cNvSpPr/>
          <p:nvPr/>
        </p:nvSpPr>
        <p:spPr>
          <a:xfrm>
            <a:off x="548640" y="4919472"/>
            <a:ext cx="8046720" cy="164592"/>
          </a:xfrm>
          <a:prstGeom prst="rect">
            <a:avLst/>
          </a:prstGeom>
          <a:noFill/>
          <a:ln/>
        </p:spPr>
        <p:txBody>
          <a:bodyPr wrap="square" lIns="0" tIns="0" rIns="0" bIns="0" rtlCol="0" anchor="ctr"/>
          <a:lstStyle/>
          <a:p>
            <a:pPr marL="0" indent="0">
              <a:buNone/>
            </a:pPr>
            <a:r>
              <a:rPr lang="en-US" sz="1000" b="1" dirty="0">
                <a:solidFill>
                  <a:srgbClr val="2C5282"/>
                </a:solidFill>
                <a:latin typeface="Calibri" pitchFamily="34" charset="0"/>
                <a:ea typeface="Calibri" pitchFamily="34" charset="-122"/>
                <a:cs typeface="Calibri" pitchFamily="34" charset="-120"/>
              </a:rPr>
              <a:t>↗ Conexión directa con Harrod-Domar: sin capital no hay crecimiento. Y si el sector dominante es subsistencia, acumular capital es casi imposible.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Migración Rural-Urbana: ¿Desarrollo o Nueva Pobreza?</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U1.2 — CARACTERÍSTICA ESTRUCTURAL 3</a:t>
            </a:r>
            <a:endParaRPr lang="en-US" sz="900" dirty="0"/>
          </a:p>
        </p:txBody>
      </p:sp>
      <p:sp>
        <p:nvSpPr>
          <p:cNvPr id="7" name="Shape 5"/>
          <p:cNvSpPr/>
          <p:nvPr/>
        </p:nvSpPr>
        <p:spPr>
          <a:xfrm>
            <a:off x="365760" y="1005840"/>
            <a:ext cx="8412480" cy="74980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Text 6"/>
          <p:cNvSpPr/>
          <p:nvPr/>
        </p:nvSpPr>
        <p:spPr>
          <a:xfrm>
            <a:off x="548640" y="1051560"/>
            <a:ext cx="8046720" cy="64008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La pobreza extrema del campo 'expulsa' a la gente hacia las ciudades, atraída por la promesa de mejores oportunidades. Pero </a:t>
            </a:r>
            <a:r>
              <a:rPr lang="en-US" sz="1200" b="1" dirty="0">
                <a:solidFill>
                  <a:srgbClr val="C0533A"/>
                </a:solidFill>
                <a:latin typeface="Calibri" pitchFamily="34" charset="0"/>
                <a:ea typeface="Calibri" pitchFamily="34" charset="-122"/>
                <a:cs typeface="Calibri" pitchFamily="34" charset="-120"/>
              </a:rPr>
              <a:t>las ciudades no absorben bien a los migrantes.</a:t>
            </a:r>
            <a:endParaRPr lang="en-US" sz="1200" dirty="0"/>
          </a:p>
        </p:txBody>
      </p:sp>
      <p:sp>
        <p:nvSpPr>
          <p:cNvPr id="9" name="Shape 7"/>
          <p:cNvSpPr/>
          <p:nvPr/>
        </p:nvSpPr>
        <p:spPr>
          <a:xfrm>
            <a:off x="365760" y="1874520"/>
            <a:ext cx="1920240" cy="10972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0" name="Text 8"/>
          <p:cNvSpPr/>
          <p:nvPr/>
        </p:nvSpPr>
        <p:spPr>
          <a:xfrm>
            <a:off x="457200" y="1965960"/>
            <a:ext cx="1737360" cy="640080"/>
          </a:xfrm>
          <a:prstGeom prst="rect">
            <a:avLst/>
          </a:prstGeom>
          <a:noFill/>
          <a:ln/>
        </p:spPr>
        <p:txBody>
          <a:bodyPr wrap="square" lIns="0" tIns="0" rIns="0" bIns="0" rtlCol="0" anchor="ctr"/>
          <a:lstStyle/>
          <a:p>
            <a:pPr marL="0" indent="0" algn="ctr">
              <a:buNone/>
            </a:pPr>
            <a:r>
              <a:rPr lang="en-US" sz="3600" b="1" dirty="0">
                <a:solidFill>
                  <a:srgbClr val="C0533A"/>
                </a:solidFill>
                <a:latin typeface="Georgia" pitchFamily="34" charset="0"/>
                <a:ea typeface="Georgia" pitchFamily="34" charset="-122"/>
                <a:cs typeface="Georgia" pitchFamily="34" charset="-120"/>
              </a:rPr>
              <a:t>3.9%</a:t>
            </a:r>
            <a:endParaRPr lang="en-US" sz="3600" dirty="0"/>
          </a:p>
        </p:txBody>
      </p:sp>
      <p:sp>
        <p:nvSpPr>
          <p:cNvPr id="11" name="Text 9"/>
          <p:cNvSpPr/>
          <p:nvPr/>
        </p:nvSpPr>
        <p:spPr>
          <a:xfrm>
            <a:off x="457200" y="2587752"/>
            <a:ext cx="1737360" cy="292608"/>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Crecimiento urbano anual</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45 países renta baja 1980-1993</a:t>
            </a:r>
            <a:endParaRPr lang="en-US" sz="1000" dirty="0"/>
          </a:p>
        </p:txBody>
      </p:sp>
      <p:sp>
        <p:nvSpPr>
          <p:cNvPr id="12" name="Shape 10"/>
          <p:cNvSpPr/>
          <p:nvPr/>
        </p:nvSpPr>
        <p:spPr>
          <a:xfrm>
            <a:off x="2468880" y="1874520"/>
            <a:ext cx="1920240" cy="10972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3" name="Text 11"/>
          <p:cNvSpPr/>
          <p:nvPr/>
        </p:nvSpPr>
        <p:spPr>
          <a:xfrm>
            <a:off x="2560320" y="1965960"/>
            <a:ext cx="1737360" cy="640080"/>
          </a:xfrm>
          <a:prstGeom prst="rect">
            <a:avLst/>
          </a:prstGeom>
          <a:noFill/>
          <a:ln/>
        </p:spPr>
        <p:txBody>
          <a:bodyPr wrap="square" lIns="0" tIns="0" rIns="0" bIns="0" rtlCol="0" anchor="ctr"/>
          <a:lstStyle/>
          <a:p>
            <a:pPr marL="0" indent="0" algn="ctr">
              <a:buNone/>
            </a:pPr>
            <a:r>
              <a:rPr lang="en-US" sz="3600" b="1" dirty="0">
                <a:solidFill>
                  <a:srgbClr val="64748B"/>
                </a:solidFill>
                <a:latin typeface="Georgia" pitchFamily="34" charset="0"/>
                <a:ea typeface="Georgia" pitchFamily="34" charset="-122"/>
                <a:cs typeface="Georgia" pitchFamily="34" charset="-120"/>
              </a:rPr>
              <a:t>2.0%</a:t>
            </a:r>
            <a:endParaRPr lang="en-US" sz="3600" dirty="0"/>
          </a:p>
        </p:txBody>
      </p:sp>
      <p:sp>
        <p:nvSpPr>
          <p:cNvPr id="14" name="Text 12"/>
          <p:cNvSpPr/>
          <p:nvPr/>
        </p:nvSpPr>
        <p:spPr>
          <a:xfrm>
            <a:off x="2560320" y="2587752"/>
            <a:ext cx="1737360" cy="292608"/>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Tasa de crecimiento general del período</a:t>
            </a:r>
            <a:endParaRPr lang="en-US" sz="1000" dirty="0"/>
          </a:p>
        </p:txBody>
      </p:sp>
      <p:sp>
        <p:nvSpPr>
          <p:cNvPr id="15" name="Text 13"/>
          <p:cNvSpPr/>
          <p:nvPr/>
        </p:nvSpPr>
        <p:spPr>
          <a:xfrm>
            <a:off x="4480560" y="2331720"/>
            <a:ext cx="1371600" cy="274320"/>
          </a:xfrm>
          <a:prstGeom prst="rect">
            <a:avLst/>
          </a:prstGeom>
          <a:noFill/>
          <a:ln/>
        </p:spPr>
        <p:txBody>
          <a:bodyPr wrap="square" lIns="0" tIns="0" rIns="0" bIns="0" rtlCol="0" anchor="ctr"/>
          <a:lstStyle/>
          <a:p>
            <a:pPr marL="0" indent="0">
              <a:buNone/>
            </a:pPr>
            <a:r>
              <a:rPr lang="en-US" sz="1200" b="1" dirty="0">
                <a:solidFill>
                  <a:srgbClr val="C0533A"/>
                </a:solidFill>
                <a:latin typeface="Calibri" pitchFamily="34" charset="0"/>
                <a:ea typeface="Calibri" pitchFamily="34" charset="-122"/>
                <a:cs typeface="Calibri" pitchFamily="34" charset="-120"/>
              </a:rPr>
              <a:t>= casi el doble</a:t>
            </a:r>
            <a:endParaRPr lang="en-US" sz="1200" dirty="0"/>
          </a:p>
        </p:txBody>
      </p:sp>
      <p:sp>
        <p:nvSpPr>
          <p:cNvPr id="16" name="Shape 14"/>
          <p:cNvSpPr/>
          <p:nvPr/>
        </p:nvSpPr>
        <p:spPr>
          <a:xfrm>
            <a:off x="4754880" y="1828800"/>
            <a:ext cx="4069080" cy="301752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7" name="Shape 15"/>
          <p:cNvSpPr/>
          <p:nvPr/>
        </p:nvSpPr>
        <p:spPr>
          <a:xfrm>
            <a:off x="4754880" y="1828800"/>
            <a:ext cx="4069080" cy="347472"/>
          </a:xfrm>
          <a:prstGeom prst="rect">
            <a:avLst/>
          </a:prstGeom>
          <a:solidFill>
            <a:srgbClr val="C0533A"/>
          </a:solidFill>
          <a:ln w="12700">
            <a:solidFill>
              <a:srgbClr val="C0533A"/>
            </a:solidFill>
            <a:prstDash val="solid"/>
          </a:ln>
        </p:spPr>
        <p:txBody>
          <a:bodyPr/>
          <a:lstStyle/>
          <a:p>
            <a:endParaRPr lang="es-AR"/>
          </a:p>
        </p:txBody>
      </p:sp>
      <p:sp>
        <p:nvSpPr>
          <p:cNvPr id="18" name="Text 16"/>
          <p:cNvSpPr/>
          <p:nvPr/>
        </p:nvSpPr>
        <p:spPr>
          <a:xfrm>
            <a:off x="4892040" y="1856232"/>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¿Qué pasa en la ciudad?</a:t>
            </a:r>
            <a:endParaRPr lang="en-US" sz="1200" dirty="0"/>
          </a:p>
        </p:txBody>
      </p:sp>
      <p:sp>
        <p:nvSpPr>
          <p:cNvPr id="19" name="Text 17"/>
          <p:cNvSpPr/>
          <p:nvPr/>
        </p:nvSpPr>
        <p:spPr>
          <a:xfrm>
            <a:off x="4892040" y="2231136"/>
            <a:ext cx="3749040" cy="2523744"/>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Generan marginación: </a:t>
            </a:r>
            <a:r>
              <a:rPr lang="en-US" sz="1050" dirty="0">
                <a:solidFill>
                  <a:srgbClr val="1A202C"/>
                </a:solidFill>
                <a:latin typeface="Calibri" pitchFamily="34" charset="0"/>
                <a:ea typeface="Calibri" pitchFamily="34" charset="-122"/>
                <a:cs typeface="Calibri" pitchFamily="34" charset="-120"/>
              </a:rPr>
              <a:t>villas y asentamientos precarios
</a:t>
            </a:r>
            <a:r>
              <a:rPr lang="en-US" sz="1050" b="1" dirty="0">
                <a:solidFill>
                  <a:srgbClr val="C0533A"/>
                </a:solidFill>
                <a:latin typeface="Calibri" pitchFamily="34" charset="0"/>
                <a:ea typeface="Calibri" pitchFamily="34" charset="-122"/>
                <a:cs typeface="Calibri" pitchFamily="34" charset="-120"/>
              </a:rPr>
              <a:t>✗ Sector informal: </a:t>
            </a:r>
            <a:r>
              <a:rPr lang="en-US" sz="1050" dirty="0">
                <a:solidFill>
                  <a:srgbClr val="1A202C"/>
                </a:solidFill>
                <a:latin typeface="Calibri" pitchFamily="34" charset="0"/>
                <a:ea typeface="Calibri" pitchFamily="34" charset="-122"/>
                <a:cs typeface="Calibri" pitchFamily="34" charset="-120"/>
              </a:rPr>
              <a:t>vendedores ambulantes, trabajo doméstico, changas. NO es el sector servicios de países desarrollados (formal y productivo)
</a:t>
            </a:r>
            <a:r>
              <a:rPr lang="en-US" sz="1050" b="1" dirty="0">
                <a:solidFill>
                  <a:srgbClr val="C0533A"/>
                </a:solidFill>
                <a:latin typeface="Calibri" pitchFamily="34" charset="0"/>
                <a:ea typeface="Calibri" pitchFamily="34" charset="-122"/>
                <a:cs typeface="Calibri" pitchFamily="34" charset="-120"/>
              </a:rPr>
              <a:t>✗ Círculo vicioso: </a:t>
            </a:r>
            <a:r>
              <a:rPr lang="en-US" sz="1050" dirty="0">
                <a:solidFill>
                  <a:srgbClr val="1A202C"/>
                </a:solidFill>
                <a:latin typeface="Calibri" pitchFamily="34" charset="0"/>
                <a:ea typeface="Calibri" pitchFamily="34" charset="-122"/>
                <a:cs typeface="Calibri" pitchFamily="34" charset="-120"/>
              </a:rPr>
              <a:t>pobreza rural → pobreza urbana informal, sin transformación estructural real.</a:t>
            </a:r>
            <a:endParaRPr lang="en-US" sz="1050" dirty="0"/>
          </a:p>
        </p:txBody>
      </p:sp>
      <p:sp>
        <p:nvSpPr>
          <p:cNvPr id="20" name="Shape 18"/>
          <p:cNvSpPr/>
          <p:nvPr/>
        </p:nvSpPr>
        <p:spPr>
          <a:xfrm>
            <a:off x="365760" y="4919472"/>
            <a:ext cx="8412480" cy="201168"/>
          </a:xfrm>
          <a:prstGeom prst="rect">
            <a:avLst/>
          </a:prstGeom>
          <a:solidFill>
            <a:srgbClr val="FFF3CD"/>
          </a:solidFill>
          <a:ln w="12700">
            <a:solidFill>
              <a:srgbClr val="CBD5E0"/>
            </a:solidFill>
            <a:prstDash val="solid"/>
          </a:ln>
        </p:spPr>
        <p:txBody>
          <a:bodyPr/>
          <a:lstStyle/>
          <a:p>
            <a:endParaRPr lang="es-AR"/>
          </a:p>
        </p:txBody>
      </p:sp>
      <p:sp>
        <p:nvSpPr>
          <p:cNvPr id="21" name="Text 19"/>
          <p:cNvSpPr/>
          <p:nvPr/>
        </p:nvSpPr>
        <p:spPr>
          <a:xfrm>
            <a:off x="548640" y="4937760"/>
            <a:ext cx="8046720" cy="164592"/>
          </a:xfrm>
          <a:prstGeom prst="rect">
            <a:avLst/>
          </a:prstGeom>
          <a:noFill/>
          <a:ln/>
        </p:spPr>
        <p:txBody>
          <a:bodyPr wrap="square" lIns="0" tIns="0" rIns="0" bIns="0" rtlCol="0" anchor="ctr"/>
          <a:lstStyle/>
          <a:p>
            <a:pPr marL="0" indent="0">
              <a:buNone/>
            </a:pPr>
            <a:r>
              <a:rPr lang="en-US" sz="1000" b="1" dirty="0">
                <a:solidFill>
                  <a:srgbClr val="C0533A"/>
                </a:solidFill>
                <a:latin typeface="Calibri" pitchFamily="34" charset="0"/>
                <a:ea typeface="Calibri" pitchFamily="34" charset="-122"/>
                <a:cs typeface="Calibri" pitchFamily="34" charset="-120"/>
              </a:rPr>
              <a:t>Error común: asumir que urbanización = desarrollo. En países pobres, puede significar solo traslado de pobreza del campo a la villa de emergencia.</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Inserción Asimétrica en el Comercio Internacional</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U1.2 — CARACTERÍSTICA ESTRUCTURAL 4</a:t>
            </a:r>
            <a:endParaRPr lang="en-US" sz="900" dirty="0"/>
          </a:p>
        </p:txBody>
      </p:sp>
      <p:sp>
        <p:nvSpPr>
          <p:cNvPr id="7" name="Shape 5"/>
          <p:cNvSpPr/>
          <p:nvPr/>
        </p:nvSpPr>
        <p:spPr>
          <a:xfrm>
            <a:off x="365760" y="1005840"/>
            <a:ext cx="4206240" cy="31089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4206240" cy="347472"/>
          </a:xfrm>
          <a:prstGeom prst="rect">
            <a:avLst/>
          </a:prstGeom>
          <a:solidFill>
            <a:srgbClr val="C0533A"/>
          </a:solidFill>
          <a:ln w="12700">
            <a:solidFill>
              <a:srgbClr val="C0533A"/>
            </a:solidFill>
            <a:prstDash val="solid"/>
          </a:ln>
        </p:spPr>
        <p:txBody>
          <a:bodyPr/>
          <a:lstStyle/>
          <a:p>
            <a:endParaRPr lang="es-AR"/>
          </a:p>
        </p:txBody>
      </p:sp>
      <p:sp>
        <p:nvSpPr>
          <p:cNvPr id="9" name="Text 7"/>
          <p:cNvSpPr/>
          <p:nvPr/>
        </p:nvSpPr>
        <p:spPr>
          <a:xfrm>
            <a:off x="475488" y="1033272"/>
            <a:ext cx="3986784"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Países en Desarrollo</a:t>
            </a:r>
            <a:endParaRPr lang="en-US" sz="1300" dirty="0"/>
          </a:p>
        </p:txBody>
      </p:sp>
      <p:sp>
        <p:nvSpPr>
          <p:cNvPr id="10" name="Text 8"/>
          <p:cNvSpPr/>
          <p:nvPr/>
        </p:nvSpPr>
        <p:spPr>
          <a:xfrm>
            <a:off x="502920" y="1417320"/>
            <a:ext cx="3931920" cy="25603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Exportan materias primas: soja, minerales, petróleo crudo, café</a:t>
            </a:r>
            <a:endParaRPr lang="en-US" sz="1100" dirty="0"/>
          </a:p>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Poco valor agregado → precios volátiles</a:t>
            </a:r>
            <a:endParaRPr lang="en-US" sz="1100" dirty="0"/>
          </a:p>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Deterioro de términos de intercambio en el largo plazo</a:t>
            </a:r>
            <a:endParaRPr lang="en-US" sz="1100" dirty="0"/>
          </a:p>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Dependencia de un número reducido de productos</a:t>
            </a:r>
            <a:endParaRPr lang="en-US" sz="1100" dirty="0"/>
          </a:p>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Vulnerable a shocks externos de precios</a:t>
            </a:r>
            <a:endParaRPr lang="en-US" sz="1100" dirty="0"/>
          </a:p>
        </p:txBody>
      </p:sp>
      <p:sp>
        <p:nvSpPr>
          <p:cNvPr id="11" name="Shape 9"/>
          <p:cNvSpPr/>
          <p:nvPr/>
        </p:nvSpPr>
        <p:spPr>
          <a:xfrm>
            <a:off x="4709160" y="1005840"/>
            <a:ext cx="4206240" cy="31089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2" name="Shape 10"/>
          <p:cNvSpPr/>
          <p:nvPr/>
        </p:nvSpPr>
        <p:spPr>
          <a:xfrm>
            <a:off x="4709160" y="1005840"/>
            <a:ext cx="4206240" cy="347472"/>
          </a:xfrm>
          <a:prstGeom prst="rect">
            <a:avLst/>
          </a:prstGeom>
          <a:solidFill>
            <a:srgbClr val="2E8B74"/>
          </a:solidFill>
          <a:ln w="12700">
            <a:solidFill>
              <a:srgbClr val="2E8B74"/>
            </a:solidFill>
            <a:prstDash val="solid"/>
          </a:ln>
        </p:spPr>
        <p:txBody>
          <a:bodyPr/>
          <a:lstStyle/>
          <a:p>
            <a:endParaRPr lang="es-AR"/>
          </a:p>
        </p:txBody>
      </p:sp>
      <p:sp>
        <p:nvSpPr>
          <p:cNvPr id="13" name="Text 11"/>
          <p:cNvSpPr/>
          <p:nvPr/>
        </p:nvSpPr>
        <p:spPr>
          <a:xfrm>
            <a:off x="4818888" y="1033272"/>
            <a:ext cx="3986784"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Países Desarrollados</a:t>
            </a:r>
            <a:endParaRPr lang="en-US" sz="1300" dirty="0"/>
          </a:p>
        </p:txBody>
      </p:sp>
      <p:sp>
        <p:nvSpPr>
          <p:cNvPr id="14" name="Text 12"/>
          <p:cNvSpPr/>
          <p:nvPr/>
        </p:nvSpPr>
        <p:spPr>
          <a:xfrm>
            <a:off x="4846320" y="1417320"/>
            <a:ext cx="3931920" cy="25603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Exportan manufacturas, bienes de capital, tecnología</a:t>
            </a:r>
            <a:endParaRPr lang="en-US" sz="1100" dirty="0"/>
          </a:p>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Alto valor agregado → precios más estables y crecientes</a:t>
            </a:r>
            <a:endParaRPr lang="en-US" sz="1100" dirty="0"/>
          </a:p>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Controlan la tecnología de producción</a:t>
            </a:r>
            <a:endParaRPr lang="en-US" sz="1100" dirty="0"/>
          </a:p>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Diversificación productiva</a:t>
            </a:r>
            <a:endParaRPr lang="en-US" sz="1100" dirty="0"/>
          </a:p>
          <a:p>
            <a:pPr marL="342900" indent="-342900">
              <a:spcAft>
                <a:spcPts val="600"/>
              </a:spcAft>
              <a:buSzPct val="100000"/>
              <a:buChar char="•"/>
            </a:pPr>
            <a:r>
              <a:rPr lang="en-US" sz="1100" dirty="0">
                <a:solidFill>
                  <a:srgbClr val="1A202C"/>
                </a:solidFill>
                <a:latin typeface="Calibri" pitchFamily="34" charset="0"/>
                <a:ea typeface="Calibri" pitchFamily="34" charset="-122"/>
                <a:cs typeface="Calibri" pitchFamily="34" charset="-120"/>
              </a:rPr>
              <a:t>Mayor capacidad de negociación comercial</a:t>
            </a:r>
            <a:endParaRPr lang="en-US" sz="1100" dirty="0"/>
          </a:p>
        </p:txBody>
      </p:sp>
      <p:sp>
        <p:nvSpPr>
          <p:cNvPr id="15" name="Shape 13"/>
          <p:cNvSpPr/>
          <p:nvPr/>
        </p:nvSpPr>
        <p:spPr>
          <a:xfrm>
            <a:off x="365760" y="4206240"/>
            <a:ext cx="8412480" cy="8229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6" name="Shape 14"/>
          <p:cNvSpPr/>
          <p:nvPr/>
        </p:nvSpPr>
        <p:spPr>
          <a:xfrm>
            <a:off x="365760" y="4206240"/>
            <a:ext cx="54864" cy="822960"/>
          </a:xfrm>
          <a:prstGeom prst="rect">
            <a:avLst/>
          </a:prstGeom>
          <a:solidFill>
            <a:srgbClr val="D4A853"/>
          </a:solidFill>
          <a:ln w="12700">
            <a:solidFill>
              <a:srgbClr val="D4A853"/>
            </a:solidFill>
            <a:prstDash val="solid"/>
          </a:ln>
        </p:spPr>
        <p:txBody>
          <a:bodyPr/>
          <a:lstStyle/>
          <a:p>
            <a:endParaRPr lang="es-AR"/>
          </a:p>
        </p:txBody>
      </p:sp>
      <p:sp>
        <p:nvSpPr>
          <p:cNvPr id="17" name="Text 15"/>
          <p:cNvSpPr/>
          <p:nvPr/>
        </p:nvSpPr>
        <p:spPr>
          <a:xfrm>
            <a:off x="548640" y="4251960"/>
            <a:ext cx="8046720" cy="713232"/>
          </a:xfrm>
          <a:prstGeom prst="rect">
            <a:avLst/>
          </a:prstGeom>
          <a:noFill/>
          <a:ln/>
        </p:spPr>
        <p:txBody>
          <a:bodyPr wrap="square" lIns="0" tIns="0" rIns="0" bIns="0" rtlCol="0" anchor="ctr"/>
          <a:lstStyle/>
          <a:p>
            <a:pPr marL="0" indent="0">
              <a:buNone/>
            </a:pPr>
            <a:r>
              <a:rPr lang="en-US" sz="1100" b="1" dirty="0">
                <a:solidFill>
                  <a:srgbClr val="D4A853"/>
                </a:solidFill>
                <a:latin typeface="Calibri" pitchFamily="34" charset="0"/>
                <a:ea typeface="Calibri" pitchFamily="34" charset="-122"/>
                <a:cs typeface="Calibri" pitchFamily="34" charset="-120"/>
              </a:rPr>
              <a:t>Teoría de las ventajas comparativas (Ricardo): </a:t>
            </a:r>
            <a:r>
              <a:rPr lang="en-US" sz="1100" dirty="0">
                <a:solidFill>
                  <a:srgbClr val="1A202C"/>
                </a:solidFill>
                <a:latin typeface="Calibri" pitchFamily="34" charset="0"/>
                <a:ea typeface="Calibri" pitchFamily="34" charset="-122"/>
                <a:cs typeface="Calibri" pitchFamily="34" charset="-120"/>
              </a:rPr>
              <a:t>cada país debería especializarse en lo que produce relativamente mejor. Si un país tiene tierra barata → exporta materias primas. </a:t>
            </a:r>
            <a:r>
              <a:rPr lang="en-US" sz="1100" b="1" i="1" dirty="0">
                <a:solidFill>
                  <a:srgbClr val="C0533A"/>
                </a:solidFill>
                <a:latin typeface="Calibri" pitchFamily="34" charset="0"/>
                <a:ea typeface="Calibri" pitchFamily="34" charset="-122"/>
                <a:cs typeface="Calibri" pitchFamily="34" charset="-120"/>
              </a:rPr>
              <a:t>Pero esta lógica de mercado no necesariamente conduce al desarrollo.</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C5282"/>
          </a:solidFill>
          <a:ln w="12700">
            <a:solidFill>
              <a:srgbClr val="2C5282"/>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Problemas Comunes de los Países en Desarrollo</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U1.2 — SÍNTESIS</a:t>
            </a:r>
            <a:endParaRPr lang="en-US" sz="900" dirty="0"/>
          </a:p>
        </p:txBody>
      </p:sp>
      <p:sp>
        <p:nvSpPr>
          <p:cNvPr id="7" name="Shape 5"/>
          <p:cNvSpPr/>
          <p:nvPr/>
        </p:nvSpPr>
        <p:spPr>
          <a:xfrm>
            <a:off x="365760" y="1005840"/>
            <a:ext cx="2011680" cy="166420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2011680" cy="54864"/>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457200" y="1115568"/>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0" name="Text 8"/>
          <p:cNvSpPr/>
          <p:nvPr/>
        </p:nvSpPr>
        <p:spPr>
          <a:xfrm>
            <a:off x="932688" y="1152144"/>
            <a:ext cx="1335024" cy="402336"/>
          </a:xfrm>
          <a:prstGeom prst="rect">
            <a:avLst/>
          </a:prstGeom>
          <a:noFill/>
          <a:ln/>
        </p:spPr>
        <p:txBody>
          <a:bodyPr wrap="square" lIns="0" tIns="0" rIns="0" bIns="0" rtlCol="0" anchor="ctr"/>
          <a:lstStyle/>
          <a:p>
            <a:pPr marL="0" indent="0">
              <a:buNone/>
            </a:pPr>
            <a:r>
              <a:rPr lang="en-US" sz="1050" b="1" dirty="0">
                <a:solidFill>
                  <a:srgbClr val="1A202C"/>
                </a:solidFill>
                <a:latin typeface="Calibri" pitchFamily="34" charset="0"/>
                <a:ea typeface="Calibri" pitchFamily="34" charset="-122"/>
                <a:cs typeface="Calibri" pitchFamily="34" charset="-120"/>
              </a:rPr>
              <a:t>Bajo nivel de vida</a:t>
            </a:r>
            <a:endParaRPr lang="en-US" sz="1050" dirty="0"/>
          </a:p>
        </p:txBody>
      </p:sp>
      <p:sp>
        <p:nvSpPr>
          <p:cNvPr id="11" name="Text 9"/>
          <p:cNvSpPr/>
          <p:nvPr/>
        </p:nvSpPr>
        <p:spPr>
          <a:xfrm>
            <a:off x="475488" y="1645920"/>
            <a:ext cx="1792224" cy="9144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Bajos ingresos, alta desigualdad, mala salud y educación. Pobreza multidimensional.</a:t>
            </a:r>
            <a:endParaRPr lang="en-US" sz="950" dirty="0"/>
          </a:p>
        </p:txBody>
      </p:sp>
      <p:sp>
        <p:nvSpPr>
          <p:cNvPr id="12" name="Shape 10"/>
          <p:cNvSpPr/>
          <p:nvPr/>
        </p:nvSpPr>
        <p:spPr>
          <a:xfrm>
            <a:off x="2514600" y="1005840"/>
            <a:ext cx="2011680" cy="166420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3" name="Shape 11"/>
          <p:cNvSpPr/>
          <p:nvPr/>
        </p:nvSpPr>
        <p:spPr>
          <a:xfrm>
            <a:off x="2514600" y="1005840"/>
            <a:ext cx="2011680" cy="54864"/>
          </a:xfrm>
          <a:prstGeom prst="rect">
            <a:avLst/>
          </a:prstGeom>
          <a:solidFill>
            <a:srgbClr val="2C5282"/>
          </a:solidFill>
          <a:ln w="12700">
            <a:solidFill>
              <a:srgbClr val="2C5282"/>
            </a:solidFill>
            <a:prstDash val="solid"/>
          </a:ln>
        </p:spPr>
        <p:txBody>
          <a:bodyPr/>
          <a:lstStyle/>
          <a:p>
            <a:endParaRPr lang="es-AR"/>
          </a:p>
        </p:txBody>
      </p:sp>
      <p:sp>
        <p:nvSpPr>
          <p:cNvPr id="14" name="Text 12"/>
          <p:cNvSpPr/>
          <p:nvPr/>
        </p:nvSpPr>
        <p:spPr>
          <a:xfrm>
            <a:off x="2606040" y="1115568"/>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5" name="Text 13"/>
          <p:cNvSpPr/>
          <p:nvPr/>
        </p:nvSpPr>
        <p:spPr>
          <a:xfrm>
            <a:off x="3081528" y="1152144"/>
            <a:ext cx="1335024" cy="402336"/>
          </a:xfrm>
          <a:prstGeom prst="rect">
            <a:avLst/>
          </a:prstGeom>
          <a:noFill/>
          <a:ln/>
        </p:spPr>
        <p:txBody>
          <a:bodyPr wrap="square" lIns="0" tIns="0" rIns="0" bIns="0" rtlCol="0" anchor="ctr"/>
          <a:lstStyle/>
          <a:p>
            <a:pPr marL="0" indent="0">
              <a:buNone/>
            </a:pPr>
            <a:r>
              <a:rPr lang="en-US" sz="1050" b="1" dirty="0">
                <a:solidFill>
                  <a:srgbClr val="1A202C"/>
                </a:solidFill>
                <a:latin typeface="Calibri" pitchFamily="34" charset="0"/>
                <a:ea typeface="Calibri" pitchFamily="34" charset="-122"/>
                <a:cs typeface="Calibri" pitchFamily="34" charset="-120"/>
              </a:rPr>
              <a:t>Baja productividad</a:t>
            </a:r>
            <a:endParaRPr lang="en-US" sz="1050" dirty="0"/>
          </a:p>
        </p:txBody>
      </p:sp>
      <p:sp>
        <p:nvSpPr>
          <p:cNvPr id="16" name="Text 14"/>
          <p:cNvSpPr/>
          <p:nvPr/>
        </p:nvSpPr>
        <p:spPr>
          <a:xfrm>
            <a:off x="2624328" y="1645920"/>
            <a:ext cx="1792224" cy="9144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Poco producido por trabajador. Sin capital físico ni tecnología.</a:t>
            </a:r>
            <a:endParaRPr lang="en-US" sz="950" dirty="0"/>
          </a:p>
        </p:txBody>
      </p:sp>
      <p:sp>
        <p:nvSpPr>
          <p:cNvPr id="17" name="Shape 15"/>
          <p:cNvSpPr/>
          <p:nvPr/>
        </p:nvSpPr>
        <p:spPr>
          <a:xfrm>
            <a:off x="4663440" y="1005840"/>
            <a:ext cx="2011680" cy="166420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8" name="Shape 16"/>
          <p:cNvSpPr/>
          <p:nvPr/>
        </p:nvSpPr>
        <p:spPr>
          <a:xfrm>
            <a:off x="4663440" y="1005840"/>
            <a:ext cx="2011680" cy="54864"/>
          </a:xfrm>
          <a:prstGeom prst="rect">
            <a:avLst/>
          </a:prstGeom>
          <a:solidFill>
            <a:srgbClr val="2C5282"/>
          </a:solidFill>
          <a:ln w="12700">
            <a:solidFill>
              <a:srgbClr val="2C5282"/>
            </a:solidFill>
            <a:prstDash val="solid"/>
          </a:ln>
        </p:spPr>
        <p:txBody>
          <a:bodyPr/>
          <a:lstStyle/>
          <a:p>
            <a:endParaRPr lang="es-AR"/>
          </a:p>
        </p:txBody>
      </p:sp>
      <p:sp>
        <p:nvSpPr>
          <p:cNvPr id="19" name="Text 17"/>
          <p:cNvSpPr/>
          <p:nvPr/>
        </p:nvSpPr>
        <p:spPr>
          <a:xfrm>
            <a:off x="4754880" y="1115568"/>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0" name="Text 18"/>
          <p:cNvSpPr/>
          <p:nvPr/>
        </p:nvSpPr>
        <p:spPr>
          <a:xfrm>
            <a:off x="5230368" y="1152144"/>
            <a:ext cx="1335024" cy="402336"/>
          </a:xfrm>
          <a:prstGeom prst="rect">
            <a:avLst/>
          </a:prstGeom>
          <a:noFill/>
          <a:ln/>
        </p:spPr>
        <p:txBody>
          <a:bodyPr wrap="square" lIns="0" tIns="0" rIns="0" bIns="0" rtlCol="0" anchor="ctr"/>
          <a:lstStyle/>
          <a:p>
            <a:pPr marL="0" indent="0">
              <a:buNone/>
            </a:pPr>
            <a:r>
              <a:rPr lang="en-US" sz="1050" b="1" dirty="0">
                <a:solidFill>
                  <a:srgbClr val="1A202C"/>
                </a:solidFill>
                <a:latin typeface="Calibri" pitchFamily="34" charset="0"/>
                <a:ea typeface="Calibri" pitchFamily="34" charset="-122"/>
                <a:cs typeface="Calibri" pitchFamily="34" charset="-120"/>
              </a:rPr>
              <a:t>Alta dependencia demográfica</a:t>
            </a:r>
            <a:endParaRPr lang="en-US" sz="1050" dirty="0"/>
          </a:p>
        </p:txBody>
      </p:sp>
      <p:sp>
        <p:nvSpPr>
          <p:cNvPr id="21" name="Text 19"/>
          <p:cNvSpPr/>
          <p:nvPr/>
        </p:nvSpPr>
        <p:spPr>
          <a:xfrm>
            <a:off x="4773168" y="1645920"/>
            <a:ext cx="1792224" cy="9144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Muchos niños y ancianos por cada trabajador activo.</a:t>
            </a:r>
            <a:endParaRPr lang="en-US" sz="950" dirty="0"/>
          </a:p>
        </p:txBody>
      </p:sp>
      <p:sp>
        <p:nvSpPr>
          <p:cNvPr id="22" name="Shape 20"/>
          <p:cNvSpPr/>
          <p:nvPr/>
        </p:nvSpPr>
        <p:spPr>
          <a:xfrm>
            <a:off x="6812280" y="1005840"/>
            <a:ext cx="2011680" cy="166420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3" name="Shape 21"/>
          <p:cNvSpPr/>
          <p:nvPr/>
        </p:nvSpPr>
        <p:spPr>
          <a:xfrm>
            <a:off x="6812280" y="1005840"/>
            <a:ext cx="2011680" cy="54864"/>
          </a:xfrm>
          <a:prstGeom prst="rect">
            <a:avLst/>
          </a:prstGeom>
          <a:solidFill>
            <a:srgbClr val="2C5282"/>
          </a:solidFill>
          <a:ln w="12700">
            <a:solidFill>
              <a:srgbClr val="2C5282"/>
            </a:solidFill>
            <a:prstDash val="solid"/>
          </a:ln>
        </p:spPr>
        <p:txBody>
          <a:bodyPr/>
          <a:lstStyle/>
          <a:p>
            <a:endParaRPr lang="es-AR"/>
          </a:p>
        </p:txBody>
      </p:sp>
      <p:sp>
        <p:nvSpPr>
          <p:cNvPr id="24" name="Text 22"/>
          <p:cNvSpPr/>
          <p:nvPr/>
        </p:nvSpPr>
        <p:spPr>
          <a:xfrm>
            <a:off x="6903720" y="1115568"/>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5" name="Text 23"/>
          <p:cNvSpPr/>
          <p:nvPr/>
        </p:nvSpPr>
        <p:spPr>
          <a:xfrm>
            <a:off x="7379208" y="1152144"/>
            <a:ext cx="1335024" cy="402336"/>
          </a:xfrm>
          <a:prstGeom prst="rect">
            <a:avLst/>
          </a:prstGeom>
          <a:noFill/>
          <a:ln/>
        </p:spPr>
        <p:txBody>
          <a:bodyPr wrap="square" lIns="0" tIns="0" rIns="0" bIns="0" rtlCol="0" anchor="ctr"/>
          <a:lstStyle/>
          <a:p>
            <a:pPr marL="0" indent="0">
              <a:buNone/>
            </a:pPr>
            <a:r>
              <a:rPr lang="en-US" sz="1050" b="1" dirty="0">
                <a:solidFill>
                  <a:srgbClr val="1A202C"/>
                </a:solidFill>
                <a:latin typeface="Calibri" pitchFamily="34" charset="0"/>
                <a:ea typeface="Calibri" pitchFamily="34" charset="-122"/>
                <a:cs typeface="Calibri" pitchFamily="34" charset="-120"/>
              </a:rPr>
              <a:t>Desempleo y subempleo</a:t>
            </a:r>
            <a:endParaRPr lang="en-US" sz="1050" dirty="0"/>
          </a:p>
        </p:txBody>
      </p:sp>
      <p:sp>
        <p:nvSpPr>
          <p:cNvPr id="26" name="Text 24"/>
          <p:cNvSpPr/>
          <p:nvPr/>
        </p:nvSpPr>
        <p:spPr>
          <a:xfrm>
            <a:off x="6922008" y="1645920"/>
            <a:ext cx="1792224" cy="9144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Incapacidad de absorber la fuerza laboral en empleos productivos y formales.</a:t>
            </a:r>
            <a:endParaRPr lang="en-US" sz="950" dirty="0"/>
          </a:p>
        </p:txBody>
      </p:sp>
      <p:sp>
        <p:nvSpPr>
          <p:cNvPr id="27" name="Shape 25"/>
          <p:cNvSpPr/>
          <p:nvPr/>
        </p:nvSpPr>
        <p:spPr>
          <a:xfrm>
            <a:off x="365760" y="2816352"/>
            <a:ext cx="2011680" cy="166420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8" name="Shape 26"/>
          <p:cNvSpPr/>
          <p:nvPr/>
        </p:nvSpPr>
        <p:spPr>
          <a:xfrm>
            <a:off x="365760" y="2816352"/>
            <a:ext cx="2011680" cy="54864"/>
          </a:xfrm>
          <a:prstGeom prst="rect">
            <a:avLst/>
          </a:prstGeom>
          <a:solidFill>
            <a:srgbClr val="2C5282"/>
          </a:solidFill>
          <a:ln w="12700">
            <a:solidFill>
              <a:srgbClr val="2C5282"/>
            </a:solidFill>
            <a:prstDash val="solid"/>
          </a:ln>
        </p:spPr>
        <p:txBody>
          <a:bodyPr/>
          <a:lstStyle/>
          <a:p>
            <a:endParaRPr lang="es-AR"/>
          </a:p>
        </p:txBody>
      </p:sp>
      <p:sp>
        <p:nvSpPr>
          <p:cNvPr id="29" name="Text 27"/>
          <p:cNvSpPr/>
          <p:nvPr/>
        </p:nvSpPr>
        <p:spPr>
          <a:xfrm>
            <a:off x="457200" y="292608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30" name="Text 28"/>
          <p:cNvSpPr/>
          <p:nvPr/>
        </p:nvSpPr>
        <p:spPr>
          <a:xfrm>
            <a:off x="932688" y="2962656"/>
            <a:ext cx="1335024" cy="402336"/>
          </a:xfrm>
          <a:prstGeom prst="rect">
            <a:avLst/>
          </a:prstGeom>
          <a:noFill/>
          <a:ln/>
        </p:spPr>
        <p:txBody>
          <a:bodyPr wrap="square" lIns="0" tIns="0" rIns="0" bIns="0" rtlCol="0" anchor="ctr"/>
          <a:lstStyle/>
          <a:p>
            <a:pPr marL="0" indent="0">
              <a:buNone/>
            </a:pPr>
            <a:r>
              <a:rPr lang="en-US" sz="1050" b="1" dirty="0">
                <a:solidFill>
                  <a:srgbClr val="1A202C"/>
                </a:solidFill>
                <a:latin typeface="Calibri" pitchFamily="34" charset="0"/>
                <a:ea typeface="Calibri" pitchFamily="34" charset="-122"/>
                <a:cs typeface="Calibri" pitchFamily="34" charset="-120"/>
              </a:rPr>
              <a:t>Dependencia exportadora primaria</a:t>
            </a:r>
            <a:endParaRPr lang="en-US" sz="1050" dirty="0"/>
          </a:p>
        </p:txBody>
      </p:sp>
      <p:sp>
        <p:nvSpPr>
          <p:cNvPr id="31" name="Text 29"/>
          <p:cNvSpPr/>
          <p:nvPr/>
        </p:nvSpPr>
        <p:spPr>
          <a:xfrm>
            <a:off x="475488" y="3456432"/>
            <a:ext cx="1792224" cy="9144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Exportan materias primas. Deterioro de términos de intercambio.</a:t>
            </a:r>
            <a:endParaRPr lang="en-US" sz="950" dirty="0"/>
          </a:p>
        </p:txBody>
      </p:sp>
      <p:sp>
        <p:nvSpPr>
          <p:cNvPr id="32" name="Shape 30"/>
          <p:cNvSpPr/>
          <p:nvPr/>
        </p:nvSpPr>
        <p:spPr>
          <a:xfrm>
            <a:off x="2514600" y="2816352"/>
            <a:ext cx="2011680" cy="166420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3" name="Shape 31"/>
          <p:cNvSpPr/>
          <p:nvPr/>
        </p:nvSpPr>
        <p:spPr>
          <a:xfrm>
            <a:off x="2514600" y="2816352"/>
            <a:ext cx="2011680" cy="54864"/>
          </a:xfrm>
          <a:prstGeom prst="rect">
            <a:avLst/>
          </a:prstGeom>
          <a:solidFill>
            <a:srgbClr val="2C5282"/>
          </a:solidFill>
          <a:ln w="12700">
            <a:solidFill>
              <a:srgbClr val="2C5282"/>
            </a:solidFill>
            <a:prstDash val="solid"/>
          </a:ln>
        </p:spPr>
        <p:txBody>
          <a:bodyPr/>
          <a:lstStyle/>
          <a:p>
            <a:endParaRPr lang="es-AR"/>
          </a:p>
        </p:txBody>
      </p:sp>
      <p:sp>
        <p:nvSpPr>
          <p:cNvPr id="34" name="Text 32"/>
          <p:cNvSpPr/>
          <p:nvPr/>
        </p:nvSpPr>
        <p:spPr>
          <a:xfrm>
            <a:off x="2606040" y="292608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35" name="Text 33"/>
          <p:cNvSpPr/>
          <p:nvPr/>
        </p:nvSpPr>
        <p:spPr>
          <a:xfrm>
            <a:off x="3081528" y="2962656"/>
            <a:ext cx="1335024" cy="402336"/>
          </a:xfrm>
          <a:prstGeom prst="rect">
            <a:avLst/>
          </a:prstGeom>
          <a:noFill/>
          <a:ln/>
        </p:spPr>
        <p:txBody>
          <a:bodyPr wrap="square" lIns="0" tIns="0" rIns="0" bIns="0" rtlCol="0" anchor="ctr"/>
          <a:lstStyle/>
          <a:p>
            <a:pPr marL="0" indent="0">
              <a:buNone/>
            </a:pPr>
            <a:r>
              <a:rPr lang="en-US" sz="1050" b="1" dirty="0">
                <a:solidFill>
                  <a:srgbClr val="1A202C"/>
                </a:solidFill>
                <a:latin typeface="Calibri" pitchFamily="34" charset="0"/>
                <a:ea typeface="Calibri" pitchFamily="34" charset="-122"/>
                <a:cs typeface="Calibri" pitchFamily="34" charset="-120"/>
              </a:rPr>
              <a:t>Mercados ineficientes</a:t>
            </a:r>
            <a:endParaRPr lang="en-US" sz="1050" dirty="0"/>
          </a:p>
        </p:txBody>
      </p:sp>
      <p:sp>
        <p:nvSpPr>
          <p:cNvPr id="36" name="Text 34"/>
          <p:cNvSpPr/>
          <p:nvPr/>
        </p:nvSpPr>
        <p:spPr>
          <a:xfrm>
            <a:off x="2624328" y="3456432"/>
            <a:ext cx="1792224" cy="9144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Sin leyes efectivas, moneda inestable, sistema bancario débil, poca info.</a:t>
            </a:r>
            <a:endParaRPr lang="en-US" sz="950" dirty="0"/>
          </a:p>
        </p:txBody>
      </p:sp>
      <p:sp>
        <p:nvSpPr>
          <p:cNvPr id="37" name="Shape 35"/>
          <p:cNvSpPr/>
          <p:nvPr/>
        </p:nvSpPr>
        <p:spPr>
          <a:xfrm>
            <a:off x="4663440" y="2816352"/>
            <a:ext cx="2011680" cy="166420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8" name="Shape 36"/>
          <p:cNvSpPr/>
          <p:nvPr/>
        </p:nvSpPr>
        <p:spPr>
          <a:xfrm>
            <a:off x="4663440" y="2816352"/>
            <a:ext cx="2011680" cy="54864"/>
          </a:xfrm>
          <a:prstGeom prst="rect">
            <a:avLst/>
          </a:prstGeom>
          <a:solidFill>
            <a:srgbClr val="2C5282"/>
          </a:solidFill>
          <a:ln w="12700">
            <a:solidFill>
              <a:srgbClr val="2C5282"/>
            </a:solidFill>
            <a:prstDash val="solid"/>
          </a:ln>
        </p:spPr>
        <p:txBody>
          <a:bodyPr/>
          <a:lstStyle/>
          <a:p>
            <a:endParaRPr lang="es-AR"/>
          </a:p>
        </p:txBody>
      </p:sp>
      <p:sp>
        <p:nvSpPr>
          <p:cNvPr id="39" name="Text 37"/>
          <p:cNvSpPr/>
          <p:nvPr/>
        </p:nvSpPr>
        <p:spPr>
          <a:xfrm>
            <a:off x="4754880" y="292608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40" name="Text 38"/>
          <p:cNvSpPr/>
          <p:nvPr/>
        </p:nvSpPr>
        <p:spPr>
          <a:xfrm>
            <a:off x="5230368" y="2962656"/>
            <a:ext cx="1335024" cy="402336"/>
          </a:xfrm>
          <a:prstGeom prst="rect">
            <a:avLst/>
          </a:prstGeom>
          <a:noFill/>
          <a:ln/>
        </p:spPr>
        <p:txBody>
          <a:bodyPr wrap="square" lIns="0" tIns="0" rIns="0" bIns="0" rtlCol="0" anchor="ctr"/>
          <a:lstStyle/>
          <a:p>
            <a:pPr marL="0" indent="0">
              <a:buNone/>
            </a:pPr>
            <a:r>
              <a:rPr lang="en-US" sz="1050" b="1" dirty="0">
                <a:solidFill>
                  <a:srgbClr val="1A202C"/>
                </a:solidFill>
                <a:latin typeface="Calibri" pitchFamily="34" charset="0"/>
                <a:ea typeface="Calibri" pitchFamily="34" charset="-122"/>
                <a:cs typeface="Calibri" pitchFamily="34" charset="-120"/>
              </a:rPr>
              <a:t>Dependencia externa</a:t>
            </a:r>
            <a:endParaRPr lang="en-US" sz="1050" dirty="0"/>
          </a:p>
        </p:txBody>
      </p:sp>
      <p:sp>
        <p:nvSpPr>
          <p:cNvPr id="41" name="Text 39"/>
          <p:cNvSpPr/>
          <p:nvPr/>
        </p:nvSpPr>
        <p:spPr>
          <a:xfrm>
            <a:off x="4773168" y="3456432"/>
            <a:ext cx="1792224" cy="9144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Comercio, tecnología e instituciones dependen de los países desarrollados.</a:t>
            </a:r>
            <a:endParaRPr lang="en-US" sz="950" dirty="0"/>
          </a:p>
        </p:txBody>
      </p:sp>
      <p:sp>
        <p:nvSpPr>
          <p:cNvPr id="42" name="Shape 40"/>
          <p:cNvSpPr/>
          <p:nvPr/>
        </p:nvSpPr>
        <p:spPr>
          <a:xfrm>
            <a:off x="6812280" y="2816352"/>
            <a:ext cx="2011680" cy="166420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43" name="Shape 41"/>
          <p:cNvSpPr/>
          <p:nvPr/>
        </p:nvSpPr>
        <p:spPr>
          <a:xfrm>
            <a:off x="6812280" y="2816352"/>
            <a:ext cx="2011680" cy="54864"/>
          </a:xfrm>
          <a:prstGeom prst="rect">
            <a:avLst/>
          </a:prstGeom>
          <a:solidFill>
            <a:srgbClr val="2C5282"/>
          </a:solidFill>
          <a:ln w="12700">
            <a:solidFill>
              <a:srgbClr val="2C5282"/>
            </a:solidFill>
            <a:prstDash val="solid"/>
          </a:ln>
        </p:spPr>
        <p:txBody>
          <a:bodyPr/>
          <a:lstStyle/>
          <a:p>
            <a:endParaRPr lang="es-AR"/>
          </a:p>
        </p:txBody>
      </p:sp>
      <p:sp>
        <p:nvSpPr>
          <p:cNvPr id="44" name="Text 42"/>
          <p:cNvSpPr/>
          <p:nvPr/>
        </p:nvSpPr>
        <p:spPr>
          <a:xfrm>
            <a:off x="6903720" y="292608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45" name="Text 43"/>
          <p:cNvSpPr/>
          <p:nvPr/>
        </p:nvSpPr>
        <p:spPr>
          <a:xfrm>
            <a:off x="7379208" y="2962656"/>
            <a:ext cx="1335024" cy="402336"/>
          </a:xfrm>
          <a:prstGeom prst="rect">
            <a:avLst/>
          </a:prstGeom>
          <a:noFill/>
          <a:ln/>
        </p:spPr>
        <p:txBody>
          <a:bodyPr wrap="square" lIns="0" tIns="0" rIns="0" bIns="0" rtlCol="0" anchor="ctr"/>
          <a:lstStyle/>
          <a:p>
            <a:pPr marL="0" indent="0">
              <a:buNone/>
            </a:pPr>
            <a:r>
              <a:rPr lang="en-US" sz="1050" b="1" dirty="0">
                <a:solidFill>
                  <a:srgbClr val="1A202C"/>
                </a:solidFill>
                <a:latin typeface="Calibri" pitchFamily="34" charset="0"/>
                <a:ea typeface="Calibri" pitchFamily="34" charset="-122"/>
                <a:cs typeface="Calibri" pitchFamily="34" charset="-120"/>
              </a:rPr>
              <a:t>Divisiones sociales</a:t>
            </a:r>
            <a:endParaRPr lang="en-US" sz="1050" dirty="0"/>
          </a:p>
        </p:txBody>
      </p:sp>
      <p:sp>
        <p:nvSpPr>
          <p:cNvPr id="46" name="Text 44"/>
          <p:cNvSpPr/>
          <p:nvPr/>
        </p:nvSpPr>
        <p:spPr>
          <a:xfrm>
            <a:off x="6922008" y="3456432"/>
            <a:ext cx="1792224" cy="9144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Conflictos étnicos, religiosos, culturales → baja cooperación y gobernabilidad.</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7B5EA7"/>
          </a:solidFill>
          <a:ln w="12700">
            <a:solidFill>
              <a:srgbClr val="7B5EA7"/>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1B2A3B"/>
                </a:solidFill>
                <a:latin typeface="Georgia" pitchFamily="34" charset="0"/>
                <a:ea typeface="Georgia" pitchFamily="34" charset="-122"/>
                <a:cs typeface="Georgia" pitchFamily="34" charset="-120"/>
              </a:rPr>
              <a:t>Matriz de Quah: Movilidad entre Países</a:t>
            </a:r>
            <a:endParaRPr lang="en-US" sz="2600" dirty="0"/>
          </a:p>
        </p:txBody>
      </p:sp>
      <p:sp>
        <p:nvSpPr>
          <p:cNvPr id="5" name="Shape 3"/>
          <p:cNvSpPr/>
          <p:nvPr/>
        </p:nvSpPr>
        <p:spPr>
          <a:xfrm>
            <a:off x="457200" y="731520"/>
            <a:ext cx="36576" cy="201168"/>
          </a:xfrm>
          <a:prstGeom prst="rect">
            <a:avLst/>
          </a:prstGeom>
          <a:solidFill>
            <a:srgbClr val="7B5EA7"/>
          </a:solidFill>
          <a:ln w="12700">
            <a:solidFill>
              <a:srgbClr val="7B5EA7"/>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7B5EA7"/>
                </a:solidFill>
                <a:latin typeface="Calibri" pitchFamily="34" charset="0"/>
                <a:ea typeface="Calibri" pitchFamily="34" charset="-122"/>
                <a:cs typeface="Calibri" pitchFamily="34" charset="-120"/>
              </a:rPr>
              <a:t>U1.2 — EVIDENCIA EMPÍRICA 1962–1984</a:t>
            </a:r>
            <a:endParaRPr lang="en-US" sz="900" dirty="0"/>
          </a:p>
        </p:txBody>
      </p:sp>
      <p:sp>
        <p:nvSpPr>
          <p:cNvPr id="7" name="Shape 5"/>
          <p:cNvSpPr/>
          <p:nvPr/>
        </p:nvSpPr>
        <p:spPr>
          <a:xfrm>
            <a:off x="365760" y="1024128"/>
            <a:ext cx="8412480" cy="804672"/>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24128"/>
            <a:ext cx="54864" cy="804672"/>
          </a:xfrm>
          <a:prstGeom prst="rect">
            <a:avLst/>
          </a:prstGeom>
          <a:solidFill>
            <a:srgbClr val="7B5EA7"/>
          </a:solidFill>
          <a:ln w="12700">
            <a:solidFill>
              <a:srgbClr val="7B5EA7"/>
            </a:solidFill>
            <a:prstDash val="solid"/>
          </a:ln>
        </p:spPr>
        <p:txBody>
          <a:bodyPr/>
          <a:lstStyle/>
          <a:p>
            <a:endParaRPr lang="es-AR"/>
          </a:p>
        </p:txBody>
      </p:sp>
      <p:sp>
        <p:nvSpPr>
          <p:cNvPr id="9" name="Text 7"/>
          <p:cNvSpPr/>
          <p:nvPr/>
        </p:nvSpPr>
        <p:spPr>
          <a:xfrm>
            <a:off x="548640" y="1078992"/>
            <a:ext cx="8046720" cy="676656"/>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La Matriz de Quah (1962-1984) muestra que </a:t>
            </a:r>
            <a:r>
              <a:rPr lang="en-US" sz="1200" b="1" dirty="0">
                <a:solidFill>
                  <a:srgbClr val="7B5EA7"/>
                </a:solidFill>
                <a:latin typeface="Calibri" pitchFamily="34" charset="0"/>
                <a:ea typeface="Calibri" pitchFamily="34" charset="-122"/>
                <a:cs typeface="Calibri" pitchFamily="34" charset="-120"/>
              </a:rPr>
              <a:t>la estructura de riqueza relativa entre países tiende a perpetuarse. </a:t>
            </a:r>
            <a:r>
              <a:rPr lang="en-US" sz="1200" dirty="0">
                <a:solidFill>
                  <a:srgbClr val="1A202C"/>
                </a:solidFill>
                <a:latin typeface="Calibri" pitchFamily="34" charset="0"/>
                <a:ea typeface="Calibri" pitchFamily="34" charset="-122"/>
                <a:cs typeface="Calibri" pitchFamily="34" charset="-120"/>
              </a:rPr>
              <a:t>Los países pobres tienden a seguir siendo pobres; los ricos, ricos. Hay muy poca movilidad entre grupos de ingreso.</a:t>
            </a:r>
            <a:endParaRPr lang="en-US" sz="1200" dirty="0"/>
          </a:p>
        </p:txBody>
      </p:sp>
      <p:sp>
        <p:nvSpPr>
          <p:cNvPr id="10" name="Shape 8"/>
          <p:cNvSpPr/>
          <p:nvPr/>
        </p:nvSpPr>
        <p:spPr>
          <a:xfrm>
            <a:off x="365760" y="1920240"/>
            <a:ext cx="4937760" cy="29260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365760" y="1920240"/>
            <a:ext cx="4937760" cy="347472"/>
          </a:xfrm>
          <a:prstGeom prst="rect">
            <a:avLst/>
          </a:prstGeom>
          <a:solidFill>
            <a:srgbClr val="7B5EA7"/>
          </a:solidFill>
          <a:ln w="12700">
            <a:solidFill>
              <a:srgbClr val="7B5EA7"/>
            </a:solidFill>
            <a:prstDash val="solid"/>
          </a:ln>
        </p:spPr>
        <p:txBody>
          <a:bodyPr/>
          <a:lstStyle/>
          <a:p>
            <a:endParaRPr lang="es-AR"/>
          </a:p>
        </p:txBody>
      </p:sp>
      <p:sp>
        <p:nvSpPr>
          <p:cNvPr id="12" name="Text 10"/>
          <p:cNvSpPr/>
          <p:nvPr/>
        </p:nvSpPr>
        <p:spPr>
          <a:xfrm>
            <a:off x="502920" y="1947672"/>
            <a:ext cx="46634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El mecanismo: la trampa estructural</a:t>
            </a:r>
            <a:endParaRPr lang="en-US" sz="1200" dirty="0"/>
          </a:p>
        </p:txBody>
      </p:sp>
      <p:sp>
        <p:nvSpPr>
          <p:cNvPr id="13" name="Shape 11"/>
          <p:cNvSpPr/>
          <p:nvPr/>
        </p:nvSpPr>
        <p:spPr>
          <a:xfrm>
            <a:off x="502920" y="2377440"/>
            <a:ext cx="4389120" cy="310896"/>
          </a:xfrm>
          <a:prstGeom prst="rect">
            <a:avLst/>
          </a:prstGeom>
          <a:solidFill>
            <a:srgbClr val="EDF2F7"/>
          </a:solidFill>
          <a:ln w="12700">
            <a:solidFill>
              <a:srgbClr val="CBD5E0"/>
            </a:solidFill>
            <a:prstDash val="solid"/>
          </a:ln>
        </p:spPr>
        <p:txBody>
          <a:bodyPr/>
          <a:lstStyle/>
          <a:p>
            <a:endParaRPr lang="es-AR"/>
          </a:p>
        </p:txBody>
      </p:sp>
      <p:sp>
        <p:nvSpPr>
          <p:cNvPr id="14" name="Text 12"/>
          <p:cNvSpPr/>
          <p:nvPr/>
        </p:nvSpPr>
        <p:spPr>
          <a:xfrm>
            <a:off x="594360" y="2404872"/>
            <a:ext cx="420624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Sin ingreso → sin ahorro</a:t>
            </a:r>
            <a:endParaRPr lang="en-US" sz="1100" dirty="0"/>
          </a:p>
        </p:txBody>
      </p:sp>
      <p:sp>
        <p:nvSpPr>
          <p:cNvPr id="15" name="Shape 13"/>
          <p:cNvSpPr/>
          <p:nvPr/>
        </p:nvSpPr>
        <p:spPr>
          <a:xfrm>
            <a:off x="502920" y="2743200"/>
            <a:ext cx="4389120" cy="310896"/>
          </a:xfrm>
          <a:prstGeom prst="rect">
            <a:avLst/>
          </a:prstGeom>
          <a:solidFill>
            <a:srgbClr val="EDF2F7"/>
          </a:solidFill>
          <a:ln w="12700">
            <a:solidFill>
              <a:srgbClr val="CBD5E0"/>
            </a:solidFill>
            <a:prstDash val="solid"/>
          </a:ln>
        </p:spPr>
        <p:txBody>
          <a:bodyPr/>
          <a:lstStyle/>
          <a:p>
            <a:endParaRPr lang="es-AR"/>
          </a:p>
        </p:txBody>
      </p:sp>
      <p:sp>
        <p:nvSpPr>
          <p:cNvPr id="16" name="Text 14"/>
          <p:cNvSpPr/>
          <p:nvPr/>
        </p:nvSpPr>
        <p:spPr>
          <a:xfrm>
            <a:off x="594360" y="2770632"/>
            <a:ext cx="420624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Sin ahorro → sin inversión</a:t>
            </a:r>
            <a:endParaRPr lang="en-US" sz="1100" dirty="0"/>
          </a:p>
        </p:txBody>
      </p:sp>
      <p:sp>
        <p:nvSpPr>
          <p:cNvPr id="17" name="Shape 15"/>
          <p:cNvSpPr/>
          <p:nvPr/>
        </p:nvSpPr>
        <p:spPr>
          <a:xfrm>
            <a:off x="502920" y="3108960"/>
            <a:ext cx="4389120" cy="310896"/>
          </a:xfrm>
          <a:prstGeom prst="rect">
            <a:avLst/>
          </a:prstGeom>
          <a:solidFill>
            <a:srgbClr val="EDF2F7"/>
          </a:solidFill>
          <a:ln w="12700">
            <a:solidFill>
              <a:srgbClr val="CBD5E0"/>
            </a:solidFill>
            <a:prstDash val="solid"/>
          </a:ln>
        </p:spPr>
        <p:txBody>
          <a:bodyPr/>
          <a:lstStyle/>
          <a:p>
            <a:endParaRPr lang="es-AR"/>
          </a:p>
        </p:txBody>
      </p:sp>
      <p:sp>
        <p:nvSpPr>
          <p:cNvPr id="18" name="Text 16"/>
          <p:cNvSpPr/>
          <p:nvPr/>
        </p:nvSpPr>
        <p:spPr>
          <a:xfrm>
            <a:off x="594360" y="3136392"/>
            <a:ext cx="420624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Sin inversión → sin capital</a:t>
            </a:r>
            <a:endParaRPr lang="en-US" sz="1100" dirty="0"/>
          </a:p>
        </p:txBody>
      </p:sp>
      <p:sp>
        <p:nvSpPr>
          <p:cNvPr id="19" name="Shape 17"/>
          <p:cNvSpPr/>
          <p:nvPr/>
        </p:nvSpPr>
        <p:spPr>
          <a:xfrm>
            <a:off x="502920" y="3474720"/>
            <a:ext cx="4389120" cy="310896"/>
          </a:xfrm>
          <a:prstGeom prst="rect">
            <a:avLst/>
          </a:prstGeom>
          <a:solidFill>
            <a:srgbClr val="EDF2F7"/>
          </a:solidFill>
          <a:ln w="12700">
            <a:solidFill>
              <a:srgbClr val="CBD5E0"/>
            </a:solidFill>
            <a:prstDash val="solid"/>
          </a:ln>
        </p:spPr>
        <p:txBody>
          <a:bodyPr/>
          <a:lstStyle/>
          <a:p>
            <a:endParaRPr lang="es-AR"/>
          </a:p>
        </p:txBody>
      </p:sp>
      <p:sp>
        <p:nvSpPr>
          <p:cNvPr id="20" name="Text 18"/>
          <p:cNvSpPr/>
          <p:nvPr/>
        </p:nvSpPr>
        <p:spPr>
          <a:xfrm>
            <a:off x="594360" y="3502152"/>
            <a:ext cx="420624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Sin capital → baja productividad</a:t>
            </a:r>
            <a:endParaRPr lang="en-US" sz="1100" dirty="0"/>
          </a:p>
        </p:txBody>
      </p:sp>
      <p:sp>
        <p:nvSpPr>
          <p:cNvPr id="21" name="Shape 19"/>
          <p:cNvSpPr/>
          <p:nvPr/>
        </p:nvSpPr>
        <p:spPr>
          <a:xfrm>
            <a:off x="502920" y="3840480"/>
            <a:ext cx="4389120" cy="310896"/>
          </a:xfrm>
          <a:prstGeom prst="rect">
            <a:avLst/>
          </a:prstGeom>
          <a:solidFill>
            <a:srgbClr val="EDF2F7"/>
          </a:solidFill>
          <a:ln w="12700">
            <a:solidFill>
              <a:srgbClr val="CBD5E0"/>
            </a:solidFill>
            <a:prstDash val="solid"/>
          </a:ln>
        </p:spPr>
        <p:txBody>
          <a:bodyPr/>
          <a:lstStyle/>
          <a:p>
            <a:endParaRPr lang="es-AR"/>
          </a:p>
        </p:txBody>
      </p:sp>
      <p:sp>
        <p:nvSpPr>
          <p:cNvPr id="22" name="Text 20"/>
          <p:cNvSpPr/>
          <p:nvPr/>
        </p:nvSpPr>
        <p:spPr>
          <a:xfrm>
            <a:off x="594360" y="3867912"/>
            <a:ext cx="420624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Baja productividad → bajo ingreso</a:t>
            </a:r>
            <a:endParaRPr lang="en-US" sz="1100" dirty="0"/>
          </a:p>
        </p:txBody>
      </p:sp>
      <p:sp>
        <p:nvSpPr>
          <p:cNvPr id="23" name="Shape 21"/>
          <p:cNvSpPr/>
          <p:nvPr/>
        </p:nvSpPr>
        <p:spPr>
          <a:xfrm>
            <a:off x="502920" y="4206240"/>
            <a:ext cx="4389120" cy="310896"/>
          </a:xfrm>
          <a:prstGeom prst="rect">
            <a:avLst/>
          </a:prstGeom>
          <a:solidFill>
            <a:srgbClr val="7B5EA7"/>
          </a:solidFill>
          <a:ln w="12700">
            <a:solidFill>
              <a:srgbClr val="7B5EA7"/>
            </a:solidFill>
            <a:prstDash val="solid"/>
          </a:ln>
        </p:spPr>
        <p:txBody>
          <a:bodyPr/>
          <a:lstStyle/>
          <a:p>
            <a:endParaRPr lang="es-AR"/>
          </a:p>
        </p:txBody>
      </p:sp>
      <p:sp>
        <p:nvSpPr>
          <p:cNvPr id="24" name="Text 22"/>
          <p:cNvSpPr/>
          <p:nvPr/>
        </p:nvSpPr>
        <p:spPr>
          <a:xfrm>
            <a:off x="594360" y="4233672"/>
            <a:ext cx="42062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El ciclo se repite</a:t>
            </a:r>
            <a:endParaRPr lang="en-US" sz="1100" dirty="0"/>
          </a:p>
        </p:txBody>
      </p:sp>
      <p:sp>
        <p:nvSpPr>
          <p:cNvPr id="25" name="Shape 23"/>
          <p:cNvSpPr/>
          <p:nvPr/>
        </p:nvSpPr>
        <p:spPr>
          <a:xfrm>
            <a:off x="5440680" y="1920240"/>
            <a:ext cx="3383280" cy="29260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6" name="Shape 24"/>
          <p:cNvSpPr/>
          <p:nvPr/>
        </p:nvSpPr>
        <p:spPr>
          <a:xfrm>
            <a:off x="5440680" y="1920240"/>
            <a:ext cx="3383280" cy="347472"/>
          </a:xfrm>
          <a:prstGeom prst="rect">
            <a:avLst/>
          </a:prstGeom>
          <a:solidFill>
            <a:srgbClr val="2E8B74"/>
          </a:solidFill>
          <a:ln w="12700">
            <a:solidFill>
              <a:srgbClr val="2E8B74"/>
            </a:solidFill>
            <a:prstDash val="solid"/>
          </a:ln>
        </p:spPr>
        <p:txBody>
          <a:bodyPr/>
          <a:lstStyle/>
          <a:p>
            <a:endParaRPr lang="es-AR"/>
          </a:p>
        </p:txBody>
      </p:sp>
      <p:sp>
        <p:nvSpPr>
          <p:cNvPr id="27" name="Text 25"/>
          <p:cNvSpPr/>
          <p:nvPr/>
        </p:nvSpPr>
        <p:spPr>
          <a:xfrm>
            <a:off x="5577840" y="1947672"/>
            <a:ext cx="31089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¿Qué puede romperla?</a:t>
            </a:r>
            <a:endParaRPr lang="en-US" sz="1200" dirty="0"/>
          </a:p>
        </p:txBody>
      </p:sp>
      <p:sp>
        <p:nvSpPr>
          <p:cNvPr id="28" name="Text 26"/>
          <p:cNvSpPr/>
          <p:nvPr/>
        </p:nvSpPr>
        <p:spPr>
          <a:xfrm>
            <a:off x="5577840" y="2331720"/>
            <a:ext cx="3108960" cy="2377440"/>
          </a:xfrm>
          <a:prstGeom prst="rect">
            <a:avLst/>
          </a:prstGeom>
          <a:noFill/>
          <a:ln/>
        </p:spPr>
        <p:txBody>
          <a:bodyPr wrap="square" lIns="0" tIns="0" rIns="0" bIns="0" rtlCol="0" anchor="ctr"/>
          <a:lstStyle/>
          <a:p>
            <a:pPr marL="0" indent="0">
              <a:spcAft>
                <a:spcPts val="500"/>
              </a:spcAft>
              <a:buNone/>
            </a:pPr>
            <a:r>
              <a:rPr lang="en-US" sz="1100" dirty="0">
                <a:solidFill>
                  <a:srgbClr val="1A202C"/>
                </a:solidFill>
                <a:latin typeface="Calibri" pitchFamily="34" charset="0"/>
                <a:ea typeface="Calibri" pitchFamily="34" charset="-122"/>
                <a:cs typeface="Calibri" pitchFamily="34" charset="-120"/>
              </a:rPr>
              <a:t>→ Ahorro forzado (externo o fiscal)
</a:t>
            </a:r>
            <a:endParaRPr lang="en-US" sz="1100" dirty="0"/>
          </a:p>
          <a:p>
            <a:pPr marL="0" indent="0">
              <a:spcAft>
                <a:spcPts val="500"/>
              </a:spcAft>
              <a:buNone/>
            </a:pPr>
            <a:r>
              <a:rPr lang="en-US" sz="1100" dirty="0">
                <a:solidFill>
                  <a:srgbClr val="1A202C"/>
                </a:solidFill>
                <a:latin typeface="Calibri" pitchFamily="34" charset="0"/>
                <a:ea typeface="Calibri" pitchFamily="34" charset="-122"/>
                <a:cs typeface="Calibri" pitchFamily="34" charset="-120"/>
              </a:rPr>
              <a:t>→ Inversión extranjera directa
</a:t>
            </a:r>
            <a:endParaRPr lang="en-US" sz="1100" dirty="0"/>
          </a:p>
          <a:p>
            <a:pPr marL="0" indent="0">
              <a:spcAft>
                <a:spcPts val="500"/>
              </a:spcAft>
              <a:buNone/>
            </a:pPr>
            <a:r>
              <a:rPr lang="en-US" sz="1100" dirty="0">
                <a:solidFill>
                  <a:srgbClr val="1A202C"/>
                </a:solidFill>
                <a:latin typeface="Calibri" pitchFamily="34" charset="0"/>
                <a:ea typeface="Calibri" pitchFamily="34" charset="-122"/>
                <a:cs typeface="Calibri" pitchFamily="34" charset="-120"/>
              </a:rPr>
              <a:t>→ Tecnología e innovación
</a:t>
            </a:r>
            <a:endParaRPr lang="en-US" sz="1100" dirty="0"/>
          </a:p>
          <a:p>
            <a:pPr marL="0" indent="0">
              <a:spcAft>
                <a:spcPts val="500"/>
              </a:spcAft>
              <a:buNone/>
            </a:pPr>
            <a:r>
              <a:rPr lang="en-US" sz="1100" dirty="0">
                <a:solidFill>
                  <a:srgbClr val="1A202C"/>
                </a:solidFill>
                <a:latin typeface="Calibri" pitchFamily="34" charset="0"/>
                <a:ea typeface="Calibri" pitchFamily="34" charset="-122"/>
                <a:cs typeface="Calibri" pitchFamily="34" charset="-120"/>
              </a:rPr>
              <a:t>→ Reforma institucional
</a:t>
            </a:r>
            <a:endParaRPr lang="en-US" sz="1100" dirty="0"/>
          </a:p>
          <a:p>
            <a:pPr marL="0" indent="0">
              <a:spcAft>
                <a:spcPts val="500"/>
              </a:spcAft>
              <a:buNone/>
            </a:pPr>
            <a:r>
              <a:rPr lang="en-US" sz="1100" dirty="0">
                <a:solidFill>
                  <a:srgbClr val="1A202C"/>
                </a:solidFill>
                <a:latin typeface="Calibri" pitchFamily="34" charset="0"/>
                <a:ea typeface="Calibri" pitchFamily="34" charset="-122"/>
                <a:cs typeface="Calibri" pitchFamily="34" charset="-120"/>
              </a:rPr>
              <a:t>→ Capital humano (educación)
</a:t>
            </a:r>
            <a:endParaRPr lang="en-US" sz="1100" dirty="0"/>
          </a:p>
          <a:p>
            <a:pPr marL="0" indent="0">
              <a:spcAft>
                <a:spcPts val="500"/>
              </a:spcAft>
              <a:buNone/>
            </a:pPr>
            <a:r>
              <a:rPr lang="en-US" sz="1100" dirty="0">
                <a:solidFill>
                  <a:srgbClr val="1A202C"/>
                </a:solidFill>
                <a:latin typeface="Calibri" pitchFamily="34" charset="0"/>
                <a:ea typeface="Calibri" pitchFamily="34" charset="-122"/>
                <a:cs typeface="Calibri" pitchFamily="34" charset="-120"/>
              </a:rPr>
              <a:t>→ Políticas industriales activas</a:t>
            </a:r>
            <a:endParaRPr lang="en-US" sz="1100" dirty="0"/>
          </a:p>
        </p:txBody>
      </p:sp>
      <p:sp>
        <p:nvSpPr>
          <p:cNvPr id="29" name="Shape 27"/>
          <p:cNvSpPr/>
          <p:nvPr/>
        </p:nvSpPr>
        <p:spPr>
          <a:xfrm>
            <a:off x="365760" y="4919472"/>
            <a:ext cx="8412480" cy="201168"/>
          </a:xfrm>
          <a:prstGeom prst="rect">
            <a:avLst/>
          </a:prstGeom>
          <a:solidFill>
            <a:srgbClr val="EEF2FF"/>
          </a:solidFill>
          <a:ln w="12700">
            <a:solidFill>
              <a:srgbClr val="CBD5E0"/>
            </a:solidFill>
            <a:prstDash val="solid"/>
          </a:ln>
        </p:spPr>
        <p:txBody>
          <a:bodyPr/>
          <a:lstStyle/>
          <a:p>
            <a:endParaRPr lang="es-AR"/>
          </a:p>
        </p:txBody>
      </p:sp>
      <p:sp>
        <p:nvSpPr>
          <p:cNvPr id="30" name="Text 28"/>
          <p:cNvSpPr/>
          <p:nvPr/>
        </p:nvSpPr>
        <p:spPr>
          <a:xfrm>
            <a:off x="548640" y="4937760"/>
            <a:ext cx="8046720" cy="164592"/>
          </a:xfrm>
          <a:prstGeom prst="rect">
            <a:avLst/>
          </a:prstGeom>
          <a:noFill/>
          <a:ln/>
        </p:spPr>
        <p:txBody>
          <a:bodyPr wrap="square" lIns="0" tIns="0" rIns="0" bIns="0" rtlCol="0" anchor="ctr"/>
          <a:lstStyle/>
          <a:p>
            <a:pPr marL="0" indent="0">
              <a:buNone/>
            </a:pPr>
            <a:r>
              <a:rPr lang="en-US" sz="1000" b="1" dirty="0">
                <a:solidFill>
                  <a:srgbClr val="2C5282"/>
                </a:solidFill>
                <a:latin typeface="Calibri" pitchFamily="34" charset="0"/>
                <a:ea typeface="Calibri" pitchFamily="34" charset="-122"/>
                <a:cs typeface="Calibri" pitchFamily="34" charset="-120"/>
              </a:rPr>
              <a:t>→ Esta trampa es la motivación central para estudiar el Modelo Harrod-Domar (Unidad 2): ¿cómo lograr acumulación de capital indefinida?</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Errores Comunes y Conceptos Trampa</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U1.1 Y U1.2 — PARA EL EXAMEN</a:t>
            </a:r>
            <a:endParaRPr lang="en-US" sz="900" dirty="0"/>
          </a:p>
        </p:txBody>
      </p:sp>
      <p:sp>
        <p:nvSpPr>
          <p:cNvPr id="7" name="Shape 5"/>
          <p:cNvSpPr/>
          <p:nvPr/>
        </p:nvSpPr>
        <p:spPr>
          <a:xfrm>
            <a:off x="365760" y="1024128"/>
            <a:ext cx="8412480" cy="585216"/>
          </a:xfrm>
          <a:prstGeom prst="rect">
            <a:avLst/>
          </a:prstGeom>
          <a:solidFill>
            <a:srgbClr val="FFFFFF"/>
          </a:solidFill>
          <a:ln w="12700">
            <a:solidFill>
              <a:srgbClr val="CBD5E0"/>
            </a:solidFill>
            <a:prstDash val="solid"/>
          </a:ln>
        </p:spPr>
        <p:txBody>
          <a:bodyPr/>
          <a:lstStyle/>
          <a:p>
            <a:endParaRPr lang="es-AR"/>
          </a:p>
        </p:txBody>
      </p:sp>
      <p:sp>
        <p:nvSpPr>
          <p:cNvPr id="8" name="Shape 6"/>
          <p:cNvSpPr/>
          <p:nvPr/>
        </p:nvSpPr>
        <p:spPr>
          <a:xfrm>
            <a:off x="365760" y="1024128"/>
            <a:ext cx="320040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9" name="Text 7"/>
          <p:cNvSpPr/>
          <p:nvPr/>
        </p:nvSpPr>
        <p:spPr>
          <a:xfrm>
            <a:off x="475488" y="1097280"/>
            <a:ext cx="299923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Crecimiento = Desarrollo</a:t>
            </a:r>
            <a:endParaRPr lang="en-US" sz="1050" dirty="0"/>
          </a:p>
        </p:txBody>
      </p:sp>
      <p:sp>
        <p:nvSpPr>
          <p:cNvPr id="10" name="Text 8"/>
          <p:cNvSpPr/>
          <p:nvPr/>
        </p:nvSpPr>
        <p:spPr>
          <a:xfrm>
            <a:off x="3611880" y="1133856"/>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11" name="Text 9"/>
          <p:cNvSpPr/>
          <p:nvPr/>
        </p:nvSpPr>
        <p:spPr>
          <a:xfrm>
            <a:off x="3931920" y="1097280"/>
            <a:ext cx="466344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El PBI puede subir sin que mejore el bienestar de la mayoría. El desarrollo requiere distribución, capacidades y libertades.</a:t>
            </a:r>
            <a:endParaRPr lang="en-US" sz="1050" dirty="0"/>
          </a:p>
        </p:txBody>
      </p:sp>
      <p:sp>
        <p:nvSpPr>
          <p:cNvPr id="12" name="Shape 10"/>
          <p:cNvSpPr/>
          <p:nvPr/>
        </p:nvSpPr>
        <p:spPr>
          <a:xfrm>
            <a:off x="365760" y="1682496"/>
            <a:ext cx="8412480" cy="585216"/>
          </a:xfrm>
          <a:prstGeom prst="rect">
            <a:avLst/>
          </a:prstGeom>
          <a:solidFill>
            <a:srgbClr val="FFFFFF"/>
          </a:solidFill>
          <a:ln w="12700">
            <a:solidFill>
              <a:srgbClr val="CBD5E0"/>
            </a:solidFill>
            <a:prstDash val="solid"/>
          </a:ln>
        </p:spPr>
        <p:txBody>
          <a:bodyPr/>
          <a:lstStyle/>
          <a:p>
            <a:endParaRPr lang="es-AR"/>
          </a:p>
        </p:txBody>
      </p:sp>
      <p:sp>
        <p:nvSpPr>
          <p:cNvPr id="13" name="Shape 11"/>
          <p:cNvSpPr/>
          <p:nvPr/>
        </p:nvSpPr>
        <p:spPr>
          <a:xfrm>
            <a:off x="365760" y="1682496"/>
            <a:ext cx="320040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14" name="Text 12"/>
          <p:cNvSpPr/>
          <p:nvPr/>
        </p:nvSpPr>
        <p:spPr>
          <a:xfrm>
            <a:off x="475488" y="1755648"/>
            <a:ext cx="299923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Más recursos naturales = más riqueza</a:t>
            </a:r>
            <a:endParaRPr lang="en-US" sz="1050" dirty="0"/>
          </a:p>
        </p:txBody>
      </p:sp>
      <p:sp>
        <p:nvSpPr>
          <p:cNvPr id="15" name="Text 13"/>
          <p:cNvSpPr/>
          <p:nvPr/>
        </p:nvSpPr>
        <p:spPr>
          <a:xfrm>
            <a:off x="3611880" y="1792224"/>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16" name="Text 14"/>
          <p:cNvSpPr/>
          <p:nvPr/>
        </p:nvSpPr>
        <p:spPr>
          <a:xfrm>
            <a:off x="3931920" y="1755648"/>
            <a:ext cx="466344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La 'maldición de los recursos' muestra que países con abundantes recursos no diversifican y quedan vulnerables.</a:t>
            </a:r>
            <a:endParaRPr lang="en-US" sz="1050" dirty="0"/>
          </a:p>
        </p:txBody>
      </p:sp>
      <p:sp>
        <p:nvSpPr>
          <p:cNvPr id="17" name="Shape 15"/>
          <p:cNvSpPr/>
          <p:nvPr/>
        </p:nvSpPr>
        <p:spPr>
          <a:xfrm>
            <a:off x="365760" y="2340864"/>
            <a:ext cx="8412480" cy="585216"/>
          </a:xfrm>
          <a:prstGeom prst="rect">
            <a:avLst/>
          </a:prstGeom>
          <a:solidFill>
            <a:srgbClr val="FFFFFF"/>
          </a:solidFill>
          <a:ln w="12700">
            <a:solidFill>
              <a:srgbClr val="CBD5E0"/>
            </a:solidFill>
            <a:prstDash val="solid"/>
          </a:ln>
        </p:spPr>
        <p:txBody>
          <a:bodyPr/>
          <a:lstStyle/>
          <a:p>
            <a:endParaRPr lang="es-AR"/>
          </a:p>
        </p:txBody>
      </p:sp>
      <p:sp>
        <p:nvSpPr>
          <p:cNvPr id="18" name="Shape 16"/>
          <p:cNvSpPr/>
          <p:nvPr/>
        </p:nvSpPr>
        <p:spPr>
          <a:xfrm>
            <a:off x="365760" y="2340864"/>
            <a:ext cx="320040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19" name="Text 17"/>
          <p:cNvSpPr/>
          <p:nvPr/>
        </p:nvSpPr>
        <p:spPr>
          <a:xfrm>
            <a:off x="475488" y="2414016"/>
            <a:ext cx="299923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Urbanización = desarrollo</a:t>
            </a:r>
            <a:endParaRPr lang="en-US" sz="1050" dirty="0"/>
          </a:p>
        </p:txBody>
      </p:sp>
      <p:sp>
        <p:nvSpPr>
          <p:cNvPr id="20" name="Text 18"/>
          <p:cNvSpPr/>
          <p:nvPr/>
        </p:nvSpPr>
        <p:spPr>
          <a:xfrm>
            <a:off x="3611880" y="2450592"/>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21" name="Text 19"/>
          <p:cNvSpPr/>
          <p:nvPr/>
        </p:nvSpPr>
        <p:spPr>
          <a:xfrm>
            <a:off x="3931920" y="2414016"/>
            <a:ext cx="466344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En países pobres, la migración masiva genera pobreza urbana informal, no transformación estructural.</a:t>
            </a:r>
            <a:endParaRPr lang="en-US" sz="1050" dirty="0"/>
          </a:p>
        </p:txBody>
      </p:sp>
      <p:sp>
        <p:nvSpPr>
          <p:cNvPr id="22" name="Shape 20"/>
          <p:cNvSpPr/>
          <p:nvPr/>
        </p:nvSpPr>
        <p:spPr>
          <a:xfrm>
            <a:off x="365760" y="2999232"/>
            <a:ext cx="8412480" cy="585216"/>
          </a:xfrm>
          <a:prstGeom prst="rect">
            <a:avLst/>
          </a:prstGeom>
          <a:solidFill>
            <a:srgbClr val="FFFFFF"/>
          </a:solidFill>
          <a:ln w="12700">
            <a:solidFill>
              <a:srgbClr val="CBD5E0"/>
            </a:solidFill>
            <a:prstDash val="solid"/>
          </a:ln>
        </p:spPr>
        <p:txBody>
          <a:bodyPr/>
          <a:lstStyle/>
          <a:p>
            <a:endParaRPr lang="es-AR"/>
          </a:p>
        </p:txBody>
      </p:sp>
      <p:sp>
        <p:nvSpPr>
          <p:cNvPr id="23" name="Shape 21"/>
          <p:cNvSpPr/>
          <p:nvPr/>
        </p:nvSpPr>
        <p:spPr>
          <a:xfrm>
            <a:off x="365760" y="2999232"/>
            <a:ext cx="320040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24" name="Text 22"/>
          <p:cNvSpPr/>
          <p:nvPr/>
        </p:nvSpPr>
        <p:spPr>
          <a:xfrm>
            <a:off x="475488" y="3072384"/>
            <a:ext cx="299923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El bono demográfico es automático</a:t>
            </a:r>
            <a:endParaRPr lang="en-US" sz="1050" dirty="0"/>
          </a:p>
        </p:txBody>
      </p:sp>
      <p:sp>
        <p:nvSpPr>
          <p:cNvPr id="25" name="Text 23"/>
          <p:cNvSpPr/>
          <p:nvPr/>
        </p:nvSpPr>
        <p:spPr>
          <a:xfrm>
            <a:off x="3611880" y="3108960"/>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26" name="Text 24"/>
          <p:cNvSpPr/>
          <p:nvPr/>
        </p:nvSpPr>
        <p:spPr>
          <a:xfrm>
            <a:off x="3931920" y="3072384"/>
            <a:ext cx="466344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Solo se aprovecha con inversión en educación, salud y empleo productivo para la cohorte joven.</a:t>
            </a:r>
            <a:endParaRPr lang="en-US" sz="1050" dirty="0"/>
          </a:p>
        </p:txBody>
      </p:sp>
      <p:sp>
        <p:nvSpPr>
          <p:cNvPr id="27" name="Shape 25"/>
          <p:cNvSpPr/>
          <p:nvPr/>
        </p:nvSpPr>
        <p:spPr>
          <a:xfrm>
            <a:off x="365760" y="3657600"/>
            <a:ext cx="8412480" cy="585216"/>
          </a:xfrm>
          <a:prstGeom prst="rect">
            <a:avLst/>
          </a:prstGeom>
          <a:solidFill>
            <a:srgbClr val="FFFFFF"/>
          </a:solidFill>
          <a:ln w="12700">
            <a:solidFill>
              <a:srgbClr val="CBD5E0"/>
            </a:solidFill>
            <a:prstDash val="solid"/>
          </a:ln>
        </p:spPr>
        <p:txBody>
          <a:bodyPr/>
          <a:lstStyle/>
          <a:p>
            <a:endParaRPr lang="es-AR"/>
          </a:p>
        </p:txBody>
      </p:sp>
      <p:sp>
        <p:nvSpPr>
          <p:cNvPr id="28" name="Shape 26"/>
          <p:cNvSpPr/>
          <p:nvPr/>
        </p:nvSpPr>
        <p:spPr>
          <a:xfrm>
            <a:off x="365760" y="3657600"/>
            <a:ext cx="320040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29" name="Text 27"/>
          <p:cNvSpPr/>
          <p:nvPr/>
        </p:nvSpPr>
        <p:spPr>
          <a:xfrm>
            <a:off x="475488" y="3730752"/>
            <a:ext cx="299923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Todos los países en desarrollo son iguales</a:t>
            </a:r>
            <a:endParaRPr lang="en-US" sz="1050" dirty="0"/>
          </a:p>
        </p:txBody>
      </p:sp>
      <p:sp>
        <p:nvSpPr>
          <p:cNvPr id="30" name="Text 28"/>
          <p:cNvSpPr/>
          <p:nvPr/>
        </p:nvSpPr>
        <p:spPr>
          <a:xfrm>
            <a:off x="3611880" y="3767328"/>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31" name="Text 29"/>
          <p:cNvSpPr/>
          <p:nvPr/>
        </p:nvSpPr>
        <p:spPr>
          <a:xfrm>
            <a:off x="3931920" y="3730752"/>
            <a:ext cx="466344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Son muy diversos. Comparten problemas estructurales, pero difieren en geografía, historia, recursos e instituciones.</a:t>
            </a:r>
            <a:endParaRPr lang="en-US" sz="1050" dirty="0"/>
          </a:p>
        </p:txBody>
      </p:sp>
      <p:sp>
        <p:nvSpPr>
          <p:cNvPr id="32" name="Shape 30"/>
          <p:cNvSpPr/>
          <p:nvPr/>
        </p:nvSpPr>
        <p:spPr>
          <a:xfrm>
            <a:off x="365760" y="4315968"/>
            <a:ext cx="8412480" cy="585216"/>
          </a:xfrm>
          <a:prstGeom prst="rect">
            <a:avLst/>
          </a:prstGeom>
          <a:solidFill>
            <a:srgbClr val="FFFFFF"/>
          </a:solidFill>
          <a:ln w="12700">
            <a:solidFill>
              <a:srgbClr val="CBD5E0"/>
            </a:solidFill>
            <a:prstDash val="solid"/>
          </a:ln>
        </p:spPr>
        <p:txBody>
          <a:bodyPr/>
          <a:lstStyle/>
          <a:p>
            <a:endParaRPr lang="es-AR"/>
          </a:p>
        </p:txBody>
      </p:sp>
      <p:sp>
        <p:nvSpPr>
          <p:cNvPr id="33" name="Shape 31"/>
          <p:cNvSpPr/>
          <p:nvPr/>
        </p:nvSpPr>
        <p:spPr>
          <a:xfrm>
            <a:off x="365760" y="4315968"/>
            <a:ext cx="320040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34" name="Text 32"/>
          <p:cNvSpPr/>
          <p:nvPr/>
        </p:nvSpPr>
        <p:spPr>
          <a:xfrm>
            <a:off x="475488" y="4389120"/>
            <a:ext cx="299923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La ventaja comparativa conduce al desarrollo</a:t>
            </a:r>
            <a:endParaRPr lang="en-US" sz="1050" dirty="0"/>
          </a:p>
        </p:txBody>
      </p:sp>
      <p:sp>
        <p:nvSpPr>
          <p:cNvPr id="35" name="Text 33"/>
          <p:cNvSpPr/>
          <p:nvPr/>
        </p:nvSpPr>
        <p:spPr>
          <a:xfrm>
            <a:off x="3611880" y="4425696"/>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36" name="Text 34"/>
          <p:cNvSpPr/>
          <p:nvPr/>
        </p:nvSpPr>
        <p:spPr>
          <a:xfrm>
            <a:off x="3931920" y="4389120"/>
            <a:ext cx="466344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Exportar materias primas es eficiente de corto plazo pero no necesariamente genera desarrollo de largo plazo.</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3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Preguntas Frecuentes de Examen</a:t>
            </a:r>
            <a:endParaRPr lang="en-US" sz="2600" dirty="0"/>
          </a:p>
        </p:txBody>
      </p:sp>
      <p:sp>
        <p:nvSpPr>
          <p:cNvPr id="5" name="Shape 3"/>
          <p:cNvSpPr/>
          <p:nvPr/>
        </p:nvSpPr>
        <p:spPr>
          <a:xfrm>
            <a:off x="365760" y="804672"/>
            <a:ext cx="8412480" cy="603504"/>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6" name="Shape 4"/>
          <p:cNvSpPr/>
          <p:nvPr/>
        </p:nvSpPr>
        <p:spPr>
          <a:xfrm>
            <a:off x="365760" y="804672"/>
            <a:ext cx="777240" cy="603504"/>
          </a:xfrm>
          <a:prstGeom prst="rect">
            <a:avLst/>
          </a:prstGeom>
          <a:solidFill>
            <a:srgbClr val="D4A853">
              <a:alpha val="70000"/>
            </a:srgbClr>
          </a:solidFill>
          <a:ln w="12700">
            <a:solidFill>
              <a:srgbClr val="D4A853">
                <a:alpha val="70000"/>
              </a:srgbClr>
            </a:solidFill>
            <a:prstDash val="solid"/>
          </a:ln>
        </p:spPr>
        <p:txBody>
          <a:bodyPr/>
          <a:lstStyle/>
          <a:p>
            <a:endParaRPr lang="es-AR"/>
          </a:p>
        </p:txBody>
      </p:sp>
      <p:sp>
        <p:nvSpPr>
          <p:cNvPr id="7" name="Text 5"/>
          <p:cNvSpPr/>
          <p:nvPr/>
        </p:nvSpPr>
        <p:spPr>
          <a:xfrm>
            <a:off x="384048" y="914400"/>
            <a:ext cx="740664"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1</a:t>
            </a:r>
            <a:endParaRPr lang="en-US" sz="800" dirty="0"/>
          </a:p>
        </p:txBody>
      </p:sp>
      <p:sp>
        <p:nvSpPr>
          <p:cNvPr id="8" name="Text 6"/>
          <p:cNvSpPr/>
          <p:nvPr/>
        </p:nvSpPr>
        <p:spPr>
          <a:xfrm>
            <a:off x="1234440" y="877824"/>
            <a:ext cx="731520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¿Cuál es la diferencia entre crecimiento y desarrollo económico?</a:t>
            </a:r>
            <a:endParaRPr lang="en-US" sz="1100" dirty="0"/>
          </a:p>
        </p:txBody>
      </p:sp>
      <p:sp>
        <p:nvSpPr>
          <p:cNvPr id="9" name="Shape 7"/>
          <p:cNvSpPr/>
          <p:nvPr/>
        </p:nvSpPr>
        <p:spPr>
          <a:xfrm>
            <a:off x="365760" y="1481328"/>
            <a:ext cx="8412480" cy="603504"/>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10" name="Shape 8"/>
          <p:cNvSpPr/>
          <p:nvPr/>
        </p:nvSpPr>
        <p:spPr>
          <a:xfrm>
            <a:off x="365760" y="1481328"/>
            <a:ext cx="777240" cy="603504"/>
          </a:xfrm>
          <a:prstGeom prst="rect">
            <a:avLst/>
          </a:prstGeom>
          <a:solidFill>
            <a:srgbClr val="D4A853">
              <a:alpha val="70000"/>
            </a:srgbClr>
          </a:solidFill>
          <a:ln w="12700">
            <a:solidFill>
              <a:srgbClr val="D4A853">
                <a:alpha val="70000"/>
              </a:srgbClr>
            </a:solidFill>
            <a:prstDash val="solid"/>
          </a:ln>
        </p:spPr>
        <p:txBody>
          <a:bodyPr/>
          <a:lstStyle/>
          <a:p>
            <a:endParaRPr lang="es-AR"/>
          </a:p>
        </p:txBody>
      </p:sp>
      <p:sp>
        <p:nvSpPr>
          <p:cNvPr id="11" name="Text 9"/>
          <p:cNvSpPr/>
          <p:nvPr/>
        </p:nvSpPr>
        <p:spPr>
          <a:xfrm>
            <a:off x="384048" y="1591056"/>
            <a:ext cx="740664"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1</a:t>
            </a:r>
            <a:endParaRPr lang="en-US" sz="800" dirty="0"/>
          </a:p>
        </p:txBody>
      </p:sp>
      <p:sp>
        <p:nvSpPr>
          <p:cNvPr id="12" name="Text 10"/>
          <p:cNvSpPr/>
          <p:nvPr/>
        </p:nvSpPr>
        <p:spPr>
          <a:xfrm>
            <a:off x="1234440" y="1554480"/>
            <a:ext cx="731520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¿Qué es el Consenso de Washington y cuáles son sus 10 puntos clave?</a:t>
            </a:r>
            <a:endParaRPr lang="en-US" sz="1100" dirty="0"/>
          </a:p>
        </p:txBody>
      </p:sp>
      <p:sp>
        <p:nvSpPr>
          <p:cNvPr id="13" name="Shape 11"/>
          <p:cNvSpPr/>
          <p:nvPr/>
        </p:nvSpPr>
        <p:spPr>
          <a:xfrm>
            <a:off x="365760" y="2157984"/>
            <a:ext cx="8412480" cy="603504"/>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14" name="Shape 12"/>
          <p:cNvSpPr/>
          <p:nvPr/>
        </p:nvSpPr>
        <p:spPr>
          <a:xfrm>
            <a:off x="365760" y="2157984"/>
            <a:ext cx="777240" cy="603504"/>
          </a:xfrm>
          <a:prstGeom prst="rect">
            <a:avLst/>
          </a:prstGeom>
          <a:solidFill>
            <a:srgbClr val="2E8B74">
              <a:alpha val="70000"/>
            </a:srgbClr>
          </a:solidFill>
          <a:ln w="12700">
            <a:solidFill>
              <a:srgbClr val="2E8B74">
                <a:alpha val="70000"/>
              </a:srgbClr>
            </a:solidFill>
            <a:prstDash val="solid"/>
          </a:ln>
        </p:spPr>
        <p:txBody>
          <a:bodyPr/>
          <a:lstStyle/>
          <a:p>
            <a:endParaRPr lang="es-AR"/>
          </a:p>
        </p:txBody>
      </p:sp>
      <p:sp>
        <p:nvSpPr>
          <p:cNvPr id="15" name="Text 13"/>
          <p:cNvSpPr/>
          <p:nvPr/>
        </p:nvSpPr>
        <p:spPr>
          <a:xfrm>
            <a:off x="384048" y="2267712"/>
            <a:ext cx="740664"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2</a:t>
            </a:r>
            <a:endParaRPr lang="en-US" sz="800" dirty="0"/>
          </a:p>
        </p:txBody>
      </p:sp>
      <p:sp>
        <p:nvSpPr>
          <p:cNvPr id="16" name="Text 14"/>
          <p:cNvSpPr/>
          <p:nvPr/>
        </p:nvSpPr>
        <p:spPr>
          <a:xfrm>
            <a:off x="1234440" y="2231136"/>
            <a:ext cx="731520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¿Por qué no se cumple la hipótesis de Kuznets en América Latina?</a:t>
            </a:r>
            <a:endParaRPr lang="en-US" sz="1100" dirty="0"/>
          </a:p>
        </p:txBody>
      </p:sp>
      <p:sp>
        <p:nvSpPr>
          <p:cNvPr id="17" name="Shape 15"/>
          <p:cNvSpPr/>
          <p:nvPr/>
        </p:nvSpPr>
        <p:spPr>
          <a:xfrm>
            <a:off x="365760" y="2834640"/>
            <a:ext cx="8412480" cy="603504"/>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18" name="Shape 16"/>
          <p:cNvSpPr/>
          <p:nvPr/>
        </p:nvSpPr>
        <p:spPr>
          <a:xfrm>
            <a:off x="365760" y="2834640"/>
            <a:ext cx="777240" cy="603504"/>
          </a:xfrm>
          <a:prstGeom prst="rect">
            <a:avLst/>
          </a:prstGeom>
          <a:solidFill>
            <a:srgbClr val="2E8B74">
              <a:alpha val="70000"/>
            </a:srgbClr>
          </a:solidFill>
          <a:ln w="12700">
            <a:solidFill>
              <a:srgbClr val="2E8B74">
                <a:alpha val="70000"/>
              </a:srgbClr>
            </a:solidFill>
            <a:prstDash val="solid"/>
          </a:ln>
        </p:spPr>
        <p:txBody>
          <a:bodyPr/>
          <a:lstStyle/>
          <a:p>
            <a:endParaRPr lang="es-AR"/>
          </a:p>
        </p:txBody>
      </p:sp>
      <p:sp>
        <p:nvSpPr>
          <p:cNvPr id="19" name="Text 17"/>
          <p:cNvSpPr/>
          <p:nvPr/>
        </p:nvSpPr>
        <p:spPr>
          <a:xfrm>
            <a:off x="384048" y="2944368"/>
            <a:ext cx="740664"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2</a:t>
            </a:r>
            <a:endParaRPr lang="en-US" sz="800" dirty="0"/>
          </a:p>
        </p:txBody>
      </p:sp>
      <p:sp>
        <p:nvSpPr>
          <p:cNvPr id="20" name="Text 18"/>
          <p:cNvSpPr/>
          <p:nvPr/>
        </p:nvSpPr>
        <p:spPr>
          <a:xfrm>
            <a:off x="1234440" y="2907792"/>
            <a:ext cx="731520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¿Qué es la heterogeneidad estructural y cómo produce segmentación en el mercado de trabajo?</a:t>
            </a:r>
            <a:endParaRPr lang="en-US" sz="1100" dirty="0"/>
          </a:p>
        </p:txBody>
      </p:sp>
      <p:sp>
        <p:nvSpPr>
          <p:cNvPr id="21" name="Shape 19"/>
          <p:cNvSpPr/>
          <p:nvPr/>
        </p:nvSpPr>
        <p:spPr>
          <a:xfrm>
            <a:off x="365760" y="3511296"/>
            <a:ext cx="8412480" cy="603504"/>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22" name="Shape 20"/>
          <p:cNvSpPr/>
          <p:nvPr/>
        </p:nvSpPr>
        <p:spPr>
          <a:xfrm>
            <a:off x="365760" y="3511296"/>
            <a:ext cx="777240" cy="603504"/>
          </a:xfrm>
          <a:prstGeom prst="rect">
            <a:avLst/>
          </a:prstGeom>
          <a:solidFill>
            <a:srgbClr val="C0533A">
              <a:alpha val="70000"/>
            </a:srgbClr>
          </a:solidFill>
          <a:ln w="12700">
            <a:solidFill>
              <a:srgbClr val="C0533A">
                <a:alpha val="70000"/>
              </a:srgbClr>
            </a:solidFill>
            <a:prstDash val="solid"/>
          </a:ln>
        </p:spPr>
        <p:txBody>
          <a:bodyPr/>
          <a:lstStyle/>
          <a:p>
            <a:endParaRPr lang="es-AR"/>
          </a:p>
        </p:txBody>
      </p:sp>
      <p:sp>
        <p:nvSpPr>
          <p:cNvPr id="23" name="Text 21"/>
          <p:cNvSpPr/>
          <p:nvPr/>
        </p:nvSpPr>
        <p:spPr>
          <a:xfrm>
            <a:off x="384048" y="3621024"/>
            <a:ext cx="740664"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3</a:t>
            </a:r>
            <a:endParaRPr lang="en-US" sz="800" dirty="0"/>
          </a:p>
        </p:txBody>
      </p:sp>
      <p:sp>
        <p:nvSpPr>
          <p:cNvPr id="24" name="Text 22"/>
          <p:cNvSpPr/>
          <p:nvPr/>
        </p:nvSpPr>
        <p:spPr>
          <a:xfrm>
            <a:off x="1234440" y="3584448"/>
            <a:ext cx="731520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Un país duplica su PBI pero la desigualdad sube. ¿Es desarrollo? Justificá con los enfoques vistos.</a:t>
            </a:r>
            <a:endParaRPr lang="en-US" sz="1100" dirty="0"/>
          </a:p>
        </p:txBody>
      </p:sp>
      <p:sp>
        <p:nvSpPr>
          <p:cNvPr id="25" name="Shape 23"/>
          <p:cNvSpPr/>
          <p:nvPr/>
        </p:nvSpPr>
        <p:spPr>
          <a:xfrm>
            <a:off x="365760" y="4187952"/>
            <a:ext cx="8412480" cy="603504"/>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26" name="Shape 24"/>
          <p:cNvSpPr/>
          <p:nvPr/>
        </p:nvSpPr>
        <p:spPr>
          <a:xfrm>
            <a:off x="365760" y="4187952"/>
            <a:ext cx="777240" cy="603504"/>
          </a:xfrm>
          <a:prstGeom prst="rect">
            <a:avLst/>
          </a:prstGeom>
          <a:solidFill>
            <a:srgbClr val="7B5EA7">
              <a:alpha val="70000"/>
            </a:srgbClr>
          </a:solidFill>
          <a:ln w="12700">
            <a:solidFill>
              <a:srgbClr val="7B5EA7">
                <a:alpha val="70000"/>
              </a:srgbClr>
            </a:solidFill>
            <a:prstDash val="solid"/>
          </a:ln>
        </p:spPr>
        <p:txBody>
          <a:bodyPr/>
          <a:lstStyle/>
          <a:p>
            <a:endParaRPr lang="es-AR"/>
          </a:p>
        </p:txBody>
      </p:sp>
      <p:sp>
        <p:nvSpPr>
          <p:cNvPr id="27" name="Text 25"/>
          <p:cNvSpPr/>
          <p:nvPr/>
        </p:nvSpPr>
        <p:spPr>
          <a:xfrm>
            <a:off x="384048" y="4297680"/>
            <a:ext cx="740664"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4</a:t>
            </a:r>
            <a:endParaRPr lang="en-US" sz="800" dirty="0"/>
          </a:p>
        </p:txBody>
      </p:sp>
      <p:sp>
        <p:nvSpPr>
          <p:cNvPr id="28" name="Text 26"/>
          <p:cNvSpPr/>
          <p:nvPr/>
        </p:nvSpPr>
        <p:spPr>
          <a:xfrm>
            <a:off x="1234440" y="4261104"/>
            <a:ext cx="731520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¿Por qué la Matriz de Quah sugiere que un país pobre difícilmente mejora su posición relativa? ¿Qué factores explican esa persistencia?</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Resumen Final — Lo Que Tenés que Saber</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36576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U1.1 Y U1.2 — SÍNTESIS COMPLETA</a:t>
            </a:r>
            <a:endParaRPr lang="en-US" sz="900" dirty="0"/>
          </a:p>
        </p:txBody>
      </p:sp>
      <p:sp>
        <p:nvSpPr>
          <p:cNvPr id="7" name="Shape 5"/>
          <p:cNvSpPr/>
          <p:nvPr/>
        </p:nvSpPr>
        <p:spPr>
          <a:xfrm>
            <a:off x="365760" y="987552"/>
            <a:ext cx="594360" cy="420624"/>
          </a:xfrm>
          <a:prstGeom prst="rect">
            <a:avLst/>
          </a:prstGeom>
          <a:solidFill>
            <a:srgbClr val="2C5282"/>
          </a:solidFill>
          <a:ln w="12700">
            <a:solidFill>
              <a:srgbClr val="2C5282"/>
            </a:solidFill>
            <a:prstDash val="solid"/>
          </a:ln>
        </p:spPr>
        <p:txBody>
          <a:bodyPr/>
          <a:lstStyle/>
          <a:p>
            <a:endParaRPr lang="es-AR"/>
          </a:p>
        </p:txBody>
      </p:sp>
      <p:sp>
        <p:nvSpPr>
          <p:cNvPr id="8" name="Text 6"/>
          <p:cNvSpPr/>
          <p:nvPr/>
        </p:nvSpPr>
        <p:spPr>
          <a:xfrm>
            <a:off x="365760" y="987552"/>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U1.1</a:t>
            </a:r>
            <a:endParaRPr lang="en-US" sz="850" dirty="0"/>
          </a:p>
        </p:txBody>
      </p:sp>
      <p:sp>
        <p:nvSpPr>
          <p:cNvPr id="9" name="Text 7"/>
          <p:cNvSpPr/>
          <p:nvPr/>
        </p:nvSpPr>
        <p:spPr>
          <a:xfrm>
            <a:off x="1078992" y="1024128"/>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El desarrollo económico es un concepto en disputa: abarca más que el PBI. Incluye libertades, capacidades y derechos.</a:t>
            </a:r>
            <a:endParaRPr lang="en-US" sz="1100" dirty="0"/>
          </a:p>
        </p:txBody>
      </p:sp>
      <p:sp>
        <p:nvSpPr>
          <p:cNvPr id="10" name="Shape 8"/>
          <p:cNvSpPr/>
          <p:nvPr/>
        </p:nvSpPr>
        <p:spPr>
          <a:xfrm>
            <a:off x="365760" y="1481328"/>
            <a:ext cx="594360" cy="420624"/>
          </a:xfrm>
          <a:prstGeom prst="rect">
            <a:avLst/>
          </a:prstGeom>
          <a:solidFill>
            <a:srgbClr val="2C5282"/>
          </a:solidFill>
          <a:ln w="12700">
            <a:solidFill>
              <a:srgbClr val="2C5282"/>
            </a:solidFill>
            <a:prstDash val="solid"/>
          </a:ln>
        </p:spPr>
        <p:txBody>
          <a:bodyPr/>
          <a:lstStyle/>
          <a:p>
            <a:endParaRPr lang="es-AR"/>
          </a:p>
        </p:txBody>
      </p:sp>
      <p:sp>
        <p:nvSpPr>
          <p:cNvPr id="11" name="Text 9"/>
          <p:cNvSpPr/>
          <p:nvPr/>
        </p:nvSpPr>
        <p:spPr>
          <a:xfrm>
            <a:off x="365760" y="1481328"/>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U1.1</a:t>
            </a:r>
            <a:endParaRPr lang="en-US" sz="850" dirty="0"/>
          </a:p>
        </p:txBody>
      </p:sp>
      <p:sp>
        <p:nvSpPr>
          <p:cNvPr id="12" name="Text 10"/>
          <p:cNvSpPr/>
          <p:nvPr/>
        </p:nvSpPr>
        <p:spPr>
          <a:xfrm>
            <a:off x="1078992" y="1517904"/>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El concepto evolucionó de crecimiento (PBI) → bienestar multidimensional → capacidades (Sen) → derechos (ODS).</a:t>
            </a:r>
            <a:endParaRPr lang="en-US" sz="1100" dirty="0"/>
          </a:p>
        </p:txBody>
      </p:sp>
      <p:sp>
        <p:nvSpPr>
          <p:cNvPr id="13" name="Shape 11"/>
          <p:cNvSpPr/>
          <p:nvPr/>
        </p:nvSpPr>
        <p:spPr>
          <a:xfrm>
            <a:off x="365760" y="1975104"/>
            <a:ext cx="594360" cy="420624"/>
          </a:xfrm>
          <a:prstGeom prst="rect">
            <a:avLst/>
          </a:prstGeom>
          <a:solidFill>
            <a:srgbClr val="2C5282"/>
          </a:solidFill>
          <a:ln w="12700">
            <a:solidFill>
              <a:srgbClr val="2C5282"/>
            </a:solidFill>
            <a:prstDash val="solid"/>
          </a:ln>
        </p:spPr>
        <p:txBody>
          <a:bodyPr/>
          <a:lstStyle/>
          <a:p>
            <a:endParaRPr lang="es-AR"/>
          </a:p>
        </p:txBody>
      </p:sp>
      <p:sp>
        <p:nvSpPr>
          <p:cNvPr id="14" name="Text 12"/>
          <p:cNvSpPr/>
          <p:nvPr/>
        </p:nvSpPr>
        <p:spPr>
          <a:xfrm>
            <a:off x="365760" y="1975104"/>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U1.1</a:t>
            </a:r>
            <a:endParaRPr lang="en-US" sz="850" dirty="0"/>
          </a:p>
        </p:txBody>
      </p:sp>
      <p:sp>
        <p:nvSpPr>
          <p:cNvPr id="15" name="Text 13"/>
          <p:cNvSpPr/>
          <p:nvPr/>
        </p:nvSpPr>
        <p:spPr>
          <a:xfrm>
            <a:off x="1078992" y="2011680"/>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La hipótesis de Kuznets NO se cumple en AL. La heterogeneidad estructural explica la desigualdad persistente.</a:t>
            </a:r>
            <a:endParaRPr lang="en-US" sz="1100" dirty="0"/>
          </a:p>
        </p:txBody>
      </p:sp>
      <p:sp>
        <p:nvSpPr>
          <p:cNvPr id="16" name="Shape 14"/>
          <p:cNvSpPr/>
          <p:nvPr/>
        </p:nvSpPr>
        <p:spPr>
          <a:xfrm>
            <a:off x="365760" y="2468880"/>
            <a:ext cx="594360" cy="420624"/>
          </a:xfrm>
          <a:prstGeom prst="rect">
            <a:avLst/>
          </a:prstGeom>
          <a:solidFill>
            <a:srgbClr val="2C5282"/>
          </a:solidFill>
          <a:ln w="12700">
            <a:solidFill>
              <a:srgbClr val="2C5282"/>
            </a:solidFill>
            <a:prstDash val="solid"/>
          </a:ln>
        </p:spPr>
        <p:txBody>
          <a:bodyPr/>
          <a:lstStyle/>
          <a:p>
            <a:endParaRPr lang="es-AR"/>
          </a:p>
        </p:txBody>
      </p:sp>
      <p:sp>
        <p:nvSpPr>
          <p:cNvPr id="17" name="Text 15"/>
          <p:cNvSpPr/>
          <p:nvPr/>
        </p:nvSpPr>
        <p:spPr>
          <a:xfrm>
            <a:off x="365760" y="2468880"/>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U1.1</a:t>
            </a:r>
            <a:endParaRPr lang="en-US" sz="850" dirty="0"/>
          </a:p>
        </p:txBody>
      </p:sp>
      <p:sp>
        <p:nvSpPr>
          <p:cNvPr id="18" name="Text 16"/>
          <p:cNvSpPr/>
          <p:nvPr/>
        </p:nvSpPr>
        <p:spPr>
          <a:xfrm>
            <a:off x="1078992" y="2505456"/>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El Consenso de Washington reemplazó al Estado desarrollista pero generó sus propios problemas.</a:t>
            </a:r>
            <a:endParaRPr lang="en-US" sz="1100" dirty="0"/>
          </a:p>
        </p:txBody>
      </p:sp>
      <p:sp>
        <p:nvSpPr>
          <p:cNvPr id="19" name="Shape 17"/>
          <p:cNvSpPr/>
          <p:nvPr/>
        </p:nvSpPr>
        <p:spPr>
          <a:xfrm>
            <a:off x="365760" y="2962656"/>
            <a:ext cx="594360" cy="420624"/>
          </a:xfrm>
          <a:prstGeom prst="rect">
            <a:avLst/>
          </a:prstGeom>
          <a:solidFill>
            <a:srgbClr val="2E8B74"/>
          </a:solidFill>
          <a:ln w="12700">
            <a:solidFill>
              <a:srgbClr val="2E8B74"/>
            </a:solidFill>
            <a:prstDash val="solid"/>
          </a:ln>
        </p:spPr>
        <p:txBody>
          <a:bodyPr/>
          <a:lstStyle/>
          <a:p>
            <a:endParaRPr lang="es-AR"/>
          </a:p>
        </p:txBody>
      </p:sp>
      <p:sp>
        <p:nvSpPr>
          <p:cNvPr id="20" name="Text 18"/>
          <p:cNvSpPr/>
          <p:nvPr/>
        </p:nvSpPr>
        <p:spPr>
          <a:xfrm>
            <a:off x="365760" y="2962656"/>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U1.2</a:t>
            </a:r>
            <a:endParaRPr lang="en-US" sz="850" dirty="0"/>
          </a:p>
        </p:txBody>
      </p:sp>
      <p:sp>
        <p:nvSpPr>
          <p:cNvPr id="21" name="Text 19"/>
          <p:cNvSpPr/>
          <p:nvPr/>
        </p:nvSpPr>
        <p:spPr>
          <a:xfrm>
            <a:off x="1078992" y="2999232"/>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Los países en desarrollo son muy diversos, pero comparten problemas estructurales comunes.</a:t>
            </a:r>
            <a:endParaRPr lang="en-US" sz="1100" dirty="0"/>
          </a:p>
        </p:txBody>
      </p:sp>
      <p:sp>
        <p:nvSpPr>
          <p:cNvPr id="22" name="Shape 20"/>
          <p:cNvSpPr/>
          <p:nvPr/>
        </p:nvSpPr>
        <p:spPr>
          <a:xfrm>
            <a:off x="365760" y="3456432"/>
            <a:ext cx="594360" cy="420624"/>
          </a:xfrm>
          <a:prstGeom prst="rect">
            <a:avLst/>
          </a:prstGeom>
          <a:solidFill>
            <a:srgbClr val="2E8B74"/>
          </a:solidFill>
          <a:ln w="12700">
            <a:solidFill>
              <a:srgbClr val="2E8B74"/>
            </a:solidFill>
            <a:prstDash val="solid"/>
          </a:ln>
        </p:spPr>
        <p:txBody>
          <a:bodyPr/>
          <a:lstStyle/>
          <a:p>
            <a:endParaRPr lang="es-AR"/>
          </a:p>
        </p:txBody>
      </p:sp>
      <p:sp>
        <p:nvSpPr>
          <p:cNvPr id="23" name="Text 21"/>
          <p:cNvSpPr/>
          <p:nvPr/>
        </p:nvSpPr>
        <p:spPr>
          <a:xfrm>
            <a:off x="365760" y="3456432"/>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U1.2</a:t>
            </a:r>
            <a:endParaRPr lang="en-US" sz="850" dirty="0"/>
          </a:p>
        </p:txBody>
      </p:sp>
      <p:sp>
        <p:nvSpPr>
          <p:cNvPr id="24" name="Text 22"/>
          <p:cNvSpPr/>
          <p:nvPr/>
        </p:nvSpPr>
        <p:spPr>
          <a:xfrm>
            <a:off x="1078992" y="3493008"/>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Las características demográficas, productivas y de migración se refuerzan mutuamente creando trampas de pobreza.</a:t>
            </a:r>
            <a:endParaRPr lang="en-US" sz="1100" dirty="0"/>
          </a:p>
        </p:txBody>
      </p:sp>
      <p:sp>
        <p:nvSpPr>
          <p:cNvPr id="25" name="Shape 23"/>
          <p:cNvSpPr/>
          <p:nvPr/>
        </p:nvSpPr>
        <p:spPr>
          <a:xfrm>
            <a:off x="365760" y="3950208"/>
            <a:ext cx="594360" cy="420624"/>
          </a:xfrm>
          <a:prstGeom prst="rect">
            <a:avLst/>
          </a:prstGeom>
          <a:solidFill>
            <a:srgbClr val="2E8B74"/>
          </a:solidFill>
          <a:ln w="12700">
            <a:solidFill>
              <a:srgbClr val="2E8B74"/>
            </a:solidFill>
            <a:prstDash val="solid"/>
          </a:ln>
        </p:spPr>
        <p:txBody>
          <a:bodyPr/>
          <a:lstStyle/>
          <a:p>
            <a:endParaRPr lang="es-AR"/>
          </a:p>
        </p:txBody>
      </p:sp>
      <p:sp>
        <p:nvSpPr>
          <p:cNvPr id="26" name="Text 24"/>
          <p:cNvSpPr/>
          <p:nvPr/>
        </p:nvSpPr>
        <p:spPr>
          <a:xfrm>
            <a:off x="365760" y="3950208"/>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U1.2</a:t>
            </a:r>
            <a:endParaRPr lang="en-US" sz="850" dirty="0"/>
          </a:p>
        </p:txBody>
      </p:sp>
      <p:sp>
        <p:nvSpPr>
          <p:cNvPr id="27" name="Text 25"/>
          <p:cNvSpPr/>
          <p:nvPr/>
        </p:nvSpPr>
        <p:spPr>
          <a:xfrm>
            <a:off x="1078992" y="3986784"/>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La Matriz de Quah muestra que es muy difícil para un país pobre mejorar su posición relativa sin intervención.</a:t>
            </a:r>
            <a:endParaRPr lang="en-US" sz="1100" dirty="0"/>
          </a:p>
        </p:txBody>
      </p:sp>
      <p:sp>
        <p:nvSpPr>
          <p:cNvPr id="28" name="Shape 26"/>
          <p:cNvSpPr/>
          <p:nvPr/>
        </p:nvSpPr>
        <p:spPr>
          <a:xfrm>
            <a:off x="365760" y="4443984"/>
            <a:ext cx="594360" cy="420624"/>
          </a:xfrm>
          <a:prstGeom prst="rect">
            <a:avLst/>
          </a:prstGeom>
          <a:solidFill>
            <a:srgbClr val="D4A853"/>
          </a:solidFill>
          <a:ln w="12700">
            <a:solidFill>
              <a:srgbClr val="D4A853"/>
            </a:solidFill>
            <a:prstDash val="solid"/>
          </a:ln>
        </p:spPr>
        <p:txBody>
          <a:bodyPr/>
          <a:lstStyle/>
          <a:p>
            <a:endParaRPr lang="es-AR"/>
          </a:p>
        </p:txBody>
      </p:sp>
      <p:sp>
        <p:nvSpPr>
          <p:cNvPr id="29" name="Text 27"/>
          <p:cNvSpPr/>
          <p:nvPr/>
        </p:nvSpPr>
        <p:spPr>
          <a:xfrm>
            <a:off x="365760" y="4443984"/>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30" name="Text 28"/>
          <p:cNvSpPr/>
          <p:nvPr/>
        </p:nvSpPr>
        <p:spPr>
          <a:xfrm>
            <a:off x="1078992" y="4480560"/>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Todo esto motiva el estudio del Modelo Harrod-Domar (Unidad 2): ¿cómo acumular capital indefinidamente?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C5282"/>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Mini Repaso Rápido</a:t>
            </a:r>
            <a:endParaRPr lang="en-US" sz="26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marL="0" indent="0">
              <a:buNone/>
            </a:pPr>
            <a:r>
              <a:rPr lang="en-US" sz="1200" i="1" dirty="0">
                <a:solidFill>
                  <a:srgbClr val="EDF2F7"/>
                </a:solidFill>
                <a:latin typeface="Calibri" pitchFamily="34" charset="0"/>
                <a:ea typeface="Calibri" pitchFamily="34" charset="-122"/>
                <a:cs typeface="Calibri" pitchFamily="34" charset="-120"/>
              </a:rPr>
              <a:t>Completá mentalmente antes de cerrar la presentación</a:t>
            </a:r>
            <a:endParaRPr lang="en-US" sz="1200" dirty="0"/>
          </a:p>
        </p:txBody>
      </p:sp>
      <p:sp>
        <p:nvSpPr>
          <p:cNvPr id="4" name="Shape 2"/>
          <p:cNvSpPr/>
          <p:nvPr/>
        </p:nvSpPr>
        <p:spPr>
          <a:xfrm>
            <a:off x="457200" y="1051560"/>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5" name="Text 3"/>
          <p:cNvSpPr/>
          <p:nvPr/>
        </p:nvSpPr>
        <p:spPr>
          <a:xfrm>
            <a:off x="594360" y="1106424"/>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 ¿Cuáles son las 3 definiciones de desarrollo vistas (Lucas, Todaro, Sen)?</a:t>
            </a:r>
            <a:endParaRPr lang="en-US" sz="1100" dirty="0"/>
          </a:p>
        </p:txBody>
      </p:sp>
      <p:sp>
        <p:nvSpPr>
          <p:cNvPr id="6" name="Shape 4"/>
          <p:cNvSpPr/>
          <p:nvPr/>
        </p:nvSpPr>
        <p:spPr>
          <a:xfrm>
            <a:off x="457200" y="1673352"/>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7" name="Text 5"/>
          <p:cNvSpPr/>
          <p:nvPr/>
        </p:nvSpPr>
        <p:spPr>
          <a:xfrm>
            <a:off x="594360" y="1728216"/>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 ¿Qué es la heterogeneidad estructural y por qué impide el efecto derrame?</a:t>
            </a:r>
            <a:endParaRPr lang="en-US" sz="1100" dirty="0"/>
          </a:p>
        </p:txBody>
      </p:sp>
      <p:sp>
        <p:nvSpPr>
          <p:cNvPr id="8" name="Shape 6"/>
          <p:cNvSpPr/>
          <p:nvPr/>
        </p:nvSpPr>
        <p:spPr>
          <a:xfrm>
            <a:off x="457200" y="2295144"/>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9" name="Text 7"/>
          <p:cNvSpPr/>
          <p:nvPr/>
        </p:nvSpPr>
        <p:spPr>
          <a:xfrm>
            <a:off x="594360" y="2350008"/>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 ¿Por qué la mortalidad baja antes que la natalidad en la transición demográfica?</a:t>
            </a:r>
            <a:endParaRPr lang="en-US" sz="1100" dirty="0"/>
          </a:p>
        </p:txBody>
      </p:sp>
      <p:sp>
        <p:nvSpPr>
          <p:cNvPr id="10" name="Shape 8"/>
          <p:cNvSpPr/>
          <p:nvPr/>
        </p:nvSpPr>
        <p:spPr>
          <a:xfrm>
            <a:off x="457200" y="2916936"/>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11" name="Text 9"/>
          <p:cNvSpPr/>
          <p:nvPr/>
        </p:nvSpPr>
        <p:spPr>
          <a:xfrm>
            <a:off x="594360" y="2971800"/>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4. ¿Qué diferencia hay entre el sector informal de países pobres y el sector servicios de países ricos?</a:t>
            </a:r>
            <a:endParaRPr lang="en-US" sz="1100" dirty="0"/>
          </a:p>
        </p:txBody>
      </p:sp>
      <p:sp>
        <p:nvSpPr>
          <p:cNvPr id="12" name="Shape 10"/>
          <p:cNvSpPr/>
          <p:nvPr/>
        </p:nvSpPr>
        <p:spPr>
          <a:xfrm>
            <a:off x="457200" y="3538728"/>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13" name="Text 11"/>
          <p:cNvSpPr/>
          <p:nvPr/>
        </p:nvSpPr>
        <p:spPr>
          <a:xfrm>
            <a:off x="594360" y="3593592"/>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5. ¿Cuál es la lógica central del Consenso de Washington?</a:t>
            </a:r>
            <a:endParaRPr lang="en-US" sz="1100" dirty="0"/>
          </a:p>
        </p:txBody>
      </p:sp>
      <p:sp>
        <p:nvSpPr>
          <p:cNvPr id="14" name="Shape 12"/>
          <p:cNvSpPr/>
          <p:nvPr/>
        </p:nvSpPr>
        <p:spPr>
          <a:xfrm>
            <a:off x="457200" y="4160520"/>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15" name="Text 13"/>
          <p:cNvSpPr/>
          <p:nvPr/>
        </p:nvSpPr>
        <p:spPr>
          <a:xfrm>
            <a:off x="594360" y="4215384"/>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6. ¿Qué dice la Matriz de Quah sobre la movilidad entre países?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3084</Words>
  <Application>Microsoft Office PowerPoint</Application>
  <PresentationFormat>Presentación en pantalla (16:9)</PresentationFormat>
  <Paragraphs>438</Paragraphs>
  <Slides>27</Slides>
  <Notes>27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27</vt:i4>
      </vt:variant>
    </vt:vector>
  </HeadingPairs>
  <TitlesOfParts>
    <vt:vector size="31"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Economía del Desarrollo – U1.1 y U1.2</dc:title>
  <dc:subject>PptxGenJS Presentation</dc:subject>
  <dc:creator>PptxGenJS</dc:creator>
  <cp:lastModifiedBy>estefanny vasquez</cp:lastModifiedBy>
  <cp:revision>1</cp:revision>
  <dcterms:created xsi:type="dcterms:W3CDTF">2026-05-07T02:01:22Z</dcterms:created>
  <dcterms:modified xsi:type="dcterms:W3CDTF">2026-05-07T02:06:52Z</dcterms:modified>
</cp:coreProperties>
</file>