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80"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11AF8F-E913-426E-8154-ADA959329675}" v="4" dt="2026-05-09T23:59:23.7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efanny vasquez" userId="d5a657f96adc8ecf" providerId="LiveId" clId="{98A29601-CF73-4DD9-B5EE-BFDCD35D78FF}"/>
    <pc:docChg chg="undo custSel addSld modSld">
      <pc:chgData name="estefanny vasquez" userId="d5a657f96adc8ecf" providerId="LiveId" clId="{98A29601-CF73-4DD9-B5EE-BFDCD35D78FF}" dt="2026-05-09T23:59:26.699" v="48" actId="1076"/>
      <pc:docMkLst>
        <pc:docMk/>
      </pc:docMkLst>
      <pc:sldChg chg="modSp mod">
        <pc:chgData name="estefanny vasquez" userId="d5a657f96adc8ecf" providerId="LiveId" clId="{98A29601-CF73-4DD9-B5EE-BFDCD35D78FF}" dt="2026-05-09T23:57:38.784" v="16" actId="20577"/>
        <pc:sldMkLst>
          <pc:docMk/>
          <pc:sldMk cId="0" sldId="259"/>
        </pc:sldMkLst>
        <pc:spChg chg="mod">
          <ac:chgData name="estefanny vasquez" userId="d5a657f96adc8ecf" providerId="LiveId" clId="{98A29601-CF73-4DD9-B5EE-BFDCD35D78FF}" dt="2026-05-09T23:57:38.784" v="16" actId="20577"/>
          <ac:spMkLst>
            <pc:docMk/>
            <pc:sldMk cId="0" sldId="259"/>
            <ac:spMk id="9" creationId="{00000000-0000-0000-0000-000000000000}"/>
          </ac:spMkLst>
        </pc:spChg>
      </pc:sldChg>
      <pc:sldChg chg="modSp mod">
        <pc:chgData name="estefanny vasquez" userId="d5a657f96adc8ecf" providerId="LiveId" clId="{98A29601-CF73-4DD9-B5EE-BFDCD35D78FF}" dt="2026-05-07T02:47:45.060" v="8" actId="14100"/>
        <pc:sldMkLst>
          <pc:docMk/>
          <pc:sldMk cId="0" sldId="267"/>
        </pc:sldMkLst>
        <pc:spChg chg="mod">
          <ac:chgData name="estefanny vasquez" userId="d5a657f96adc8ecf" providerId="LiveId" clId="{98A29601-CF73-4DD9-B5EE-BFDCD35D78FF}" dt="2026-05-07T02:47:42.394" v="7" actId="14100"/>
          <ac:spMkLst>
            <pc:docMk/>
            <pc:sldMk cId="0" sldId="267"/>
            <ac:spMk id="15" creationId="{00000000-0000-0000-0000-000000000000}"/>
          </ac:spMkLst>
        </pc:spChg>
        <pc:spChg chg="mod">
          <ac:chgData name="estefanny vasquez" userId="d5a657f96adc8ecf" providerId="LiveId" clId="{98A29601-CF73-4DD9-B5EE-BFDCD35D78FF}" dt="2026-05-07T02:47:30.495" v="5" actId="14100"/>
          <ac:spMkLst>
            <pc:docMk/>
            <pc:sldMk cId="0" sldId="267"/>
            <ac:spMk id="23" creationId="{00000000-0000-0000-0000-000000000000}"/>
          </ac:spMkLst>
        </pc:spChg>
        <pc:spChg chg="mod">
          <ac:chgData name="estefanny vasquez" userId="d5a657f96adc8ecf" providerId="LiveId" clId="{98A29601-CF73-4DD9-B5EE-BFDCD35D78FF}" dt="2026-05-07T02:47:37.012" v="6" actId="1076"/>
          <ac:spMkLst>
            <pc:docMk/>
            <pc:sldMk cId="0" sldId="267"/>
            <ac:spMk id="24" creationId="{00000000-0000-0000-0000-000000000000}"/>
          </ac:spMkLst>
        </pc:spChg>
        <pc:spChg chg="mod">
          <ac:chgData name="estefanny vasquez" userId="d5a657f96adc8ecf" providerId="LiveId" clId="{98A29601-CF73-4DD9-B5EE-BFDCD35D78FF}" dt="2026-05-07T02:47:45.060" v="8" actId="14100"/>
          <ac:spMkLst>
            <pc:docMk/>
            <pc:sldMk cId="0" sldId="267"/>
            <ac:spMk id="31" creationId="{00000000-0000-0000-0000-000000000000}"/>
          </ac:spMkLst>
        </pc:spChg>
      </pc:sldChg>
      <pc:sldChg chg="modSp mod">
        <pc:chgData name="estefanny vasquez" userId="d5a657f96adc8ecf" providerId="LiveId" clId="{98A29601-CF73-4DD9-B5EE-BFDCD35D78FF}" dt="2026-05-07T02:47:15.162" v="1" actId="404"/>
        <pc:sldMkLst>
          <pc:docMk/>
          <pc:sldMk cId="0" sldId="268"/>
        </pc:sldMkLst>
        <pc:spChg chg="mod">
          <ac:chgData name="estefanny vasquez" userId="d5a657f96adc8ecf" providerId="LiveId" clId="{98A29601-CF73-4DD9-B5EE-BFDCD35D78FF}" dt="2026-05-07T02:47:15.162" v="1" actId="404"/>
          <ac:spMkLst>
            <pc:docMk/>
            <pc:sldMk cId="0" sldId="268"/>
            <ac:spMk id="19" creationId="{00000000-0000-0000-0000-000000000000}"/>
          </ac:spMkLst>
        </pc:spChg>
      </pc:sldChg>
      <pc:sldChg chg="modSp mod">
        <pc:chgData name="estefanny vasquez" userId="d5a657f96adc8ecf" providerId="LiveId" clId="{98A29601-CF73-4DD9-B5EE-BFDCD35D78FF}" dt="2026-05-07T02:47:09.934" v="0" actId="404"/>
        <pc:sldMkLst>
          <pc:docMk/>
          <pc:sldMk cId="0" sldId="269"/>
        </pc:sldMkLst>
        <pc:spChg chg="mod">
          <ac:chgData name="estefanny vasquez" userId="d5a657f96adc8ecf" providerId="LiveId" clId="{98A29601-CF73-4DD9-B5EE-BFDCD35D78FF}" dt="2026-05-07T02:47:09.934" v="0" actId="404"/>
          <ac:spMkLst>
            <pc:docMk/>
            <pc:sldMk cId="0" sldId="269"/>
            <ac:spMk id="36" creationId="{00000000-0000-0000-0000-000000000000}"/>
          </ac:spMkLst>
        </pc:spChg>
      </pc:sldChg>
      <pc:sldChg chg="modSp mod">
        <pc:chgData name="estefanny vasquez" userId="d5a657f96adc8ecf" providerId="LiveId" clId="{98A29601-CF73-4DD9-B5EE-BFDCD35D78FF}" dt="2026-05-07T02:48:14.149" v="11" actId="1076"/>
        <pc:sldMkLst>
          <pc:docMk/>
          <pc:sldMk cId="0" sldId="272"/>
        </pc:sldMkLst>
        <pc:spChg chg="mod">
          <ac:chgData name="estefanny vasquez" userId="d5a657f96adc8ecf" providerId="LiveId" clId="{98A29601-CF73-4DD9-B5EE-BFDCD35D78FF}" dt="2026-05-07T02:48:06.265" v="9" actId="14100"/>
          <ac:spMkLst>
            <pc:docMk/>
            <pc:sldMk cId="0" sldId="272"/>
            <ac:spMk id="40" creationId="{00000000-0000-0000-0000-000000000000}"/>
          </ac:spMkLst>
        </pc:spChg>
        <pc:spChg chg="mod">
          <ac:chgData name="estefanny vasquez" userId="d5a657f96adc8ecf" providerId="LiveId" clId="{98A29601-CF73-4DD9-B5EE-BFDCD35D78FF}" dt="2026-05-07T02:48:14.149" v="11" actId="1076"/>
          <ac:spMkLst>
            <pc:docMk/>
            <pc:sldMk cId="0" sldId="272"/>
            <ac:spMk id="49" creationId="{00000000-0000-0000-0000-000000000000}"/>
          </ac:spMkLst>
        </pc:spChg>
      </pc:sldChg>
      <pc:sldChg chg="addSp delSp modSp new mod">
        <pc:chgData name="estefanny vasquez" userId="d5a657f96adc8ecf" providerId="LiveId" clId="{98A29601-CF73-4DD9-B5EE-BFDCD35D78FF}" dt="2026-05-09T23:59:26.699" v="48" actId="1076"/>
        <pc:sldMkLst>
          <pc:docMk/>
          <pc:sldMk cId="3147184353" sldId="280"/>
        </pc:sldMkLst>
        <pc:spChg chg="add del">
          <ac:chgData name="estefanny vasquez" userId="d5a657f96adc8ecf" providerId="LiveId" clId="{98A29601-CF73-4DD9-B5EE-BFDCD35D78FF}" dt="2026-05-09T23:58:18.886" v="19" actId="22"/>
          <ac:spMkLst>
            <pc:docMk/>
            <pc:sldMk cId="3147184353" sldId="280"/>
            <ac:spMk id="3" creationId="{DD89F976-A554-81EC-738A-6D09E8CDD46A}"/>
          </ac:spMkLst>
        </pc:spChg>
        <pc:spChg chg="add mod">
          <ac:chgData name="estefanny vasquez" userId="d5a657f96adc8ecf" providerId="LiveId" clId="{98A29601-CF73-4DD9-B5EE-BFDCD35D78FF}" dt="2026-05-09T23:59:26.699" v="48" actId="1076"/>
          <ac:spMkLst>
            <pc:docMk/>
            <pc:sldMk cId="3147184353" sldId="280"/>
            <ac:spMk id="4" creationId="{80AE06EE-5002-C6B7-AD23-C6CC648B765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792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B"/>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2E8B74"/>
          </a:solidFill>
          <a:ln w="12700">
            <a:solidFill>
              <a:srgbClr val="2E8B74"/>
            </a:solidFill>
            <a:prstDash val="solid"/>
          </a:ln>
        </p:spPr>
        <p:txBody>
          <a:bodyPr/>
          <a:lstStyle/>
          <a:p>
            <a:endParaRPr lang="es-AR"/>
          </a:p>
        </p:txBody>
      </p:sp>
      <p:sp>
        <p:nvSpPr>
          <p:cNvPr id="3" name="Text 1"/>
          <p:cNvSpPr/>
          <p:nvPr/>
        </p:nvSpPr>
        <p:spPr>
          <a:xfrm>
            <a:off x="640080" y="502920"/>
            <a:ext cx="5943600" cy="2011680"/>
          </a:xfrm>
          <a:prstGeom prst="rect">
            <a:avLst/>
          </a:prstGeom>
          <a:noFill/>
          <a:ln/>
        </p:spPr>
        <p:txBody>
          <a:bodyPr wrap="square" lIns="0" tIns="0" rIns="0" bIns="0" rtlCol="0" anchor="ctr"/>
          <a:lstStyle/>
          <a:p>
            <a:pPr marL="0" indent="0">
              <a:buNone/>
            </a:pPr>
            <a:r>
              <a:rPr lang="en-US" sz="4600" b="1" dirty="0">
                <a:solidFill>
                  <a:srgbClr val="FFFFFF"/>
                </a:solidFill>
                <a:latin typeface="Georgia" pitchFamily="34" charset="0"/>
                <a:ea typeface="Georgia" pitchFamily="34" charset="-122"/>
                <a:cs typeface="Georgia" pitchFamily="34" charset="-120"/>
              </a:rPr>
              <a:t>Desarrollo</a:t>
            </a:r>
            <a:endParaRPr lang="en-US" sz="4600" dirty="0"/>
          </a:p>
          <a:p>
            <a:pPr marL="0" indent="0">
              <a:buNone/>
            </a:pPr>
            <a:r>
              <a:rPr lang="en-US" sz="4600" b="1" dirty="0">
                <a:solidFill>
                  <a:srgbClr val="FFFFFF"/>
                </a:solidFill>
                <a:latin typeface="Georgia" pitchFamily="34" charset="0"/>
                <a:ea typeface="Georgia" pitchFamily="34" charset="-122"/>
                <a:cs typeface="Georgia" pitchFamily="34" charset="-120"/>
              </a:rPr>
              <a:t>Humano</a:t>
            </a:r>
            <a:endParaRPr lang="en-US" sz="4600" dirty="0"/>
          </a:p>
        </p:txBody>
      </p:sp>
      <p:sp>
        <p:nvSpPr>
          <p:cNvPr id="4" name="Text 2"/>
          <p:cNvSpPr/>
          <p:nvPr/>
        </p:nvSpPr>
        <p:spPr>
          <a:xfrm>
            <a:off x="640080" y="2606040"/>
            <a:ext cx="6400800" cy="868680"/>
          </a:xfrm>
          <a:prstGeom prst="rect">
            <a:avLst/>
          </a:prstGeom>
          <a:noFill/>
          <a:ln/>
        </p:spPr>
        <p:txBody>
          <a:bodyPr wrap="square" lIns="0" tIns="0" rIns="0" bIns="0" rtlCol="0" anchor="ctr"/>
          <a:lstStyle/>
          <a:p>
            <a:pPr marL="0" indent="0">
              <a:buNone/>
            </a:pPr>
            <a:r>
              <a:rPr lang="en-US" sz="1600" i="1" dirty="0">
                <a:solidFill>
                  <a:srgbClr val="2E8B74"/>
                </a:solidFill>
                <a:latin typeface="Calibri" pitchFamily="34" charset="0"/>
                <a:ea typeface="Calibri" pitchFamily="34" charset="-122"/>
                <a:cs typeface="Calibri" pitchFamily="34" charset="-120"/>
              </a:rPr>
              <a:t>U3.1 — Paradigma del Desarrollo Humano</a:t>
            </a:r>
            <a:endParaRPr lang="en-US" sz="1600" dirty="0"/>
          </a:p>
          <a:p>
            <a:pPr marL="0" indent="0">
              <a:buNone/>
            </a:pPr>
            <a:r>
              <a:rPr lang="en-US" sz="1600" i="1" dirty="0">
                <a:solidFill>
                  <a:srgbClr val="2E8B74"/>
                </a:solidFill>
                <a:latin typeface="Calibri" pitchFamily="34" charset="0"/>
                <a:ea typeface="Calibri" pitchFamily="34" charset="-122"/>
                <a:cs typeface="Calibri" pitchFamily="34" charset="-120"/>
              </a:rPr>
              <a:t>U3.2 — Enfoque de Capacidades y Derechos</a:t>
            </a:r>
            <a:endParaRPr lang="en-US" sz="1600" dirty="0"/>
          </a:p>
        </p:txBody>
      </p:sp>
      <p:sp>
        <p:nvSpPr>
          <p:cNvPr id="5" name="Shape 3"/>
          <p:cNvSpPr/>
          <p:nvPr/>
        </p:nvSpPr>
        <p:spPr>
          <a:xfrm>
            <a:off x="640080" y="3547872"/>
            <a:ext cx="5943600" cy="0"/>
          </a:xfrm>
          <a:prstGeom prst="line">
            <a:avLst/>
          </a:prstGeom>
          <a:noFill/>
          <a:ln w="12700">
            <a:solidFill>
              <a:srgbClr val="CBD5E0"/>
            </a:solidFill>
            <a:prstDash val="solid"/>
          </a:ln>
        </p:spPr>
        <p:txBody>
          <a:bodyPr/>
          <a:lstStyle/>
          <a:p>
            <a:endParaRPr lang="es-AR"/>
          </a:p>
        </p:txBody>
      </p:sp>
      <p:sp>
        <p:nvSpPr>
          <p:cNvPr id="6" name="Text 4"/>
          <p:cNvSpPr/>
          <p:nvPr/>
        </p:nvSpPr>
        <p:spPr>
          <a:xfrm>
            <a:off x="640080" y="3657600"/>
            <a:ext cx="6400800"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Estudio profundo · Preparación para examen · Prof. Jimena Marina Maccio</a:t>
            </a:r>
            <a:endParaRPr lang="en-US" sz="1000" dirty="0"/>
          </a:p>
        </p:txBody>
      </p:sp>
      <p:sp>
        <p:nvSpPr>
          <p:cNvPr id="7" name="Shape 5"/>
          <p:cNvSpPr/>
          <p:nvPr/>
        </p:nvSpPr>
        <p:spPr>
          <a:xfrm>
            <a:off x="7955280" y="457200"/>
            <a:ext cx="1188720" cy="1554480"/>
          </a:xfrm>
          <a:prstGeom prst="rect">
            <a:avLst/>
          </a:prstGeom>
          <a:solidFill>
            <a:srgbClr val="2C5282">
              <a:alpha val="40000"/>
            </a:srgbClr>
          </a:solidFill>
          <a:ln w="12700">
            <a:solidFill>
              <a:srgbClr val="2C5282">
                <a:alpha val="60000"/>
              </a:srgbClr>
            </a:solidFill>
            <a:prstDash val="solid"/>
          </a:ln>
        </p:spPr>
        <p:txBody>
          <a:bodyPr/>
          <a:lstStyle/>
          <a:p>
            <a:endParaRPr lang="es-AR"/>
          </a:p>
        </p:txBody>
      </p:sp>
      <p:sp>
        <p:nvSpPr>
          <p:cNvPr id="8" name="Shape 6"/>
          <p:cNvSpPr/>
          <p:nvPr/>
        </p:nvSpPr>
        <p:spPr>
          <a:xfrm>
            <a:off x="7955280" y="2148840"/>
            <a:ext cx="1188720" cy="1371600"/>
          </a:xfrm>
          <a:prstGeom prst="rect">
            <a:avLst/>
          </a:prstGeom>
          <a:solidFill>
            <a:srgbClr val="2E8B74">
              <a:alpha val="40000"/>
            </a:srgbClr>
          </a:solidFill>
          <a:ln w="12700">
            <a:solidFill>
              <a:srgbClr val="2E8B74">
                <a:alpha val="60000"/>
              </a:srgbClr>
            </a:solidFill>
            <a:prstDash val="solid"/>
          </a:ln>
        </p:spPr>
        <p:txBody>
          <a:bodyPr/>
          <a:lstStyle/>
          <a:p>
            <a:endParaRPr lang="es-AR"/>
          </a:p>
        </p:txBody>
      </p:sp>
      <p:sp>
        <p:nvSpPr>
          <p:cNvPr id="9" name="Shape 7"/>
          <p:cNvSpPr/>
          <p:nvPr/>
        </p:nvSpPr>
        <p:spPr>
          <a:xfrm>
            <a:off x="7955280" y="3639312"/>
            <a:ext cx="1188720" cy="1371600"/>
          </a:xfrm>
          <a:prstGeom prst="rect">
            <a:avLst/>
          </a:prstGeom>
          <a:solidFill>
            <a:srgbClr val="7B5EA7">
              <a:alpha val="40000"/>
            </a:srgbClr>
          </a:solidFill>
          <a:ln w="12700">
            <a:solidFill>
              <a:srgbClr val="7B5EA7">
                <a:alpha val="60000"/>
              </a:srgbClr>
            </a:solidFill>
            <a:prstDash val="solid"/>
          </a:ln>
        </p:spPr>
        <p:txBody>
          <a:bodyPr/>
          <a:lstStyle/>
          <a:p>
            <a:endParaRPr lang="es-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2E8B74"/>
          </a:solidFill>
          <a:ln w="12700">
            <a:solidFill>
              <a:srgbClr val="2E8B74"/>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Mapa General de la Unidad</a:t>
            </a:r>
            <a:endParaRPr lang="en-US" sz="2800" dirty="0"/>
          </a:p>
        </p:txBody>
      </p:sp>
      <p:sp>
        <p:nvSpPr>
          <p:cNvPr id="5" name="Shape 3"/>
          <p:cNvSpPr/>
          <p:nvPr/>
        </p:nvSpPr>
        <p:spPr>
          <a:xfrm>
            <a:off x="457200" y="731520"/>
            <a:ext cx="36576" cy="201168"/>
          </a:xfrm>
          <a:prstGeom prst="rect">
            <a:avLst/>
          </a:prstGeom>
          <a:solidFill>
            <a:srgbClr val="2E8B74"/>
          </a:solidFill>
          <a:ln w="12700">
            <a:solidFill>
              <a:srgbClr val="2E8B74"/>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2E8B74"/>
                </a:solidFill>
                <a:latin typeface="Calibri" pitchFamily="34" charset="0"/>
                <a:ea typeface="Calibri" pitchFamily="34" charset="-122"/>
                <a:cs typeface="Calibri" pitchFamily="34" charset="-120"/>
              </a:rPr>
              <a:t>VISIÓN DE CONJUNTO</a:t>
            </a:r>
            <a:endParaRPr lang="en-US" sz="900" dirty="0"/>
          </a:p>
        </p:txBody>
      </p:sp>
      <p:sp>
        <p:nvSpPr>
          <p:cNvPr id="7" name="Shape 5"/>
          <p:cNvSpPr/>
          <p:nvPr/>
        </p:nvSpPr>
        <p:spPr>
          <a:xfrm>
            <a:off x="365760" y="1024128"/>
            <a:ext cx="4160520" cy="374904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24128"/>
            <a:ext cx="4160520" cy="384048"/>
          </a:xfrm>
          <a:prstGeom prst="rect">
            <a:avLst/>
          </a:prstGeom>
          <a:solidFill>
            <a:srgbClr val="2C5282"/>
          </a:solidFill>
          <a:ln w="12700">
            <a:solidFill>
              <a:srgbClr val="2C5282"/>
            </a:solidFill>
            <a:prstDash val="solid"/>
          </a:ln>
        </p:spPr>
        <p:txBody>
          <a:bodyPr/>
          <a:lstStyle/>
          <a:p>
            <a:endParaRPr lang="es-AR"/>
          </a:p>
        </p:txBody>
      </p:sp>
      <p:sp>
        <p:nvSpPr>
          <p:cNvPr id="9" name="Text 7"/>
          <p:cNvSpPr/>
          <p:nvPr/>
        </p:nvSpPr>
        <p:spPr>
          <a:xfrm>
            <a:off x="475488" y="1051560"/>
            <a:ext cx="3931920" cy="32918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U3.1 — Paradigma del Desarrollo Humano</a:t>
            </a:r>
            <a:endParaRPr lang="en-US" sz="1150" dirty="0"/>
          </a:p>
        </p:txBody>
      </p:sp>
      <p:sp>
        <p:nvSpPr>
          <p:cNvPr id="10" name="Text 8"/>
          <p:cNvSpPr/>
          <p:nvPr/>
        </p:nvSpPr>
        <p:spPr>
          <a:xfrm>
            <a:off x="548640" y="1499616"/>
            <a:ext cx="3749040" cy="420624"/>
          </a:xfrm>
          <a:prstGeom prst="rect">
            <a:avLst/>
          </a:prstGeom>
          <a:noFill/>
          <a:ln/>
        </p:spPr>
        <p:txBody>
          <a:bodyPr wrap="square" lIns="0" tIns="0" rIns="0" bIns="0" rtlCol="0" anchor="ctr"/>
          <a:lstStyle/>
          <a:p>
            <a:pPr marL="0" indent="0">
              <a:buNone/>
            </a:pPr>
            <a:r>
              <a:rPr lang="en-US" sz="1150" b="1" dirty="0">
                <a:solidFill>
                  <a:srgbClr val="2C5282"/>
                </a:solidFill>
                <a:latin typeface="Calibri" pitchFamily="34" charset="0"/>
                <a:ea typeface="Calibri" pitchFamily="34" charset="-122"/>
                <a:cs typeface="Calibri" pitchFamily="34" charset="-120"/>
              </a:rPr>
              <a:t>▸  </a:t>
            </a:r>
            <a:r>
              <a:rPr lang="en-US" sz="1150" dirty="0">
                <a:solidFill>
                  <a:srgbClr val="1A202C"/>
                </a:solidFill>
                <a:latin typeface="Calibri" pitchFamily="34" charset="0"/>
                <a:ea typeface="Calibri" pitchFamily="34" charset="-122"/>
                <a:cs typeface="Calibri" pitchFamily="34" charset="-120"/>
              </a:rPr>
              <a:t>Del crecimiento al bienestar: evolución del concepto</a:t>
            </a:r>
            <a:endParaRPr lang="en-US" sz="1150" dirty="0"/>
          </a:p>
        </p:txBody>
      </p:sp>
      <p:sp>
        <p:nvSpPr>
          <p:cNvPr id="11" name="Text 9"/>
          <p:cNvSpPr/>
          <p:nvPr/>
        </p:nvSpPr>
        <p:spPr>
          <a:xfrm>
            <a:off x="548640" y="1993392"/>
            <a:ext cx="3749040" cy="420624"/>
          </a:xfrm>
          <a:prstGeom prst="rect">
            <a:avLst/>
          </a:prstGeom>
          <a:noFill/>
          <a:ln/>
        </p:spPr>
        <p:txBody>
          <a:bodyPr wrap="square" lIns="0" tIns="0" rIns="0" bIns="0" rtlCol="0" anchor="ctr"/>
          <a:lstStyle/>
          <a:p>
            <a:pPr marL="0" indent="0">
              <a:buNone/>
            </a:pPr>
            <a:r>
              <a:rPr lang="en-US" sz="1150" b="1" dirty="0">
                <a:solidFill>
                  <a:srgbClr val="2C5282"/>
                </a:solidFill>
                <a:latin typeface="Calibri" pitchFamily="34" charset="0"/>
                <a:ea typeface="Calibri" pitchFamily="34" charset="-122"/>
                <a:cs typeface="Calibri" pitchFamily="34" charset="-120"/>
              </a:rPr>
              <a:t>▸  </a:t>
            </a:r>
            <a:r>
              <a:rPr lang="en-US" sz="1150" dirty="0">
                <a:solidFill>
                  <a:srgbClr val="1A202C"/>
                </a:solidFill>
                <a:latin typeface="Calibri" pitchFamily="34" charset="0"/>
                <a:ea typeface="Calibri" pitchFamily="34" charset="-122"/>
                <a:cs typeface="Calibri" pitchFamily="34" charset="-120"/>
              </a:rPr>
              <a:t>Paradigma del desarrollo humano (Mahbub ul Haq)</a:t>
            </a:r>
            <a:endParaRPr lang="en-US" sz="1150" dirty="0"/>
          </a:p>
        </p:txBody>
      </p:sp>
      <p:sp>
        <p:nvSpPr>
          <p:cNvPr id="12" name="Text 10"/>
          <p:cNvSpPr/>
          <p:nvPr/>
        </p:nvSpPr>
        <p:spPr>
          <a:xfrm>
            <a:off x="548640" y="2487168"/>
            <a:ext cx="3749040" cy="420624"/>
          </a:xfrm>
          <a:prstGeom prst="rect">
            <a:avLst/>
          </a:prstGeom>
          <a:noFill/>
          <a:ln/>
        </p:spPr>
        <p:txBody>
          <a:bodyPr wrap="square" lIns="0" tIns="0" rIns="0" bIns="0" rtlCol="0" anchor="ctr"/>
          <a:lstStyle/>
          <a:p>
            <a:pPr marL="0" indent="0">
              <a:buNone/>
            </a:pPr>
            <a:r>
              <a:rPr lang="en-US" sz="1150" b="1" dirty="0">
                <a:solidFill>
                  <a:srgbClr val="2C5282"/>
                </a:solidFill>
                <a:latin typeface="Calibri" pitchFamily="34" charset="0"/>
                <a:ea typeface="Calibri" pitchFamily="34" charset="-122"/>
                <a:cs typeface="Calibri" pitchFamily="34" charset="-120"/>
              </a:rPr>
              <a:t>▸  </a:t>
            </a:r>
            <a:r>
              <a:rPr lang="en-US" sz="1150" dirty="0">
                <a:solidFill>
                  <a:srgbClr val="1A202C"/>
                </a:solidFill>
                <a:latin typeface="Calibri" pitchFamily="34" charset="0"/>
                <a:ea typeface="Calibri" pitchFamily="34" charset="-122"/>
                <a:cs typeface="Calibri" pitchFamily="34" charset="-120"/>
              </a:rPr>
              <a:t>Los 4 pilares procedimentales</a:t>
            </a:r>
            <a:endParaRPr lang="en-US" sz="1150" dirty="0"/>
          </a:p>
        </p:txBody>
      </p:sp>
      <p:sp>
        <p:nvSpPr>
          <p:cNvPr id="13" name="Text 11"/>
          <p:cNvSpPr/>
          <p:nvPr/>
        </p:nvSpPr>
        <p:spPr>
          <a:xfrm>
            <a:off x="548640" y="2980944"/>
            <a:ext cx="3749040" cy="420624"/>
          </a:xfrm>
          <a:prstGeom prst="rect">
            <a:avLst/>
          </a:prstGeom>
          <a:noFill/>
          <a:ln/>
        </p:spPr>
        <p:txBody>
          <a:bodyPr wrap="square" lIns="0" tIns="0" rIns="0" bIns="0" rtlCol="0" anchor="ctr"/>
          <a:lstStyle/>
          <a:p>
            <a:pPr marL="0" indent="0">
              <a:buNone/>
            </a:pPr>
            <a:r>
              <a:rPr lang="en-US" sz="1150" b="1" dirty="0">
                <a:solidFill>
                  <a:srgbClr val="2C5282"/>
                </a:solidFill>
                <a:latin typeface="Calibri" pitchFamily="34" charset="0"/>
                <a:ea typeface="Calibri" pitchFamily="34" charset="-122"/>
                <a:cs typeface="Calibri" pitchFamily="34" charset="-120"/>
              </a:rPr>
              <a:t>▸  </a:t>
            </a:r>
            <a:r>
              <a:rPr lang="en-US" sz="1150" dirty="0">
                <a:solidFill>
                  <a:srgbClr val="1A202C"/>
                </a:solidFill>
                <a:latin typeface="Calibri" pitchFamily="34" charset="0"/>
                <a:ea typeface="Calibri" pitchFamily="34" charset="-122"/>
                <a:cs typeface="Calibri" pitchFamily="34" charset="-120"/>
              </a:rPr>
              <a:t>Bienestar, desigualdad y pobreza</a:t>
            </a:r>
            <a:endParaRPr lang="en-US" sz="1150" dirty="0"/>
          </a:p>
        </p:txBody>
      </p:sp>
      <p:sp>
        <p:nvSpPr>
          <p:cNvPr id="14" name="Text 12"/>
          <p:cNvSpPr/>
          <p:nvPr/>
        </p:nvSpPr>
        <p:spPr>
          <a:xfrm>
            <a:off x="548640" y="3474720"/>
            <a:ext cx="3749040" cy="420624"/>
          </a:xfrm>
          <a:prstGeom prst="rect">
            <a:avLst/>
          </a:prstGeom>
          <a:noFill/>
          <a:ln/>
        </p:spPr>
        <p:txBody>
          <a:bodyPr wrap="square" lIns="0" tIns="0" rIns="0" bIns="0" rtlCol="0" anchor="ctr"/>
          <a:lstStyle/>
          <a:p>
            <a:pPr marL="0" indent="0">
              <a:buNone/>
            </a:pPr>
            <a:r>
              <a:rPr lang="en-US" sz="1150" b="1" dirty="0">
                <a:solidFill>
                  <a:srgbClr val="2C5282"/>
                </a:solidFill>
                <a:latin typeface="Calibri" pitchFamily="34" charset="0"/>
                <a:ea typeface="Calibri" pitchFamily="34" charset="-122"/>
                <a:cs typeface="Calibri" pitchFamily="34" charset="-120"/>
              </a:rPr>
              <a:t>▸  </a:t>
            </a:r>
            <a:r>
              <a:rPr lang="en-US" sz="1150" dirty="0">
                <a:solidFill>
                  <a:srgbClr val="1A202C"/>
                </a:solidFill>
                <a:latin typeface="Calibri" pitchFamily="34" charset="0"/>
                <a:ea typeface="Calibri" pitchFamily="34" charset="-122"/>
                <a:cs typeface="Calibri" pitchFamily="34" charset="-120"/>
              </a:rPr>
              <a:t>Los dos enfoques: bienestarista y no bienestarista</a:t>
            </a:r>
            <a:endParaRPr lang="en-US" sz="1150" dirty="0"/>
          </a:p>
        </p:txBody>
      </p:sp>
      <p:sp>
        <p:nvSpPr>
          <p:cNvPr id="15" name="Text 13"/>
          <p:cNvSpPr/>
          <p:nvPr/>
        </p:nvSpPr>
        <p:spPr>
          <a:xfrm>
            <a:off x="548640" y="3968496"/>
            <a:ext cx="3749040" cy="420624"/>
          </a:xfrm>
          <a:prstGeom prst="rect">
            <a:avLst/>
          </a:prstGeom>
          <a:noFill/>
          <a:ln/>
        </p:spPr>
        <p:txBody>
          <a:bodyPr wrap="square" lIns="0" tIns="0" rIns="0" bIns="0" rtlCol="0" anchor="ctr"/>
          <a:lstStyle/>
          <a:p>
            <a:pPr marL="0" indent="0">
              <a:buNone/>
            </a:pPr>
            <a:r>
              <a:rPr lang="en-US" sz="1150" b="1" dirty="0">
                <a:solidFill>
                  <a:srgbClr val="2C5282"/>
                </a:solidFill>
                <a:latin typeface="Calibri" pitchFamily="34" charset="0"/>
                <a:ea typeface="Calibri" pitchFamily="34" charset="-122"/>
                <a:cs typeface="Calibri" pitchFamily="34" charset="-120"/>
              </a:rPr>
              <a:t>▸  </a:t>
            </a:r>
            <a:r>
              <a:rPr lang="en-US" sz="1150" dirty="0">
                <a:solidFill>
                  <a:srgbClr val="1A202C"/>
                </a:solidFill>
                <a:latin typeface="Calibri" pitchFamily="34" charset="0"/>
                <a:ea typeface="Calibri" pitchFamily="34" charset="-122"/>
                <a:cs typeface="Calibri" pitchFamily="34" charset="-120"/>
              </a:rPr>
              <a:t>El IDH y sus dimensiones</a:t>
            </a:r>
            <a:endParaRPr lang="en-US" sz="1150" dirty="0"/>
          </a:p>
        </p:txBody>
      </p:sp>
      <p:sp>
        <p:nvSpPr>
          <p:cNvPr id="16" name="Shape 14"/>
          <p:cNvSpPr/>
          <p:nvPr/>
        </p:nvSpPr>
        <p:spPr>
          <a:xfrm>
            <a:off x="4800600" y="1024128"/>
            <a:ext cx="4160520" cy="374904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7" name="Shape 15"/>
          <p:cNvSpPr/>
          <p:nvPr/>
        </p:nvSpPr>
        <p:spPr>
          <a:xfrm>
            <a:off x="4800600" y="1024128"/>
            <a:ext cx="4160520" cy="384048"/>
          </a:xfrm>
          <a:prstGeom prst="rect">
            <a:avLst/>
          </a:prstGeom>
          <a:solidFill>
            <a:srgbClr val="2E8B74"/>
          </a:solidFill>
          <a:ln w="12700">
            <a:solidFill>
              <a:srgbClr val="2E8B74"/>
            </a:solidFill>
            <a:prstDash val="solid"/>
          </a:ln>
        </p:spPr>
        <p:txBody>
          <a:bodyPr/>
          <a:lstStyle/>
          <a:p>
            <a:endParaRPr lang="es-AR"/>
          </a:p>
        </p:txBody>
      </p:sp>
      <p:sp>
        <p:nvSpPr>
          <p:cNvPr id="18" name="Text 16"/>
          <p:cNvSpPr/>
          <p:nvPr/>
        </p:nvSpPr>
        <p:spPr>
          <a:xfrm>
            <a:off x="4910328" y="1051560"/>
            <a:ext cx="3931920" cy="32918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U3.2 — Enfoque de Capacidades y Derechos</a:t>
            </a:r>
            <a:endParaRPr lang="en-US" sz="1150" dirty="0"/>
          </a:p>
        </p:txBody>
      </p:sp>
      <p:sp>
        <p:nvSpPr>
          <p:cNvPr id="19" name="Text 17"/>
          <p:cNvSpPr/>
          <p:nvPr/>
        </p:nvSpPr>
        <p:spPr>
          <a:xfrm>
            <a:off x="4983480" y="1499616"/>
            <a:ext cx="3749040" cy="420624"/>
          </a:xfrm>
          <a:prstGeom prst="rect">
            <a:avLst/>
          </a:prstGeom>
          <a:noFill/>
          <a:ln/>
        </p:spPr>
        <p:txBody>
          <a:bodyPr wrap="square" lIns="0" tIns="0" rIns="0" bIns="0" rtlCol="0" anchor="ctr"/>
          <a:lstStyle/>
          <a:p>
            <a:pPr marL="0" indent="0">
              <a:buNone/>
            </a:pPr>
            <a:r>
              <a:rPr lang="en-US" sz="1150" b="1" dirty="0">
                <a:solidFill>
                  <a:srgbClr val="2E8B74"/>
                </a:solidFill>
                <a:latin typeface="Calibri" pitchFamily="34" charset="0"/>
                <a:ea typeface="Calibri" pitchFamily="34" charset="-122"/>
                <a:cs typeface="Calibri" pitchFamily="34" charset="-120"/>
              </a:rPr>
              <a:t>▸  </a:t>
            </a:r>
            <a:r>
              <a:rPr lang="en-US" sz="1150" dirty="0">
                <a:solidFill>
                  <a:srgbClr val="1A202C"/>
                </a:solidFill>
                <a:latin typeface="Calibri" pitchFamily="34" charset="0"/>
                <a:ea typeface="Calibri" pitchFamily="34" charset="-122"/>
                <a:cs typeface="Calibri" pitchFamily="34" charset="-120"/>
              </a:rPr>
              <a:t>Funcionamientos, capacidades y agencia (Sen)</a:t>
            </a:r>
            <a:endParaRPr lang="en-US" sz="1150" dirty="0"/>
          </a:p>
        </p:txBody>
      </p:sp>
      <p:sp>
        <p:nvSpPr>
          <p:cNvPr id="20" name="Text 18"/>
          <p:cNvSpPr/>
          <p:nvPr/>
        </p:nvSpPr>
        <p:spPr>
          <a:xfrm>
            <a:off x="4983480" y="1993392"/>
            <a:ext cx="3749040" cy="420624"/>
          </a:xfrm>
          <a:prstGeom prst="rect">
            <a:avLst/>
          </a:prstGeom>
          <a:noFill/>
          <a:ln/>
        </p:spPr>
        <p:txBody>
          <a:bodyPr wrap="square" lIns="0" tIns="0" rIns="0" bIns="0" rtlCol="0" anchor="ctr"/>
          <a:lstStyle/>
          <a:p>
            <a:pPr marL="0" indent="0">
              <a:buNone/>
            </a:pPr>
            <a:r>
              <a:rPr lang="en-US" sz="1150" b="1" dirty="0">
                <a:solidFill>
                  <a:srgbClr val="2E8B74"/>
                </a:solidFill>
                <a:latin typeface="Calibri" pitchFamily="34" charset="0"/>
                <a:ea typeface="Calibri" pitchFamily="34" charset="-122"/>
                <a:cs typeface="Calibri" pitchFamily="34" charset="-120"/>
              </a:rPr>
              <a:t>▸  </a:t>
            </a:r>
            <a:r>
              <a:rPr lang="en-US" sz="1150" dirty="0">
                <a:solidFill>
                  <a:srgbClr val="1A202C"/>
                </a:solidFill>
                <a:latin typeface="Calibri" pitchFamily="34" charset="0"/>
                <a:ea typeface="Calibri" pitchFamily="34" charset="-122"/>
                <a:cs typeface="Calibri" pitchFamily="34" charset="-120"/>
              </a:rPr>
              <a:t>Factores de conversión internos y externos</a:t>
            </a:r>
            <a:endParaRPr lang="en-US" sz="1150" dirty="0"/>
          </a:p>
        </p:txBody>
      </p:sp>
      <p:sp>
        <p:nvSpPr>
          <p:cNvPr id="21" name="Text 19"/>
          <p:cNvSpPr/>
          <p:nvPr/>
        </p:nvSpPr>
        <p:spPr>
          <a:xfrm>
            <a:off x="4983480" y="2487168"/>
            <a:ext cx="3749040" cy="420624"/>
          </a:xfrm>
          <a:prstGeom prst="rect">
            <a:avLst/>
          </a:prstGeom>
          <a:noFill/>
          <a:ln/>
        </p:spPr>
        <p:txBody>
          <a:bodyPr wrap="square" lIns="0" tIns="0" rIns="0" bIns="0" rtlCol="0" anchor="ctr"/>
          <a:lstStyle/>
          <a:p>
            <a:pPr marL="0" indent="0">
              <a:buNone/>
            </a:pPr>
            <a:r>
              <a:rPr lang="en-US" sz="1150" b="1" dirty="0">
                <a:solidFill>
                  <a:srgbClr val="2E8B74"/>
                </a:solidFill>
                <a:latin typeface="Calibri" pitchFamily="34" charset="0"/>
                <a:ea typeface="Calibri" pitchFamily="34" charset="-122"/>
                <a:cs typeface="Calibri" pitchFamily="34" charset="-120"/>
              </a:rPr>
              <a:t>▸  </a:t>
            </a:r>
            <a:r>
              <a:rPr lang="en-US" sz="1150" dirty="0">
                <a:solidFill>
                  <a:srgbClr val="1A202C"/>
                </a:solidFill>
                <a:latin typeface="Calibri" pitchFamily="34" charset="0"/>
                <a:ea typeface="Calibri" pitchFamily="34" charset="-122"/>
                <a:cs typeface="Calibri" pitchFamily="34" charset="-120"/>
              </a:rPr>
              <a:t>Sen vs. Nussbaum: consenso vs. lista</a:t>
            </a:r>
            <a:endParaRPr lang="en-US" sz="1150" dirty="0"/>
          </a:p>
        </p:txBody>
      </p:sp>
      <p:sp>
        <p:nvSpPr>
          <p:cNvPr id="22" name="Text 20"/>
          <p:cNvSpPr/>
          <p:nvPr/>
        </p:nvSpPr>
        <p:spPr>
          <a:xfrm>
            <a:off x="4983480" y="2980944"/>
            <a:ext cx="3749040" cy="420624"/>
          </a:xfrm>
          <a:prstGeom prst="rect">
            <a:avLst/>
          </a:prstGeom>
          <a:noFill/>
          <a:ln/>
        </p:spPr>
        <p:txBody>
          <a:bodyPr wrap="square" lIns="0" tIns="0" rIns="0" bIns="0" rtlCol="0" anchor="ctr"/>
          <a:lstStyle/>
          <a:p>
            <a:pPr marL="0" indent="0">
              <a:buNone/>
            </a:pPr>
            <a:r>
              <a:rPr lang="en-US" sz="1150" b="1" dirty="0">
                <a:solidFill>
                  <a:srgbClr val="2E8B74"/>
                </a:solidFill>
                <a:latin typeface="Calibri" pitchFamily="34" charset="0"/>
                <a:ea typeface="Calibri" pitchFamily="34" charset="-122"/>
                <a:cs typeface="Calibri" pitchFamily="34" charset="-120"/>
              </a:rPr>
              <a:t>▸  </a:t>
            </a:r>
            <a:r>
              <a:rPr lang="en-US" sz="1150" dirty="0">
                <a:solidFill>
                  <a:srgbClr val="1A202C"/>
                </a:solidFill>
                <a:latin typeface="Calibri" pitchFamily="34" charset="0"/>
                <a:ea typeface="Calibri" pitchFamily="34" charset="-122"/>
                <a:cs typeface="Calibri" pitchFamily="34" charset="-120"/>
              </a:rPr>
              <a:t>Desarrollo humano vs. liberalismo económico</a:t>
            </a:r>
            <a:endParaRPr lang="en-US" sz="1150" dirty="0"/>
          </a:p>
        </p:txBody>
      </p:sp>
      <p:sp>
        <p:nvSpPr>
          <p:cNvPr id="23" name="Text 21"/>
          <p:cNvSpPr/>
          <p:nvPr/>
        </p:nvSpPr>
        <p:spPr>
          <a:xfrm>
            <a:off x="4983480" y="3474720"/>
            <a:ext cx="3749040" cy="420624"/>
          </a:xfrm>
          <a:prstGeom prst="rect">
            <a:avLst/>
          </a:prstGeom>
          <a:noFill/>
          <a:ln/>
        </p:spPr>
        <p:txBody>
          <a:bodyPr wrap="square" lIns="0" tIns="0" rIns="0" bIns="0" rtlCol="0" anchor="ctr"/>
          <a:lstStyle/>
          <a:p>
            <a:pPr marL="0" indent="0">
              <a:buNone/>
            </a:pPr>
            <a:r>
              <a:rPr lang="en-US" sz="1150" b="1" dirty="0">
                <a:solidFill>
                  <a:srgbClr val="2E8B74"/>
                </a:solidFill>
                <a:latin typeface="Calibri" pitchFamily="34" charset="0"/>
                <a:ea typeface="Calibri" pitchFamily="34" charset="-122"/>
                <a:cs typeface="Calibri" pitchFamily="34" charset="-120"/>
              </a:rPr>
              <a:t>▸  </a:t>
            </a:r>
            <a:r>
              <a:rPr lang="en-US" sz="1150" dirty="0">
                <a:solidFill>
                  <a:srgbClr val="1A202C"/>
                </a:solidFill>
                <a:latin typeface="Calibri" pitchFamily="34" charset="0"/>
                <a:ea typeface="Calibri" pitchFamily="34" charset="-122"/>
                <a:cs typeface="Calibri" pitchFamily="34" charset="-120"/>
              </a:rPr>
              <a:t>Desarrollo humano vs. necesidades básicas</a:t>
            </a:r>
            <a:endParaRPr lang="en-US" sz="1150" dirty="0"/>
          </a:p>
        </p:txBody>
      </p:sp>
      <p:sp>
        <p:nvSpPr>
          <p:cNvPr id="24" name="Text 22"/>
          <p:cNvSpPr/>
          <p:nvPr/>
        </p:nvSpPr>
        <p:spPr>
          <a:xfrm>
            <a:off x="4983480" y="3968496"/>
            <a:ext cx="3749040" cy="420624"/>
          </a:xfrm>
          <a:prstGeom prst="rect">
            <a:avLst/>
          </a:prstGeom>
          <a:noFill/>
          <a:ln/>
        </p:spPr>
        <p:txBody>
          <a:bodyPr wrap="square" lIns="0" tIns="0" rIns="0" bIns="0" rtlCol="0" anchor="ctr"/>
          <a:lstStyle/>
          <a:p>
            <a:pPr marL="0" indent="0">
              <a:buNone/>
            </a:pPr>
            <a:r>
              <a:rPr lang="en-US" sz="1150" b="1" dirty="0">
                <a:solidFill>
                  <a:srgbClr val="2E8B74"/>
                </a:solidFill>
                <a:latin typeface="Calibri" pitchFamily="34" charset="0"/>
                <a:ea typeface="Calibri" pitchFamily="34" charset="-122"/>
                <a:cs typeface="Calibri" pitchFamily="34" charset="-120"/>
              </a:rPr>
              <a:t>▸  </a:t>
            </a:r>
            <a:r>
              <a:rPr lang="en-US" sz="1150" dirty="0">
                <a:solidFill>
                  <a:srgbClr val="1A202C"/>
                </a:solidFill>
                <a:latin typeface="Calibri" pitchFamily="34" charset="0"/>
                <a:ea typeface="Calibri" pitchFamily="34" charset="-122"/>
                <a:cs typeface="Calibri" pitchFamily="34" charset="-120"/>
              </a:rPr>
              <a:t>Enfoque de derechos humanos: similitudes y diferencias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E8B74"/>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731520" y="731520"/>
            <a:ext cx="7680960" cy="173736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¿Cuándo un país se desarrolla</a:t>
            </a:r>
            <a:endParaRPr lang="en-US" sz="3600" dirty="0"/>
          </a:p>
          <a:p>
            <a:pPr marL="0" indent="0" algn="ctr">
              <a:buNone/>
            </a:pPr>
            <a:r>
              <a:rPr lang="en-US" sz="3600" b="1" dirty="0">
                <a:solidFill>
                  <a:srgbClr val="FFFFFF"/>
                </a:solidFill>
                <a:latin typeface="Georgia" pitchFamily="34" charset="0"/>
                <a:ea typeface="Georgia" pitchFamily="34" charset="-122"/>
                <a:cs typeface="Georgia" pitchFamily="34" charset="-120"/>
              </a:rPr>
              <a:t>de verdad?</a:t>
            </a:r>
            <a:endParaRPr lang="en-US" sz="3600" dirty="0"/>
          </a:p>
        </p:txBody>
      </p:sp>
      <p:sp>
        <p:nvSpPr>
          <p:cNvPr id="5" name="Shape 3"/>
          <p:cNvSpPr/>
          <p:nvPr/>
        </p:nvSpPr>
        <p:spPr>
          <a:xfrm>
            <a:off x="1828800" y="2560320"/>
            <a:ext cx="5486400" cy="0"/>
          </a:xfrm>
          <a:prstGeom prst="line">
            <a:avLst/>
          </a:prstGeom>
          <a:noFill/>
          <a:ln w="25400">
            <a:solidFill>
              <a:srgbClr val="D4A853"/>
            </a:solidFill>
            <a:prstDash val="solid"/>
          </a:ln>
        </p:spPr>
        <p:txBody>
          <a:bodyPr/>
          <a:lstStyle/>
          <a:p>
            <a:endParaRPr lang="es-AR"/>
          </a:p>
        </p:txBody>
      </p:sp>
      <p:sp>
        <p:nvSpPr>
          <p:cNvPr id="6" name="Text 4"/>
          <p:cNvSpPr/>
          <p:nvPr/>
        </p:nvSpPr>
        <p:spPr>
          <a:xfrm>
            <a:off x="731520" y="2697480"/>
            <a:ext cx="7680960" cy="868680"/>
          </a:xfrm>
          <a:prstGeom prst="rect">
            <a:avLst/>
          </a:prstGeom>
          <a:noFill/>
          <a:ln/>
        </p:spPr>
        <p:txBody>
          <a:bodyPr wrap="square" lIns="0" tIns="0" rIns="0" bIns="0" rtlCol="0" anchor="ctr"/>
          <a:lstStyle/>
          <a:p>
            <a:pPr marL="0" indent="0" algn="ctr">
              <a:buNone/>
            </a:pPr>
            <a:r>
              <a:rPr lang="en-US" sz="1400" i="1" dirty="0">
                <a:solidFill>
                  <a:srgbClr val="EDF2F7"/>
                </a:solidFill>
                <a:latin typeface="Calibri" pitchFamily="34" charset="0"/>
                <a:ea typeface="Calibri" pitchFamily="34" charset="-122"/>
                <a:cs typeface="Calibri" pitchFamily="34" charset="-120"/>
              </a:rPr>
              <a:t>¿Cuando el PBI crece? ¿O cuando las personas pueden vivir la vida que valoran?</a:t>
            </a:r>
            <a:endParaRPr lang="en-US" sz="1400" dirty="0"/>
          </a:p>
          <a:p>
            <a:pPr marL="0" indent="0" algn="ctr">
              <a:buNone/>
            </a:pPr>
            <a:r>
              <a:rPr lang="en-US" sz="1400" i="1" dirty="0">
                <a:solidFill>
                  <a:srgbClr val="EDF2F7"/>
                </a:solidFill>
                <a:latin typeface="Calibri" pitchFamily="34" charset="0"/>
                <a:ea typeface="Calibri" pitchFamily="34" charset="-122"/>
                <a:cs typeface="Calibri" pitchFamily="34" charset="-120"/>
              </a:rPr>
              <a:t>Esta es la tensión central del paradigma del Desarrollo Humano.</a:t>
            </a:r>
            <a:endParaRPr lang="en-US" sz="1400" dirty="0"/>
          </a:p>
        </p:txBody>
      </p:sp>
      <p:sp>
        <p:nvSpPr>
          <p:cNvPr id="7" name="Shape 5"/>
          <p:cNvSpPr/>
          <p:nvPr/>
        </p:nvSpPr>
        <p:spPr>
          <a:xfrm>
            <a:off x="777240" y="4069080"/>
            <a:ext cx="1181405" cy="201168"/>
          </a:xfrm>
          <a:prstGeom prst="rect">
            <a:avLst/>
          </a:prstGeom>
          <a:solidFill>
            <a:srgbClr val="D4A853"/>
          </a:solidFill>
          <a:ln w="12700">
            <a:solidFill>
              <a:srgbClr val="D4A853"/>
            </a:solidFill>
            <a:prstDash val="solid"/>
          </a:ln>
        </p:spPr>
        <p:txBody>
          <a:bodyPr/>
          <a:lstStyle/>
          <a:p>
            <a:endParaRPr lang="es-AR"/>
          </a:p>
        </p:txBody>
      </p:sp>
      <p:sp>
        <p:nvSpPr>
          <p:cNvPr id="8" name="Text 6"/>
          <p:cNvSpPr/>
          <p:nvPr/>
        </p:nvSpPr>
        <p:spPr>
          <a:xfrm>
            <a:off x="868680" y="4087368"/>
            <a:ext cx="1071677"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Amartya Sen</a:t>
            </a:r>
            <a:endParaRPr lang="en-US" sz="800" dirty="0"/>
          </a:p>
        </p:txBody>
      </p:sp>
      <p:sp>
        <p:nvSpPr>
          <p:cNvPr id="9" name="Shape 7"/>
          <p:cNvSpPr/>
          <p:nvPr/>
        </p:nvSpPr>
        <p:spPr>
          <a:xfrm>
            <a:off x="2167128" y="4069080"/>
            <a:ext cx="1349654" cy="201168"/>
          </a:xfrm>
          <a:prstGeom prst="rect">
            <a:avLst/>
          </a:prstGeom>
          <a:solidFill>
            <a:srgbClr val="D4A853"/>
          </a:solidFill>
          <a:ln w="12700">
            <a:solidFill>
              <a:srgbClr val="D4A853"/>
            </a:solidFill>
            <a:prstDash val="solid"/>
          </a:ln>
        </p:spPr>
        <p:txBody>
          <a:bodyPr/>
          <a:lstStyle/>
          <a:p>
            <a:endParaRPr lang="es-AR"/>
          </a:p>
        </p:txBody>
      </p:sp>
      <p:sp>
        <p:nvSpPr>
          <p:cNvPr id="10" name="Text 8"/>
          <p:cNvSpPr/>
          <p:nvPr/>
        </p:nvSpPr>
        <p:spPr>
          <a:xfrm>
            <a:off x="2258568" y="4087368"/>
            <a:ext cx="1239926"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Mahbub ul Haq</a:t>
            </a:r>
            <a:endParaRPr lang="en-US" sz="800" dirty="0"/>
          </a:p>
        </p:txBody>
      </p:sp>
      <p:sp>
        <p:nvSpPr>
          <p:cNvPr id="11" name="Shape 9"/>
          <p:cNvSpPr/>
          <p:nvPr/>
        </p:nvSpPr>
        <p:spPr>
          <a:xfrm>
            <a:off x="3557016" y="4069080"/>
            <a:ext cx="1181405" cy="201168"/>
          </a:xfrm>
          <a:prstGeom prst="rect">
            <a:avLst/>
          </a:prstGeom>
          <a:solidFill>
            <a:srgbClr val="D4A853"/>
          </a:solidFill>
          <a:ln w="12700">
            <a:solidFill>
              <a:srgbClr val="D4A853"/>
            </a:solidFill>
            <a:prstDash val="solid"/>
          </a:ln>
        </p:spPr>
        <p:txBody>
          <a:bodyPr/>
          <a:lstStyle/>
          <a:p>
            <a:endParaRPr lang="es-AR"/>
          </a:p>
        </p:txBody>
      </p:sp>
      <p:sp>
        <p:nvSpPr>
          <p:cNvPr id="12" name="Text 10"/>
          <p:cNvSpPr/>
          <p:nvPr/>
        </p:nvSpPr>
        <p:spPr>
          <a:xfrm>
            <a:off x="3648456" y="4087368"/>
            <a:ext cx="1071677"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Capacidades</a:t>
            </a:r>
            <a:endParaRPr lang="en-US" sz="800" dirty="0"/>
          </a:p>
        </p:txBody>
      </p:sp>
      <p:sp>
        <p:nvSpPr>
          <p:cNvPr id="13" name="Shape 11"/>
          <p:cNvSpPr/>
          <p:nvPr/>
        </p:nvSpPr>
        <p:spPr>
          <a:xfrm>
            <a:off x="4946904" y="4069080"/>
            <a:ext cx="508406" cy="201168"/>
          </a:xfrm>
          <a:prstGeom prst="rect">
            <a:avLst/>
          </a:prstGeom>
          <a:solidFill>
            <a:srgbClr val="D4A853"/>
          </a:solidFill>
          <a:ln w="12700">
            <a:solidFill>
              <a:srgbClr val="D4A853"/>
            </a:solidFill>
            <a:prstDash val="solid"/>
          </a:ln>
        </p:spPr>
        <p:txBody>
          <a:bodyPr/>
          <a:lstStyle/>
          <a:p>
            <a:endParaRPr lang="es-AR"/>
          </a:p>
        </p:txBody>
      </p:sp>
      <p:sp>
        <p:nvSpPr>
          <p:cNvPr id="14" name="Text 12"/>
          <p:cNvSpPr/>
          <p:nvPr/>
        </p:nvSpPr>
        <p:spPr>
          <a:xfrm>
            <a:off x="5038344" y="4087368"/>
            <a:ext cx="398678"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IDH</a:t>
            </a:r>
            <a:endParaRPr lang="en-US" sz="800" dirty="0"/>
          </a:p>
        </p:txBody>
      </p:sp>
      <p:sp>
        <p:nvSpPr>
          <p:cNvPr id="15" name="Shape 13"/>
          <p:cNvSpPr/>
          <p:nvPr/>
        </p:nvSpPr>
        <p:spPr>
          <a:xfrm>
            <a:off x="6336792" y="4069080"/>
            <a:ext cx="1013155" cy="201168"/>
          </a:xfrm>
          <a:prstGeom prst="rect">
            <a:avLst/>
          </a:prstGeom>
          <a:solidFill>
            <a:srgbClr val="D4A853"/>
          </a:solidFill>
          <a:ln w="12700">
            <a:solidFill>
              <a:srgbClr val="D4A853"/>
            </a:solidFill>
            <a:prstDash val="solid"/>
          </a:ln>
        </p:spPr>
        <p:txBody>
          <a:bodyPr/>
          <a:lstStyle/>
          <a:p>
            <a:endParaRPr lang="es-AR"/>
          </a:p>
        </p:txBody>
      </p:sp>
      <p:sp>
        <p:nvSpPr>
          <p:cNvPr id="16" name="Text 14"/>
          <p:cNvSpPr/>
          <p:nvPr/>
        </p:nvSpPr>
        <p:spPr>
          <a:xfrm>
            <a:off x="6428232" y="4087368"/>
            <a:ext cx="903427"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Bienestar</a:t>
            </a:r>
            <a:endParaRPr lang="en-US" sz="800" dirty="0"/>
          </a:p>
        </p:txBody>
      </p:sp>
      <p:sp>
        <p:nvSpPr>
          <p:cNvPr id="17" name="Shape 15"/>
          <p:cNvSpPr/>
          <p:nvPr/>
        </p:nvSpPr>
        <p:spPr>
          <a:xfrm>
            <a:off x="7726680" y="4069080"/>
            <a:ext cx="929030" cy="201168"/>
          </a:xfrm>
          <a:prstGeom prst="rect">
            <a:avLst/>
          </a:prstGeom>
          <a:solidFill>
            <a:srgbClr val="D4A853"/>
          </a:solidFill>
          <a:ln w="12700">
            <a:solidFill>
              <a:srgbClr val="D4A853"/>
            </a:solidFill>
            <a:prstDash val="solid"/>
          </a:ln>
        </p:spPr>
        <p:txBody>
          <a:bodyPr/>
          <a:lstStyle/>
          <a:p>
            <a:endParaRPr lang="es-AR"/>
          </a:p>
        </p:txBody>
      </p:sp>
      <p:sp>
        <p:nvSpPr>
          <p:cNvPr id="18" name="Text 16"/>
          <p:cNvSpPr/>
          <p:nvPr/>
        </p:nvSpPr>
        <p:spPr>
          <a:xfrm>
            <a:off x="7818120" y="4087368"/>
            <a:ext cx="819302"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Libertad</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Del Crecimiento al Desarrollo Humano</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U3.1 — EVOLUCIÓN DEL CONCEPTO DE BIENESTAR</a:t>
            </a:r>
            <a:endParaRPr lang="en-US" sz="900" dirty="0"/>
          </a:p>
        </p:txBody>
      </p:sp>
      <p:sp>
        <p:nvSpPr>
          <p:cNvPr id="7" name="Shape 5"/>
          <p:cNvSpPr/>
          <p:nvPr/>
        </p:nvSpPr>
        <p:spPr>
          <a:xfrm>
            <a:off x="365760" y="1005840"/>
            <a:ext cx="8412480" cy="65836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54864" cy="658368"/>
          </a:xfrm>
          <a:prstGeom prst="rect">
            <a:avLst/>
          </a:prstGeom>
          <a:solidFill>
            <a:srgbClr val="2E8B74"/>
          </a:solidFill>
          <a:ln w="12700">
            <a:solidFill>
              <a:srgbClr val="2E8B74"/>
            </a:solidFill>
            <a:prstDash val="solid"/>
          </a:ln>
        </p:spPr>
        <p:txBody>
          <a:bodyPr/>
          <a:lstStyle/>
          <a:p>
            <a:endParaRPr lang="es-AR"/>
          </a:p>
        </p:txBody>
      </p:sp>
      <p:sp>
        <p:nvSpPr>
          <p:cNvPr id="9" name="Text 7"/>
          <p:cNvSpPr/>
          <p:nvPr/>
        </p:nvSpPr>
        <p:spPr>
          <a:xfrm>
            <a:off x="548640" y="1060704"/>
            <a:ext cx="8046720" cy="530352"/>
          </a:xfrm>
          <a:prstGeom prst="rect">
            <a:avLst/>
          </a:prstGeom>
          <a:noFill/>
          <a:ln/>
        </p:spPr>
        <p:txBody>
          <a:bodyPr wrap="square" lIns="0" tIns="0" rIns="0" bIns="0" rtlCol="0" anchor="ctr"/>
          <a:lstStyle/>
          <a:p>
            <a:r>
              <a:rPr lang="en-US" sz="1200" dirty="0">
                <a:solidFill>
                  <a:srgbClr val="1A202C"/>
                </a:solidFill>
                <a:latin typeface="Calibri" pitchFamily="34" charset="0"/>
                <a:ea typeface="Calibri" pitchFamily="34" charset="-122"/>
                <a:cs typeface="Calibri" pitchFamily="34" charset="-120"/>
              </a:rPr>
              <a:t>El bienestar es la calidad o estándar de vida de las personas. Históricamente se lo entendió solo en términos de ingresos, pero ese paradigma fue evolucionando hacia una visión centrada en las personas y en sus libertades reales. </a:t>
            </a:r>
            <a:r>
              <a:rPr lang="es-AR" sz="1200" dirty="0"/>
              <a:t>4 transformaciones clave:</a:t>
            </a:r>
            <a:endParaRPr lang="en-US" sz="1200" dirty="0">
              <a:solidFill>
                <a:srgbClr val="1A202C"/>
              </a:solidFill>
              <a:latin typeface="Calibri" pitchFamily="34" charset="0"/>
              <a:ea typeface="Calibri" pitchFamily="34" charset="-122"/>
              <a:cs typeface="Calibri" pitchFamily="34" charset="-120"/>
            </a:endParaRPr>
          </a:p>
        </p:txBody>
      </p:sp>
      <p:sp>
        <p:nvSpPr>
          <p:cNvPr id="10" name="Shape 8"/>
          <p:cNvSpPr/>
          <p:nvPr/>
        </p:nvSpPr>
        <p:spPr>
          <a:xfrm>
            <a:off x="365760" y="1783080"/>
            <a:ext cx="2029968" cy="312724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1" name="Shape 9"/>
          <p:cNvSpPr/>
          <p:nvPr/>
        </p:nvSpPr>
        <p:spPr>
          <a:xfrm>
            <a:off x="365760" y="1783080"/>
            <a:ext cx="2029968" cy="54864"/>
          </a:xfrm>
          <a:prstGeom prst="rect">
            <a:avLst/>
          </a:prstGeom>
          <a:solidFill>
            <a:srgbClr val="2C5282"/>
          </a:solidFill>
          <a:ln w="12700">
            <a:solidFill>
              <a:srgbClr val="2C5282"/>
            </a:solidFill>
            <a:prstDash val="solid"/>
          </a:ln>
        </p:spPr>
        <p:txBody>
          <a:bodyPr/>
          <a:lstStyle/>
          <a:p>
            <a:endParaRPr lang="es-AR"/>
          </a:p>
        </p:txBody>
      </p:sp>
      <p:sp>
        <p:nvSpPr>
          <p:cNvPr id="12" name="Shape 10"/>
          <p:cNvSpPr/>
          <p:nvPr/>
        </p:nvSpPr>
        <p:spPr>
          <a:xfrm>
            <a:off x="475488" y="1883664"/>
            <a:ext cx="1810512" cy="420624"/>
          </a:xfrm>
          <a:prstGeom prst="rect">
            <a:avLst/>
          </a:prstGeom>
          <a:solidFill>
            <a:srgbClr val="2C5282">
              <a:alpha val="12000"/>
            </a:srgbClr>
          </a:solidFill>
          <a:ln w="12700">
            <a:solidFill>
              <a:srgbClr val="2C5282">
                <a:alpha val="30000"/>
              </a:srgbClr>
            </a:solidFill>
            <a:prstDash val="solid"/>
          </a:ln>
        </p:spPr>
        <p:txBody>
          <a:bodyPr/>
          <a:lstStyle/>
          <a:p>
            <a:endParaRPr lang="es-AR"/>
          </a:p>
        </p:txBody>
      </p:sp>
      <p:sp>
        <p:nvSpPr>
          <p:cNvPr id="13" name="Text 11"/>
          <p:cNvSpPr/>
          <p:nvPr/>
        </p:nvSpPr>
        <p:spPr>
          <a:xfrm>
            <a:off x="475488" y="1901952"/>
            <a:ext cx="1810512" cy="384048"/>
          </a:xfrm>
          <a:prstGeom prst="rect">
            <a:avLst/>
          </a:prstGeom>
          <a:noFill/>
          <a:ln/>
        </p:spPr>
        <p:txBody>
          <a:bodyPr wrap="square" lIns="0" tIns="0" rIns="0" bIns="0" rtlCol="0" anchor="ctr"/>
          <a:lstStyle/>
          <a:p>
            <a:pPr marL="0" indent="0" algn="ctr">
              <a:buNone/>
            </a:pPr>
            <a:r>
              <a:rPr lang="en-US" sz="1100" b="1" dirty="0">
                <a:solidFill>
                  <a:srgbClr val="2C5282"/>
                </a:solidFill>
                <a:latin typeface="Calibri" pitchFamily="34" charset="0"/>
                <a:ea typeface="Calibri" pitchFamily="34" charset="-122"/>
                <a:cs typeface="Calibri" pitchFamily="34" charset="-120"/>
              </a:rPr>
              <a:t>Medios</a:t>
            </a:r>
            <a:endParaRPr lang="en-US" sz="1100" dirty="0"/>
          </a:p>
        </p:txBody>
      </p:sp>
      <p:sp>
        <p:nvSpPr>
          <p:cNvPr id="14" name="Text 12"/>
          <p:cNvSpPr/>
          <p:nvPr/>
        </p:nvSpPr>
        <p:spPr>
          <a:xfrm>
            <a:off x="475488" y="2340864"/>
            <a:ext cx="1810512" cy="310896"/>
          </a:xfrm>
          <a:prstGeom prst="rect">
            <a:avLst/>
          </a:prstGeom>
          <a:noFill/>
          <a:ln/>
        </p:spPr>
        <p:txBody>
          <a:bodyPr wrap="square" lIns="0" tIns="0" rIns="0" bIns="0" rtlCol="0" anchor="ctr"/>
          <a:lstStyle/>
          <a:p>
            <a:pPr marL="0" indent="0" algn="ctr">
              <a:buNone/>
            </a:pPr>
            <a:r>
              <a:rPr lang="en-US" sz="1600" dirty="0">
                <a:solidFill>
                  <a:srgbClr val="2C5282"/>
                </a:solidFill>
              </a:rPr>
              <a:t>↓</a:t>
            </a:r>
            <a:endParaRPr lang="en-US" sz="1600" dirty="0"/>
          </a:p>
        </p:txBody>
      </p:sp>
      <p:sp>
        <p:nvSpPr>
          <p:cNvPr id="15" name="Shape 13"/>
          <p:cNvSpPr/>
          <p:nvPr/>
        </p:nvSpPr>
        <p:spPr>
          <a:xfrm>
            <a:off x="475488" y="2688336"/>
            <a:ext cx="1810512" cy="420624"/>
          </a:xfrm>
          <a:prstGeom prst="rect">
            <a:avLst/>
          </a:prstGeom>
          <a:solidFill>
            <a:srgbClr val="2C5282">
              <a:alpha val="70000"/>
            </a:srgbClr>
          </a:solidFill>
          <a:ln w="12700">
            <a:solidFill>
              <a:srgbClr val="2C5282">
                <a:alpha val="70000"/>
              </a:srgbClr>
            </a:solidFill>
            <a:prstDash val="solid"/>
          </a:ln>
        </p:spPr>
        <p:txBody>
          <a:bodyPr/>
          <a:lstStyle/>
          <a:p>
            <a:endParaRPr lang="es-AR"/>
          </a:p>
        </p:txBody>
      </p:sp>
      <p:sp>
        <p:nvSpPr>
          <p:cNvPr id="16" name="Text 14"/>
          <p:cNvSpPr/>
          <p:nvPr/>
        </p:nvSpPr>
        <p:spPr>
          <a:xfrm>
            <a:off x="475488" y="2706624"/>
            <a:ext cx="1810512"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Fines</a:t>
            </a:r>
            <a:endParaRPr lang="en-US" sz="1100" dirty="0"/>
          </a:p>
        </p:txBody>
      </p:sp>
      <p:sp>
        <p:nvSpPr>
          <p:cNvPr id="17" name="Text 15"/>
          <p:cNvSpPr/>
          <p:nvPr/>
        </p:nvSpPr>
        <p:spPr>
          <a:xfrm>
            <a:off x="475488" y="3182112"/>
            <a:ext cx="1810512" cy="16002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El ingreso es un medio. Los fines son ser educado, estar sano, participar en la comunidad.</a:t>
            </a:r>
            <a:endParaRPr lang="en-US" sz="950" dirty="0"/>
          </a:p>
        </p:txBody>
      </p:sp>
      <p:sp>
        <p:nvSpPr>
          <p:cNvPr id="18" name="Shape 16"/>
          <p:cNvSpPr/>
          <p:nvPr/>
        </p:nvSpPr>
        <p:spPr>
          <a:xfrm>
            <a:off x="2514600" y="1783080"/>
            <a:ext cx="2029968" cy="312724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9" name="Shape 17"/>
          <p:cNvSpPr/>
          <p:nvPr/>
        </p:nvSpPr>
        <p:spPr>
          <a:xfrm>
            <a:off x="2514600" y="1783080"/>
            <a:ext cx="2029968" cy="54864"/>
          </a:xfrm>
          <a:prstGeom prst="rect">
            <a:avLst/>
          </a:prstGeom>
          <a:solidFill>
            <a:srgbClr val="2E8B74"/>
          </a:solidFill>
          <a:ln w="12700">
            <a:solidFill>
              <a:srgbClr val="2E8B74"/>
            </a:solidFill>
            <a:prstDash val="solid"/>
          </a:ln>
        </p:spPr>
        <p:txBody>
          <a:bodyPr/>
          <a:lstStyle/>
          <a:p>
            <a:endParaRPr lang="es-AR"/>
          </a:p>
        </p:txBody>
      </p:sp>
      <p:sp>
        <p:nvSpPr>
          <p:cNvPr id="20" name="Shape 18"/>
          <p:cNvSpPr/>
          <p:nvPr/>
        </p:nvSpPr>
        <p:spPr>
          <a:xfrm>
            <a:off x="2624328" y="1883664"/>
            <a:ext cx="1810512" cy="420624"/>
          </a:xfrm>
          <a:prstGeom prst="rect">
            <a:avLst/>
          </a:prstGeom>
          <a:solidFill>
            <a:srgbClr val="2E8B74">
              <a:alpha val="12000"/>
            </a:srgbClr>
          </a:solidFill>
          <a:ln w="12700">
            <a:solidFill>
              <a:srgbClr val="2E8B74">
                <a:alpha val="30000"/>
              </a:srgbClr>
            </a:solidFill>
            <a:prstDash val="solid"/>
          </a:ln>
        </p:spPr>
        <p:txBody>
          <a:bodyPr/>
          <a:lstStyle/>
          <a:p>
            <a:endParaRPr lang="es-AR"/>
          </a:p>
        </p:txBody>
      </p:sp>
      <p:sp>
        <p:nvSpPr>
          <p:cNvPr id="21" name="Text 19"/>
          <p:cNvSpPr/>
          <p:nvPr/>
        </p:nvSpPr>
        <p:spPr>
          <a:xfrm>
            <a:off x="2624328" y="1901952"/>
            <a:ext cx="1810512" cy="384048"/>
          </a:xfrm>
          <a:prstGeom prst="rect">
            <a:avLst/>
          </a:prstGeom>
          <a:noFill/>
          <a:ln/>
        </p:spPr>
        <p:txBody>
          <a:bodyPr wrap="square" lIns="0" tIns="0" rIns="0" bIns="0" rtlCol="0" anchor="ctr"/>
          <a:lstStyle/>
          <a:p>
            <a:pPr marL="0" indent="0" algn="ctr">
              <a:buNone/>
            </a:pPr>
            <a:r>
              <a:rPr lang="en-US" sz="1100" b="1" dirty="0">
                <a:solidFill>
                  <a:srgbClr val="2E8B74"/>
                </a:solidFill>
                <a:latin typeface="Calibri" pitchFamily="34" charset="0"/>
                <a:ea typeface="Calibri" pitchFamily="34" charset="-122"/>
                <a:cs typeface="Calibri" pitchFamily="34" charset="-120"/>
              </a:rPr>
              <a:t>Económico</a:t>
            </a:r>
            <a:endParaRPr lang="en-US" sz="1100" dirty="0"/>
          </a:p>
        </p:txBody>
      </p:sp>
      <p:sp>
        <p:nvSpPr>
          <p:cNvPr id="22" name="Text 20"/>
          <p:cNvSpPr/>
          <p:nvPr/>
        </p:nvSpPr>
        <p:spPr>
          <a:xfrm>
            <a:off x="2624328" y="2340864"/>
            <a:ext cx="1810512" cy="310896"/>
          </a:xfrm>
          <a:prstGeom prst="rect">
            <a:avLst/>
          </a:prstGeom>
          <a:noFill/>
          <a:ln/>
        </p:spPr>
        <p:txBody>
          <a:bodyPr wrap="square" lIns="0" tIns="0" rIns="0" bIns="0" rtlCol="0" anchor="ctr"/>
          <a:lstStyle/>
          <a:p>
            <a:pPr marL="0" indent="0" algn="ctr">
              <a:buNone/>
            </a:pPr>
            <a:r>
              <a:rPr lang="en-US" sz="1600" dirty="0">
                <a:solidFill>
                  <a:srgbClr val="2E8B74"/>
                </a:solidFill>
              </a:rPr>
              <a:t>↓</a:t>
            </a:r>
            <a:endParaRPr lang="en-US" sz="1600" dirty="0"/>
          </a:p>
        </p:txBody>
      </p:sp>
      <p:sp>
        <p:nvSpPr>
          <p:cNvPr id="23" name="Shape 21"/>
          <p:cNvSpPr/>
          <p:nvPr/>
        </p:nvSpPr>
        <p:spPr>
          <a:xfrm>
            <a:off x="2624328" y="2688336"/>
            <a:ext cx="1810512" cy="420624"/>
          </a:xfrm>
          <a:prstGeom prst="rect">
            <a:avLst/>
          </a:prstGeom>
          <a:solidFill>
            <a:srgbClr val="2E8B74">
              <a:alpha val="70000"/>
            </a:srgbClr>
          </a:solidFill>
          <a:ln w="12700">
            <a:solidFill>
              <a:srgbClr val="2E8B74">
                <a:alpha val="70000"/>
              </a:srgbClr>
            </a:solidFill>
            <a:prstDash val="solid"/>
          </a:ln>
        </p:spPr>
        <p:txBody>
          <a:bodyPr/>
          <a:lstStyle/>
          <a:p>
            <a:endParaRPr lang="es-AR"/>
          </a:p>
        </p:txBody>
      </p:sp>
      <p:sp>
        <p:nvSpPr>
          <p:cNvPr id="24" name="Text 22"/>
          <p:cNvSpPr/>
          <p:nvPr/>
        </p:nvSpPr>
        <p:spPr>
          <a:xfrm>
            <a:off x="2624328" y="2706624"/>
            <a:ext cx="1810512"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Multidimensional</a:t>
            </a:r>
            <a:endParaRPr lang="en-US" sz="1100" dirty="0"/>
          </a:p>
        </p:txBody>
      </p:sp>
      <p:sp>
        <p:nvSpPr>
          <p:cNvPr id="25" name="Text 23"/>
          <p:cNvSpPr/>
          <p:nvPr/>
        </p:nvSpPr>
        <p:spPr>
          <a:xfrm>
            <a:off x="2624328" y="3182112"/>
            <a:ext cx="1810512" cy="16002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Ya no solo economía: también salud, educación, sociología, libertades políticas.</a:t>
            </a:r>
            <a:endParaRPr lang="en-US" sz="950" dirty="0"/>
          </a:p>
        </p:txBody>
      </p:sp>
      <p:sp>
        <p:nvSpPr>
          <p:cNvPr id="26" name="Shape 24"/>
          <p:cNvSpPr/>
          <p:nvPr/>
        </p:nvSpPr>
        <p:spPr>
          <a:xfrm>
            <a:off x="4663440" y="1783080"/>
            <a:ext cx="2029968" cy="312724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7" name="Shape 25"/>
          <p:cNvSpPr/>
          <p:nvPr/>
        </p:nvSpPr>
        <p:spPr>
          <a:xfrm>
            <a:off x="4663440" y="1783080"/>
            <a:ext cx="2029968" cy="54864"/>
          </a:xfrm>
          <a:prstGeom prst="rect">
            <a:avLst/>
          </a:prstGeom>
          <a:solidFill>
            <a:srgbClr val="C0533A"/>
          </a:solidFill>
          <a:ln w="12700">
            <a:solidFill>
              <a:srgbClr val="C0533A"/>
            </a:solidFill>
            <a:prstDash val="solid"/>
          </a:ln>
        </p:spPr>
        <p:txBody>
          <a:bodyPr/>
          <a:lstStyle/>
          <a:p>
            <a:endParaRPr lang="es-AR"/>
          </a:p>
        </p:txBody>
      </p:sp>
      <p:sp>
        <p:nvSpPr>
          <p:cNvPr id="28" name="Shape 26"/>
          <p:cNvSpPr/>
          <p:nvPr/>
        </p:nvSpPr>
        <p:spPr>
          <a:xfrm>
            <a:off x="4773168" y="1883664"/>
            <a:ext cx="1810512" cy="420624"/>
          </a:xfrm>
          <a:prstGeom prst="rect">
            <a:avLst/>
          </a:prstGeom>
          <a:solidFill>
            <a:srgbClr val="C0533A">
              <a:alpha val="12000"/>
            </a:srgbClr>
          </a:solidFill>
          <a:ln w="12700">
            <a:solidFill>
              <a:srgbClr val="C0533A">
                <a:alpha val="30000"/>
              </a:srgbClr>
            </a:solidFill>
            <a:prstDash val="solid"/>
          </a:ln>
        </p:spPr>
        <p:txBody>
          <a:bodyPr/>
          <a:lstStyle/>
          <a:p>
            <a:endParaRPr lang="es-AR"/>
          </a:p>
        </p:txBody>
      </p:sp>
      <p:sp>
        <p:nvSpPr>
          <p:cNvPr id="29" name="Text 27"/>
          <p:cNvSpPr/>
          <p:nvPr/>
        </p:nvSpPr>
        <p:spPr>
          <a:xfrm>
            <a:off x="4773168" y="1901952"/>
            <a:ext cx="1810512" cy="384048"/>
          </a:xfrm>
          <a:prstGeom prst="rect">
            <a:avLst/>
          </a:prstGeom>
          <a:noFill/>
          <a:ln/>
        </p:spPr>
        <p:txBody>
          <a:bodyPr wrap="square" lIns="0" tIns="0" rIns="0" bIns="0" rtlCol="0" anchor="ctr"/>
          <a:lstStyle/>
          <a:p>
            <a:pPr marL="0" indent="0" algn="ctr">
              <a:buNone/>
            </a:pPr>
            <a:r>
              <a:rPr lang="en-US" sz="1100" b="1" dirty="0">
                <a:solidFill>
                  <a:srgbClr val="C0533A"/>
                </a:solidFill>
                <a:latin typeface="Calibri" pitchFamily="34" charset="0"/>
                <a:ea typeface="Calibri" pitchFamily="34" charset="-122"/>
                <a:cs typeface="Calibri" pitchFamily="34" charset="-120"/>
              </a:rPr>
              <a:t>Necesidades</a:t>
            </a:r>
            <a:endParaRPr lang="en-US" sz="1100" dirty="0"/>
          </a:p>
        </p:txBody>
      </p:sp>
      <p:sp>
        <p:nvSpPr>
          <p:cNvPr id="30" name="Text 28"/>
          <p:cNvSpPr/>
          <p:nvPr/>
        </p:nvSpPr>
        <p:spPr>
          <a:xfrm>
            <a:off x="4773168" y="2340864"/>
            <a:ext cx="1810512" cy="310896"/>
          </a:xfrm>
          <a:prstGeom prst="rect">
            <a:avLst/>
          </a:prstGeom>
          <a:noFill/>
          <a:ln/>
        </p:spPr>
        <p:txBody>
          <a:bodyPr wrap="square" lIns="0" tIns="0" rIns="0" bIns="0" rtlCol="0" anchor="ctr"/>
          <a:lstStyle/>
          <a:p>
            <a:pPr marL="0" indent="0" algn="ctr">
              <a:buNone/>
            </a:pPr>
            <a:r>
              <a:rPr lang="en-US" sz="1600" dirty="0">
                <a:solidFill>
                  <a:srgbClr val="C0533A"/>
                </a:solidFill>
              </a:rPr>
              <a:t>↓</a:t>
            </a:r>
            <a:endParaRPr lang="en-US" sz="1600" dirty="0"/>
          </a:p>
        </p:txBody>
      </p:sp>
      <p:sp>
        <p:nvSpPr>
          <p:cNvPr id="31" name="Shape 29"/>
          <p:cNvSpPr/>
          <p:nvPr/>
        </p:nvSpPr>
        <p:spPr>
          <a:xfrm>
            <a:off x="4773168" y="2688336"/>
            <a:ext cx="1810512" cy="420624"/>
          </a:xfrm>
          <a:prstGeom prst="rect">
            <a:avLst/>
          </a:prstGeom>
          <a:solidFill>
            <a:srgbClr val="C0533A">
              <a:alpha val="70000"/>
            </a:srgbClr>
          </a:solidFill>
          <a:ln w="12700">
            <a:solidFill>
              <a:srgbClr val="C0533A">
                <a:alpha val="70000"/>
              </a:srgbClr>
            </a:solidFill>
            <a:prstDash val="solid"/>
          </a:ln>
        </p:spPr>
        <p:txBody>
          <a:bodyPr/>
          <a:lstStyle/>
          <a:p>
            <a:endParaRPr lang="es-AR"/>
          </a:p>
        </p:txBody>
      </p:sp>
      <p:sp>
        <p:nvSpPr>
          <p:cNvPr id="32" name="Text 30"/>
          <p:cNvSpPr/>
          <p:nvPr/>
        </p:nvSpPr>
        <p:spPr>
          <a:xfrm>
            <a:off x="4773168" y="2706624"/>
            <a:ext cx="1810512"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Derechos</a:t>
            </a:r>
            <a:endParaRPr lang="en-US" sz="1100" dirty="0"/>
          </a:p>
        </p:txBody>
      </p:sp>
      <p:sp>
        <p:nvSpPr>
          <p:cNvPr id="33" name="Text 31"/>
          <p:cNvSpPr/>
          <p:nvPr/>
        </p:nvSpPr>
        <p:spPr>
          <a:xfrm>
            <a:off x="4773168" y="3182112"/>
            <a:ext cx="1810512" cy="16002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De 'necesito educación' a 'tengo derecho a educación'. Cambia la obligación del Estado.</a:t>
            </a:r>
            <a:endParaRPr lang="en-US" sz="950" dirty="0"/>
          </a:p>
        </p:txBody>
      </p:sp>
      <p:sp>
        <p:nvSpPr>
          <p:cNvPr id="34" name="Shape 32"/>
          <p:cNvSpPr/>
          <p:nvPr/>
        </p:nvSpPr>
        <p:spPr>
          <a:xfrm>
            <a:off x="6812280" y="1783080"/>
            <a:ext cx="2029968" cy="312724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35" name="Shape 33"/>
          <p:cNvSpPr/>
          <p:nvPr/>
        </p:nvSpPr>
        <p:spPr>
          <a:xfrm>
            <a:off x="6812280" y="1783080"/>
            <a:ext cx="2029968" cy="54864"/>
          </a:xfrm>
          <a:prstGeom prst="rect">
            <a:avLst/>
          </a:prstGeom>
          <a:solidFill>
            <a:srgbClr val="7B5EA7"/>
          </a:solidFill>
          <a:ln w="12700">
            <a:solidFill>
              <a:srgbClr val="7B5EA7"/>
            </a:solidFill>
            <a:prstDash val="solid"/>
          </a:ln>
        </p:spPr>
        <p:txBody>
          <a:bodyPr/>
          <a:lstStyle/>
          <a:p>
            <a:endParaRPr lang="es-AR"/>
          </a:p>
        </p:txBody>
      </p:sp>
      <p:sp>
        <p:nvSpPr>
          <p:cNvPr id="36" name="Shape 34"/>
          <p:cNvSpPr/>
          <p:nvPr/>
        </p:nvSpPr>
        <p:spPr>
          <a:xfrm>
            <a:off x="6922008" y="1883664"/>
            <a:ext cx="1810512" cy="420624"/>
          </a:xfrm>
          <a:prstGeom prst="rect">
            <a:avLst/>
          </a:prstGeom>
          <a:solidFill>
            <a:srgbClr val="7B5EA7">
              <a:alpha val="12000"/>
            </a:srgbClr>
          </a:solidFill>
          <a:ln w="12700">
            <a:solidFill>
              <a:srgbClr val="7B5EA7">
                <a:alpha val="30000"/>
              </a:srgbClr>
            </a:solidFill>
            <a:prstDash val="solid"/>
          </a:ln>
        </p:spPr>
        <p:txBody>
          <a:bodyPr/>
          <a:lstStyle/>
          <a:p>
            <a:endParaRPr lang="es-AR"/>
          </a:p>
        </p:txBody>
      </p:sp>
      <p:sp>
        <p:nvSpPr>
          <p:cNvPr id="37" name="Text 35"/>
          <p:cNvSpPr/>
          <p:nvPr/>
        </p:nvSpPr>
        <p:spPr>
          <a:xfrm>
            <a:off x="6922008" y="1901952"/>
            <a:ext cx="1810512" cy="384048"/>
          </a:xfrm>
          <a:prstGeom prst="rect">
            <a:avLst/>
          </a:prstGeom>
          <a:noFill/>
          <a:ln/>
        </p:spPr>
        <p:txBody>
          <a:bodyPr wrap="square" lIns="0" tIns="0" rIns="0" bIns="0" rtlCol="0" anchor="ctr"/>
          <a:lstStyle/>
          <a:p>
            <a:pPr marL="0" indent="0" algn="ctr">
              <a:buNone/>
            </a:pPr>
            <a:r>
              <a:rPr lang="en-US" sz="1100" b="1" dirty="0">
                <a:solidFill>
                  <a:srgbClr val="7B5EA7"/>
                </a:solidFill>
                <a:latin typeface="Calibri" pitchFamily="34" charset="0"/>
                <a:ea typeface="Calibri" pitchFamily="34" charset="-122"/>
                <a:cs typeface="Calibri" pitchFamily="34" charset="-120"/>
              </a:rPr>
              <a:t>PBI</a:t>
            </a:r>
            <a:endParaRPr lang="en-US" sz="1100" dirty="0"/>
          </a:p>
        </p:txBody>
      </p:sp>
      <p:sp>
        <p:nvSpPr>
          <p:cNvPr id="38" name="Text 36"/>
          <p:cNvSpPr/>
          <p:nvPr/>
        </p:nvSpPr>
        <p:spPr>
          <a:xfrm>
            <a:off x="6922008" y="2340864"/>
            <a:ext cx="1810512" cy="310896"/>
          </a:xfrm>
          <a:prstGeom prst="rect">
            <a:avLst/>
          </a:prstGeom>
          <a:noFill/>
          <a:ln/>
        </p:spPr>
        <p:txBody>
          <a:bodyPr wrap="square" lIns="0" tIns="0" rIns="0" bIns="0" rtlCol="0" anchor="ctr"/>
          <a:lstStyle/>
          <a:p>
            <a:pPr marL="0" indent="0" algn="ctr">
              <a:buNone/>
            </a:pPr>
            <a:r>
              <a:rPr lang="en-US" sz="1600" dirty="0">
                <a:solidFill>
                  <a:srgbClr val="7B5EA7"/>
                </a:solidFill>
              </a:rPr>
              <a:t>↓</a:t>
            </a:r>
            <a:endParaRPr lang="en-US" sz="1600" dirty="0"/>
          </a:p>
        </p:txBody>
      </p:sp>
      <p:sp>
        <p:nvSpPr>
          <p:cNvPr id="39" name="Shape 37"/>
          <p:cNvSpPr/>
          <p:nvPr/>
        </p:nvSpPr>
        <p:spPr>
          <a:xfrm>
            <a:off x="6922008" y="2688336"/>
            <a:ext cx="1810512" cy="420624"/>
          </a:xfrm>
          <a:prstGeom prst="rect">
            <a:avLst/>
          </a:prstGeom>
          <a:solidFill>
            <a:srgbClr val="7B5EA7">
              <a:alpha val="70000"/>
            </a:srgbClr>
          </a:solidFill>
          <a:ln w="12700">
            <a:solidFill>
              <a:srgbClr val="7B5EA7">
                <a:alpha val="70000"/>
              </a:srgbClr>
            </a:solidFill>
            <a:prstDash val="solid"/>
          </a:ln>
        </p:spPr>
        <p:txBody>
          <a:bodyPr/>
          <a:lstStyle/>
          <a:p>
            <a:endParaRPr lang="es-AR"/>
          </a:p>
        </p:txBody>
      </p:sp>
      <p:sp>
        <p:nvSpPr>
          <p:cNvPr id="40" name="Text 38"/>
          <p:cNvSpPr/>
          <p:nvPr/>
        </p:nvSpPr>
        <p:spPr>
          <a:xfrm>
            <a:off x="6922008" y="2706624"/>
            <a:ext cx="1810512"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Múltiples indicadores</a:t>
            </a:r>
            <a:endParaRPr lang="en-US" sz="1100" dirty="0"/>
          </a:p>
        </p:txBody>
      </p:sp>
      <p:sp>
        <p:nvSpPr>
          <p:cNvPr id="41" name="Text 39"/>
          <p:cNvSpPr/>
          <p:nvPr/>
        </p:nvSpPr>
        <p:spPr>
          <a:xfrm>
            <a:off x="6922008" y="3182112"/>
            <a:ext cx="1810512" cy="16002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Ya no solo PBI: IDH, NBI, pobreza multidimensional, brechas de género.</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0AE06EE-5002-C6B7-AD23-C6CC648B7655}"/>
              </a:ext>
            </a:extLst>
          </p:cNvPr>
          <p:cNvSpPr txBox="1"/>
          <p:nvPr/>
        </p:nvSpPr>
        <p:spPr>
          <a:xfrm>
            <a:off x="305294" y="607737"/>
            <a:ext cx="7713570" cy="3046988"/>
          </a:xfrm>
          <a:prstGeom prst="rect">
            <a:avLst/>
          </a:prstGeom>
          <a:noFill/>
        </p:spPr>
        <p:txBody>
          <a:bodyPr wrap="square" rtlCol="0">
            <a:spAutoFit/>
          </a:bodyPr>
          <a:lstStyle/>
          <a:p>
            <a:r>
              <a:rPr lang="es-MX" sz="1200" dirty="0"/>
              <a:t>La idea central es que antes el bienestar se medía solo por ingresos/dinero, y ese paradigma fue cambiando. El cuadro te muestra </a:t>
            </a:r>
            <a:r>
              <a:rPr lang="es-MX" sz="1200" b="1" dirty="0"/>
              <a:t>4 transformaciones clave</a:t>
            </a:r>
            <a:r>
              <a:rPr lang="es-MX" sz="1200" dirty="0"/>
              <a:t>:</a:t>
            </a:r>
            <a:endParaRPr lang="es-MX" sz="1200" b="1" dirty="0"/>
          </a:p>
          <a:p>
            <a:endParaRPr lang="es-MX" sz="1200" b="1" dirty="0"/>
          </a:p>
          <a:p>
            <a:r>
              <a:rPr lang="es-MX" sz="1200" b="1" dirty="0"/>
              <a:t>1. De Medios → Fines</a:t>
            </a:r>
            <a:r>
              <a:rPr lang="es-MX" sz="1200" dirty="0"/>
              <a:t> El ingreso (dinero) es solo un </a:t>
            </a:r>
            <a:r>
              <a:rPr lang="es-MX" sz="1200" i="1" dirty="0"/>
              <a:t>medio</a:t>
            </a:r>
            <a:r>
              <a:rPr lang="es-MX" sz="1200" dirty="0"/>
              <a:t>. Lo que realmente importa son los </a:t>
            </a:r>
            <a:r>
              <a:rPr lang="es-MX" sz="1200" i="1" dirty="0"/>
              <a:t>fines</a:t>
            </a:r>
            <a:r>
              <a:rPr lang="es-MX" sz="1200" dirty="0"/>
              <a:t>: poder estudiar, estar sano, participar en la comunidad. El foco pasa del </a:t>
            </a:r>
            <a:r>
              <a:rPr lang="es-MX" sz="1200" b="1" dirty="0"/>
              <a:t>tener</a:t>
            </a:r>
            <a:r>
              <a:rPr lang="es-MX" sz="1200" dirty="0"/>
              <a:t> al </a:t>
            </a:r>
            <a:r>
              <a:rPr lang="es-MX" sz="1200" b="1" dirty="0"/>
              <a:t>ser</a:t>
            </a:r>
            <a:r>
              <a:rPr lang="es-MX" sz="1200" dirty="0"/>
              <a:t>.</a:t>
            </a:r>
          </a:p>
          <a:p>
            <a:endParaRPr lang="es-MX" sz="1200" dirty="0"/>
          </a:p>
          <a:p>
            <a:r>
              <a:rPr lang="es-MX" sz="1200" b="1" dirty="0"/>
              <a:t>2. De Económico → Multidimensional</a:t>
            </a:r>
            <a:r>
              <a:rPr lang="es-MX" sz="1200" dirty="0"/>
              <a:t> Ya no alcanza con mirar la economía sola. El bienestar incorpora también salud, educación, sociología, libertades políticas. Es un enfoque más amplio e integral.</a:t>
            </a:r>
          </a:p>
          <a:p>
            <a:endParaRPr lang="es-MX" sz="1200" dirty="0"/>
          </a:p>
          <a:p>
            <a:r>
              <a:rPr lang="es-MX" sz="1200" b="1" dirty="0"/>
              <a:t>3. De Necesidades → Derechos</a:t>
            </a:r>
            <a:r>
              <a:rPr lang="es-MX" sz="1200" dirty="0"/>
              <a:t> El cambio de perspectiva es profundo: antes se decía "necesito educación", ahora se dice "tengo </a:t>
            </a:r>
            <a:r>
              <a:rPr lang="es-MX" sz="1200" i="1" dirty="0"/>
              <a:t>derecho</a:t>
            </a:r>
            <a:r>
              <a:rPr lang="es-MX" sz="1200" dirty="0"/>
              <a:t> a educación". Esto transforma la obligación del Estado — ya no es opcional, sino que debe garantizarlo.</a:t>
            </a:r>
          </a:p>
          <a:p>
            <a:endParaRPr lang="es-MX" sz="1200" dirty="0"/>
          </a:p>
          <a:p>
            <a:r>
              <a:rPr lang="es-MX" sz="1200" b="1" dirty="0"/>
              <a:t>4. De PBI → Múltiples indicadores</a:t>
            </a:r>
            <a:r>
              <a:rPr lang="es-MX" sz="1200" dirty="0"/>
              <a:t> Ya no basta con medir el Producto Bruto Interno. Ahora se usan indicadores como el IDH (Índice de Desarrollo Humano), el NBI (Necesidades Básicas Insatisfechas), la pobreza multidimensional, las brechas de género, etc.</a:t>
            </a:r>
          </a:p>
          <a:p>
            <a:endParaRPr lang="es-AR" sz="1200" dirty="0"/>
          </a:p>
        </p:txBody>
      </p:sp>
    </p:spTree>
    <p:extLst>
      <p:ext uri="{BB962C8B-B14F-4D97-AF65-F5344CB8AC3E}">
        <p14:creationId xmlns:p14="http://schemas.microsoft.com/office/powerpoint/2010/main" val="3147184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2E8B74"/>
          </a:solidFill>
          <a:ln w="12700">
            <a:solidFill>
              <a:srgbClr val="2E8B74"/>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El Paradigma del Desarrollo Humano</a:t>
            </a:r>
            <a:endParaRPr lang="en-US" sz="2800" dirty="0"/>
          </a:p>
        </p:txBody>
      </p:sp>
      <p:sp>
        <p:nvSpPr>
          <p:cNvPr id="5" name="Shape 3"/>
          <p:cNvSpPr/>
          <p:nvPr/>
        </p:nvSpPr>
        <p:spPr>
          <a:xfrm>
            <a:off x="457200" y="731520"/>
            <a:ext cx="36576" cy="201168"/>
          </a:xfrm>
          <a:prstGeom prst="rect">
            <a:avLst/>
          </a:prstGeom>
          <a:solidFill>
            <a:srgbClr val="2E8B74"/>
          </a:solidFill>
          <a:ln w="12700">
            <a:solidFill>
              <a:srgbClr val="2E8B74"/>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2E8B74"/>
                </a:solidFill>
                <a:latin typeface="Calibri" pitchFamily="34" charset="0"/>
                <a:ea typeface="Calibri" pitchFamily="34" charset="-122"/>
                <a:cs typeface="Calibri" pitchFamily="34" charset="-120"/>
              </a:rPr>
              <a:t>U3.1 — MAHBUB UL HAQ / AMARTYA SEN</a:t>
            </a:r>
            <a:endParaRPr lang="en-US" sz="900" dirty="0"/>
          </a:p>
        </p:txBody>
      </p:sp>
      <p:sp>
        <p:nvSpPr>
          <p:cNvPr id="7" name="Shape 5"/>
          <p:cNvSpPr/>
          <p:nvPr/>
        </p:nvSpPr>
        <p:spPr>
          <a:xfrm>
            <a:off x="365760" y="1005840"/>
            <a:ext cx="8412480" cy="804672"/>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54864" cy="804672"/>
          </a:xfrm>
          <a:prstGeom prst="rect">
            <a:avLst/>
          </a:prstGeom>
          <a:solidFill>
            <a:srgbClr val="2E8B74"/>
          </a:solidFill>
          <a:ln w="12700">
            <a:solidFill>
              <a:srgbClr val="2E8B74"/>
            </a:solidFill>
            <a:prstDash val="solid"/>
          </a:ln>
        </p:spPr>
        <p:txBody>
          <a:bodyPr/>
          <a:lstStyle/>
          <a:p>
            <a:endParaRPr lang="es-AR"/>
          </a:p>
        </p:txBody>
      </p:sp>
      <p:sp>
        <p:nvSpPr>
          <p:cNvPr id="9" name="Text 7"/>
          <p:cNvSpPr/>
          <p:nvPr/>
        </p:nvSpPr>
        <p:spPr>
          <a:xfrm>
            <a:off x="548640" y="1060704"/>
            <a:ext cx="8046720" cy="676656"/>
          </a:xfrm>
          <a:prstGeom prst="rect">
            <a:avLst/>
          </a:prstGeom>
          <a:noFill/>
          <a:ln/>
        </p:spPr>
        <p:txBody>
          <a:bodyPr wrap="square" lIns="0" tIns="0" rIns="0" bIns="0" rtlCol="0" anchor="ctr"/>
          <a:lstStyle/>
          <a:p>
            <a:pPr marL="0" indent="0">
              <a:buNone/>
            </a:pPr>
            <a:r>
              <a:rPr lang="en-US" sz="1200" b="1" dirty="0">
                <a:solidFill>
                  <a:srgbClr val="2E8B74"/>
                </a:solidFill>
                <a:latin typeface="Calibri" pitchFamily="34" charset="0"/>
                <a:ea typeface="Calibri" pitchFamily="34" charset="-122"/>
                <a:cs typeface="Calibri" pitchFamily="34" charset="-120"/>
              </a:rPr>
              <a:t>Desarrollo humano</a:t>
            </a:r>
            <a:r>
              <a:rPr lang="en-US" sz="1200" dirty="0">
                <a:solidFill>
                  <a:srgbClr val="1A202C"/>
                </a:solidFill>
                <a:latin typeface="Calibri" pitchFamily="34" charset="0"/>
                <a:ea typeface="Calibri" pitchFamily="34" charset="-122"/>
                <a:cs typeface="Calibri" pitchFamily="34" charset="-120"/>
              </a:rPr>
              <a:t> = ampliar las opciones de vida de las personas. No se trata de crecer económicamente, sino de que las personas tengan cada vez mayor libertad para elegir cómo vivir. El ingreso es importante, pero solo como medio, nunca como fin.</a:t>
            </a:r>
            <a:endParaRPr lang="en-US" sz="1200" dirty="0"/>
          </a:p>
        </p:txBody>
      </p:sp>
      <p:sp>
        <p:nvSpPr>
          <p:cNvPr id="10" name="Shape 8"/>
          <p:cNvSpPr/>
          <p:nvPr/>
        </p:nvSpPr>
        <p:spPr>
          <a:xfrm>
            <a:off x="365760" y="1920240"/>
            <a:ext cx="2651760" cy="28803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1" name="Shape 9"/>
          <p:cNvSpPr/>
          <p:nvPr/>
        </p:nvSpPr>
        <p:spPr>
          <a:xfrm>
            <a:off x="365760" y="1920240"/>
            <a:ext cx="2651760" cy="347472"/>
          </a:xfrm>
          <a:prstGeom prst="rect">
            <a:avLst/>
          </a:prstGeom>
          <a:solidFill>
            <a:srgbClr val="2C5282"/>
          </a:solidFill>
          <a:ln w="12700">
            <a:solidFill>
              <a:srgbClr val="2C5282"/>
            </a:solidFill>
            <a:prstDash val="solid"/>
          </a:ln>
        </p:spPr>
        <p:txBody>
          <a:bodyPr/>
          <a:lstStyle/>
          <a:p>
            <a:endParaRPr lang="es-AR"/>
          </a:p>
        </p:txBody>
      </p:sp>
      <p:sp>
        <p:nvSpPr>
          <p:cNvPr id="12" name="Text 10"/>
          <p:cNvSpPr/>
          <p:nvPr/>
        </p:nvSpPr>
        <p:spPr>
          <a:xfrm>
            <a:off x="457200" y="1947672"/>
            <a:ext cx="2468880" cy="292608"/>
          </a:xfrm>
          <a:prstGeom prst="rect">
            <a:avLst/>
          </a:prstGeom>
          <a:noFill/>
          <a:ln/>
        </p:spPr>
        <p:txBody>
          <a:bodyPr wrap="square" lIns="0" tIns="0" rIns="0" bIns="0" rtlCol="0" anchor="ctr"/>
          <a:lstStyle/>
          <a:p>
            <a:pPr marL="0" indent="0">
              <a:buNone/>
            </a:pPr>
            <a:r>
              <a:rPr lang="en-US" sz="1250" b="1" dirty="0">
                <a:solidFill>
                  <a:srgbClr val="FFFFFF"/>
                </a:solidFill>
                <a:latin typeface="Georgia" pitchFamily="34" charset="0"/>
                <a:ea typeface="Georgia" pitchFamily="34" charset="-122"/>
                <a:cs typeface="Georgia" pitchFamily="34" charset="-120"/>
              </a:rPr>
              <a:t>Mahbub ul Haq</a:t>
            </a:r>
            <a:endParaRPr lang="en-US" sz="1250" dirty="0"/>
          </a:p>
        </p:txBody>
      </p:sp>
      <p:sp>
        <p:nvSpPr>
          <p:cNvPr id="13" name="Text 11"/>
          <p:cNvSpPr/>
          <p:nvPr/>
        </p:nvSpPr>
        <p:spPr>
          <a:xfrm>
            <a:off x="457200" y="2322576"/>
            <a:ext cx="2468880" cy="237744"/>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Economista paquistaní – PNUD</a:t>
            </a:r>
            <a:endParaRPr lang="en-US" sz="900" dirty="0"/>
          </a:p>
        </p:txBody>
      </p:sp>
      <p:sp>
        <p:nvSpPr>
          <p:cNvPr id="14" name="Text 12"/>
          <p:cNvSpPr/>
          <p:nvPr/>
        </p:nvSpPr>
        <p:spPr>
          <a:xfrm>
            <a:off x="457200" y="2615184"/>
            <a:ext cx="2468880" cy="208483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Creador del IDH. Las personas son el centro, no la economía. El desarrollo humano amplía opciones, desarrolla capacidades y las usa efectivamente.</a:t>
            </a:r>
            <a:endParaRPr lang="en-US" sz="1050" dirty="0"/>
          </a:p>
        </p:txBody>
      </p:sp>
      <p:sp>
        <p:nvSpPr>
          <p:cNvPr id="15" name="Shape 13"/>
          <p:cNvSpPr/>
          <p:nvPr/>
        </p:nvSpPr>
        <p:spPr>
          <a:xfrm>
            <a:off x="3246120" y="1920240"/>
            <a:ext cx="2651760" cy="28803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6" name="Shape 14"/>
          <p:cNvSpPr/>
          <p:nvPr/>
        </p:nvSpPr>
        <p:spPr>
          <a:xfrm>
            <a:off x="3246120" y="1920240"/>
            <a:ext cx="2651760" cy="347472"/>
          </a:xfrm>
          <a:prstGeom prst="rect">
            <a:avLst/>
          </a:prstGeom>
          <a:solidFill>
            <a:srgbClr val="2E8B74"/>
          </a:solidFill>
          <a:ln w="12700">
            <a:solidFill>
              <a:srgbClr val="2E8B74"/>
            </a:solidFill>
            <a:prstDash val="solid"/>
          </a:ln>
        </p:spPr>
        <p:txBody>
          <a:bodyPr/>
          <a:lstStyle/>
          <a:p>
            <a:endParaRPr lang="es-AR"/>
          </a:p>
        </p:txBody>
      </p:sp>
      <p:sp>
        <p:nvSpPr>
          <p:cNvPr id="17" name="Text 15"/>
          <p:cNvSpPr/>
          <p:nvPr/>
        </p:nvSpPr>
        <p:spPr>
          <a:xfrm>
            <a:off x="3337560" y="1947672"/>
            <a:ext cx="2468880" cy="292608"/>
          </a:xfrm>
          <a:prstGeom prst="rect">
            <a:avLst/>
          </a:prstGeom>
          <a:noFill/>
          <a:ln/>
        </p:spPr>
        <p:txBody>
          <a:bodyPr wrap="square" lIns="0" tIns="0" rIns="0" bIns="0" rtlCol="0" anchor="ctr"/>
          <a:lstStyle/>
          <a:p>
            <a:pPr marL="0" indent="0">
              <a:buNone/>
            </a:pPr>
            <a:r>
              <a:rPr lang="en-US" sz="1250" b="1" dirty="0">
                <a:solidFill>
                  <a:srgbClr val="FFFFFF"/>
                </a:solidFill>
                <a:latin typeface="Georgia" pitchFamily="34" charset="0"/>
                <a:ea typeface="Georgia" pitchFamily="34" charset="-122"/>
                <a:cs typeface="Georgia" pitchFamily="34" charset="-120"/>
              </a:rPr>
              <a:t>Amartya Sen</a:t>
            </a:r>
            <a:endParaRPr lang="en-US" sz="1250" dirty="0"/>
          </a:p>
        </p:txBody>
      </p:sp>
      <p:sp>
        <p:nvSpPr>
          <p:cNvPr id="18" name="Text 16"/>
          <p:cNvSpPr/>
          <p:nvPr/>
        </p:nvSpPr>
        <p:spPr>
          <a:xfrm>
            <a:off x="3337560" y="2322576"/>
            <a:ext cx="2468880" cy="237744"/>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Premio Nobel Economía 1998</a:t>
            </a:r>
            <a:endParaRPr lang="en-US" sz="900" dirty="0"/>
          </a:p>
        </p:txBody>
      </p:sp>
      <p:sp>
        <p:nvSpPr>
          <p:cNvPr id="19" name="Text 17"/>
          <p:cNvSpPr/>
          <p:nvPr/>
        </p:nvSpPr>
        <p:spPr>
          <a:xfrm>
            <a:off x="3337560" y="2615184"/>
            <a:ext cx="2468880" cy="208483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Desarrollo = expansión de libertades reales. El crecimiento es un medio. La verdadera métrica es qué pueden ser y hacer las personas.</a:t>
            </a:r>
            <a:endParaRPr lang="en-US" sz="1050" dirty="0"/>
          </a:p>
        </p:txBody>
      </p:sp>
      <p:sp>
        <p:nvSpPr>
          <p:cNvPr id="20" name="Shape 18"/>
          <p:cNvSpPr/>
          <p:nvPr/>
        </p:nvSpPr>
        <p:spPr>
          <a:xfrm>
            <a:off x="6126480" y="1920240"/>
            <a:ext cx="2651760" cy="28803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1" name="Shape 19"/>
          <p:cNvSpPr/>
          <p:nvPr/>
        </p:nvSpPr>
        <p:spPr>
          <a:xfrm>
            <a:off x="6126480" y="1920240"/>
            <a:ext cx="2651760" cy="347472"/>
          </a:xfrm>
          <a:prstGeom prst="rect">
            <a:avLst/>
          </a:prstGeom>
          <a:solidFill>
            <a:srgbClr val="7B5EA7"/>
          </a:solidFill>
          <a:ln w="12700">
            <a:solidFill>
              <a:srgbClr val="7B5EA7"/>
            </a:solidFill>
            <a:prstDash val="solid"/>
          </a:ln>
        </p:spPr>
        <p:txBody>
          <a:bodyPr/>
          <a:lstStyle/>
          <a:p>
            <a:endParaRPr lang="es-AR"/>
          </a:p>
        </p:txBody>
      </p:sp>
      <p:sp>
        <p:nvSpPr>
          <p:cNvPr id="22" name="Text 20"/>
          <p:cNvSpPr/>
          <p:nvPr/>
        </p:nvSpPr>
        <p:spPr>
          <a:xfrm>
            <a:off x="6217920" y="1947672"/>
            <a:ext cx="2468880" cy="292608"/>
          </a:xfrm>
          <a:prstGeom prst="rect">
            <a:avLst/>
          </a:prstGeom>
          <a:noFill/>
          <a:ln/>
        </p:spPr>
        <p:txBody>
          <a:bodyPr wrap="square" lIns="0" tIns="0" rIns="0" bIns="0" rtlCol="0" anchor="ctr"/>
          <a:lstStyle/>
          <a:p>
            <a:pPr marL="0" indent="0">
              <a:buNone/>
            </a:pPr>
            <a:r>
              <a:rPr lang="en-US" sz="1250" b="1" dirty="0">
                <a:solidFill>
                  <a:srgbClr val="FFFFFF"/>
                </a:solidFill>
                <a:latin typeface="Georgia" pitchFamily="34" charset="0"/>
                <a:ea typeface="Georgia" pitchFamily="34" charset="-122"/>
                <a:cs typeface="Georgia" pitchFamily="34" charset="-120"/>
              </a:rPr>
              <a:t>Paul Streeten</a:t>
            </a:r>
            <a:endParaRPr lang="en-US" sz="1250" dirty="0"/>
          </a:p>
        </p:txBody>
      </p:sp>
      <p:sp>
        <p:nvSpPr>
          <p:cNvPr id="23" name="Text 21"/>
          <p:cNvSpPr/>
          <p:nvPr/>
        </p:nvSpPr>
        <p:spPr>
          <a:xfrm>
            <a:off x="6217920" y="2322576"/>
            <a:ext cx="2468880" cy="237744"/>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Enfoque de necesidades básicas</a:t>
            </a:r>
            <a:endParaRPr lang="en-US" sz="900" dirty="0"/>
          </a:p>
        </p:txBody>
      </p:sp>
      <p:sp>
        <p:nvSpPr>
          <p:cNvPr id="24" name="Text 22"/>
          <p:cNvSpPr/>
          <p:nvPr/>
        </p:nvSpPr>
        <p:spPr>
          <a:xfrm>
            <a:off x="6217920" y="2615184"/>
            <a:ext cx="2468880" cy="208483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El fin del desarrollo son las personas, no la producción. No existe relación automática entre ingreso y bienestar. Critica el enfoque ortodoxo.</a:t>
            </a:r>
            <a:endParaRPr lang="en-US" sz="1050" dirty="0"/>
          </a:p>
        </p:txBody>
      </p:sp>
      <p:sp>
        <p:nvSpPr>
          <p:cNvPr id="25" name="Shape 23"/>
          <p:cNvSpPr/>
          <p:nvPr/>
        </p:nvSpPr>
        <p:spPr>
          <a:xfrm>
            <a:off x="365760" y="4882896"/>
            <a:ext cx="8412480" cy="201168"/>
          </a:xfrm>
          <a:prstGeom prst="rect">
            <a:avLst/>
          </a:prstGeom>
          <a:solidFill>
            <a:srgbClr val="EDF8F3"/>
          </a:solidFill>
          <a:ln w="12700">
            <a:solidFill>
              <a:srgbClr val="CBD5E0"/>
            </a:solidFill>
            <a:prstDash val="solid"/>
          </a:ln>
        </p:spPr>
        <p:txBody>
          <a:bodyPr/>
          <a:lstStyle/>
          <a:p>
            <a:endParaRPr lang="es-AR"/>
          </a:p>
        </p:txBody>
      </p:sp>
      <p:sp>
        <p:nvSpPr>
          <p:cNvPr id="26" name="Text 24"/>
          <p:cNvSpPr/>
          <p:nvPr/>
        </p:nvSpPr>
        <p:spPr>
          <a:xfrm>
            <a:off x="548640" y="4901184"/>
            <a:ext cx="8046720" cy="164592"/>
          </a:xfrm>
          <a:prstGeom prst="rect">
            <a:avLst/>
          </a:prstGeom>
          <a:noFill/>
          <a:ln/>
        </p:spPr>
        <p:txBody>
          <a:bodyPr wrap="square" lIns="0" tIns="0" rIns="0" bIns="0" rtlCol="0" anchor="ctr"/>
          <a:lstStyle/>
          <a:p>
            <a:pPr marL="0" indent="0">
              <a:buNone/>
            </a:pPr>
            <a:r>
              <a:rPr lang="en-US" sz="1000" b="1" dirty="0">
                <a:solidFill>
                  <a:srgbClr val="2E8B74"/>
                </a:solidFill>
                <a:latin typeface="Calibri" pitchFamily="34" charset="0"/>
                <a:ea typeface="Calibri" pitchFamily="34" charset="-122"/>
                <a:cs typeface="Calibri" pitchFamily="34" charset="-120"/>
              </a:rPr>
              <a:t>Crecimiento ≠ Desarrollo Humano. Un país puede crecer sin mejorar el bienestar de su población.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Los 4 Pilares Procedimentales</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U3.1 — CÓMO DEBE DARSE EL DESARROLLO HUMANO</a:t>
            </a:r>
            <a:endParaRPr lang="en-US" sz="900" dirty="0"/>
          </a:p>
        </p:txBody>
      </p:sp>
      <p:sp>
        <p:nvSpPr>
          <p:cNvPr id="7" name="Text 5"/>
          <p:cNvSpPr/>
          <p:nvPr/>
        </p:nvSpPr>
        <p:spPr>
          <a:xfrm>
            <a:off x="457200" y="1005840"/>
            <a:ext cx="8229600" cy="5029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"Procedimentales" significa que el crecimiento económico DEBE darse respetando estos cuatro aspectos como parte del proceso. No son resultados — son condiciones del proceso.</a:t>
            </a:r>
            <a:endParaRPr lang="en-US" sz="1200" dirty="0"/>
          </a:p>
        </p:txBody>
      </p:sp>
      <p:sp>
        <p:nvSpPr>
          <p:cNvPr id="8" name="Shape 6"/>
          <p:cNvSpPr/>
          <p:nvPr/>
        </p:nvSpPr>
        <p:spPr>
          <a:xfrm>
            <a:off x="365760" y="1600200"/>
            <a:ext cx="2029968" cy="331012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9" name="Shape 7"/>
          <p:cNvSpPr/>
          <p:nvPr/>
        </p:nvSpPr>
        <p:spPr>
          <a:xfrm>
            <a:off x="365760" y="1600200"/>
            <a:ext cx="2029968" cy="365760"/>
          </a:xfrm>
          <a:prstGeom prst="rect">
            <a:avLst/>
          </a:prstGeom>
          <a:solidFill>
            <a:srgbClr val="2C5282"/>
          </a:solidFill>
          <a:ln w="12700">
            <a:solidFill>
              <a:srgbClr val="2C5282"/>
            </a:solidFill>
            <a:prstDash val="solid"/>
          </a:ln>
        </p:spPr>
        <p:txBody>
          <a:bodyPr/>
          <a:lstStyle/>
          <a:p>
            <a:endParaRPr lang="es-AR"/>
          </a:p>
        </p:txBody>
      </p:sp>
      <p:sp>
        <p:nvSpPr>
          <p:cNvPr id="10" name="Text 8"/>
          <p:cNvSpPr/>
          <p:nvPr/>
        </p:nvSpPr>
        <p:spPr>
          <a:xfrm>
            <a:off x="457200" y="1627632"/>
            <a:ext cx="1847088"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Eficiencia</a:t>
            </a:r>
            <a:endParaRPr lang="en-US" sz="1300" dirty="0"/>
          </a:p>
        </p:txBody>
      </p:sp>
      <p:sp>
        <p:nvSpPr>
          <p:cNvPr id="11" name="Text 9"/>
          <p:cNvSpPr/>
          <p:nvPr/>
        </p:nvSpPr>
        <p:spPr>
          <a:xfrm>
            <a:off x="475488" y="2029968"/>
            <a:ext cx="1810512" cy="2414016"/>
          </a:xfrm>
          <a:prstGeom prst="rect">
            <a:avLst/>
          </a:prstGeom>
          <a:noFill/>
          <a:ln/>
        </p:spPr>
        <p:txBody>
          <a:bodyPr wrap="square" lIns="0" tIns="0" rIns="0" bIns="0" rtlCol="0" anchor="ctr"/>
          <a:lstStyle/>
          <a:p>
            <a:pPr marL="0" indent="0">
              <a:buNone/>
            </a:pPr>
            <a:r>
              <a:rPr lang="en-US" sz="1000" dirty="0">
                <a:solidFill>
                  <a:srgbClr val="1A202C"/>
                </a:solidFill>
                <a:latin typeface="Calibri" pitchFamily="34" charset="0"/>
                <a:ea typeface="Calibri" pitchFamily="34" charset="-122"/>
                <a:cs typeface="Calibri" pitchFamily="34" charset="-120"/>
              </a:rPr>
              <a:t>Usar los recursos disponibles de la mejor manera posible para lograr el mayor bienestar. Ya estaba en economía tradicional, pero aquí se exige que no sea solo maximización del PBI sino del bienestar humano.</a:t>
            </a:r>
            <a:endParaRPr lang="en-US" sz="1000" dirty="0"/>
          </a:p>
        </p:txBody>
      </p:sp>
      <p:sp>
        <p:nvSpPr>
          <p:cNvPr id="12" name="Shape 10"/>
          <p:cNvSpPr/>
          <p:nvPr/>
        </p:nvSpPr>
        <p:spPr>
          <a:xfrm>
            <a:off x="475488" y="4663440"/>
            <a:ext cx="1810512" cy="182880"/>
          </a:xfrm>
          <a:prstGeom prst="rect">
            <a:avLst/>
          </a:prstGeom>
          <a:solidFill>
            <a:srgbClr val="2C5282">
              <a:alpha val="25000"/>
            </a:srgbClr>
          </a:solidFill>
          <a:ln w="12700">
            <a:solidFill>
              <a:srgbClr val="2C5282">
                <a:alpha val="40000"/>
              </a:srgbClr>
            </a:solidFill>
            <a:prstDash val="solid"/>
          </a:ln>
        </p:spPr>
        <p:txBody>
          <a:bodyPr/>
          <a:lstStyle/>
          <a:p>
            <a:endParaRPr lang="es-AR"/>
          </a:p>
        </p:txBody>
      </p:sp>
      <p:sp>
        <p:nvSpPr>
          <p:cNvPr id="13" name="Text 11"/>
          <p:cNvSpPr/>
          <p:nvPr/>
        </p:nvSpPr>
        <p:spPr>
          <a:xfrm>
            <a:off x="475488" y="4681728"/>
            <a:ext cx="1810512" cy="146304"/>
          </a:xfrm>
          <a:prstGeom prst="rect">
            <a:avLst/>
          </a:prstGeom>
          <a:noFill/>
          <a:ln/>
        </p:spPr>
        <p:txBody>
          <a:bodyPr wrap="square" lIns="0" tIns="0" rIns="0" bIns="0" rtlCol="0" anchor="ctr"/>
          <a:lstStyle/>
          <a:p>
            <a:pPr marL="0" indent="0" algn="ctr">
              <a:buNone/>
            </a:pPr>
            <a:r>
              <a:rPr lang="en-US" sz="850" b="1" dirty="0">
                <a:solidFill>
                  <a:srgbClr val="2C5282"/>
                </a:solidFill>
                <a:latin typeface="Calibri" pitchFamily="34" charset="0"/>
                <a:ea typeface="Calibri" pitchFamily="34" charset="-122"/>
                <a:cs typeface="Calibri" pitchFamily="34" charset="-120"/>
              </a:rPr>
              <a:t>≠ maximizar PBI</a:t>
            </a:r>
            <a:endParaRPr lang="en-US" sz="850" dirty="0"/>
          </a:p>
        </p:txBody>
      </p:sp>
      <p:sp>
        <p:nvSpPr>
          <p:cNvPr id="14" name="Shape 12"/>
          <p:cNvSpPr/>
          <p:nvPr/>
        </p:nvSpPr>
        <p:spPr>
          <a:xfrm>
            <a:off x="2514600" y="1600200"/>
            <a:ext cx="2029968" cy="331012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5" name="Shape 13"/>
          <p:cNvSpPr/>
          <p:nvPr/>
        </p:nvSpPr>
        <p:spPr>
          <a:xfrm>
            <a:off x="2514600" y="1600200"/>
            <a:ext cx="2029968" cy="365760"/>
          </a:xfrm>
          <a:prstGeom prst="rect">
            <a:avLst/>
          </a:prstGeom>
          <a:solidFill>
            <a:srgbClr val="2E8B74"/>
          </a:solidFill>
          <a:ln w="12700">
            <a:solidFill>
              <a:srgbClr val="2E8B74"/>
            </a:solidFill>
            <a:prstDash val="solid"/>
          </a:ln>
        </p:spPr>
        <p:txBody>
          <a:bodyPr/>
          <a:lstStyle/>
          <a:p>
            <a:endParaRPr lang="es-AR"/>
          </a:p>
        </p:txBody>
      </p:sp>
      <p:sp>
        <p:nvSpPr>
          <p:cNvPr id="16" name="Text 14"/>
          <p:cNvSpPr/>
          <p:nvPr/>
        </p:nvSpPr>
        <p:spPr>
          <a:xfrm>
            <a:off x="2606040" y="1627632"/>
            <a:ext cx="1847088"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Equidad</a:t>
            </a:r>
            <a:endParaRPr lang="en-US" sz="1300" dirty="0"/>
          </a:p>
        </p:txBody>
      </p:sp>
      <p:sp>
        <p:nvSpPr>
          <p:cNvPr id="17" name="Text 15"/>
          <p:cNvSpPr/>
          <p:nvPr/>
        </p:nvSpPr>
        <p:spPr>
          <a:xfrm>
            <a:off x="2624328" y="2029968"/>
            <a:ext cx="1810512" cy="2414016"/>
          </a:xfrm>
          <a:prstGeom prst="rect">
            <a:avLst/>
          </a:prstGeom>
          <a:noFill/>
          <a:ln/>
        </p:spPr>
        <p:txBody>
          <a:bodyPr wrap="square" lIns="0" tIns="0" rIns="0" bIns="0" rtlCol="0" anchor="ctr"/>
          <a:lstStyle/>
          <a:p>
            <a:pPr marL="0" indent="0">
              <a:buNone/>
            </a:pPr>
            <a:r>
              <a:rPr lang="en-US" sz="1000" dirty="0">
                <a:solidFill>
                  <a:srgbClr val="1A202C"/>
                </a:solidFill>
                <a:latin typeface="Calibri" pitchFamily="34" charset="0"/>
                <a:ea typeface="Calibri" pitchFamily="34" charset="-122"/>
                <a:cs typeface="Calibri" pitchFamily="34" charset="-120"/>
              </a:rPr>
              <a:t>Igualdad de oportunidades: ayudar más a quienes parten en desventaja para nivelar el campo de juego. Distinto de igualdad (darle lo mismo a todos). La equidad busca igualar el punto de partida.</a:t>
            </a:r>
            <a:endParaRPr lang="en-US" sz="1000" dirty="0"/>
          </a:p>
        </p:txBody>
      </p:sp>
      <p:sp>
        <p:nvSpPr>
          <p:cNvPr id="18" name="Shape 16"/>
          <p:cNvSpPr/>
          <p:nvPr/>
        </p:nvSpPr>
        <p:spPr>
          <a:xfrm>
            <a:off x="2624328" y="4663440"/>
            <a:ext cx="1810512" cy="182880"/>
          </a:xfrm>
          <a:prstGeom prst="rect">
            <a:avLst/>
          </a:prstGeom>
          <a:solidFill>
            <a:srgbClr val="2E8B74">
              <a:alpha val="25000"/>
            </a:srgbClr>
          </a:solidFill>
          <a:ln w="12700">
            <a:solidFill>
              <a:srgbClr val="2E8B74">
                <a:alpha val="40000"/>
              </a:srgbClr>
            </a:solidFill>
            <a:prstDash val="solid"/>
          </a:ln>
        </p:spPr>
        <p:txBody>
          <a:bodyPr/>
          <a:lstStyle/>
          <a:p>
            <a:endParaRPr lang="es-AR"/>
          </a:p>
        </p:txBody>
      </p:sp>
      <p:sp>
        <p:nvSpPr>
          <p:cNvPr id="19" name="Text 17"/>
          <p:cNvSpPr/>
          <p:nvPr/>
        </p:nvSpPr>
        <p:spPr>
          <a:xfrm>
            <a:off x="2624328" y="4681728"/>
            <a:ext cx="1810512" cy="146304"/>
          </a:xfrm>
          <a:prstGeom prst="rect">
            <a:avLst/>
          </a:prstGeom>
          <a:noFill/>
          <a:ln/>
        </p:spPr>
        <p:txBody>
          <a:bodyPr wrap="square" lIns="0" tIns="0" rIns="0" bIns="0" rtlCol="0" anchor="ctr"/>
          <a:lstStyle/>
          <a:p>
            <a:pPr marL="0" indent="0" algn="ctr">
              <a:buNone/>
            </a:pPr>
            <a:r>
              <a:rPr lang="en-US" sz="850" b="1" dirty="0">
                <a:solidFill>
                  <a:srgbClr val="2E8B74"/>
                </a:solidFill>
                <a:latin typeface="Calibri" pitchFamily="34" charset="0"/>
                <a:ea typeface="Calibri" pitchFamily="34" charset="-122"/>
                <a:cs typeface="Calibri" pitchFamily="34" charset="-120"/>
              </a:rPr>
              <a:t>Level playing field</a:t>
            </a:r>
            <a:endParaRPr lang="en-US" sz="850" dirty="0"/>
          </a:p>
        </p:txBody>
      </p:sp>
      <p:sp>
        <p:nvSpPr>
          <p:cNvPr id="20" name="Shape 18"/>
          <p:cNvSpPr/>
          <p:nvPr/>
        </p:nvSpPr>
        <p:spPr>
          <a:xfrm>
            <a:off x="4663440" y="1600200"/>
            <a:ext cx="2029968" cy="331012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1" name="Shape 19"/>
          <p:cNvSpPr/>
          <p:nvPr/>
        </p:nvSpPr>
        <p:spPr>
          <a:xfrm>
            <a:off x="4663440" y="1600200"/>
            <a:ext cx="2029968" cy="365760"/>
          </a:xfrm>
          <a:prstGeom prst="rect">
            <a:avLst/>
          </a:prstGeom>
          <a:solidFill>
            <a:srgbClr val="C0533A"/>
          </a:solidFill>
          <a:ln w="12700">
            <a:solidFill>
              <a:srgbClr val="C0533A"/>
            </a:solidFill>
            <a:prstDash val="solid"/>
          </a:ln>
        </p:spPr>
        <p:txBody>
          <a:bodyPr/>
          <a:lstStyle/>
          <a:p>
            <a:endParaRPr lang="es-AR"/>
          </a:p>
        </p:txBody>
      </p:sp>
      <p:sp>
        <p:nvSpPr>
          <p:cNvPr id="22" name="Text 20"/>
          <p:cNvSpPr/>
          <p:nvPr/>
        </p:nvSpPr>
        <p:spPr>
          <a:xfrm>
            <a:off x="4754880" y="1627632"/>
            <a:ext cx="1847088"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Potenciación</a:t>
            </a:r>
            <a:endParaRPr lang="en-US" sz="1300" dirty="0"/>
          </a:p>
        </p:txBody>
      </p:sp>
      <p:sp>
        <p:nvSpPr>
          <p:cNvPr id="23" name="Text 21"/>
          <p:cNvSpPr/>
          <p:nvPr/>
        </p:nvSpPr>
        <p:spPr>
          <a:xfrm>
            <a:off x="4773168" y="2029968"/>
            <a:ext cx="1810512" cy="2414016"/>
          </a:xfrm>
          <a:prstGeom prst="rect">
            <a:avLst/>
          </a:prstGeom>
          <a:noFill/>
          <a:ln/>
        </p:spPr>
        <p:txBody>
          <a:bodyPr wrap="square" lIns="0" tIns="0" rIns="0" bIns="0" rtlCol="0" anchor="ctr"/>
          <a:lstStyle/>
          <a:p>
            <a:pPr marL="0" indent="0">
              <a:buNone/>
            </a:pPr>
            <a:r>
              <a:rPr lang="en-US" sz="1000" dirty="0">
                <a:solidFill>
                  <a:srgbClr val="1A202C"/>
                </a:solidFill>
                <a:latin typeface="Calibri" pitchFamily="34" charset="0"/>
                <a:ea typeface="Calibri" pitchFamily="34" charset="-122"/>
                <a:cs typeface="Calibri" pitchFamily="34" charset="-120"/>
              </a:rPr>
              <a:t>Las personas deben ser actores activos de su propio desarrollo. Deben tener poder y capacidad para decidir sobre su vida, no ser receptores pasivos. Conecta directamente con el concepto de Agencia de Sen.</a:t>
            </a:r>
            <a:endParaRPr lang="en-US" sz="1000" dirty="0"/>
          </a:p>
        </p:txBody>
      </p:sp>
      <p:sp>
        <p:nvSpPr>
          <p:cNvPr id="24" name="Shape 22"/>
          <p:cNvSpPr/>
          <p:nvPr/>
        </p:nvSpPr>
        <p:spPr>
          <a:xfrm>
            <a:off x="4773168" y="4663440"/>
            <a:ext cx="1810512" cy="182880"/>
          </a:xfrm>
          <a:prstGeom prst="rect">
            <a:avLst/>
          </a:prstGeom>
          <a:solidFill>
            <a:srgbClr val="C0533A">
              <a:alpha val="25000"/>
            </a:srgbClr>
          </a:solidFill>
          <a:ln w="12700">
            <a:solidFill>
              <a:srgbClr val="C0533A">
                <a:alpha val="40000"/>
              </a:srgbClr>
            </a:solidFill>
            <a:prstDash val="solid"/>
          </a:ln>
        </p:spPr>
        <p:txBody>
          <a:bodyPr/>
          <a:lstStyle/>
          <a:p>
            <a:endParaRPr lang="es-AR"/>
          </a:p>
        </p:txBody>
      </p:sp>
      <p:sp>
        <p:nvSpPr>
          <p:cNvPr id="25" name="Text 23"/>
          <p:cNvSpPr/>
          <p:nvPr/>
        </p:nvSpPr>
        <p:spPr>
          <a:xfrm>
            <a:off x="4773168" y="4681728"/>
            <a:ext cx="1810512" cy="146304"/>
          </a:xfrm>
          <a:prstGeom prst="rect">
            <a:avLst/>
          </a:prstGeom>
          <a:noFill/>
          <a:ln/>
        </p:spPr>
        <p:txBody>
          <a:bodyPr wrap="square" lIns="0" tIns="0" rIns="0" bIns="0" rtlCol="0" anchor="ctr"/>
          <a:lstStyle/>
          <a:p>
            <a:pPr marL="0" indent="0" algn="ctr">
              <a:buNone/>
            </a:pPr>
            <a:r>
              <a:rPr lang="en-US" sz="850" b="1" dirty="0">
                <a:solidFill>
                  <a:srgbClr val="C0533A"/>
                </a:solidFill>
                <a:latin typeface="Calibri" pitchFamily="34" charset="0"/>
                <a:ea typeface="Calibri" pitchFamily="34" charset="-122"/>
                <a:cs typeface="Calibri" pitchFamily="34" charset="-120"/>
              </a:rPr>
              <a:t>Agencia activa</a:t>
            </a:r>
            <a:endParaRPr lang="en-US" sz="850" dirty="0"/>
          </a:p>
        </p:txBody>
      </p:sp>
      <p:sp>
        <p:nvSpPr>
          <p:cNvPr id="26" name="Shape 24"/>
          <p:cNvSpPr/>
          <p:nvPr/>
        </p:nvSpPr>
        <p:spPr>
          <a:xfrm>
            <a:off x="6812280" y="1600200"/>
            <a:ext cx="2029968" cy="331012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7" name="Shape 25"/>
          <p:cNvSpPr/>
          <p:nvPr/>
        </p:nvSpPr>
        <p:spPr>
          <a:xfrm>
            <a:off x="6812280" y="1600200"/>
            <a:ext cx="2029968" cy="365760"/>
          </a:xfrm>
          <a:prstGeom prst="rect">
            <a:avLst/>
          </a:prstGeom>
          <a:solidFill>
            <a:srgbClr val="7B5EA7"/>
          </a:solidFill>
          <a:ln w="12700">
            <a:solidFill>
              <a:srgbClr val="7B5EA7"/>
            </a:solidFill>
            <a:prstDash val="solid"/>
          </a:ln>
        </p:spPr>
        <p:txBody>
          <a:bodyPr/>
          <a:lstStyle/>
          <a:p>
            <a:endParaRPr lang="es-AR"/>
          </a:p>
        </p:txBody>
      </p:sp>
      <p:sp>
        <p:nvSpPr>
          <p:cNvPr id="28" name="Text 26"/>
          <p:cNvSpPr/>
          <p:nvPr/>
        </p:nvSpPr>
        <p:spPr>
          <a:xfrm>
            <a:off x="6903720" y="1627632"/>
            <a:ext cx="1847088"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Sustentabilidad</a:t>
            </a:r>
            <a:endParaRPr lang="en-US" sz="1300" dirty="0"/>
          </a:p>
        </p:txBody>
      </p:sp>
      <p:sp>
        <p:nvSpPr>
          <p:cNvPr id="29" name="Text 27"/>
          <p:cNvSpPr/>
          <p:nvPr/>
        </p:nvSpPr>
        <p:spPr>
          <a:xfrm>
            <a:off x="6922008" y="2029968"/>
            <a:ext cx="1810512" cy="2414016"/>
          </a:xfrm>
          <a:prstGeom prst="rect">
            <a:avLst/>
          </a:prstGeom>
          <a:noFill/>
          <a:ln/>
        </p:spPr>
        <p:txBody>
          <a:bodyPr wrap="square" lIns="0" tIns="0" rIns="0" bIns="0" rtlCol="0" anchor="ctr"/>
          <a:lstStyle/>
          <a:p>
            <a:pPr marL="0" indent="0">
              <a:buNone/>
            </a:pPr>
            <a:r>
              <a:rPr lang="en-US" sz="1000" dirty="0">
                <a:solidFill>
                  <a:srgbClr val="1A202C"/>
                </a:solidFill>
                <a:latin typeface="Calibri" pitchFamily="34" charset="0"/>
                <a:ea typeface="Calibri" pitchFamily="34" charset="-122"/>
                <a:cs typeface="Calibri" pitchFamily="34" charset="-120"/>
              </a:rPr>
              <a:t>El desarrollo debe perdurar en el tiempo sin destruir recursos para el futuro. Incluye: sustentabilidad social, política, cultural y financiera. No solo medioambiental.</a:t>
            </a:r>
            <a:endParaRPr lang="en-US" sz="1000" dirty="0"/>
          </a:p>
        </p:txBody>
      </p:sp>
      <p:sp>
        <p:nvSpPr>
          <p:cNvPr id="30" name="Shape 28"/>
          <p:cNvSpPr/>
          <p:nvPr/>
        </p:nvSpPr>
        <p:spPr>
          <a:xfrm>
            <a:off x="6922008" y="4663440"/>
            <a:ext cx="1810512" cy="182880"/>
          </a:xfrm>
          <a:prstGeom prst="rect">
            <a:avLst/>
          </a:prstGeom>
          <a:solidFill>
            <a:srgbClr val="7B5EA7">
              <a:alpha val="25000"/>
            </a:srgbClr>
          </a:solidFill>
          <a:ln w="12700">
            <a:solidFill>
              <a:srgbClr val="7B5EA7">
                <a:alpha val="40000"/>
              </a:srgbClr>
            </a:solidFill>
            <a:prstDash val="solid"/>
          </a:ln>
        </p:spPr>
        <p:txBody>
          <a:bodyPr/>
          <a:lstStyle/>
          <a:p>
            <a:endParaRPr lang="es-AR"/>
          </a:p>
        </p:txBody>
      </p:sp>
      <p:sp>
        <p:nvSpPr>
          <p:cNvPr id="31" name="Text 29"/>
          <p:cNvSpPr/>
          <p:nvPr/>
        </p:nvSpPr>
        <p:spPr>
          <a:xfrm>
            <a:off x="6922008" y="4681728"/>
            <a:ext cx="1810512" cy="146304"/>
          </a:xfrm>
          <a:prstGeom prst="rect">
            <a:avLst/>
          </a:prstGeom>
          <a:noFill/>
          <a:ln/>
        </p:spPr>
        <p:txBody>
          <a:bodyPr wrap="square" lIns="0" tIns="0" rIns="0" bIns="0" rtlCol="0" anchor="ctr"/>
          <a:lstStyle/>
          <a:p>
            <a:pPr marL="0" indent="0" algn="ctr">
              <a:buNone/>
            </a:pPr>
            <a:r>
              <a:rPr lang="en-US" sz="850" b="1" dirty="0">
                <a:solidFill>
                  <a:srgbClr val="7B5EA7"/>
                </a:solidFill>
                <a:latin typeface="Calibri" pitchFamily="34" charset="0"/>
                <a:ea typeface="Calibri" pitchFamily="34" charset="-122"/>
                <a:cs typeface="Calibri" pitchFamily="34" charset="-120"/>
              </a:rPr>
              <a:t>Para generaciones futuras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C0533A"/>
          </a:solidFill>
          <a:ln w="12700">
            <a:solidFill>
              <a:srgbClr val="C0533A"/>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Bienestar, Desigualdad y Pobreza</a:t>
            </a:r>
            <a:endParaRPr lang="en-US" sz="2800" dirty="0"/>
          </a:p>
        </p:txBody>
      </p:sp>
      <p:sp>
        <p:nvSpPr>
          <p:cNvPr id="5" name="Shape 3"/>
          <p:cNvSpPr/>
          <p:nvPr/>
        </p:nvSpPr>
        <p:spPr>
          <a:xfrm>
            <a:off x="457200" y="731520"/>
            <a:ext cx="36576" cy="201168"/>
          </a:xfrm>
          <a:prstGeom prst="rect">
            <a:avLst/>
          </a:prstGeom>
          <a:solidFill>
            <a:srgbClr val="C0533A"/>
          </a:solidFill>
          <a:ln w="12700">
            <a:solidFill>
              <a:srgbClr val="C0533A"/>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C0533A"/>
                </a:solidFill>
                <a:latin typeface="Calibri" pitchFamily="34" charset="0"/>
                <a:ea typeface="Calibri" pitchFamily="34" charset="-122"/>
                <a:cs typeface="Calibri" pitchFamily="34" charset="-120"/>
              </a:rPr>
              <a:t>U3.1 — TRES CONCEPTOS DISTINTOS PERO RELACIONADOS</a:t>
            </a:r>
            <a:endParaRPr lang="en-US" sz="900" dirty="0"/>
          </a:p>
        </p:txBody>
      </p:sp>
      <p:sp>
        <p:nvSpPr>
          <p:cNvPr id="7" name="Shape 5"/>
          <p:cNvSpPr/>
          <p:nvPr/>
        </p:nvSpPr>
        <p:spPr>
          <a:xfrm>
            <a:off x="365760" y="1024128"/>
            <a:ext cx="2651760" cy="376732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24128"/>
            <a:ext cx="2651760" cy="365760"/>
          </a:xfrm>
          <a:prstGeom prst="rect">
            <a:avLst/>
          </a:prstGeom>
          <a:solidFill>
            <a:srgbClr val="2C5282"/>
          </a:solidFill>
          <a:ln w="12700">
            <a:solidFill>
              <a:srgbClr val="2C5282"/>
            </a:solidFill>
            <a:prstDash val="solid"/>
          </a:ln>
        </p:spPr>
        <p:txBody>
          <a:bodyPr/>
          <a:lstStyle/>
          <a:p>
            <a:endParaRPr lang="es-AR"/>
          </a:p>
        </p:txBody>
      </p:sp>
      <p:sp>
        <p:nvSpPr>
          <p:cNvPr id="9" name="Text 7"/>
          <p:cNvSpPr/>
          <p:nvPr/>
        </p:nvSpPr>
        <p:spPr>
          <a:xfrm>
            <a:off x="457200" y="1051560"/>
            <a:ext cx="2468880" cy="310896"/>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Bienestar</a:t>
            </a:r>
            <a:endParaRPr lang="en-US" sz="1400" dirty="0"/>
          </a:p>
        </p:txBody>
      </p:sp>
      <p:sp>
        <p:nvSpPr>
          <p:cNvPr id="10" name="Text 8"/>
          <p:cNvSpPr/>
          <p:nvPr/>
        </p:nvSpPr>
        <p:spPr>
          <a:xfrm>
            <a:off x="475488" y="1481328"/>
            <a:ext cx="2432304" cy="219456"/>
          </a:xfrm>
          <a:prstGeom prst="rect">
            <a:avLst/>
          </a:prstGeom>
          <a:noFill/>
          <a:ln/>
        </p:spPr>
        <p:txBody>
          <a:bodyPr wrap="square" lIns="0" tIns="0" rIns="0" bIns="0" rtlCol="0" anchor="ctr"/>
          <a:lstStyle/>
          <a:p>
            <a:pPr marL="0" indent="0">
              <a:buNone/>
            </a:pPr>
            <a:r>
              <a:rPr lang="en-US" sz="900" b="1" dirty="0">
                <a:solidFill>
                  <a:srgbClr val="2C5282"/>
                </a:solidFill>
                <a:latin typeface="Calibri" pitchFamily="34" charset="0"/>
                <a:ea typeface="Calibri" pitchFamily="34" charset="-122"/>
                <a:cs typeface="Calibri" pitchFamily="34" charset="-120"/>
              </a:rPr>
              <a:t>Definición:</a:t>
            </a:r>
            <a:endParaRPr lang="en-US" sz="900" dirty="0"/>
          </a:p>
        </p:txBody>
      </p:sp>
      <p:sp>
        <p:nvSpPr>
          <p:cNvPr id="11" name="Text 9"/>
          <p:cNvSpPr/>
          <p:nvPr/>
        </p:nvSpPr>
        <p:spPr>
          <a:xfrm>
            <a:off x="475488" y="1700784"/>
            <a:ext cx="2432304" cy="822960"/>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La calidad de vida de las personas. Concepto más amplio y base de los otros dos.</a:t>
            </a:r>
            <a:endParaRPr lang="en-US" sz="1050" dirty="0"/>
          </a:p>
        </p:txBody>
      </p:sp>
      <p:sp>
        <p:nvSpPr>
          <p:cNvPr id="12" name="Text 10"/>
          <p:cNvSpPr/>
          <p:nvPr/>
        </p:nvSpPr>
        <p:spPr>
          <a:xfrm>
            <a:off x="475488" y="2578608"/>
            <a:ext cx="2432304" cy="219456"/>
          </a:xfrm>
          <a:prstGeom prst="rect">
            <a:avLst/>
          </a:prstGeom>
          <a:noFill/>
          <a:ln/>
        </p:spPr>
        <p:txBody>
          <a:bodyPr wrap="square" lIns="0" tIns="0" rIns="0" bIns="0" rtlCol="0" anchor="ctr"/>
          <a:lstStyle/>
          <a:p>
            <a:pPr marL="0" indent="0">
              <a:buNone/>
            </a:pPr>
            <a:r>
              <a:rPr lang="en-US" sz="900" b="1" dirty="0">
                <a:solidFill>
                  <a:srgbClr val="2C5282"/>
                </a:solidFill>
                <a:latin typeface="Calibri" pitchFamily="34" charset="0"/>
                <a:ea typeface="Calibri" pitchFamily="34" charset="-122"/>
                <a:cs typeface="Calibri" pitchFamily="34" charset="-120"/>
              </a:rPr>
              <a:t>Relación:</a:t>
            </a:r>
            <a:endParaRPr lang="en-US" sz="900" dirty="0"/>
          </a:p>
        </p:txBody>
      </p:sp>
      <p:sp>
        <p:nvSpPr>
          <p:cNvPr id="13" name="Shape 11"/>
          <p:cNvSpPr/>
          <p:nvPr/>
        </p:nvSpPr>
        <p:spPr>
          <a:xfrm>
            <a:off x="475488" y="2798064"/>
            <a:ext cx="2432304" cy="256032"/>
          </a:xfrm>
          <a:prstGeom prst="rect">
            <a:avLst/>
          </a:prstGeom>
          <a:solidFill>
            <a:srgbClr val="2C5282">
              <a:alpha val="18000"/>
            </a:srgbClr>
          </a:solidFill>
          <a:ln w="12700">
            <a:solidFill>
              <a:srgbClr val="2C5282">
                <a:alpha val="30000"/>
              </a:srgbClr>
            </a:solidFill>
            <a:prstDash val="solid"/>
          </a:ln>
        </p:spPr>
        <p:txBody>
          <a:bodyPr/>
          <a:lstStyle/>
          <a:p>
            <a:endParaRPr lang="es-AR"/>
          </a:p>
        </p:txBody>
      </p:sp>
      <p:sp>
        <p:nvSpPr>
          <p:cNvPr id="14" name="Text 12"/>
          <p:cNvSpPr/>
          <p:nvPr/>
        </p:nvSpPr>
        <p:spPr>
          <a:xfrm>
            <a:off x="475488" y="2816352"/>
            <a:ext cx="2432304" cy="219456"/>
          </a:xfrm>
          <a:prstGeom prst="rect">
            <a:avLst/>
          </a:prstGeom>
          <a:noFill/>
          <a:ln/>
        </p:spPr>
        <p:txBody>
          <a:bodyPr wrap="square" lIns="0" tIns="0" rIns="0" bIns="0" rtlCol="0" anchor="ctr"/>
          <a:lstStyle/>
          <a:p>
            <a:pPr marL="0" indent="0" algn="ctr">
              <a:buNone/>
            </a:pPr>
            <a:r>
              <a:rPr lang="en-US" sz="1000" b="1" dirty="0">
                <a:solidFill>
                  <a:srgbClr val="2C5282"/>
                </a:solidFill>
                <a:latin typeface="Calibri" pitchFamily="34" charset="0"/>
                <a:ea typeface="Calibri" pitchFamily="34" charset="-122"/>
                <a:cs typeface="Calibri" pitchFamily="34" charset="-120"/>
              </a:rPr>
              <a:t>Es el concepto base</a:t>
            </a:r>
            <a:endParaRPr lang="en-US" sz="1000" dirty="0"/>
          </a:p>
        </p:txBody>
      </p:sp>
      <p:sp>
        <p:nvSpPr>
          <p:cNvPr id="15" name="Text 13"/>
          <p:cNvSpPr/>
          <p:nvPr/>
        </p:nvSpPr>
        <p:spPr>
          <a:xfrm>
            <a:off x="475488" y="3127248"/>
            <a:ext cx="2432304" cy="219456"/>
          </a:xfrm>
          <a:prstGeom prst="rect">
            <a:avLst/>
          </a:prstGeom>
          <a:noFill/>
          <a:ln/>
        </p:spPr>
        <p:txBody>
          <a:bodyPr wrap="square" lIns="0" tIns="0" rIns="0" bIns="0" rtlCol="0" anchor="ctr"/>
          <a:lstStyle/>
          <a:p>
            <a:pPr marL="0" indent="0">
              <a:buNone/>
            </a:pPr>
            <a:r>
              <a:rPr lang="en-US" sz="900" b="1" dirty="0">
                <a:solidFill>
                  <a:srgbClr val="2C5282"/>
                </a:solidFill>
                <a:latin typeface="Calibri" pitchFamily="34" charset="0"/>
                <a:ea typeface="Calibri" pitchFamily="34" charset="-122"/>
                <a:cs typeface="Calibri" pitchFamily="34" charset="-120"/>
              </a:rPr>
              <a:t>Ejemplo:</a:t>
            </a:r>
            <a:endParaRPr lang="en-US" sz="900" dirty="0"/>
          </a:p>
        </p:txBody>
      </p:sp>
      <p:sp>
        <p:nvSpPr>
          <p:cNvPr id="16" name="Text 14"/>
          <p:cNvSpPr/>
          <p:nvPr/>
        </p:nvSpPr>
        <p:spPr>
          <a:xfrm>
            <a:off x="475488" y="3346704"/>
            <a:ext cx="2432304" cy="1298448"/>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Dos personas con el mismo ingreso pueden tener diferente bienestar: si una tiene mejor salud o mayor libertad.</a:t>
            </a:r>
            <a:endParaRPr lang="en-US" sz="1000" dirty="0"/>
          </a:p>
        </p:txBody>
      </p:sp>
      <p:sp>
        <p:nvSpPr>
          <p:cNvPr id="17" name="Shape 15"/>
          <p:cNvSpPr/>
          <p:nvPr/>
        </p:nvSpPr>
        <p:spPr>
          <a:xfrm>
            <a:off x="3246120" y="1024128"/>
            <a:ext cx="2651760" cy="376732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8" name="Shape 16"/>
          <p:cNvSpPr/>
          <p:nvPr/>
        </p:nvSpPr>
        <p:spPr>
          <a:xfrm>
            <a:off x="3246120" y="1024128"/>
            <a:ext cx="2651760" cy="365760"/>
          </a:xfrm>
          <a:prstGeom prst="rect">
            <a:avLst/>
          </a:prstGeom>
          <a:solidFill>
            <a:srgbClr val="C0533A"/>
          </a:solidFill>
          <a:ln w="12700">
            <a:solidFill>
              <a:srgbClr val="C0533A"/>
            </a:solidFill>
            <a:prstDash val="solid"/>
          </a:ln>
        </p:spPr>
        <p:txBody>
          <a:bodyPr/>
          <a:lstStyle/>
          <a:p>
            <a:endParaRPr lang="es-AR"/>
          </a:p>
        </p:txBody>
      </p:sp>
      <p:sp>
        <p:nvSpPr>
          <p:cNvPr id="19" name="Text 17"/>
          <p:cNvSpPr/>
          <p:nvPr/>
        </p:nvSpPr>
        <p:spPr>
          <a:xfrm>
            <a:off x="3337560" y="1051560"/>
            <a:ext cx="2468880" cy="310896"/>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Desigualdad</a:t>
            </a:r>
            <a:endParaRPr lang="en-US" sz="1400" dirty="0"/>
          </a:p>
        </p:txBody>
      </p:sp>
      <p:sp>
        <p:nvSpPr>
          <p:cNvPr id="20" name="Text 18"/>
          <p:cNvSpPr/>
          <p:nvPr/>
        </p:nvSpPr>
        <p:spPr>
          <a:xfrm>
            <a:off x="3355848" y="1481328"/>
            <a:ext cx="2432304" cy="219456"/>
          </a:xfrm>
          <a:prstGeom prst="rect">
            <a:avLst/>
          </a:prstGeom>
          <a:noFill/>
          <a:ln/>
        </p:spPr>
        <p:txBody>
          <a:bodyPr wrap="square" lIns="0" tIns="0" rIns="0" bIns="0" rtlCol="0" anchor="ctr"/>
          <a:lstStyle/>
          <a:p>
            <a:pPr marL="0" indent="0">
              <a:buNone/>
            </a:pPr>
            <a:r>
              <a:rPr lang="en-US" sz="900" b="1" dirty="0">
                <a:solidFill>
                  <a:srgbClr val="C0533A"/>
                </a:solidFill>
                <a:latin typeface="Calibri" pitchFamily="34" charset="0"/>
                <a:ea typeface="Calibri" pitchFamily="34" charset="-122"/>
                <a:cs typeface="Calibri" pitchFamily="34" charset="-120"/>
              </a:rPr>
              <a:t>Definición:</a:t>
            </a:r>
            <a:endParaRPr lang="en-US" sz="900" dirty="0"/>
          </a:p>
        </p:txBody>
      </p:sp>
      <p:sp>
        <p:nvSpPr>
          <p:cNvPr id="21" name="Text 19"/>
          <p:cNvSpPr/>
          <p:nvPr/>
        </p:nvSpPr>
        <p:spPr>
          <a:xfrm>
            <a:off x="3355848" y="1700784"/>
            <a:ext cx="2432304" cy="822960"/>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Las diferencias entre personas o grupos. No habla de pobreza, sino de cómo se distribuye el bienestar.</a:t>
            </a:r>
            <a:endParaRPr lang="en-US" sz="1050" dirty="0"/>
          </a:p>
        </p:txBody>
      </p:sp>
      <p:sp>
        <p:nvSpPr>
          <p:cNvPr id="22" name="Text 20"/>
          <p:cNvSpPr/>
          <p:nvPr/>
        </p:nvSpPr>
        <p:spPr>
          <a:xfrm>
            <a:off x="3355848" y="2578608"/>
            <a:ext cx="2432304" cy="219456"/>
          </a:xfrm>
          <a:prstGeom prst="rect">
            <a:avLst/>
          </a:prstGeom>
          <a:noFill/>
          <a:ln/>
        </p:spPr>
        <p:txBody>
          <a:bodyPr wrap="square" lIns="0" tIns="0" rIns="0" bIns="0" rtlCol="0" anchor="ctr"/>
          <a:lstStyle/>
          <a:p>
            <a:pPr marL="0" indent="0">
              <a:buNone/>
            </a:pPr>
            <a:r>
              <a:rPr lang="en-US" sz="900" b="1" dirty="0">
                <a:solidFill>
                  <a:srgbClr val="C0533A"/>
                </a:solidFill>
                <a:latin typeface="Calibri" pitchFamily="34" charset="0"/>
                <a:ea typeface="Calibri" pitchFamily="34" charset="-122"/>
                <a:cs typeface="Calibri" pitchFamily="34" charset="-120"/>
              </a:rPr>
              <a:t>Relación:</a:t>
            </a:r>
            <a:endParaRPr lang="en-US" sz="900" dirty="0"/>
          </a:p>
        </p:txBody>
      </p:sp>
      <p:sp>
        <p:nvSpPr>
          <p:cNvPr id="23" name="Shape 21"/>
          <p:cNvSpPr/>
          <p:nvPr/>
        </p:nvSpPr>
        <p:spPr>
          <a:xfrm>
            <a:off x="3355848" y="2798064"/>
            <a:ext cx="2432304" cy="256032"/>
          </a:xfrm>
          <a:prstGeom prst="rect">
            <a:avLst/>
          </a:prstGeom>
          <a:solidFill>
            <a:srgbClr val="C0533A">
              <a:alpha val="18000"/>
            </a:srgbClr>
          </a:solidFill>
          <a:ln w="12700">
            <a:solidFill>
              <a:srgbClr val="C0533A">
                <a:alpha val="30000"/>
              </a:srgbClr>
            </a:solidFill>
            <a:prstDash val="solid"/>
          </a:ln>
        </p:spPr>
        <p:txBody>
          <a:bodyPr/>
          <a:lstStyle/>
          <a:p>
            <a:endParaRPr lang="es-AR"/>
          </a:p>
        </p:txBody>
      </p:sp>
      <p:sp>
        <p:nvSpPr>
          <p:cNvPr id="24" name="Text 22"/>
          <p:cNvSpPr/>
          <p:nvPr/>
        </p:nvSpPr>
        <p:spPr>
          <a:xfrm>
            <a:off x="3355848" y="2816352"/>
            <a:ext cx="2432304" cy="219456"/>
          </a:xfrm>
          <a:prstGeom prst="rect">
            <a:avLst/>
          </a:prstGeom>
          <a:noFill/>
          <a:ln/>
        </p:spPr>
        <p:txBody>
          <a:bodyPr wrap="square" lIns="0" tIns="0" rIns="0" bIns="0" rtlCol="0" anchor="ctr"/>
          <a:lstStyle/>
          <a:p>
            <a:pPr marL="0" indent="0" algn="ctr">
              <a:buNone/>
            </a:pPr>
            <a:r>
              <a:rPr lang="en-US" sz="1000" b="1" dirty="0">
                <a:solidFill>
                  <a:srgbClr val="C0533A"/>
                </a:solidFill>
                <a:latin typeface="Calibri" pitchFamily="34" charset="0"/>
                <a:ea typeface="Calibri" pitchFamily="34" charset="-122"/>
                <a:cs typeface="Calibri" pitchFamily="34" charset="-120"/>
              </a:rPr>
              <a:t>Diferencias de bienestar</a:t>
            </a:r>
            <a:endParaRPr lang="en-US" sz="1000" dirty="0"/>
          </a:p>
        </p:txBody>
      </p:sp>
      <p:sp>
        <p:nvSpPr>
          <p:cNvPr id="25" name="Text 23"/>
          <p:cNvSpPr/>
          <p:nvPr/>
        </p:nvSpPr>
        <p:spPr>
          <a:xfrm>
            <a:off x="3355848" y="3127248"/>
            <a:ext cx="2432304" cy="219456"/>
          </a:xfrm>
          <a:prstGeom prst="rect">
            <a:avLst/>
          </a:prstGeom>
          <a:noFill/>
          <a:ln/>
        </p:spPr>
        <p:txBody>
          <a:bodyPr wrap="square" lIns="0" tIns="0" rIns="0" bIns="0" rtlCol="0" anchor="ctr"/>
          <a:lstStyle/>
          <a:p>
            <a:pPr marL="0" indent="0">
              <a:buNone/>
            </a:pPr>
            <a:r>
              <a:rPr lang="en-US" sz="900" b="1" dirty="0">
                <a:solidFill>
                  <a:srgbClr val="C0533A"/>
                </a:solidFill>
                <a:latin typeface="Calibri" pitchFamily="34" charset="0"/>
                <a:ea typeface="Calibri" pitchFamily="34" charset="-122"/>
                <a:cs typeface="Calibri" pitchFamily="34" charset="-120"/>
              </a:rPr>
              <a:t>Ejemplo:</a:t>
            </a:r>
            <a:endParaRPr lang="en-US" sz="900" dirty="0"/>
          </a:p>
        </p:txBody>
      </p:sp>
      <p:sp>
        <p:nvSpPr>
          <p:cNvPr id="26" name="Text 24"/>
          <p:cNvSpPr/>
          <p:nvPr/>
        </p:nvSpPr>
        <p:spPr>
          <a:xfrm>
            <a:off x="3355848" y="3346704"/>
            <a:ext cx="2432304" cy="1298448"/>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Puede haber desigualdad sin pobreza: una sociedad donde todos tienen suficiente pero unos tienen mucho más que otros.</a:t>
            </a:r>
            <a:endParaRPr lang="en-US" sz="1000" dirty="0"/>
          </a:p>
        </p:txBody>
      </p:sp>
      <p:sp>
        <p:nvSpPr>
          <p:cNvPr id="27" name="Shape 25"/>
          <p:cNvSpPr/>
          <p:nvPr/>
        </p:nvSpPr>
        <p:spPr>
          <a:xfrm>
            <a:off x="6126480" y="1024128"/>
            <a:ext cx="2651760" cy="376732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8" name="Shape 26"/>
          <p:cNvSpPr/>
          <p:nvPr/>
        </p:nvSpPr>
        <p:spPr>
          <a:xfrm>
            <a:off x="6126480" y="1024128"/>
            <a:ext cx="2651760" cy="365760"/>
          </a:xfrm>
          <a:prstGeom prst="rect">
            <a:avLst/>
          </a:prstGeom>
          <a:solidFill>
            <a:srgbClr val="7B5EA7"/>
          </a:solidFill>
          <a:ln w="12700">
            <a:solidFill>
              <a:srgbClr val="7B5EA7"/>
            </a:solidFill>
            <a:prstDash val="solid"/>
          </a:ln>
        </p:spPr>
        <p:txBody>
          <a:bodyPr/>
          <a:lstStyle/>
          <a:p>
            <a:endParaRPr lang="es-AR"/>
          </a:p>
        </p:txBody>
      </p:sp>
      <p:sp>
        <p:nvSpPr>
          <p:cNvPr id="29" name="Text 27"/>
          <p:cNvSpPr/>
          <p:nvPr/>
        </p:nvSpPr>
        <p:spPr>
          <a:xfrm>
            <a:off x="6217920" y="1051560"/>
            <a:ext cx="2468880" cy="310896"/>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Pobreza</a:t>
            </a:r>
            <a:endParaRPr lang="en-US" sz="1400" dirty="0"/>
          </a:p>
        </p:txBody>
      </p:sp>
      <p:sp>
        <p:nvSpPr>
          <p:cNvPr id="30" name="Text 28"/>
          <p:cNvSpPr/>
          <p:nvPr/>
        </p:nvSpPr>
        <p:spPr>
          <a:xfrm>
            <a:off x="6236208" y="1481328"/>
            <a:ext cx="2432304" cy="219456"/>
          </a:xfrm>
          <a:prstGeom prst="rect">
            <a:avLst/>
          </a:prstGeom>
          <a:noFill/>
          <a:ln/>
        </p:spPr>
        <p:txBody>
          <a:bodyPr wrap="square" lIns="0" tIns="0" rIns="0" bIns="0" rtlCol="0" anchor="ctr"/>
          <a:lstStyle/>
          <a:p>
            <a:pPr marL="0" indent="0">
              <a:buNone/>
            </a:pPr>
            <a:r>
              <a:rPr lang="en-US" sz="900" b="1" dirty="0">
                <a:solidFill>
                  <a:srgbClr val="7B5EA7"/>
                </a:solidFill>
                <a:latin typeface="Calibri" pitchFamily="34" charset="0"/>
                <a:ea typeface="Calibri" pitchFamily="34" charset="-122"/>
                <a:cs typeface="Calibri" pitchFamily="34" charset="-120"/>
              </a:rPr>
              <a:t>Definición:</a:t>
            </a:r>
            <a:endParaRPr lang="en-US" sz="900" dirty="0"/>
          </a:p>
        </p:txBody>
      </p:sp>
      <p:sp>
        <p:nvSpPr>
          <p:cNvPr id="31" name="Text 29"/>
          <p:cNvSpPr/>
          <p:nvPr/>
        </p:nvSpPr>
        <p:spPr>
          <a:xfrm>
            <a:off x="6236208" y="1700784"/>
            <a:ext cx="2432304" cy="822960"/>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Las carencias o privaciones. Falta de acceso a bienestar mínimo.</a:t>
            </a:r>
            <a:endParaRPr lang="en-US" sz="1050" dirty="0"/>
          </a:p>
        </p:txBody>
      </p:sp>
      <p:sp>
        <p:nvSpPr>
          <p:cNvPr id="32" name="Text 30"/>
          <p:cNvSpPr/>
          <p:nvPr/>
        </p:nvSpPr>
        <p:spPr>
          <a:xfrm>
            <a:off x="6236208" y="2578608"/>
            <a:ext cx="2432304" cy="219456"/>
          </a:xfrm>
          <a:prstGeom prst="rect">
            <a:avLst/>
          </a:prstGeom>
          <a:noFill/>
          <a:ln/>
        </p:spPr>
        <p:txBody>
          <a:bodyPr wrap="square" lIns="0" tIns="0" rIns="0" bIns="0" rtlCol="0" anchor="ctr"/>
          <a:lstStyle/>
          <a:p>
            <a:pPr marL="0" indent="0">
              <a:buNone/>
            </a:pPr>
            <a:r>
              <a:rPr lang="en-US" sz="900" b="1" dirty="0">
                <a:solidFill>
                  <a:srgbClr val="7B5EA7"/>
                </a:solidFill>
                <a:latin typeface="Calibri" pitchFamily="34" charset="0"/>
                <a:ea typeface="Calibri" pitchFamily="34" charset="-122"/>
                <a:cs typeface="Calibri" pitchFamily="34" charset="-120"/>
              </a:rPr>
              <a:t>Relación:</a:t>
            </a:r>
            <a:endParaRPr lang="en-US" sz="900" dirty="0"/>
          </a:p>
        </p:txBody>
      </p:sp>
      <p:sp>
        <p:nvSpPr>
          <p:cNvPr id="33" name="Shape 31"/>
          <p:cNvSpPr/>
          <p:nvPr/>
        </p:nvSpPr>
        <p:spPr>
          <a:xfrm>
            <a:off x="6236208" y="2798064"/>
            <a:ext cx="2432304" cy="256032"/>
          </a:xfrm>
          <a:prstGeom prst="rect">
            <a:avLst/>
          </a:prstGeom>
          <a:solidFill>
            <a:srgbClr val="7B5EA7">
              <a:alpha val="18000"/>
            </a:srgbClr>
          </a:solidFill>
          <a:ln w="12700">
            <a:solidFill>
              <a:srgbClr val="7B5EA7">
                <a:alpha val="30000"/>
              </a:srgbClr>
            </a:solidFill>
            <a:prstDash val="solid"/>
          </a:ln>
        </p:spPr>
        <p:txBody>
          <a:bodyPr/>
          <a:lstStyle/>
          <a:p>
            <a:endParaRPr lang="es-AR"/>
          </a:p>
        </p:txBody>
      </p:sp>
      <p:sp>
        <p:nvSpPr>
          <p:cNvPr id="34" name="Text 32"/>
          <p:cNvSpPr/>
          <p:nvPr/>
        </p:nvSpPr>
        <p:spPr>
          <a:xfrm>
            <a:off x="6236208" y="2816352"/>
            <a:ext cx="2432304" cy="219456"/>
          </a:xfrm>
          <a:prstGeom prst="rect">
            <a:avLst/>
          </a:prstGeom>
          <a:noFill/>
          <a:ln/>
        </p:spPr>
        <p:txBody>
          <a:bodyPr wrap="square" lIns="0" tIns="0" rIns="0" bIns="0" rtlCol="0" anchor="ctr"/>
          <a:lstStyle/>
          <a:p>
            <a:pPr marL="0" indent="0" algn="ctr">
              <a:buNone/>
            </a:pPr>
            <a:r>
              <a:rPr lang="en-US" sz="1000" b="1" dirty="0">
                <a:solidFill>
                  <a:srgbClr val="7B5EA7"/>
                </a:solidFill>
                <a:latin typeface="Calibri" pitchFamily="34" charset="0"/>
                <a:ea typeface="Calibri" pitchFamily="34" charset="-122"/>
                <a:cs typeface="Calibri" pitchFamily="34" charset="-120"/>
              </a:rPr>
              <a:t>Falta de bienestar</a:t>
            </a:r>
            <a:endParaRPr lang="en-US" sz="1000" dirty="0"/>
          </a:p>
        </p:txBody>
      </p:sp>
      <p:sp>
        <p:nvSpPr>
          <p:cNvPr id="35" name="Text 33"/>
          <p:cNvSpPr/>
          <p:nvPr/>
        </p:nvSpPr>
        <p:spPr>
          <a:xfrm>
            <a:off x="6236208" y="3127248"/>
            <a:ext cx="2432304" cy="219456"/>
          </a:xfrm>
          <a:prstGeom prst="rect">
            <a:avLst/>
          </a:prstGeom>
          <a:noFill/>
          <a:ln/>
        </p:spPr>
        <p:txBody>
          <a:bodyPr wrap="square" lIns="0" tIns="0" rIns="0" bIns="0" rtlCol="0" anchor="ctr"/>
          <a:lstStyle/>
          <a:p>
            <a:pPr marL="0" indent="0">
              <a:buNone/>
            </a:pPr>
            <a:r>
              <a:rPr lang="en-US" sz="900" b="1" dirty="0">
                <a:solidFill>
                  <a:srgbClr val="7B5EA7"/>
                </a:solidFill>
                <a:latin typeface="Calibri" pitchFamily="34" charset="0"/>
                <a:ea typeface="Calibri" pitchFamily="34" charset="-122"/>
                <a:cs typeface="Calibri" pitchFamily="34" charset="-120"/>
              </a:rPr>
              <a:t>Ejemplo:</a:t>
            </a:r>
            <a:endParaRPr lang="en-US" sz="900" dirty="0"/>
          </a:p>
        </p:txBody>
      </p:sp>
      <p:sp>
        <p:nvSpPr>
          <p:cNvPr id="36" name="Text 34"/>
          <p:cNvSpPr/>
          <p:nvPr/>
        </p:nvSpPr>
        <p:spPr>
          <a:xfrm>
            <a:off x="6236208" y="3346704"/>
            <a:ext cx="2432304" cy="1298448"/>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Puede haber pobreza con poca desigualdad: todos igualmente pobres.</a:t>
            </a:r>
            <a:endParaRPr lang="en-US" sz="1000" dirty="0"/>
          </a:p>
        </p:txBody>
      </p:sp>
      <p:sp>
        <p:nvSpPr>
          <p:cNvPr id="37" name="Shape 35"/>
          <p:cNvSpPr/>
          <p:nvPr/>
        </p:nvSpPr>
        <p:spPr>
          <a:xfrm>
            <a:off x="365760" y="4846320"/>
            <a:ext cx="8412480" cy="256032"/>
          </a:xfrm>
          <a:prstGeom prst="rect">
            <a:avLst/>
          </a:prstGeom>
          <a:solidFill>
            <a:srgbClr val="FFF3CD"/>
          </a:solidFill>
          <a:ln w="12700">
            <a:solidFill>
              <a:srgbClr val="CBD5E0"/>
            </a:solidFill>
            <a:prstDash val="solid"/>
          </a:ln>
        </p:spPr>
        <p:txBody>
          <a:bodyPr/>
          <a:lstStyle/>
          <a:p>
            <a:endParaRPr lang="es-AR"/>
          </a:p>
        </p:txBody>
      </p:sp>
      <p:sp>
        <p:nvSpPr>
          <p:cNvPr id="38" name="Text 36"/>
          <p:cNvSpPr/>
          <p:nvPr/>
        </p:nvSpPr>
        <p:spPr>
          <a:xfrm>
            <a:off x="548640" y="4873752"/>
            <a:ext cx="8046720" cy="201168"/>
          </a:xfrm>
          <a:prstGeom prst="rect">
            <a:avLst/>
          </a:prstGeom>
          <a:noFill/>
          <a:ln/>
        </p:spPr>
        <p:txBody>
          <a:bodyPr wrap="square" lIns="0" tIns="0" rIns="0" bIns="0" rtlCol="0" anchor="ctr"/>
          <a:lstStyle/>
          <a:p>
            <a:pPr marL="0" indent="0" algn="ctr">
              <a:buNone/>
            </a:pPr>
            <a:r>
              <a:rPr lang="en-US" sz="1050" b="1" dirty="0">
                <a:solidFill>
                  <a:srgbClr val="C0533A"/>
                </a:solidFill>
                <a:latin typeface="Calibri" pitchFamily="34" charset="0"/>
                <a:ea typeface="Calibri" pitchFamily="34" charset="-122"/>
                <a:cs typeface="Calibri" pitchFamily="34" charset="-120"/>
              </a:rPr>
              <a:t>Pobreza = falta de bienestar  ·  Desigualdad = diferencias de bienestar  ·  El bienestar es el concepto base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El Índice de Desarrollo Humano (IDH)</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U3.1 — OPERACIONALIZACIÓN DEL DESARROLLO HUMANO</a:t>
            </a:r>
            <a:endParaRPr lang="en-US" sz="900" dirty="0"/>
          </a:p>
        </p:txBody>
      </p:sp>
      <p:sp>
        <p:nvSpPr>
          <p:cNvPr id="7" name="Shape 5"/>
          <p:cNvSpPr/>
          <p:nvPr/>
        </p:nvSpPr>
        <p:spPr>
          <a:xfrm>
            <a:off x="365760" y="1005840"/>
            <a:ext cx="8412480" cy="65836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54864" cy="658368"/>
          </a:xfrm>
          <a:prstGeom prst="rect">
            <a:avLst/>
          </a:prstGeom>
          <a:solidFill>
            <a:srgbClr val="2C5282"/>
          </a:solidFill>
          <a:ln w="12700">
            <a:solidFill>
              <a:srgbClr val="2C5282"/>
            </a:solidFill>
            <a:prstDash val="solid"/>
          </a:ln>
        </p:spPr>
        <p:txBody>
          <a:bodyPr/>
          <a:lstStyle/>
          <a:p>
            <a:endParaRPr lang="es-AR"/>
          </a:p>
        </p:txBody>
      </p:sp>
      <p:sp>
        <p:nvSpPr>
          <p:cNvPr id="9" name="Text 7"/>
          <p:cNvSpPr/>
          <p:nvPr/>
        </p:nvSpPr>
        <p:spPr>
          <a:xfrm>
            <a:off x="548640" y="1060704"/>
            <a:ext cx="8046720" cy="54864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El IDH (PNUD) es la operacionalización del desarrollo humano. Combina tres dimensiones en un índice único. El ingreso aparece pero con ponderación decreciente: más ingreso no siempre suma lo mismo. Problema: es muy agregado y no captura desigualdades internas.</a:t>
            </a:r>
            <a:endParaRPr lang="en-US" sz="1200" dirty="0"/>
          </a:p>
        </p:txBody>
      </p:sp>
      <p:sp>
        <p:nvSpPr>
          <p:cNvPr id="10" name="Shape 8"/>
          <p:cNvSpPr/>
          <p:nvPr/>
        </p:nvSpPr>
        <p:spPr>
          <a:xfrm>
            <a:off x="365760" y="1783080"/>
            <a:ext cx="2651760" cy="2907792"/>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1" name="Shape 9"/>
          <p:cNvSpPr/>
          <p:nvPr/>
        </p:nvSpPr>
        <p:spPr>
          <a:xfrm>
            <a:off x="365760" y="1783080"/>
            <a:ext cx="2651760" cy="365760"/>
          </a:xfrm>
          <a:prstGeom prst="rect">
            <a:avLst/>
          </a:prstGeom>
          <a:solidFill>
            <a:srgbClr val="2C5282"/>
          </a:solidFill>
          <a:ln w="12700">
            <a:solidFill>
              <a:srgbClr val="2C5282"/>
            </a:solidFill>
            <a:prstDash val="solid"/>
          </a:ln>
        </p:spPr>
        <p:txBody>
          <a:bodyPr/>
          <a:lstStyle/>
          <a:p>
            <a:endParaRPr lang="es-AR"/>
          </a:p>
        </p:txBody>
      </p:sp>
      <p:sp>
        <p:nvSpPr>
          <p:cNvPr id="12" name="Text 10"/>
          <p:cNvSpPr/>
          <p:nvPr/>
        </p:nvSpPr>
        <p:spPr>
          <a:xfrm>
            <a:off x="457200" y="1810512"/>
            <a:ext cx="292608" cy="310896"/>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3" name="Text 11"/>
          <p:cNvSpPr/>
          <p:nvPr/>
        </p:nvSpPr>
        <p:spPr>
          <a:xfrm>
            <a:off x="768096" y="1819656"/>
            <a:ext cx="214884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Esperanza de vida al nacer</a:t>
            </a:r>
            <a:endParaRPr lang="en-US" sz="1100" dirty="0"/>
          </a:p>
        </p:txBody>
      </p:sp>
      <p:sp>
        <p:nvSpPr>
          <p:cNvPr id="14" name="Shape 12"/>
          <p:cNvSpPr/>
          <p:nvPr/>
        </p:nvSpPr>
        <p:spPr>
          <a:xfrm>
            <a:off x="475488" y="2212848"/>
            <a:ext cx="1517904" cy="201168"/>
          </a:xfrm>
          <a:prstGeom prst="rect">
            <a:avLst/>
          </a:prstGeom>
          <a:solidFill>
            <a:srgbClr val="2C5282"/>
          </a:solidFill>
          <a:ln w="12700">
            <a:solidFill>
              <a:srgbClr val="2C5282"/>
            </a:solidFill>
            <a:prstDash val="solid"/>
          </a:ln>
        </p:spPr>
        <p:txBody>
          <a:bodyPr/>
          <a:lstStyle/>
          <a:p>
            <a:endParaRPr lang="es-AR"/>
          </a:p>
        </p:txBody>
      </p:sp>
      <p:sp>
        <p:nvSpPr>
          <p:cNvPr id="15" name="Text 13"/>
          <p:cNvSpPr/>
          <p:nvPr/>
        </p:nvSpPr>
        <p:spPr>
          <a:xfrm>
            <a:off x="566928" y="2231136"/>
            <a:ext cx="1408176"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Dimensión SALUD</a:t>
            </a:r>
            <a:endParaRPr lang="en-US" sz="800" dirty="0"/>
          </a:p>
        </p:txBody>
      </p:sp>
      <p:sp>
        <p:nvSpPr>
          <p:cNvPr id="16" name="Text 14"/>
          <p:cNvSpPr/>
          <p:nvPr/>
        </p:nvSpPr>
        <p:spPr>
          <a:xfrm>
            <a:off x="475488" y="2487168"/>
            <a:ext cx="2432304" cy="208483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Proxy de mortalidad infantil y calidad del sistema de salud. Cuántos años vive en promedio una persona en ese país.</a:t>
            </a:r>
            <a:endParaRPr lang="en-US" sz="1050" dirty="0"/>
          </a:p>
        </p:txBody>
      </p:sp>
      <p:sp>
        <p:nvSpPr>
          <p:cNvPr id="17" name="Shape 15"/>
          <p:cNvSpPr/>
          <p:nvPr/>
        </p:nvSpPr>
        <p:spPr>
          <a:xfrm>
            <a:off x="3246120" y="1783080"/>
            <a:ext cx="2651760" cy="2907792"/>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8" name="Shape 16"/>
          <p:cNvSpPr/>
          <p:nvPr/>
        </p:nvSpPr>
        <p:spPr>
          <a:xfrm>
            <a:off x="3246120" y="1783080"/>
            <a:ext cx="2651760" cy="365760"/>
          </a:xfrm>
          <a:prstGeom prst="rect">
            <a:avLst/>
          </a:prstGeom>
          <a:solidFill>
            <a:srgbClr val="2E8B74"/>
          </a:solidFill>
          <a:ln w="12700">
            <a:solidFill>
              <a:srgbClr val="2E8B74"/>
            </a:solidFill>
            <a:prstDash val="solid"/>
          </a:ln>
        </p:spPr>
        <p:txBody>
          <a:bodyPr/>
          <a:lstStyle/>
          <a:p>
            <a:endParaRPr lang="es-AR"/>
          </a:p>
        </p:txBody>
      </p:sp>
      <p:sp>
        <p:nvSpPr>
          <p:cNvPr id="19" name="Text 17"/>
          <p:cNvSpPr/>
          <p:nvPr/>
        </p:nvSpPr>
        <p:spPr>
          <a:xfrm>
            <a:off x="3337560" y="1810512"/>
            <a:ext cx="292608" cy="310896"/>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20" name="Text 18"/>
          <p:cNvSpPr/>
          <p:nvPr/>
        </p:nvSpPr>
        <p:spPr>
          <a:xfrm>
            <a:off x="3648456" y="1819656"/>
            <a:ext cx="214884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Nivel educativo compuesto</a:t>
            </a:r>
            <a:endParaRPr lang="en-US" sz="1100" dirty="0"/>
          </a:p>
        </p:txBody>
      </p:sp>
      <p:sp>
        <p:nvSpPr>
          <p:cNvPr id="21" name="Shape 19"/>
          <p:cNvSpPr/>
          <p:nvPr/>
        </p:nvSpPr>
        <p:spPr>
          <a:xfrm>
            <a:off x="3355848" y="2212848"/>
            <a:ext cx="1854403" cy="201168"/>
          </a:xfrm>
          <a:prstGeom prst="rect">
            <a:avLst/>
          </a:prstGeom>
          <a:solidFill>
            <a:srgbClr val="2E8B74"/>
          </a:solidFill>
          <a:ln w="12700">
            <a:solidFill>
              <a:srgbClr val="2E8B74"/>
            </a:solidFill>
            <a:prstDash val="solid"/>
          </a:ln>
        </p:spPr>
        <p:txBody>
          <a:bodyPr/>
          <a:lstStyle/>
          <a:p>
            <a:endParaRPr lang="es-AR"/>
          </a:p>
        </p:txBody>
      </p:sp>
      <p:sp>
        <p:nvSpPr>
          <p:cNvPr id="22" name="Text 20"/>
          <p:cNvSpPr/>
          <p:nvPr/>
        </p:nvSpPr>
        <p:spPr>
          <a:xfrm>
            <a:off x="3447288" y="2231136"/>
            <a:ext cx="1744675"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Dimensión EDUCACIÓN</a:t>
            </a:r>
            <a:endParaRPr lang="en-US" sz="800" dirty="0"/>
          </a:p>
        </p:txBody>
      </p:sp>
      <p:sp>
        <p:nvSpPr>
          <p:cNvPr id="23" name="Text 21"/>
          <p:cNvSpPr/>
          <p:nvPr/>
        </p:nvSpPr>
        <p:spPr>
          <a:xfrm>
            <a:off x="3355848" y="2487168"/>
            <a:ext cx="2432304" cy="208483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2/3 → % adultos alfabetizados</a:t>
            </a:r>
            <a:endParaRPr lang="en-US" sz="1050" dirty="0"/>
          </a:p>
          <a:p>
            <a:pPr marL="0" indent="0">
              <a:buNone/>
            </a:pPr>
            <a:r>
              <a:rPr lang="en-US" sz="1050" dirty="0">
                <a:solidFill>
                  <a:srgbClr val="1A202C"/>
                </a:solidFill>
                <a:latin typeface="Calibri" pitchFamily="34" charset="0"/>
                <a:ea typeface="Calibri" pitchFamily="34" charset="-122"/>
                <a:cs typeface="Calibri" pitchFamily="34" charset="-120"/>
              </a:rPr>
              <a:t>1/3 → tasa de escolarización (primaria, secundaria, terciaria). Mide acceso Y resultado educativo.</a:t>
            </a:r>
            <a:endParaRPr lang="en-US" sz="1050" dirty="0"/>
          </a:p>
        </p:txBody>
      </p:sp>
      <p:sp>
        <p:nvSpPr>
          <p:cNvPr id="24" name="Shape 22"/>
          <p:cNvSpPr/>
          <p:nvPr/>
        </p:nvSpPr>
        <p:spPr>
          <a:xfrm>
            <a:off x="6126480" y="1783080"/>
            <a:ext cx="2651760" cy="2907792"/>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5" name="Shape 23"/>
          <p:cNvSpPr/>
          <p:nvPr/>
        </p:nvSpPr>
        <p:spPr>
          <a:xfrm>
            <a:off x="6126480" y="1783080"/>
            <a:ext cx="2651760" cy="365760"/>
          </a:xfrm>
          <a:prstGeom prst="rect">
            <a:avLst/>
          </a:prstGeom>
          <a:solidFill>
            <a:srgbClr val="C0533A"/>
          </a:solidFill>
          <a:ln w="12700">
            <a:solidFill>
              <a:srgbClr val="C0533A"/>
            </a:solidFill>
            <a:prstDash val="solid"/>
          </a:ln>
        </p:spPr>
        <p:txBody>
          <a:bodyPr/>
          <a:lstStyle/>
          <a:p>
            <a:endParaRPr lang="es-AR"/>
          </a:p>
        </p:txBody>
      </p:sp>
      <p:sp>
        <p:nvSpPr>
          <p:cNvPr id="26" name="Text 24"/>
          <p:cNvSpPr/>
          <p:nvPr/>
        </p:nvSpPr>
        <p:spPr>
          <a:xfrm>
            <a:off x="6217920" y="1810512"/>
            <a:ext cx="292608" cy="310896"/>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7" name="Text 25"/>
          <p:cNvSpPr/>
          <p:nvPr/>
        </p:nvSpPr>
        <p:spPr>
          <a:xfrm>
            <a:off x="6528816" y="1819656"/>
            <a:ext cx="214884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Renta per cápita (PPA)</a:t>
            </a:r>
            <a:endParaRPr lang="en-US" sz="1100" dirty="0"/>
          </a:p>
        </p:txBody>
      </p:sp>
      <p:sp>
        <p:nvSpPr>
          <p:cNvPr id="28" name="Shape 26"/>
          <p:cNvSpPr/>
          <p:nvPr/>
        </p:nvSpPr>
        <p:spPr>
          <a:xfrm>
            <a:off x="6236208" y="2212848"/>
            <a:ext cx="1686154" cy="201168"/>
          </a:xfrm>
          <a:prstGeom prst="rect">
            <a:avLst/>
          </a:prstGeom>
          <a:solidFill>
            <a:srgbClr val="C0533A"/>
          </a:solidFill>
          <a:ln w="12700">
            <a:solidFill>
              <a:srgbClr val="C0533A"/>
            </a:solidFill>
            <a:prstDash val="solid"/>
          </a:ln>
        </p:spPr>
        <p:txBody>
          <a:bodyPr/>
          <a:lstStyle/>
          <a:p>
            <a:endParaRPr lang="es-AR"/>
          </a:p>
        </p:txBody>
      </p:sp>
      <p:sp>
        <p:nvSpPr>
          <p:cNvPr id="29" name="Text 27"/>
          <p:cNvSpPr/>
          <p:nvPr/>
        </p:nvSpPr>
        <p:spPr>
          <a:xfrm>
            <a:off x="6327648" y="2231136"/>
            <a:ext cx="1576426"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Dimensión INGRESO</a:t>
            </a:r>
            <a:endParaRPr lang="en-US" sz="800" dirty="0"/>
          </a:p>
        </p:txBody>
      </p:sp>
      <p:sp>
        <p:nvSpPr>
          <p:cNvPr id="30" name="Text 28"/>
          <p:cNvSpPr/>
          <p:nvPr/>
        </p:nvSpPr>
        <p:spPr>
          <a:xfrm>
            <a:off x="6236208" y="2487168"/>
            <a:ext cx="2432304" cy="208483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Ingresos en dólares internacionales con Paridad de Poder Adquisitivo. Con rendimientos decrecientes: a partir de cierto umbral, más ingreso suma cada vez menos.</a:t>
            </a:r>
            <a:endParaRPr lang="en-US" sz="1050" dirty="0"/>
          </a:p>
        </p:txBody>
      </p:sp>
      <p:sp>
        <p:nvSpPr>
          <p:cNvPr id="31" name="Shape 29"/>
          <p:cNvSpPr/>
          <p:nvPr/>
        </p:nvSpPr>
        <p:spPr>
          <a:xfrm>
            <a:off x="365760" y="4773168"/>
            <a:ext cx="8412480" cy="320040"/>
          </a:xfrm>
          <a:prstGeom prst="rect">
            <a:avLst/>
          </a:prstGeom>
          <a:solidFill>
            <a:srgbClr val="EEF2FF"/>
          </a:solidFill>
          <a:ln w="12700">
            <a:solidFill>
              <a:srgbClr val="CBD5E0"/>
            </a:solidFill>
            <a:prstDash val="solid"/>
          </a:ln>
        </p:spPr>
        <p:txBody>
          <a:bodyPr/>
          <a:lstStyle/>
          <a:p>
            <a:endParaRPr lang="es-AR"/>
          </a:p>
        </p:txBody>
      </p:sp>
      <p:sp>
        <p:nvSpPr>
          <p:cNvPr id="32" name="Text 30"/>
          <p:cNvSpPr/>
          <p:nvPr/>
        </p:nvSpPr>
        <p:spPr>
          <a:xfrm>
            <a:off x="548640" y="4809744"/>
            <a:ext cx="8046720" cy="219456"/>
          </a:xfrm>
          <a:prstGeom prst="rect">
            <a:avLst/>
          </a:prstGeom>
          <a:noFill/>
          <a:ln/>
        </p:spPr>
        <p:txBody>
          <a:bodyPr wrap="square" lIns="0" tIns="0" rIns="0" bIns="0" rtlCol="0" anchor="ctr"/>
          <a:lstStyle/>
          <a:p>
            <a:pPr marL="0" indent="0">
              <a:buNone/>
            </a:pPr>
            <a:r>
              <a:rPr lang="en-US" sz="1050" b="1" dirty="0">
                <a:solidFill>
                  <a:srgbClr val="2C5282"/>
                </a:solidFill>
                <a:latin typeface="Calibri" pitchFamily="34" charset="0"/>
                <a:ea typeface="Calibri" pitchFamily="34" charset="-122"/>
                <a:cs typeface="Calibri" pitchFamily="34" charset="-120"/>
              </a:rPr>
              <a:t>IDH = Promedio simple de los 3 índices  |  Problema clave: muy agregado, no captura desigualdad interna ni diferencias regionales.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C0533A"/>
          </a:solidFill>
          <a:ln w="12700">
            <a:solidFill>
              <a:srgbClr val="C0533A"/>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Dos Grandes Enfoques del Bienestar</a:t>
            </a:r>
            <a:endParaRPr lang="en-US" sz="2800" dirty="0"/>
          </a:p>
        </p:txBody>
      </p:sp>
      <p:sp>
        <p:nvSpPr>
          <p:cNvPr id="5" name="Shape 3"/>
          <p:cNvSpPr/>
          <p:nvPr/>
        </p:nvSpPr>
        <p:spPr>
          <a:xfrm>
            <a:off x="457200" y="731520"/>
            <a:ext cx="36576" cy="201168"/>
          </a:xfrm>
          <a:prstGeom prst="rect">
            <a:avLst/>
          </a:prstGeom>
          <a:solidFill>
            <a:srgbClr val="C0533A"/>
          </a:solidFill>
          <a:ln w="12700">
            <a:solidFill>
              <a:srgbClr val="C0533A"/>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C0533A"/>
                </a:solidFill>
                <a:latin typeface="Calibri" pitchFamily="34" charset="0"/>
                <a:ea typeface="Calibri" pitchFamily="34" charset="-122"/>
                <a:cs typeface="Calibri" pitchFamily="34" charset="-120"/>
              </a:rPr>
              <a:t>U3.1 — BIENESTARISTA VS. NO BIENESTARISTA</a:t>
            </a:r>
            <a:endParaRPr lang="en-US" sz="900" dirty="0"/>
          </a:p>
        </p:txBody>
      </p:sp>
      <p:sp>
        <p:nvSpPr>
          <p:cNvPr id="7" name="Shape 5"/>
          <p:cNvSpPr/>
          <p:nvPr/>
        </p:nvSpPr>
        <p:spPr>
          <a:xfrm>
            <a:off x="365760" y="1024128"/>
            <a:ext cx="4206240" cy="376732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24128"/>
            <a:ext cx="4206240" cy="365760"/>
          </a:xfrm>
          <a:prstGeom prst="rect">
            <a:avLst/>
          </a:prstGeom>
          <a:solidFill>
            <a:srgbClr val="2C5282"/>
          </a:solidFill>
          <a:ln w="12700">
            <a:solidFill>
              <a:srgbClr val="2C5282"/>
            </a:solidFill>
            <a:prstDash val="solid"/>
          </a:ln>
        </p:spPr>
        <p:txBody>
          <a:bodyPr/>
          <a:lstStyle/>
          <a:p>
            <a:endParaRPr lang="es-AR"/>
          </a:p>
        </p:txBody>
      </p:sp>
      <p:sp>
        <p:nvSpPr>
          <p:cNvPr id="9" name="Text 7"/>
          <p:cNvSpPr/>
          <p:nvPr/>
        </p:nvSpPr>
        <p:spPr>
          <a:xfrm>
            <a:off x="475488" y="1051560"/>
            <a:ext cx="3986784"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Enfoque BIENESTARISTA (Welfarist)</a:t>
            </a:r>
            <a:endParaRPr lang="en-US" sz="1200" dirty="0"/>
          </a:p>
        </p:txBody>
      </p:sp>
      <p:sp>
        <p:nvSpPr>
          <p:cNvPr id="10" name="Text 8"/>
          <p:cNvSpPr/>
          <p:nvPr/>
        </p:nvSpPr>
        <p:spPr>
          <a:xfrm>
            <a:off x="502920" y="1444752"/>
            <a:ext cx="3931920" cy="32461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Base: economía neoclásica. El bienestar = utilidad (satisfacción).</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Mide bienestar a través del ingreso o el gasto como proxy de utilidad.</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Asume preferencias reveladas: si alguien no consume algo, es porque no lo quiere.</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Ley de Engel: cuanto mayor ingreso, menor proporción se gasta en alimentos.</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Problema 1: La utilidad es subjetiva → no se pueden hacer comparaciones interpersonales.</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Problema 2: El ingreso es un medio, no un fin → medir el medio no garantiza medir el bienestar.</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Problema 3: Preferencias pueden estar distorsionadas (persona que no consume educación ¿es porque no quiere o porque no puede?).</a:t>
            </a:r>
            <a:endParaRPr lang="en-US" sz="1050" dirty="0"/>
          </a:p>
        </p:txBody>
      </p:sp>
      <p:sp>
        <p:nvSpPr>
          <p:cNvPr id="11" name="Shape 9"/>
          <p:cNvSpPr/>
          <p:nvPr/>
        </p:nvSpPr>
        <p:spPr>
          <a:xfrm>
            <a:off x="4709160" y="1024128"/>
            <a:ext cx="4206240" cy="376732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2" name="Shape 10"/>
          <p:cNvSpPr/>
          <p:nvPr/>
        </p:nvSpPr>
        <p:spPr>
          <a:xfrm>
            <a:off x="4709160" y="1024128"/>
            <a:ext cx="4206240" cy="365760"/>
          </a:xfrm>
          <a:prstGeom prst="rect">
            <a:avLst/>
          </a:prstGeom>
          <a:solidFill>
            <a:srgbClr val="C0533A"/>
          </a:solidFill>
          <a:ln w="12700">
            <a:solidFill>
              <a:srgbClr val="C0533A"/>
            </a:solidFill>
            <a:prstDash val="solid"/>
          </a:ln>
        </p:spPr>
        <p:txBody>
          <a:bodyPr/>
          <a:lstStyle/>
          <a:p>
            <a:endParaRPr lang="es-AR"/>
          </a:p>
        </p:txBody>
      </p:sp>
      <p:sp>
        <p:nvSpPr>
          <p:cNvPr id="13" name="Text 11"/>
          <p:cNvSpPr/>
          <p:nvPr/>
        </p:nvSpPr>
        <p:spPr>
          <a:xfrm>
            <a:off x="4818888" y="1051560"/>
            <a:ext cx="3986784"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Enfoque NO BIENESTARISTA</a:t>
            </a:r>
            <a:endParaRPr lang="en-US" sz="1200" dirty="0"/>
          </a:p>
        </p:txBody>
      </p:sp>
      <p:sp>
        <p:nvSpPr>
          <p:cNvPr id="14" name="Text 12"/>
          <p:cNvSpPr/>
          <p:nvPr/>
        </p:nvSpPr>
        <p:spPr>
          <a:xfrm>
            <a:off x="4846320" y="1444752"/>
            <a:ext cx="3931920" cy="32461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Surge porque el crecimiento no garantizaba mejorar la vida de todos (años 70).</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Dos ramas: Necesidades Básicas y Capacidades.</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Evalúa el bienestar MÁS ALLÁ del dinero y la utilidad.</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Pregunta distinta: ¿pueden las personas vivir la vida que valoran?</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No asume que las preferencias son correctas (pueden estar adaptadas).</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El espacio de evaluación son los funcionamientos y las capacidades, no la utilidad.</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Incluye la agencia: cómo la persona participa activamente en su propio desarrollo.</a:t>
            </a:r>
            <a:endParaRPr lang="en-US" sz="1050" dirty="0"/>
          </a:p>
        </p:txBody>
      </p:sp>
      <p:sp>
        <p:nvSpPr>
          <p:cNvPr id="15" name="Shape 13"/>
          <p:cNvSpPr/>
          <p:nvPr/>
        </p:nvSpPr>
        <p:spPr>
          <a:xfrm>
            <a:off x="365760" y="4846320"/>
            <a:ext cx="8412480" cy="256032"/>
          </a:xfrm>
          <a:prstGeom prst="rect">
            <a:avLst/>
          </a:prstGeom>
          <a:solidFill>
            <a:srgbClr val="FFF3CD"/>
          </a:solidFill>
          <a:ln w="12700">
            <a:solidFill>
              <a:srgbClr val="CBD5E0"/>
            </a:solidFill>
            <a:prstDash val="solid"/>
          </a:ln>
        </p:spPr>
        <p:txBody>
          <a:bodyPr/>
          <a:lstStyle/>
          <a:p>
            <a:endParaRPr lang="es-AR"/>
          </a:p>
        </p:txBody>
      </p:sp>
      <p:sp>
        <p:nvSpPr>
          <p:cNvPr id="16" name="Text 14"/>
          <p:cNvSpPr/>
          <p:nvPr/>
        </p:nvSpPr>
        <p:spPr>
          <a:xfrm>
            <a:off x="548640" y="4873752"/>
            <a:ext cx="8046720" cy="201168"/>
          </a:xfrm>
          <a:prstGeom prst="rect">
            <a:avLst/>
          </a:prstGeom>
          <a:noFill/>
          <a:ln/>
        </p:spPr>
        <p:txBody>
          <a:bodyPr wrap="square" lIns="0" tIns="0" rIns="0" bIns="0" rtlCol="0" anchor="ctr"/>
          <a:lstStyle/>
          <a:p>
            <a:pPr marL="0" indent="0">
              <a:buNone/>
            </a:pPr>
            <a:r>
              <a:rPr lang="en-US" sz="1000" b="1" dirty="0">
                <a:solidFill>
                  <a:srgbClr val="C0533A"/>
                </a:solidFill>
                <a:latin typeface="Calibri" pitchFamily="34" charset="0"/>
                <a:ea typeface="Calibri" pitchFamily="34" charset="-122"/>
                <a:cs typeface="Calibri" pitchFamily="34" charset="-120"/>
              </a:rPr>
              <a:t>Pregunta trampa de examen: ¿Por qué el ingreso es un medio y no un fin? → Porque el ingreso es lo que usamos para obtener bienestar, no el bienestar en sí mismo.</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7B5EA7"/>
          </a:solidFill>
          <a:ln w="12700">
            <a:solidFill>
              <a:srgbClr val="7B5EA7"/>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El Enfoque de Necesidades Básicas</a:t>
            </a:r>
            <a:endParaRPr lang="en-US" sz="2800" dirty="0"/>
          </a:p>
        </p:txBody>
      </p:sp>
      <p:sp>
        <p:nvSpPr>
          <p:cNvPr id="5" name="Shape 3"/>
          <p:cNvSpPr/>
          <p:nvPr/>
        </p:nvSpPr>
        <p:spPr>
          <a:xfrm>
            <a:off x="457200" y="731520"/>
            <a:ext cx="36576" cy="201168"/>
          </a:xfrm>
          <a:prstGeom prst="rect">
            <a:avLst/>
          </a:prstGeom>
          <a:solidFill>
            <a:srgbClr val="7B5EA7"/>
          </a:solidFill>
          <a:ln w="12700">
            <a:solidFill>
              <a:srgbClr val="7B5EA7"/>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7B5EA7"/>
                </a:solidFill>
                <a:latin typeface="Calibri" pitchFamily="34" charset="0"/>
                <a:ea typeface="Calibri" pitchFamily="34" charset="-122"/>
                <a:cs typeface="Calibri" pitchFamily="34" charset="-120"/>
              </a:rPr>
              <a:t>U3.1 / U3.2 — PRIMER ENFOQUE NO BIENESTARISTA</a:t>
            </a:r>
            <a:endParaRPr lang="en-US" sz="900" dirty="0"/>
          </a:p>
        </p:txBody>
      </p:sp>
      <p:sp>
        <p:nvSpPr>
          <p:cNvPr id="7" name="Shape 5"/>
          <p:cNvSpPr/>
          <p:nvPr/>
        </p:nvSpPr>
        <p:spPr>
          <a:xfrm>
            <a:off x="365760" y="1005840"/>
            <a:ext cx="8412480" cy="65836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54864" cy="658368"/>
          </a:xfrm>
          <a:prstGeom prst="rect">
            <a:avLst/>
          </a:prstGeom>
          <a:solidFill>
            <a:srgbClr val="7B5EA7"/>
          </a:solidFill>
          <a:ln w="12700">
            <a:solidFill>
              <a:srgbClr val="7B5EA7"/>
            </a:solidFill>
            <a:prstDash val="solid"/>
          </a:ln>
        </p:spPr>
        <p:txBody>
          <a:bodyPr/>
          <a:lstStyle/>
          <a:p>
            <a:endParaRPr lang="es-AR"/>
          </a:p>
        </p:txBody>
      </p:sp>
      <p:sp>
        <p:nvSpPr>
          <p:cNvPr id="9" name="Text 7"/>
          <p:cNvSpPr/>
          <p:nvPr/>
        </p:nvSpPr>
        <p:spPr>
          <a:xfrm>
            <a:off x="548640" y="1060704"/>
            <a:ext cx="8046720" cy="54864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Define el bienestar como la capacidad de cubrir un mínimo de necesidades esenciales. Surge en los años 70 cuando el crecimiento económico no se traducía en mejoras de vida para todos. En Argentina: el indicador NBI (Necesidades Básicas Insatisfechas).</a:t>
            </a:r>
            <a:endParaRPr lang="en-US" sz="1200" dirty="0"/>
          </a:p>
        </p:txBody>
      </p:sp>
      <p:sp>
        <p:nvSpPr>
          <p:cNvPr id="10" name="Shape 8"/>
          <p:cNvSpPr/>
          <p:nvPr/>
        </p:nvSpPr>
        <p:spPr>
          <a:xfrm>
            <a:off x="365760" y="1783080"/>
            <a:ext cx="4069080" cy="20116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1" name="Shape 9"/>
          <p:cNvSpPr/>
          <p:nvPr/>
        </p:nvSpPr>
        <p:spPr>
          <a:xfrm>
            <a:off x="365760" y="1783080"/>
            <a:ext cx="4069080" cy="347472"/>
          </a:xfrm>
          <a:prstGeom prst="rect">
            <a:avLst/>
          </a:prstGeom>
          <a:solidFill>
            <a:srgbClr val="7B5EA7"/>
          </a:solidFill>
          <a:ln w="12700">
            <a:solidFill>
              <a:srgbClr val="7B5EA7"/>
            </a:solidFill>
            <a:prstDash val="solid"/>
          </a:ln>
        </p:spPr>
        <p:txBody>
          <a:bodyPr/>
          <a:lstStyle/>
          <a:p>
            <a:endParaRPr lang="es-AR"/>
          </a:p>
        </p:txBody>
      </p:sp>
      <p:sp>
        <p:nvSpPr>
          <p:cNvPr id="12" name="Text 10"/>
          <p:cNvSpPr/>
          <p:nvPr/>
        </p:nvSpPr>
        <p:spPr>
          <a:xfrm>
            <a:off x="502920" y="1810512"/>
            <a:ext cx="37490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CONSUMO MÍNIMO</a:t>
            </a:r>
            <a:endParaRPr lang="en-US" sz="1100" dirty="0"/>
          </a:p>
        </p:txBody>
      </p:sp>
      <p:sp>
        <p:nvSpPr>
          <p:cNvPr id="13" name="Text 11"/>
          <p:cNvSpPr/>
          <p:nvPr/>
        </p:nvSpPr>
        <p:spPr>
          <a:xfrm>
            <a:off x="502920" y="2194560"/>
            <a:ext cx="3749040" cy="150876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Alimentos y nutrición</a:t>
            </a:r>
            <a:endParaRPr lang="en-US" sz="1100" dirty="0"/>
          </a:p>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Vivienda digna</a:t>
            </a:r>
            <a:endParaRPr lang="en-US" sz="1100" dirty="0"/>
          </a:p>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Vestimenta</a:t>
            </a:r>
            <a:endParaRPr lang="en-US" sz="1100" dirty="0"/>
          </a:p>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Equipamiento básico del hogar</a:t>
            </a:r>
            <a:endParaRPr lang="en-US" sz="1100" dirty="0"/>
          </a:p>
        </p:txBody>
      </p:sp>
      <p:sp>
        <p:nvSpPr>
          <p:cNvPr id="14" name="Shape 12"/>
          <p:cNvSpPr/>
          <p:nvPr/>
        </p:nvSpPr>
        <p:spPr>
          <a:xfrm>
            <a:off x="4663440" y="1783080"/>
            <a:ext cx="4069080" cy="20116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5" name="Shape 13"/>
          <p:cNvSpPr/>
          <p:nvPr/>
        </p:nvSpPr>
        <p:spPr>
          <a:xfrm>
            <a:off x="4663440" y="1783080"/>
            <a:ext cx="4069080" cy="347472"/>
          </a:xfrm>
          <a:prstGeom prst="rect">
            <a:avLst/>
          </a:prstGeom>
          <a:solidFill>
            <a:srgbClr val="7B5EA7"/>
          </a:solidFill>
          <a:ln w="12700">
            <a:solidFill>
              <a:srgbClr val="7B5EA7"/>
            </a:solidFill>
            <a:prstDash val="solid"/>
          </a:ln>
        </p:spPr>
        <p:txBody>
          <a:bodyPr/>
          <a:lstStyle/>
          <a:p>
            <a:endParaRPr lang="es-AR"/>
          </a:p>
        </p:txBody>
      </p:sp>
      <p:sp>
        <p:nvSpPr>
          <p:cNvPr id="16" name="Text 14"/>
          <p:cNvSpPr/>
          <p:nvPr/>
        </p:nvSpPr>
        <p:spPr>
          <a:xfrm>
            <a:off x="4800600" y="1810512"/>
            <a:ext cx="37490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ACCESOS ESENCIALES</a:t>
            </a:r>
            <a:endParaRPr lang="en-US" sz="1100" dirty="0"/>
          </a:p>
        </p:txBody>
      </p:sp>
      <p:sp>
        <p:nvSpPr>
          <p:cNvPr id="17" name="Text 15"/>
          <p:cNvSpPr/>
          <p:nvPr/>
        </p:nvSpPr>
        <p:spPr>
          <a:xfrm>
            <a:off x="4800600" y="2194560"/>
            <a:ext cx="3749040" cy="150876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Agua potable</a:t>
            </a:r>
            <a:endParaRPr lang="en-US" sz="1100" dirty="0"/>
          </a:p>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Servicios sanitarios</a:t>
            </a:r>
            <a:endParaRPr lang="en-US" sz="1100" dirty="0"/>
          </a:p>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Acceso a salud</a:t>
            </a:r>
            <a:endParaRPr lang="en-US" sz="1100" dirty="0"/>
          </a:p>
          <a:p>
            <a:pPr marL="342900" indent="-342900">
              <a:spcAft>
                <a:spcPts val="400"/>
              </a:spcAft>
              <a:buSzPct val="100000"/>
              <a:buChar char="•"/>
            </a:pPr>
            <a:r>
              <a:rPr lang="en-US" sz="1100" dirty="0">
                <a:solidFill>
                  <a:srgbClr val="1A202C"/>
                </a:solidFill>
                <a:latin typeface="Calibri" pitchFamily="34" charset="0"/>
                <a:ea typeface="Calibri" pitchFamily="34" charset="-122"/>
                <a:cs typeface="Calibri" pitchFamily="34" charset="-120"/>
              </a:rPr>
              <a:t>Acceso a educación</a:t>
            </a:r>
            <a:endParaRPr lang="en-US" sz="1100" dirty="0"/>
          </a:p>
        </p:txBody>
      </p:sp>
      <p:sp>
        <p:nvSpPr>
          <p:cNvPr id="18" name="Shape 16"/>
          <p:cNvSpPr/>
          <p:nvPr/>
        </p:nvSpPr>
        <p:spPr>
          <a:xfrm>
            <a:off x="365760" y="3886200"/>
            <a:ext cx="4160520" cy="1115568"/>
          </a:xfrm>
          <a:prstGeom prst="rect">
            <a:avLst/>
          </a:prstGeom>
          <a:solidFill>
            <a:srgbClr val="FFFFFF"/>
          </a:solidFill>
          <a:ln w="12700">
            <a:solidFill>
              <a:srgbClr val="CBD5E0"/>
            </a:solidFill>
            <a:prstDash val="solid"/>
          </a:ln>
        </p:spPr>
        <p:txBody>
          <a:bodyPr/>
          <a:lstStyle/>
          <a:p>
            <a:endParaRPr lang="es-AR"/>
          </a:p>
        </p:txBody>
      </p:sp>
      <p:sp>
        <p:nvSpPr>
          <p:cNvPr id="19" name="Shape 17"/>
          <p:cNvSpPr/>
          <p:nvPr/>
        </p:nvSpPr>
        <p:spPr>
          <a:xfrm>
            <a:off x="365760" y="3886200"/>
            <a:ext cx="4160520" cy="292608"/>
          </a:xfrm>
          <a:prstGeom prst="rect">
            <a:avLst/>
          </a:prstGeom>
          <a:solidFill>
            <a:srgbClr val="2E8B74"/>
          </a:solidFill>
          <a:ln w="12700">
            <a:solidFill>
              <a:srgbClr val="2E8B74"/>
            </a:solidFill>
            <a:prstDash val="solid"/>
          </a:ln>
        </p:spPr>
        <p:txBody>
          <a:bodyPr/>
          <a:lstStyle/>
          <a:p>
            <a:endParaRPr lang="es-AR"/>
          </a:p>
        </p:txBody>
      </p:sp>
      <p:sp>
        <p:nvSpPr>
          <p:cNvPr id="20" name="Text 18"/>
          <p:cNvSpPr/>
          <p:nvPr/>
        </p:nvSpPr>
        <p:spPr>
          <a:xfrm>
            <a:off x="475488" y="3913632"/>
            <a:ext cx="393192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Aporte</a:t>
            </a:r>
            <a:endParaRPr lang="en-US" sz="1100" dirty="0"/>
          </a:p>
        </p:txBody>
      </p:sp>
      <p:sp>
        <p:nvSpPr>
          <p:cNvPr id="21" name="Text 19"/>
          <p:cNvSpPr/>
          <p:nvPr/>
        </p:nvSpPr>
        <p:spPr>
          <a:xfrm>
            <a:off x="502920" y="4224528"/>
            <a:ext cx="3840480" cy="713232"/>
          </a:xfrm>
          <a:prstGeom prst="rect">
            <a:avLst/>
          </a:prstGeom>
          <a:noFill/>
          <a:ln/>
        </p:spPr>
        <p:txBody>
          <a:bodyPr wrap="square" lIns="0" tIns="0" rIns="0" bIns="0" rtlCol="0" anchor="ctr"/>
          <a:lstStyle/>
          <a:p>
            <a:pPr marL="342900" indent="-342900">
              <a:spcAft>
                <a:spcPts val="200"/>
              </a:spcAft>
              <a:buSzPct val="100000"/>
              <a:buChar char="•"/>
            </a:pPr>
            <a:r>
              <a:rPr lang="en-US" sz="950" dirty="0">
                <a:solidFill>
                  <a:srgbClr val="1A202C"/>
                </a:solidFill>
                <a:latin typeface="Calibri" pitchFamily="34" charset="0"/>
                <a:ea typeface="Calibri" pitchFamily="34" charset="-122"/>
                <a:cs typeface="Calibri" pitchFamily="34" charset="-120"/>
              </a:rPr>
              <a:t>Identifica un listado concreto de condiciones mínimas</a:t>
            </a:r>
            <a:endParaRPr lang="en-US" sz="950" dirty="0"/>
          </a:p>
          <a:p>
            <a:pPr marL="342900" indent="-342900">
              <a:spcAft>
                <a:spcPts val="200"/>
              </a:spcAft>
              <a:buSzPct val="100000"/>
              <a:buChar char="•"/>
            </a:pPr>
            <a:r>
              <a:rPr lang="en-US" sz="950" dirty="0">
                <a:solidFill>
                  <a:srgbClr val="1A202C"/>
                </a:solidFill>
                <a:latin typeface="Calibri" pitchFamily="34" charset="0"/>
                <a:ea typeface="Calibri" pitchFamily="34" charset="-122"/>
                <a:cs typeface="Calibri" pitchFamily="34" charset="-120"/>
              </a:rPr>
              <a:t>Fácil de operacionalizar con datos</a:t>
            </a:r>
            <a:endParaRPr lang="en-US" sz="950" dirty="0"/>
          </a:p>
          <a:p>
            <a:pPr marL="342900" indent="-342900">
              <a:spcAft>
                <a:spcPts val="200"/>
              </a:spcAft>
              <a:buSzPct val="100000"/>
              <a:buChar char="•"/>
            </a:pPr>
            <a:r>
              <a:rPr lang="en-US" sz="950" dirty="0">
                <a:solidFill>
                  <a:srgbClr val="1A202C"/>
                </a:solidFill>
                <a:latin typeface="Calibri" pitchFamily="34" charset="0"/>
                <a:ea typeface="Calibri" pitchFamily="34" charset="-122"/>
                <a:cs typeface="Calibri" pitchFamily="34" charset="-120"/>
              </a:rPr>
              <a:t>Generó el indicador NBI muy usado en Argentina</a:t>
            </a:r>
            <a:endParaRPr lang="en-US" sz="950" dirty="0"/>
          </a:p>
          <a:p>
            <a:pPr marL="342900" indent="-342900">
              <a:spcAft>
                <a:spcPts val="200"/>
              </a:spcAft>
              <a:buSzPct val="100000"/>
              <a:buChar char="•"/>
            </a:pPr>
            <a:r>
              <a:rPr lang="en-US" sz="950" dirty="0">
                <a:solidFill>
                  <a:srgbClr val="1A202C"/>
                </a:solidFill>
                <a:latin typeface="Calibri" pitchFamily="34" charset="0"/>
                <a:ea typeface="Calibri" pitchFamily="34" charset="-122"/>
                <a:cs typeface="Calibri" pitchFamily="34" charset="-120"/>
              </a:rPr>
              <a:t>Fue un avance frente a medir solo ingreso</a:t>
            </a:r>
            <a:endParaRPr lang="en-US" sz="950" dirty="0"/>
          </a:p>
        </p:txBody>
      </p:sp>
      <p:sp>
        <p:nvSpPr>
          <p:cNvPr id="22" name="Shape 20"/>
          <p:cNvSpPr/>
          <p:nvPr/>
        </p:nvSpPr>
        <p:spPr>
          <a:xfrm>
            <a:off x="4663440" y="3886200"/>
            <a:ext cx="4160520" cy="1115568"/>
          </a:xfrm>
          <a:prstGeom prst="rect">
            <a:avLst/>
          </a:prstGeom>
          <a:solidFill>
            <a:srgbClr val="FFFFFF"/>
          </a:solidFill>
          <a:ln w="12700">
            <a:solidFill>
              <a:srgbClr val="CBD5E0"/>
            </a:solidFill>
            <a:prstDash val="solid"/>
          </a:ln>
        </p:spPr>
        <p:txBody>
          <a:bodyPr/>
          <a:lstStyle/>
          <a:p>
            <a:endParaRPr lang="es-AR"/>
          </a:p>
        </p:txBody>
      </p:sp>
      <p:sp>
        <p:nvSpPr>
          <p:cNvPr id="23" name="Shape 21"/>
          <p:cNvSpPr/>
          <p:nvPr/>
        </p:nvSpPr>
        <p:spPr>
          <a:xfrm>
            <a:off x="4663440" y="3886200"/>
            <a:ext cx="4160520" cy="292608"/>
          </a:xfrm>
          <a:prstGeom prst="rect">
            <a:avLst/>
          </a:prstGeom>
          <a:solidFill>
            <a:srgbClr val="C0533A"/>
          </a:solidFill>
          <a:ln w="12700">
            <a:solidFill>
              <a:srgbClr val="C0533A"/>
            </a:solidFill>
            <a:prstDash val="solid"/>
          </a:ln>
        </p:spPr>
        <p:txBody>
          <a:bodyPr/>
          <a:lstStyle/>
          <a:p>
            <a:endParaRPr lang="es-AR"/>
          </a:p>
        </p:txBody>
      </p:sp>
      <p:sp>
        <p:nvSpPr>
          <p:cNvPr id="24" name="Text 22"/>
          <p:cNvSpPr/>
          <p:nvPr/>
        </p:nvSpPr>
        <p:spPr>
          <a:xfrm>
            <a:off x="4773168" y="3913632"/>
            <a:ext cx="393192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Limitaciones</a:t>
            </a:r>
            <a:endParaRPr lang="en-US" sz="1100" dirty="0"/>
          </a:p>
        </p:txBody>
      </p:sp>
      <p:sp>
        <p:nvSpPr>
          <p:cNvPr id="25" name="Text 23"/>
          <p:cNvSpPr/>
          <p:nvPr/>
        </p:nvSpPr>
        <p:spPr>
          <a:xfrm>
            <a:off x="4800600" y="4224528"/>
            <a:ext cx="3840480" cy="713232"/>
          </a:xfrm>
          <a:prstGeom prst="rect">
            <a:avLst/>
          </a:prstGeom>
          <a:noFill/>
          <a:ln/>
        </p:spPr>
        <p:txBody>
          <a:bodyPr wrap="square" lIns="0" tIns="0" rIns="0" bIns="0" rtlCol="0" anchor="ctr"/>
          <a:lstStyle/>
          <a:p>
            <a:pPr marL="342900" indent="-342900">
              <a:spcAft>
                <a:spcPts val="200"/>
              </a:spcAft>
              <a:buSzPct val="100000"/>
              <a:buChar char="•"/>
            </a:pPr>
            <a:r>
              <a:rPr lang="en-US" sz="950" dirty="0">
                <a:solidFill>
                  <a:srgbClr val="1A202C"/>
                </a:solidFill>
                <a:latin typeface="Calibri" pitchFamily="34" charset="0"/>
                <a:ea typeface="Calibri" pitchFamily="34" charset="-122"/>
                <a:cs typeface="Calibri" pitchFamily="34" charset="-120"/>
              </a:rPr>
              <a:t>La persona queda en un rol PASIVO: no importa cómo se cubrió la necesidad</a:t>
            </a:r>
            <a:endParaRPr lang="en-US" sz="950" dirty="0"/>
          </a:p>
          <a:p>
            <a:pPr marL="342900" indent="-342900">
              <a:spcAft>
                <a:spcPts val="200"/>
              </a:spcAft>
              <a:buSzPct val="100000"/>
              <a:buChar char="•"/>
            </a:pPr>
            <a:r>
              <a:rPr lang="en-US" sz="950" dirty="0">
                <a:solidFill>
                  <a:srgbClr val="1A202C"/>
                </a:solidFill>
                <a:latin typeface="Calibri" pitchFamily="34" charset="0"/>
                <a:ea typeface="Calibri" pitchFamily="34" charset="-122"/>
                <a:cs typeface="Calibri" pitchFamily="34" charset="-120"/>
              </a:rPr>
              <a:t>Piensa en medios (el alimento) no en fines (estar nutrido realmente)</a:t>
            </a:r>
            <a:endParaRPr lang="en-US" sz="950" dirty="0"/>
          </a:p>
          <a:p>
            <a:pPr marL="342900" indent="-342900">
              <a:spcAft>
                <a:spcPts val="200"/>
              </a:spcAft>
              <a:buSzPct val="100000"/>
              <a:buChar char="•"/>
            </a:pPr>
            <a:r>
              <a:rPr lang="en-US" sz="950" dirty="0">
                <a:solidFill>
                  <a:srgbClr val="1A202C"/>
                </a:solidFill>
                <a:latin typeface="Calibri" pitchFamily="34" charset="0"/>
                <a:ea typeface="Calibri" pitchFamily="34" charset="-122"/>
                <a:cs typeface="Calibri" pitchFamily="34" charset="-120"/>
              </a:rPr>
              <a:t>Las necesidades pueden variar culturalmente</a:t>
            </a:r>
            <a:endParaRPr lang="en-US" sz="950" dirty="0"/>
          </a:p>
          <a:p>
            <a:pPr marL="342900" indent="-342900">
              <a:spcAft>
                <a:spcPts val="200"/>
              </a:spcAft>
              <a:buSzPct val="100000"/>
              <a:buChar char="•"/>
            </a:pPr>
            <a:r>
              <a:rPr lang="en-US" sz="950" dirty="0">
                <a:solidFill>
                  <a:srgbClr val="1A202C"/>
                </a:solidFill>
                <a:latin typeface="Calibri" pitchFamily="34" charset="0"/>
                <a:ea typeface="Calibri" pitchFamily="34" charset="-122"/>
                <a:cs typeface="Calibri" pitchFamily="34" charset="-120"/>
              </a:rPr>
              <a:t>Débil fundamento teórico — es más indicador que enfoque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7B5EA7"/>
        </a:solidFill>
        <a:effectLst/>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FFFFFF">
              <a:alpha val="35000"/>
            </a:srgbClr>
          </a:solidFill>
          <a:ln w="12700">
            <a:solidFill>
              <a:srgbClr val="FFFFFF">
                <a:alpha val="35000"/>
              </a:srgbClr>
            </a:solidFill>
            <a:prstDash val="solid"/>
          </a:ln>
        </p:spPr>
        <p:txBody>
          <a:bodyPr/>
          <a:lstStyle/>
          <a:p>
            <a:endParaRPr lang="es-AR"/>
          </a:p>
        </p:txBody>
      </p:sp>
      <p:sp>
        <p:nvSpPr>
          <p:cNvPr id="3" name="Shape 1"/>
          <p:cNvSpPr/>
          <p:nvPr/>
        </p:nvSpPr>
        <p:spPr>
          <a:xfrm>
            <a:off x="8778240" y="0"/>
            <a:ext cx="365760" cy="5143500"/>
          </a:xfrm>
          <a:prstGeom prst="rect">
            <a:avLst/>
          </a:prstGeom>
          <a:solidFill>
            <a:srgbClr val="FFFFFF">
              <a:alpha val="35000"/>
            </a:srgbClr>
          </a:solidFill>
          <a:ln w="12700">
            <a:solidFill>
              <a:srgbClr val="FFFFFF">
                <a:alpha val="35000"/>
              </a:srgbClr>
            </a:solidFill>
            <a:prstDash val="solid"/>
          </a:ln>
        </p:spPr>
        <p:txBody>
          <a:bodyPr/>
          <a:lstStyle/>
          <a:p>
            <a:endParaRPr lang="es-AR"/>
          </a:p>
        </p:txBody>
      </p:sp>
      <p:sp>
        <p:nvSpPr>
          <p:cNvPr id="4" name="Text 2"/>
          <p:cNvSpPr/>
          <p:nvPr/>
        </p:nvSpPr>
        <p:spPr>
          <a:xfrm>
            <a:off x="0" y="685800"/>
            <a:ext cx="9144000" cy="914400"/>
          </a:xfrm>
          <a:prstGeom prst="rect">
            <a:avLst/>
          </a:prstGeom>
          <a:noFill/>
          <a:ln/>
        </p:spPr>
        <p:txBody>
          <a:bodyPr wrap="square" lIns="0" tIns="0" rIns="0" bIns="0" rtlCol="0" anchor="ctr"/>
          <a:lstStyle/>
          <a:p>
            <a:pPr marL="0" indent="0" algn="ctr">
              <a:buNone/>
            </a:pPr>
            <a:r>
              <a:rPr lang="en-US" sz="6400" b="1" dirty="0">
                <a:solidFill>
                  <a:srgbClr val="FFFFFF"/>
                </a:solidFill>
                <a:latin typeface="Georgia" pitchFamily="34" charset="0"/>
                <a:ea typeface="Georgia" pitchFamily="34" charset="-122"/>
                <a:cs typeface="Georgia" pitchFamily="34" charset="-120"/>
              </a:rPr>
              <a:t>U3.2</a:t>
            </a:r>
            <a:endParaRPr lang="en-US" sz="6400" dirty="0"/>
          </a:p>
        </p:txBody>
      </p:sp>
      <p:sp>
        <p:nvSpPr>
          <p:cNvPr id="5" name="Text 3"/>
          <p:cNvSpPr/>
          <p:nvPr/>
        </p:nvSpPr>
        <p:spPr>
          <a:xfrm>
            <a:off x="914400" y="1737360"/>
            <a:ext cx="7315200" cy="1188720"/>
          </a:xfrm>
          <a:prstGeom prst="rect">
            <a:avLst/>
          </a:prstGeom>
          <a:noFill/>
          <a:ln/>
        </p:spPr>
        <p:txBody>
          <a:bodyPr wrap="square" lIns="0" tIns="0" rIns="0" bIns="0" rtlCol="0" anchor="ctr"/>
          <a:lstStyle/>
          <a:p>
            <a:pPr marL="0" indent="0" algn="ctr">
              <a:buNone/>
            </a:pPr>
            <a:r>
              <a:rPr lang="en-US" sz="2600" dirty="0">
                <a:solidFill>
                  <a:srgbClr val="FFFFFF"/>
                </a:solidFill>
                <a:latin typeface="Calibri" pitchFamily="34" charset="0"/>
                <a:ea typeface="Calibri" pitchFamily="34" charset="-122"/>
                <a:cs typeface="Calibri" pitchFamily="34" charset="-120"/>
              </a:rPr>
              <a:t>El Enfoque de las Capacidades</a:t>
            </a:r>
            <a:endParaRPr lang="en-US" sz="2600" dirty="0"/>
          </a:p>
          <a:p>
            <a:pPr marL="0" indent="0" algn="ctr">
              <a:buNone/>
            </a:pPr>
            <a:r>
              <a:rPr lang="en-US" sz="2600" dirty="0">
                <a:solidFill>
                  <a:srgbClr val="FFFFFF"/>
                </a:solidFill>
                <a:latin typeface="Calibri" pitchFamily="34" charset="0"/>
                <a:ea typeface="Calibri" pitchFamily="34" charset="-122"/>
                <a:cs typeface="Calibri" pitchFamily="34" charset="-120"/>
              </a:rPr>
              <a:t>y los Derechos Humanos</a:t>
            </a:r>
            <a:endParaRPr lang="en-US" sz="2600" dirty="0"/>
          </a:p>
        </p:txBody>
      </p:sp>
      <p:sp>
        <p:nvSpPr>
          <p:cNvPr id="6" name="Shape 4"/>
          <p:cNvSpPr/>
          <p:nvPr/>
        </p:nvSpPr>
        <p:spPr>
          <a:xfrm>
            <a:off x="2286000" y="3063240"/>
            <a:ext cx="4572000" cy="0"/>
          </a:xfrm>
          <a:prstGeom prst="line">
            <a:avLst/>
          </a:prstGeom>
          <a:noFill/>
          <a:ln w="12700">
            <a:solidFill>
              <a:srgbClr val="FFFFFF">
                <a:alpha val="60000"/>
              </a:srgbClr>
            </a:solidFill>
            <a:prstDash val="solid"/>
          </a:ln>
        </p:spPr>
        <p:txBody>
          <a:bodyPr/>
          <a:lstStyle/>
          <a:p>
            <a:endParaRPr lang="es-AR"/>
          </a:p>
        </p:txBody>
      </p:sp>
      <p:sp>
        <p:nvSpPr>
          <p:cNvPr id="7" name="Text 5"/>
          <p:cNvSpPr/>
          <p:nvPr/>
        </p:nvSpPr>
        <p:spPr>
          <a:xfrm>
            <a:off x="914400" y="3200400"/>
            <a:ext cx="7315200" cy="438912"/>
          </a:xfrm>
          <a:prstGeom prst="rect">
            <a:avLst/>
          </a:prstGeom>
          <a:noFill/>
          <a:ln/>
        </p:spPr>
        <p:txBody>
          <a:bodyPr wrap="square" lIns="0" tIns="0" rIns="0" bIns="0"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Funcionamientos · Capacidades · Agencia · Factores de Conversión · Sen vs. Nussbaum</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7B5EA7"/>
          </a:solidFill>
          <a:ln w="12700">
            <a:solidFill>
              <a:srgbClr val="7B5EA7"/>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Tres Conceptos Centrales: Sen</a:t>
            </a:r>
            <a:endParaRPr lang="en-US" sz="2800" dirty="0"/>
          </a:p>
        </p:txBody>
      </p:sp>
      <p:sp>
        <p:nvSpPr>
          <p:cNvPr id="5" name="Shape 3"/>
          <p:cNvSpPr/>
          <p:nvPr/>
        </p:nvSpPr>
        <p:spPr>
          <a:xfrm>
            <a:off x="457200" y="731520"/>
            <a:ext cx="36576" cy="201168"/>
          </a:xfrm>
          <a:prstGeom prst="rect">
            <a:avLst/>
          </a:prstGeom>
          <a:solidFill>
            <a:srgbClr val="7B5EA7"/>
          </a:solidFill>
          <a:ln w="12700">
            <a:solidFill>
              <a:srgbClr val="7B5EA7"/>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7B5EA7"/>
                </a:solidFill>
                <a:latin typeface="Calibri" pitchFamily="34" charset="0"/>
                <a:ea typeface="Calibri" pitchFamily="34" charset="-122"/>
                <a:cs typeface="Calibri" pitchFamily="34" charset="-120"/>
              </a:rPr>
              <a:t>U3.2 — FUNCIONAMIENTOS, CAPACIDADES Y AGENCIA</a:t>
            </a:r>
            <a:endParaRPr lang="en-US" sz="900" dirty="0"/>
          </a:p>
        </p:txBody>
      </p:sp>
      <p:sp>
        <p:nvSpPr>
          <p:cNvPr id="7" name="Shape 5"/>
          <p:cNvSpPr/>
          <p:nvPr/>
        </p:nvSpPr>
        <p:spPr>
          <a:xfrm>
            <a:off x="365760" y="1005840"/>
            <a:ext cx="8412480" cy="54864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54864" cy="548640"/>
          </a:xfrm>
          <a:prstGeom prst="rect">
            <a:avLst/>
          </a:prstGeom>
          <a:solidFill>
            <a:srgbClr val="7B5EA7"/>
          </a:solidFill>
          <a:ln w="12700">
            <a:solidFill>
              <a:srgbClr val="7B5EA7"/>
            </a:solidFill>
            <a:prstDash val="solid"/>
          </a:ln>
        </p:spPr>
        <p:txBody>
          <a:bodyPr/>
          <a:lstStyle/>
          <a:p>
            <a:endParaRPr lang="es-AR"/>
          </a:p>
        </p:txBody>
      </p:sp>
      <p:sp>
        <p:nvSpPr>
          <p:cNvPr id="9" name="Text 7"/>
          <p:cNvSpPr/>
          <p:nvPr/>
        </p:nvSpPr>
        <p:spPr>
          <a:xfrm>
            <a:off x="548640" y="1060704"/>
            <a:ext cx="8046720" cy="45720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Para Sen, el bienestar no se mide por el dinero ni por lo que tienes, sino por lo que realmente podés hacer o ser. Hay tres conceptos clave que articulan todo el enfoque:</a:t>
            </a:r>
            <a:endParaRPr lang="en-US" sz="1200" dirty="0"/>
          </a:p>
        </p:txBody>
      </p:sp>
      <p:sp>
        <p:nvSpPr>
          <p:cNvPr id="10" name="Shape 8"/>
          <p:cNvSpPr/>
          <p:nvPr/>
        </p:nvSpPr>
        <p:spPr>
          <a:xfrm>
            <a:off x="365760" y="1664208"/>
            <a:ext cx="2651760" cy="33832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1" name="Shape 9"/>
          <p:cNvSpPr/>
          <p:nvPr/>
        </p:nvSpPr>
        <p:spPr>
          <a:xfrm>
            <a:off x="365760" y="1664208"/>
            <a:ext cx="2651760" cy="365760"/>
          </a:xfrm>
          <a:prstGeom prst="rect">
            <a:avLst/>
          </a:prstGeom>
          <a:solidFill>
            <a:srgbClr val="2C5282"/>
          </a:solidFill>
          <a:ln w="12700">
            <a:solidFill>
              <a:srgbClr val="2C5282"/>
            </a:solidFill>
            <a:prstDash val="solid"/>
          </a:ln>
        </p:spPr>
        <p:txBody>
          <a:bodyPr/>
          <a:lstStyle/>
          <a:p>
            <a:endParaRPr lang="es-AR"/>
          </a:p>
        </p:txBody>
      </p:sp>
      <p:sp>
        <p:nvSpPr>
          <p:cNvPr id="12" name="Text 10"/>
          <p:cNvSpPr/>
          <p:nvPr/>
        </p:nvSpPr>
        <p:spPr>
          <a:xfrm>
            <a:off x="457200" y="1691640"/>
            <a:ext cx="2468880" cy="31089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1 — Funcionamientos</a:t>
            </a:r>
            <a:endParaRPr lang="en-US" sz="1250" dirty="0"/>
          </a:p>
        </p:txBody>
      </p:sp>
      <p:sp>
        <p:nvSpPr>
          <p:cNvPr id="13" name="Text 11"/>
          <p:cNvSpPr/>
          <p:nvPr/>
        </p:nvSpPr>
        <p:spPr>
          <a:xfrm>
            <a:off x="457200" y="2084832"/>
            <a:ext cx="2468880" cy="219456"/>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Beings &amp; Doings / Seres y quehaceres</a:t>
            </a:r>
            <a:endParaRPr lang="en-US" sz="900" dirty="0"/>
          </a:p>
        </p:txBody>
      </p:sp>
      <p:sp>
        <p:nvSpPr>
          <p:cNvPr id="14" name="Text 12"/>
          <p:cNvSpPr/>
          <p:nvPr/>
        </p:nvSpPr>
        <p:spPr>
          <a:xfrm>
            <a:off x="457200" y="2340864"/>
            <a:ext cx="2468880" cy="1005840"/>
          </a:xfrm>
          <a:prstGeom prst="rect">
            <a:avLst/>
          </a:prstGeom>
          <a:noFill/>
          <a:ln/>
        </p:spPr>
        <p:txBody>
          <a:bodyPr wrap="square" lIns="0" tIns="0" rIns="0" bIns="0" rtlCol="0" anchor="ctr"/>
          <a:lstStyle/>
          <a:p>
            <a:pPr marL="0" indent="0">
              <a:buNone/>
            </a:pPr>
            <a:r>
              <a:rPr lang="en-US" sz="1000" dirty="0">
                <a:solidFill>
                  <a:srgbClr val="1A202C"/>
                </a:solidFill>
                <a:latin typeface="Calibri" pitchFamily="34" charset="0"/>
                <a:ea typeface="Calibri" pitchFamily="34" charset="-122"/>
                <a:cs typeface="Calibri" pitchFamily="34" charset="-120"/>
              </a:rPr>
              <a:t>Las distintas cosas que una persona PUEDE SER O HACER y que considera valiosas. Son los resultados concretos de su vida: estar bien alimentado, ser educado, participar en la comunidad.</a:t>
            </a:r>
            <a:endParaRPr lang="en-US" sz="1000" dirty="0"/>
          </a:p>
        </p:txBody>
      </p:sp>
      <p:sp>
        <p:nvSpPr>
          <p:cNvPr id="15" name="Shape 13"/>
          <p:cNvSpPr/>
          <p:nvPr/>
        </p:nvSpPr>
        <p:spPr>
          <a:xfrm>
            <a:off x="457200" y="3383280"/>
            <a:ext cx="2468880" cy="246888"/>
          </a:xfrm>
          <a:prstGeom prst="rect">
            <a:avLst/>
          </a:prstGeom>
          <a:solidFill>
            <a:srgbClr val="2C5282">
              <a:alpha val="15000"/>
            </a:srgbClr>
          </a:solidFill>
          <a:ln w="12700">
            <a:solidFill>
              <a:srgbClr val="2C5282">
                <a:alpha val="30000"/>
              </a:srgbClr>
            </a:solidFill>
            <a:prstDash val="solid"/>
          </a:ln>
        </p:spPr>
        <p:txBody>
          <a:bodyPr/>
          <a:lstStyle/>
          <a:p>
            <a:endParaRPr lang="es-AR"/>
          </a:p>
        </p:txBody>
      </p:sp>
      <p:sp>
        <p:nvSpPr>
          <p:cNvPr id="16" name="Text 14"/>
          <p:cNvSpPr/>
          <p:nvPr/>
        </p:nvSpPr>
        <p:spPr>
          <a:xfrm>
            <a:off x="457200" y="3401568"/>
            <a:ext cx="2468880" cy="164592"/>
          </a:xfrm>
          <a:prstGeom prst="rect">
            <a:avLst/>
          </a:prstGeom>
          <a:noFill/>
          <a:ln/>
        </p:spPr>
        <p:txBody>
          <a:bodyPr wrap="square" lIns="0" tIns="0" rIns="0" bIns="0" rtlCol="0" anchor="ctr"/>
          <a:lstStyle/>
          <a:p>
            <a:pPr marL="0" indent="0" algn="ctr">
              <a:buNone/>
            </a:pPr>
            <a:r>
              <a:rPr lang="en-US" sz="900" b="1" dirty="0">
                <a:solidFill>
                  <a:srgbClr val="2C5282"/>
                </a:solidFill>
                <a:latin typeface="Calibri" pitchFamily="34" charset="0"/>
                <a:ea typeface="Calibri" pitchFamily="34" charset="-122"/>
                <a:cs typeface="Calibri" pitchFamily="34" charset="-120"/>
              </a:rPr>
              <a:t>Son los RESULTADOS. Lo que la persona logra efectivamente.</a:t>
            </a:r>
            <a:endParaRPr lang="en-US" sz="900" dirty="0"/>
          </a:p>
        </p:txBody>
      </p:sp>
      <p:sp>
        <p:nvSpPr>
          <p:cNvPr id="17" name="Text 15"/>
          <p:cNvSpPr/>
          <p:nvPr/>
        </p:nvSpPr>
        <p:spPr>
          <a:xfrm>
            <a:off x="457200" y="3657600"/>
            <a:ext cx="2468880" cy="128016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El valor de los funcionamientos es comunitario, no individual. Se define por consenso social, no por preferencias personales.</a:t>
            </a:r>
            <a:endParaRPr lang="en-US" sz="900" dirty="0"/>
          </a:p>
        </p:txBody>
      </p:sp>
      <p:sp>
        <p:nvSpPr>
          <p:cNvPr id="18" name="Shape 16"/>
          <p:cNvSpPr/>
          <p:nvPr/>
        </p:nvSpPr>
        <p:spPr>
          <a:xfrm>
            <a:off x="3246120" y="1664208"/>
            <a:ext cx="2651760" cy="33832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9" name="Shape 17"/>
          <p:cNvSpPr/>
          <p:nvPr/>
        </p:nvSpPr>
        <p:spPr>
          <a:xfrm>
            <a:off x="3246120" y="1664208"/>
            <a:ext cx="2651760" cy="365760"/>
          </a:xfrm>
          <a:prstGeom prst="rect">
            <a:avLst/>
          </a:prstGeom>
          <a:solidFill>
            <a:srgbClr val="2E8B74"/>
          </a:solidFill>
          <a:ln w="12700">
            <a:solidFill>
              <a:srgbClr val="2E8B74"/>
            </a:solidFill>
            <a:prstDash val="solid"/>
          </a:ln>
        </p:spPr>
        <p:txBody>
          <a:bodyPr/>
          <a:lstStyle/>
          <a:p>
            <a:endParaRPr lang="es-AR"/>
          </a:p>
        </p:txBody>
      </p:sp>
      <p:sp>
        <p:nvSpPr>
          <p:cNvPr id="20" name="Text 18"/>
          <p:cNvSpPr/>
          <p:nvPr/>
        </p:nvSpPr>
        <p:spPr>
          <a:xfrm>
            <a:off x="3337560" y="1691640"/>
            <a:ext cx="2468880" cy="31089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2 — Capacidades</a:t>
            </a:r>
            <a:endParaRPr lang="en-US" sz="1250" dirty="0"/>
          </a:p>
        </p:txBody>
      </p:sp>
      <p:sp>
        <p:nvSpPr>
          <p:cNvPr id="21" name="Text 19"/>
          <p:cNvSpPr/>
          <p:nvPr/>
        </p:nvSpPr>
        <p:spPr>
          <a:xfrm>
            <a:off x="3337560" y="2084832"/>
            <a:ext cx="2468880" cy="219456"/>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Capability / Libertad de oportunidad</a:t>
            </a:r>
            <a:endParaRPr lang="en-US" sz="900" dirty="0"/>
          </a:p>
        </p:txBody>
      </p:sp>
      <p:sp>
        <p:nvSpPr>
          <p:cNvPr id="22" name="Text 20"/>
          <p:cNvSpPr/>
          <p:nvPr/>
        </p:nvSpPr>
        <p:spPr>
          <a:xfrm>
            <a:off x="3337560" y="2340864"/>
            <a:ext cx="2468880" cy="1005840"/>
          </a:xfrm>
          <a:prstGeom prst="rect">
            <a:avLst/>
          </a:prstGeom>
          <a:noFill/>
          <a:ln/>
        </p:spPr>
        <p:txBody>
          <a:bodyPr wrap="square" lIns="0" tIns="0" rIns="0" bIns="0" rtlCol="0" anchor="ctr"/>
          <a:lstStyle/>
          <a:p>
            <a:pPr marL="0" indent="0">
              <a:buNone/>
            </a:pPr>
            <a:r>
              <a:rPr lang="en-US" sz="1000" dirty="0">
                <a:solidFill>
                  <a:srgbClr val="1A202C"/>
                </a:solidFill>
                <a:latin typeface="Calibri" pitchFamily="34" charset="0"/>
                <a:ea typeface="Calibri" pitchFamily="34" charset="-122"/>
                <a:cs typeface="Calibri" pitchFamily="34" charset="-120"/>
              </a:rPr>
              <a:t>La libertad real que tiene una persona para elegir y LOGRAR distintos funcionamientos. No es solo la ausencia de prohibición: es que las condiciones realmente permitan lograrlo.</a:t>
            </a:r>
            <a:endParaRPr lang="en-US" sz="1000" dirty="0"/>
          </a:p>
        </p:txBody>
      </p:sp>
      <p:sp>
        <p:nvSpPr>
          <p:cNvPr id="23" name="Shape 21"/>
          <p:cNvSpPr/>
          <p:nvPr/>
        </p:nvSpPr>
        <p:spPr>
          <a:xfrm>
            <a:off x="3337560" y="3383280"/>
            <a:ext cx="2468880" cy="246888"/>
          </a:xfrm>
          <a:prstGeom prst="rect">
            <a:avLst/>
          </a:prstGeom>
          <a:solidFill>
            <a:srgbClr val="2E8B74">
              <a:alpha val="15000"/>
            </a:srgbClr>
          </a:solidFill>
          <a:ln w="12700">
            <a:solidFill>
              <a:srgbClr val="2E8B74">
                <a:alpha val="30000"/>
              </a:srgbClr>
            </a:solidFill>
            <a:prstDash val="solid"/>
          </a:ln>
        </p:spPr>
        <p:txBody>
          <a:bodyPr/>
          <a:lstStyle/>
          <a:p>
            <a:endParaRPr lang="es-AR"/>
          </a:p>
        </p:txBody>
      </p:sp>
      <p:sp>
        <p:nvSpPr>
          <p:cNvPr id="24" name="Text 22"/>
          <p:cNvSpPr/>
          <p:nvPr/>
        </p:nvSpPr>
        <p:spPr>
          <a:xfrm>
            <a:off x="3337560" y="3419856"/>
            <a:ext cx="2468880" cy="164592"/>
          </a:xfrm>
          <a:prstGeom prst="rect">
            <a:avLst/>
          </a:prstGeom>
          <a:noFill/>
          <a:ln/>
        </p:spPr>
        <p:txBody>
          <a:bodyPr wrap="square" lIns="0" tIns="0" rIns="0" bIns="0" rtlCol="0" anchor="ctr"/>
          <a:lstStyle/>
          <a:p>
            <a:pPr marL="0" indent="0" algn="ctr">
              <a:buNone/>
            </a:pPr>
            <a:r>
              <a:rPr lang="en-US" sz="900" b="1" dirty="0">
                <a:solidFill>
                  <a:srgbClr val="2E8B74"/>
                </a:solidFill>
                <a:latin typeface="Calibri" pitchFamily="34" charset="0"/>
                <a:ea typeface="Calibri" pitchFamily="34" charset="-122"/>
                <a:cs typeface="Calibri" pitchFamily="34" charset="-120"/>
              </a:rPr>
              <a:t>Son las OPORTUNIDADES. Lo que la persona podría lograr si quisiera.</a:t>
            </a:r>
            <a:endParaRPr lang="en-US" sz="900" dirty="0"/>
          </a:p>
        </p:txBody>
      </p:sp>
      <p:sp>
        <p:nvSpPr>
          <p:cNvPr id="25" name="Text 23"/>
          <p:cNvSpPr/>
          <p:nvPr/>
        </p:nvSpPr>
        <p:spPr>
          <a:xfrm>
            <a:off x="3337560" y="3657600"/>
            <a:ext cx="2468880" cy="128016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Una persona puede tener el derecho formal pero no la capacidad real. La diferencia importa muchísimo para las políticas.</a:t>
            </a:r>
            <a:endParaRPr lang="en-US" sz="900" dirty="0"/>
          </a:p>
        </p:txBody>
      </p:sp>
      <p:sp>
        <p:nvSpPr>
          <p:cNvPr id="26" name="Shape 24"/>
          <p:cNvSpPr/>
          <p:nvPr/>
        </p:nvSpPr>
        <p:spPr>
          <a:xfrm>
            <a:off x="6126480" y="1664208"/>
            <a:ext cx="2651760" cy="33832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7" name="Shape 25"/>
          <p:cNvSpPr/>
          <p:nvPr/>
        </p:nvSpPr>
        <p:spPr>
          <a:xfrm>
            <a:off x="6126480" y="1664208"/>
            <a:ext cx="2651760" cy="365760"/>
          </a:xfrm>
          <a:prstGeom prst="rect">
            <a:avLst/>
          </a:prstGeom>
          <a:solidFill>
            <a:srgbClr val="C0533A"/>
          </a:solidFill>
          <a:ln w="12700">
            <a:solidFill>
              <a:srgbClr val="C0533A"/>
            </a:solidFill>
            <a:prstDash val="solid"/>
          </a:ln>
        </p:spPr>
        <p:txBody>
          <a:bodyPr/>
          <a:lstStyle/>
          <a:p>
            <a:endParaRPr lang="es-AR"/>
          </a:p>
        </p:txBody>
      </p:sp>
      <p:sp>
        <p:nvSpPr>
          <p:cNvPr id="28" name="Text 26"/>
          <p:cNvSpPr/>
          <p:nvPr/>
        </p:nvSpPr>
        <p:spPr>
          <a:xfrm>
            <a:off x="6217920" y="1691640"/>
            <a:ext cx="2468880" cy="31089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3 — Agencia</a:t>
            </a:r>
            <a:endParaRPr lang="en-US" sz="1250" dirty="0"/>
          </a:p>
        </p:txBody>
      </p:sp>
      <p:sp>
        <p:nvSpPr>
          <p:cNvPr id="29" name="Text 27"/>
          <p:cNvSpPr/>
          <p:nvPr/>
        </p:nvSpPr>
        <p:spPr>
          <a:xfrm>
            <a:off x="6217920" y="2084832"/>
            <a:ext cx="2468880" cy="219456"/>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Agency / Libertad de proceso</a:t>
            </a:r>
            <a:endParaRPr lang="en-US" sz="900" dirty="0"/>
          </a:p>
        </p:txBody>
      </p:sp>
      <p:sp>
        <p:nvSpPr>
          <p:cNvPr id="30" name="Text 28"/>
          <p:cNvSpPr/>
          <p:nvPr/>
        </p:nvSpPr>
        <p:spPr>
          <a:xfrm>
            <a:off x="6217920" y="2340864"/>
            <a:ext cx="2468880" cy="1005840"/>
          </a:xfrm>
          <a:prstGeom prst="rect">
            <a:avLst/>
          </a:prstGeom>
          <a:noFill/>
          <a:ln/>
        </p:spPr>
        <p:txBody>
          <a:bodyPr wrap="square" lIns="0" tIns="0" rIns="0" bIns="0" rtlCol="0" anchor="ctr"/>
          <a:lstStyle/>
          <a:p>
            <a:pPr marL="0" indent="0">
              <a:buNone/>
            </a:pPr>
            <a:r>
              <a:rPr lang="en-US" sz="1000" dirty="0">
                <a:solidFill>
                  <a:srgbClr val="1A202C"/>
                </a:solidFill>
                <a:latin typeface="Calibri" pitchFamily="34" charset="0"/>
                <a:ea typeface="Calibri" pitchFamily="34" charset="-122"/>
                <a:cs typeface="Calibri" pitchFamily="34" charset="-120"/>
              </a:rPr>
              <a:t>La habilidad de una persona para ACTUAR ACTIVAMENTE y perseguir objetivos que valora. No es pasiva frente a su bienestar: es un actor que toma decisiones y genera cambios.</a:t>
            </a:r>
            <a:endParaRPr lang="en-US" sz="1000" dirty="0"/>
          </a:p>
        </p:txBody>
      </p:sp>
      <p:sp>
        <p:nvSpPr>
          <p:cNvPr id="31" name="Shape 29"/>
          <p:cNvSpPr/>
          <p:nvPr/>
        </p:nvSpPr>
        <p:spPr>
          <a:xfrm>
            <a:off x="6217920" y="3383280"/>
            <a:ext cx="2468880" cy="274320"/>
          </a:xfrm>
          <a:prstGeom prst="rect">
            <a:avLst/>
          </a:prstGeom>
          <a:solidFill>
            <a:srgbClr val="C0533A">
              <a:alpha val="15000"/>
            </a:srgbClr>
          </a:solidFill>
          <a:ln w="12700">
            <a:solidFill>
              <a:srgbClr val="C0533A">
                <a:alpha val="30000"/>
              </a:srgbClr>
            </a:solidFill>
            <a:prstDash val="solid"/>
          </a:ln>
        </p:spPr>
        <p:txBody>
          <a:bodyPr/>
          <a:lstStyle/>
          <a:p>
            <a:endParaRPr lang="es-AR"/>
          </a:p>
        </p:txBody>
      </p:sp>
      <p:sp>
        <p:nvSpPr>
          <p:cNvPr id="32" name="Text 30"/>
          <p:cNvSpPr/>
          <p:nvPr/>
        </p:nvSpPr>
        <p:spPr>
          <a:xfrm>
            <a:off x="6217920" y="3401568"/>
            <a:ext cx="2468880" cy="164592"/>
          </a:xfrm>
          <a:prstGeom prst="rect">
            <a:avLst/>
          </a:prstGeom>
          <a:noFill/>
          <a:ln/>
        </p:spPr>
        <p:txBody>
          <a:bodyPr wrap="square" lIns="0" tIns="0" rIns="0" bIns="0" rtlCol="0" anchor="ctr"/>
          <a:lstStyle/>
          <a:p>
            <a:pPr marL="0" indent="0" algn="ctr">
              <a:buNone/>
            </a:pPr>
            <a:r>
              <a:rPr lang="en-US" sz="900" b="1" dirty="0">
                <a:solidFill>
                  <a:srgbClr val="C0533A"/>
                </a:solidFill>
                <a:latin typeface="Calibri" pitchFamily="34" charset="0"/>
                <a:ea typeface="Calibri" pitchFamily="34" charset="-122"/>
                <a:cs typeface="Calibri" pitchFamily="34" charset="-120"/>
              </a:rPr>
              <a:t>Es la ACTITUD activa. Cómo la persona persigue su bienestar.</a:t>
            </a:r>
            <a:endParaRPr lang="en-US" sz="900" dirty="0"/>
          </a:p>
        </p:txBody>
      </p:sp>
      <p:sp>
        <p:nvSpPr>
          <p:cNvPr id="33" name="Text 31"/>
          <p:cNvSpPr/>
          <p:nvPr/>
        </p:nvSpPr>
        <p:spPr>
          <a:xfrm>
            <a:off x="6217920" y="3657600"/>
            <a:ext cx="2468880" cy="128016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El enfoque de necesidades básicas NO considera la agencia. El de capacidades sí. Esa es una diferencia clave.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Los Factores de Conversión</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U3.2 — LA BRECHA ENTRE RECURSO Y BIENESTAR</a:t>
            </a:r>
            <a:endParaRPr lang="en-US" sz="900" dirty="0"/>
          </a:p>
        </p:txBody>
      </p:sp>
      <p:sp>
        <p:nvSpPr>
          <p:cNvPr id="7" name="Shape 5"/>
          <p:cNvSpPr/>
          <p:nvPr/>
        </p:nvSpPr>
        <p:spPr>
          <a:xfrm>
            <a:off x="365760" y="1005840"/>
            <a:ext cx="8412480" cy="804672"/>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54864" cy="804672"/>
          </a:xfrm>
          <a:prstGeom prst="rect">
            <a:avLst/>
          </a:prstGeom>
          <a:solidFill>
            <a:srgbClr val="2C5282"/>
          </a:solidFill>
          <a:ln w="12700">
            <a:solidFill>
              <a:srgbClr val="2C5282"/>
            </a:solidFill>
            <a:prstDash val="solid"/>
          </a:ln>
        </p:spPr>
        <p:txBody>
          <a:bodyPr/>
          <a:lstStyle/>
          <a:p>
            <a:endParaRPr lang="es-AR"/>
          </a:p>
        </p:txBody>
      </p:sp>
      <p:sp>
        <p:nvSpPr>
          <p:cNvPr id="9" name="Text 7"/>
          <p:cNvSpPr/>
          <p:nvPr/>
        </p:nvSpPr>
        <p:spPr>
          <a:xfrm>
            <a:off x="548640" y="1060704"/>
            <a:ext cx="8046720" cy="676656"/>
          </a:xfrm>
          <a:prstGeom prst="rect">
            <a:avLst/>
          </a:prstGeom>
          <a:noFill/>
          <a:ln/>
        </p:spPr>
        <p:txBody>
          <a:bodyPr wrap="square" lIns="0" tIns="0" rIns="0" bIns="0" rtlCol="0" anchor="ctr"/>
          <a:lstStyle/>
          <a:p>
            <a:pPr marL="0" indent="0">
              <a:buNone/>
            </a:pPr>
            <a:r>
              <a:rPr lang="en-US" sz="1200" b="1" dirty="0">
                <a:solidFill>
                  <a:srgbClr val="2C5282"/>
                </a:solidFill>
                <a:latin typeface="Calibri" pitchFamily="34" charset="0"/>
                <a:ea typeface="Calibri" pitchFamily="34" charset="-122"/>
                <a:cs typeface="Calibri" pitchFamily="34" charset="-120"/>
              </a:rPr>
              <a:t>Factores de conversión</a:t>
            </a:r>
            <a:r>
              <a:rPr lang="en-US" sz="1200" dirty="0">
                <a:solidFill>
                  <a:srgbClr val="1A202C"/>
                </a:solidFill>
                <a:latin typeface="Calibri" pitchFamily="34" charset="0"/>
                <a:ea typeface="Calibri" pitchFamily="34" charset="-122"/>
                <a:cs typeface="Calibri" pitchFamily="34" charset="-120"/>
              </a:rPr>
              <a:t> = las condiciones que determinan si podés transformar un RECURSO en un FUNCIONAMIENTO (bienestar real). El mismo recurso no produce el mismo bienestar en personas distintas. La brecha entre recibir el medio y lograr el fin es lo que los factores de conversión explican.</a:t>
            </a:r>
            <a:endParaRPr lang="en-US" sz="1200" dirty="0"/>
          </a:p>
        </p:txBody>
      </p:sp>
      <p:sp>
        <p:nvSpPr>
          <p:cNvPr id="10" name="Shape 8"/>
          <p:cNvSpPr/>
          <p:nvPr/>
        </p:nvSpPr>
        <p:spPr>
          <a:xfrm>
            <a:off x="365760" y="1920240"/>
            <a:ext cx="4206240" cy="294436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1" name="Shape 9"/>
          <p:cNvSpPr/>
          <p:nvPr/>
        </p:nvSpPr>
        <p:spPr>
          <a:xfrm>
            <a:off x="365760" y="1920240"/>
            <a:ext cx="4206240" cy="365760"/>
          </a:xfrm>
          <a:prstGeom prst="rect">
            <a:avLst/>
          </a:prstGeom>
          <a:solidFill>
            <a:srgbClr val="2E8B74"/>
          </a:solidFill>
          <a:ln w="12700">
            <a:solidFill>
              <a:srgbClr val="2E8B74"/>
            </a:solidFill>
            <a:prstDash val="solid"/>
          </a:ln>
        </p:spPr>
        <p:txBody>
          <a:bodyPr/>
          <a:lstStyle/>
          <a:p>
            <a:endParaRPr lang="es-AR"/>
          </a:p>
        </p:txBody>
      </p:sp>
      <p:sp>
        <p:nvSpPr>
          <p:cNvPr id="12" name="Text 10"/>
          <p:cNvSpPr/>
          <p:nvPr/>
        </p:nvSpPr>
        <p:spPr>
          <a:xfrm>
            <a:off x="457200" y="1947672"/>
            <a:ext cx="4023360"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Factores de Conversión INTERNOS</a:t>
            </a:r>
            <a:endParaRPr lang="en-US" sz="1150" dirty="0"/>
          </a:p>
        </p:txBody>
      </p:sp>
      <p:sp>
        <p:nvSpPr>
          <p:cNvPr id="13" name="Text 11"/>
          <p:cNvSpPr/>
          <p:nvPr/>
        </p:nvSpPr>
        <p:spPr>
          <a:xfrm>
            <a:off x="475488" y="2350008"/>
            <a:ext cx="3986784" cy="242316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Son características personales que afectan cómo se aprovecha el recurso.</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Edad y condición física: una viejita aprovecha distinto un plato de comida que un adolescente.</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Discapacidad: el mismo recurso puede ser insuficiente para quien tiene necesidades especiales.</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Género: en sociedades patriarcales, la mujer puede no poder convertir recursos en libertades.</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Inteligencia y habilidades: dos alumnos en la misma aula con los mismos docentes aprenden distinto.</a:t>
            </a:r>
            <a:endParaRPr lang="en-US" sz="1050" dirty="0"/>
          </a:p>
        </p:txBody>
      </p:sp>
      <p:sp>
        <p:nvSpPr>
          <p:cNvPr id="14" name="Shape 12"/>
          <p:cNvSpPr/>
          <p:nvPr/>
        </p:nvSpPr>
        <p:spPr>
          <a:xfrm>
            <a:off x="4709160" y="1920240"/>
            <a:ext cx="4206240" cy="294436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5" name="Shape 13"/>
          <p:cNvSpPr/>
          <p:nvPr/>
        </p:nvSpPr>
        <p:spPr>
          <a:xfrm>
            <a:off x="4709160" y="1920240"/>
            <a:ext cx="4206240" cy="365760"/>
          </a:xfrm>
          <a:prstGeom prst="rect">
            <a:avLst/>
          </a:prstGeom>
          <a:solidFill>
            <a:srgbClr val="C0533A"/>
          </a:solidFill>
          <a:ln w="12700">
            <a:solidFill>
              <a:srgbClr val="C0533A"/>
            </a:solidFill>
            <a:prstDash val="solid"/>
          </a:ln>
        </p:spPr>
        <p:txBody>
          <a:bodyPr/>
          <a:lstStyle/>
          <a:p>
            <a:endParaRPr lang="es-AR"/>
          </a:p>
        </p:txBody>
      </p:sp>
      <p:sp>
        <p:nvSpPr>
          <p:cNvPr id="16" name="Text 14"/>
          <p:cNvSpPr/>
          <p:nvPr/>
        </p:nvSpPr>
        <p:spPr>
          <a:xfrm>
            <a:off x="4800600" y="1947672"/>
            <a:ext cx="4023360"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Factores de Conversión EXTERNOS</a:t>
            </a:r>
            <a:endParaRPr lang="en-US" sz="1150" dirty="0"/>
          </a:p>
        </p:txBody>
      </p:sp>
      <p:sp>
        <p:nvSpPr>
          <p:cNvPr id="17" name="Text 15"/>
          <p:cNvSpPr/>
          <p:nvPr/>
        </p:nvSpPr>
        <p:spPr>
          <a:xfrm>
            <a:off x="4818888" y="2350008"/>
            <a:ext cx="3986784" cy="242316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Son condiciones sociales, culturales o medioambientales que limitan o permiten la conversión.</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Social/Cultural: si la mujer no puede asistir a la escuela por normas sociales, el recurso educativo no le sirve.</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Medioambiental: si tenés bicicleta pero vivís en una isla de arena, la bicicleta no te sirve.</a:t>
            </a:r>
            <a:endParaRPr lang="en-US" sz="1050" dirty="0"/>
          </a:p>
          <a:p>
            <a:pPr marL="342900" indent="-342900">
              <a:spcAft>
                <a:spcPts val="500"/>
              </a:spcAft>
              <a:buSzPct val="100000"/>
              <a:buChar char="•"/>
            </a:pPr>
            <a:r>
              <a:rPr lang="en-US" sz="1050" dirty="0">
                <a:solidFill>
                  <a:srgbClr val="1A202C"/>
                </a:solidFill>
                <a:latin typeface="Calibri" pitchFamily="34" charset="0"/>
                <a:ea typeface="Calibri" pitchFamily="34" charset="-122"/>
                <a:cs typeface="Calibri" pitchFamily="34" charset="-120"/>
              </a:rPr>
              <a:t>Del hogar: si el ingreso familiar lo gasta el padre en juegos en línea, los hijos no acceden al bienestar aunque el recurso exista.</a:t>
            </a:r>
            <a:endParaRPr lang="en-US" sz="1050" dirty="0"/>
          </a:p>
        </p:txBody>
      </p:sp>
      <p:sp>
        <p:nvSpPr>
          <p:cNvPr id="18" name="Shape 16"/>
          <p:cNvSpPr/>
          <p:nvPr/>
        </p:nvSpPr>
        <p:spPr>
          <a:xfrm>
            <a:off x="365760" y="4919472"/>
            <a:ext cx="8412480" cy="201168"/>
          </a:xfrm>
          <a:prstGeom prst="rect">
            <a:avLst/>
          </a:prstGeom>
          <a:solidFill>
            <a:srgbClr val="EEF2FF"/>
          </a:solidFill>
          <a:ln w="12700">
            <a:solidFill>
              <a:srgbClr val="CBD5E0"/>
            </a:solidFill>
            <a:prstDash val="solid"/>
          </a:ln>
        </p:spPr>
        <p:txBody>
          <a:bodyPr/>
          <a:lstStyle/>
          <a:p>
            <a:endParaRPr lang="es-AR"/>
          </a:p>
        </p:txBody>
      </p:sp>
      <p:sp>
        <p:nvSpPr>
          <p:cNvPr id="19" name="Text 17"/>
          <p:cNvSpPr/>
          <p:nvPr/>
        </p:nvSpPr>
        <p:spPr>
          <a:xfrm>
            <a:off x="548640" y="4937760"/>
            <a:ext cx="8046720" cy="164592"/>
          </a:xfrm>
          <a:prstGeom prst="rect">
            <a:avLst/>
          </a:prstGeom>
          <a:noFill/>
          <a:ln/>
        </p:spPr>
        <p:txBody>
          <a:bodyPr wrap="square" lIns="0" tIns="0" rIns="0" bIns="0" rtlCol="0" anchor="ctr"/>
          <a:lstStyle/>
          <a:p>
            <a:pPr marL="0" indent="0">
              <a:buNone/>
            </a:pPr>
            <a:r>
              <a:rPr lang="en-US" sz="900" b="1" dirty="0">
                <a:solidFill>
                  <a:srgbClr val="2C5282"/>
                </a:solidFill>
                <a:latin typeface="Calibri" pitchFamily="34" charset="0"/>
                <a:ea typeface="Calibri" pitchFamily="34" charset="-122"/>
                <a:cs typeface="Calibri" pitchFamily="34" charset="-120"/>
              </a:rPr>
              <a:t>Fórmula conceptual: Recurso + Factores de conversión → Funcionamiento (bienestar). Sin buenos factores de conversión, el recurso no se traduce en bienestar.</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2E8B74"/>
          </a:solidFill>
          <a:ln w="12700">
            <a:solidFill>
              <a:srgbClr val="2E8B74"/>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Ejemplo: Factores de Conversión en Educación</a:t>
            </a:r>
            <a:endParaRPr lang="en-US" sz="2800" dirty="0"/>
          </a:p>
        </p:txBody>
      </p:sp>
      <p:sp>
        <p:nvSpPr>
          <p:cNvPr id="5" name="Shape 3"/>
          <p:cNvSpPr/>
          <p:nvPr/>
        </p:nvSpPr>
        <p:spPr>
          <a:xfrm>
            <a:off x="457200" y="731520"/>
            <a:ext cx="36576" cy="201168"/>
          </a:xfrm>
          <a:prstGeom prst="rect">
            <a:avLst/>
          </a:prstGeom>
          <a:solidFill>
            <a:srgbClr val="2E8B74"/>
          </a:solidFill>
          <a:ln w="12700">
            <a:solidFill>
              <a:srgbClr val="2E8B74"/>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2E8B74"/>
                </a:solidFill>
                <a:latin typeface="Calibri" pitchFamily="34" charset="0"/>
                <a:ea typeface="Calibri" pitchFamily="34" charset="-122"/>
                <a:cs typeface="Calibri" pitchFamily="34" charset="-120"/>
              </a:rPr>
              <a:t>U3.2 — APLICACIÓN CONCRETA (PROF. MACCIO EN CLASE)</a:t>
            </a:r>
            <a:endParaRPr lang="en-US" sz="900" dirty="0"/>
          </a:p>
        </p:txBody>
      </p:sp>
      <p:sp>
        <p:nvSpPr>
          <p:cNvPr id="7" name="Text 5"/>
          <p:cNvSpPr/>
          <p:nvPr/>
        </p:nvSpPr>
        <p:spPr>
          <a:xfrm>
            <a:off x="457200" y="1024128"/>
            <a:ext cx="8229600" cy="34747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Recurso: misma cantidad de aulas, docentes e infraestructura escolar para todos los alumnos.</a:t>
            </a:r>
            <a:endParaRPr lang="en-US" sz="1200" dirty="0"/>
          </a:p>
        </p:txBody>
      </p:sp>
      <p:sp>
        <p:nvSpPr>
          <p:cNvPr id="8" name="Shape 6"/>
          <p:cNvSpPr/>
          <p:nvPr/>
        </p:nvSpPr>
        <p:spPr>
          <a:xfrm>
            <a:off x="2926080" y="1417320"/>
            <a:ext cx="3291840" cy="530352"/>
          </a:xfrm>
          <a:prstGeom prst="rect">
            <a:avLst/>
          </a:prstGeom>
          <a:solidFill>
            <a:srgbClr val="E8F5E9"/>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9" name="Text 7"/>
          <p:cNvSpPr/>
          <p:nvPr/>
        </p:nvSpPr>
        <p:spPr>
          <a:xfrm>
            <a:off x="3017520" y="1463040"/>
            <a:ext cx="3108960" cy="420624"/>
          </a:xfrm>
          <a:prstGeom prst="rect">
            <a:avLst/>
          </a:prstGeom>
          <a:noFill/>
          <a:ln/>
        </p:spPr>
        <p:txBody>
          <a:bodyPr wrap="square" lIns="0" tIns="0" rIns="0" bIns="0" rtlCol="0" anchor="ctr"/>
          <a:lstStyle/>
          <a:p>
            <a:pPr marL="0" indent="0" algn="ctr">
              <a:buNone/>
            </a:pPr>
            <a:r>
              <a:rPr lang="en-US" sz="1050" b="1" dirty="0">
                <a:solidFill>
                  <a:srgbClr val="2E8B74"/>
                </a:solidFill>
                <a:latin typeface="Calibri" pitchFamily="34" charset="0"/>
                <a:ea typeface="Calibri" pitchFamily="34" charset="-122"/>
                <a:cs typeface="Calibri" pitchFamily="34" charset="-120"/>
              </a:rPr>
              <a:t>🏫 RECURSO: Escuela pública con los mismos docentes y materiales</a:t>
            </a:r>
            <a:endParaRPr lang="en-US" sz="1050" dirty="0"/>
          </a:p>
        </p:txBody>
      </p:sp>
      <p:sp>
        <p:nvSpPr>
          <p:cNvPr id="10" name="Text 8"/>
          <p:cNvSpPr/>
          <p:nvPr/>
        </p:nvSpPr>
        <p:spPr>
          <a:xfrm>
            <a:off x="2286000" y="2029968"/>
            <a:ext cx="4572000" cy="292608"/>
          </a:xfrm>
          <a:prstGeom prst="rect">
            <a:avLst/>
          </a:prstGeom>
          <a:noFill/>
          <a:ln/>
        </p:spPr>
        <p:txBody>
          <a:bodyPr wrap="square" lIns="0" tIns="0" rIns="0" bIns="0" rtlCol="0" anchor="ctr"/>
          <a:lstStyle/>
          <a:p>
            <a:pPr marL="0" indent="0" algn="ctr">
              <a:buNone/>
            </a:pPr>
            <a:r>
              <a:rPr lang="en-US" sz="1100" b="1" dirty="0">
                <a:solidFill>
                  <a:srgbClr val="64748B"/>
                </a:solidFill>
                <a:latin typeface="Calibri" pitchFamily="34" charset="0"/>
                <a:ea typeface="Calibri" pitchFamily="34" charset="-122"/>
                <a:cs typeface="Calibri" pitchFamily="34" charset="-120"/>
              </a:rPr>
              <a:t>↓ ¿Cómo se convierte en aprendizaje?</a:t>
            </a:r>
            <a:endParaRPr lang="en-US" sz="1100" dirty="0"/>
          </a:p>
        </p:txBody>
      </p:sp>
      <p:sp>
        <p:nvSpPr>
          <p:cNvPr id="11" name="Shape 9"/>
          <p:cNvSpPr/>
          <p:nvPr/>
        </p:nvSpPr>
        <p:spPr>
          <a:xfrm>
            <a:off x="365760" y="2377440"/>
            <a:ext cx="4114800" cy="248716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2" name="Shape 10"/>
          <p:cNvSpPr/>
          <p:nvPr/>
        </p:nvSpPr>
        <p:spPr>
          <a:xfrm>
            <a:off x="365760" y="2377440"/>
            <a:ext cx="4114800" cy="329184"/>
          </a:xfrm>
          <a:prstGeom prst="rect">
            <a:avLst/>
          </a:prstGeom>
          <a:solidFill>
            <a:srgbClr val="2E8B74"/>
          </a:solidFill>
          <a:ln w="12700">
            <a:solidFill>
              <a:srgbClr val="2E8B74"/>
            </a:solidFill>
            <a:prstDash val="solid"/>
          </a:ln>
        </p:spPr>
        <p:txBody>
          <a:bodyPr/>
          <a:lstStyle/>
          <a:p>
            <a:endParaRPr lang="es-AR"/>
          </a:p>
        </p:txBody>
      </p:sp>
      <p:sp>
        <p:nvSpPr>
          <p:cNvPr id="13" name="Text 11"/>
          <p:cNvSpPr/>
          <p:nvPr/>
        </p:nvSpPr>
        <p:spPr>
          <a:xfrm>
            <a:off x="475488" y="2404872"/>
            <a:ext cx="38862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Factores INTERNOS</a:t>
            </a:r>
            <a:endParaRPr lang="en-US" sz="1150" dirty="0"/>
          </a:p>
        </p:txBody>
      </p:sp>
      <p:sp>
        <p:nvSpPr>
          <p:cNvPr id="14" name="Shape 12"/>
          <p:cNvSpPr/>
          <p:nvPr/>
        </p:nvSpPr>
        <p:spPr>
          <a:xfrm>
            <a:off x="475488" y="2788920"/>
            <a:ext cx="3886200" cy="219456"/>
          </a:xfrm>
          <a:prstGeom prst="rect">
            <a:avLst/>
          </a:prstGeom>
          <a:solidFill>
            <a:srgbClr val="2E8B74">
              <a:alpha val="15000"/>
            </a:srgbClr>
          </a:solidFill>
          <a:ln w="12700">
            <a:solidFill>
              <a:srgbClr val="2E8B74">
                <a:alpha val="30000"/>
              </a:srgbClr>
            </a:solidFill>
            <a:prstDash val="solid"/>
          </a:ln>
        </p:spPr>
        <p:txBody>
          <a:bodyPr/>
          <a:lstStyle/>
          <a:p>
            <a:endParaRPr lang="es-AR"/>
          </a:p>
        </p:txBody>
      </p:sp>
      <p:sp>
        <p:nvSpPr>
          <p:cNvPr id="15" name="Text 13"/>
          <p:cNvSpPr/>
          <p:nvPr/>
        </p:nvSpPr>
        <p:spPr>
          <a:xfrm>
            <a:off x="475488" y="2807208"/>
            <a:ext cx="3886200" cy="182880"/>
          </a:xfrm>
          <a:prstGeom prst="rect">
            <a:avLst/>
          </a:prstGeom>
          <a:noFill/>
          <a:ln/>
        </p:spPr>
        <p:txBody>
          <a:bodyPr wrap="square" lIns="0" tIns="0" rIns="0" bIns="0" rtlCol="0" anchor="ctr"/>
          <a:lstStyle/>
          <a:p>
            <a:pPr marL="0" indent="0">
              <a:buNone/>
            </a:pPr>
            <a:r>
              <a:rPr lang="en-US" sz="950" b="1" dirty="0">
                <a:solidFill>
                  <a:srgbClr val="2E8B74"/>
                </a:solidFill>
                <a:latin typeface="Calibri" pitchFamily="34" charset="0"/>
                <a:ea typeface="Calibri" pitchFamily="34" charset="-122"/>
                <a:cs typeface="Calibri" pitchFamily="34" charset="-120"/>
              </a:rPr>
              <a:t>Capacidad de aprendizaje individual</a:t>
            </a:r>
            <a:endParaRPr lang="en-US" sz="950" dirty="0"/>
          </a:p>
        </p:txBody>
      </p:sp>
      <p:sp>
        <p:nvSpPr>
          <p:cNvPr id="16" name="Text 14"/>
          <p:cNvSpPr/>
          <p:nvPr/>
        </p:nvSpPr>
        <p:spPr>
          <a:xfrm>
            <a:off x="475488" y="3017520"/>
            <a:ext cx="388620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Estudiantes con distintas habilidades cognitivas tendrán distintos resultados con los mismos recursos.</a:t>
            </a:r>
            <a:endParaRPr lang="en-US" sz="900" dirty="0"/>
          </a:p>
        </p:txBody>
      </p:sp>
      <p:sp>
        <p:nvSpPr>
          <p:cNvPr id="17" name="Shape 15"/>
          <p:cNvSpPr/>
          <p:nvPr/>
        </p:nvSpPr>
        <p:spPr>
          <a:xfrm>
            <a:off x="475488" y="3447288"/>
            <a:ext cx="3886200" cy="219456"/>
          </a:xfrm>
          <a:prstGeom prst="rect">
            <a:avLst/>
          </a:prstGeom>
          <a:solidFill>
            <a:srgbClr val="2E8B74">
              <a:alpha val="15000"/>
            </a:srgbClr>
          </a:solidFill>
          <a:ln w="12700">
            <a:solidFill>
              <a:srgbClr val="2E8B74">
                <a:alpha val="30000"/>
              </a:srgbClr>
            </a:solidFill>
            <a:prstDash val="solid"/>
          </a:ln>
        </p:spPr>
        <p:txBody>
          <a:bodyPr/>
          <a:lstStyle/>
          <a:p>
            <a:endParaRPr lang="es-AR"/>
          </a:p>
        </p:txBody>
      </p:sp>
      <p:sp>
        <p:nvSpPr>
          <p:cNvPr id="18" name="Text 16"/>
          <p:cNvSpPr/>
          <p:nvPr/>
        </p:nvSpPr>
        <p:spPr>
          <a:xfrm>
            <a:off x="475488" y="3465576"/>
            <a:ext cx="3886200" cy="182880"/>
          </a:xfrm>
          <a:prstGeom prst="rect">
            <a:avLst/>
          </a:prstGeom>
          <a:noFill/>
          <a:ln/>
        </p:spPr>
        <p:txBody>
          <a:bodyPr wrap="square" lIns="0" tIns="0" rIns="0" bIns="0" rtlCol="0" anchor="ctr"/>
          <a:lstStyle/>
          <a:p>
            <a:pPr marL="0" indent="0">
              <a:buNone/>
            </a:pPr>
            <a:r>
              <a:rPr lang="en-US" sz="950" b="1" dirty="0">
                <a:solidFill>
                  <a:srgbClr val="2E8B74"/>
                </a:solidFill>
                <a:latin typeface="Calibri" pitchFamily="34" charset="0"/>
                <a:ea typeface="Calibri" pitchFamily="34" charset="-122"/>
                <a:cs typeface="Calibri" pitchFamily="34" charset="-120"/>
              </a:rPr>
              <a:t>Contexto familiar y expectativas</a:t>
            </a:r>
            <a:endParaRPr lang="en-US" sz="950" dirty="0"/>
          </a:p>
        </p:txBody>
      </p:sp>
      <p:sp>
        <p:nvSpPr>
          <p:cNvPr id="19" name="Text 17"/>
          <p:cNvSpPr/>
          <p:nvPr/>
        </p:nvSpPr>
        <p:spPr>
          <a:xfrm>
            <a:off x="475488" y="3675888"/>
            <a:ext cx="388620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Familias que valoran la educación generan ambientes que favorecen el aprendizaje en el hogar.</a:t>
            </a:r>
            <a:endParaRPr lang="en-US" sz="900" dirty="0"/>
          </a:p>
        </p:txBody>
      </p:sp>
      <p:sp>
        <p:nvSpPr>
          <p:cNvPr id="20" name="Shape 18"/>
          <p:cNvSpPr/>
          <p:nvPr/>
        </p:nvSpPr>
        <p:spPr>
          <a:xfrm>
            <a:off x="475488" y="4105656"/>
            <a:ext cx="3886200" cy="219456"/>
          </a:xfrm>
          <a:prstGeom prst="rect">
            <a:avLst/>
          </a:prstGeom>
          <a:solidFill>
            <a:srgbClr val="2E8B74">
              <a:alpha val="15000"/>
            </a:srgbClr>
          </a:solidFill>
          <a:ln w="12700">
            <a:solidFill>
              <a:srgbClr val="2E8B74">
                <a:alpha val="30000"/>
              </a:srgbClr>
            </a:solidFill>
            <a:prstDash val="solid"/>
          </a:ln>
        </p:spPr>
        <p:txBody>
          <a:bodyPr/>
          <a:lstStyle/>
          <a:p>
            <a:endParaRPr lang="es-AR"/>
          </a:p>
        </p:txBody>
      </p:sp>
      <p:sp>
        <p:nvSpPr>
          <p:cNvPr id="21" name="Text 19"/>
          <p:cNvSpPr/>
          <p:nvPr/>
        </p:nvSpPr>
        <p:spPr>
          <a:xfrm>
            <a:off x="475488" y="4123944"/>
            <a:ext cx="3886200" cy="182880"/>
          </a:xfrm>
          <a:prstGeom prst="rect">
            <a:avLst/>
          </a:prstGeom>
          <a:noFill/>
          <a:ln/>
        </p:spPr>
        <p:txBody>
          <a:bodyPr wrap="square" lIns="0" tIns="0" rIns="0" bIns="0" rtlCol="0" anchor="ctr"/>
          <a:lstStyle/>
          <a:p>
            <a:pPr marL="0" indent="0">
              <a:buNone/>
            </a:pPr>
            <a:r>
              <a:rPr lang="en-US" sz="950" b="1" dirty="0">
                <a:solidFill>
                  <a:srgbClr val="2E8B74"/>
                </a:solidFill>
                <a:latin typeface="Calibri" pitchFamily="34" charset="0"/>
                <a:ea typeface="Calibri" pitchFamily="34" charset="-122"/>
                <a:cs typeface="Calibri" pitchFamily="34" charset="-120"/>
              </a:rPr>
              <a:t>Autoestima y motivación</a:t>
            </a:r>
            <a:endParaRPr lang="en-US" sz="950" dirty="0"/>
          </a:p>
        </p:txBody>
      </p:sp>
      <p:sp>
        <p:nvSpPr>
          <p:cNvPr id="22" name="Text 20"/>
          <p:cNvSpPr/>
          <p:nvPr/>
        </p:nvSpPr>
        <p:spPr>
          <a:xfrm>
            <a:off x="475488" y="4334256"/>
            <a:ext cx="388620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Un estudiante que cree en sí mismo convierte mejor los recursos pedagógicos disponibles.</a:t>
            </a:r>
            <a:endParaRPr lang="en-US" sz="900" dirty="0"/>
          </a:p>
        </p:txBody>
      </p:sp>
      <p:sp>
        <p:nvSpPr>
          <p:cNvPr id="23" name="Shape 21"/>
          <p:cNvSpPr/>
          <p:nvPr/>
        </p:nvSpPr>
        <p:spPr>
          <a:xfrm>
            <a:off x="4663440" y="2377440"/>
            <a:ext cx="4114800" cy="248716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4" name="Shape 22"/>
          <p:cNvSpPr/>
          <p:nvPr/>
        </p:nvSpPr>
        <p:spPr>
          <a:xfrm>
            <a:off x="4663440" y="2377440"/>
            <a:ext cx="4114800" cy="329184"/>
          </a:xfrm>
          <a:prstGeom prst="rect">
            <a:avLst/>
          </a:prstGeom>
          <a:solidFill>
            <a:srgbClr val="C0533A"/>
          </a:solidFill>
          <a:ln w="12700">
            <a:solidFill>
              <a:srgbClr val="C0533A"/>
            </a:solidFill>
            <a:prstDash val="solid"/>
          </a:ln>
        </p:spPr>
        <p:txBody>
          <a:bodyPr/>
          <a:lstStyle/>
          <a:p>
            <a:endParaRPr lang="es-AR"/>
          </a:p>
        </p:txBody>
      </p:sp>
      <p:sp>
        <p:nvSpPr>
          <p:cNvPr id="25" name="Text 23"/>
          <p:cNvSpPr/>
          <p:nvPr/>
        </p:nvSpPr>
        <p:spPr>
          <a:xfrm>
            <a:off x="4773168" y="2404872"/>
            <a:ext cx="38862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Factores EXTERNOS</a:t>
            </a:r>
            <a:endParaRPr lang="en-US" sz="1150" dirty="0"/>
          </a:p>
        </p:txBody>
      </p:sp>
      <p:sp>
        <p:nvSpPr>
          <p:cNvPr id="26" name="Shape 24"/>
          <p:cNvSpPr/>
          <p:nvPr/>
        </p:nvSpPr>
        <p:spPr>
          <a:xfrm>
            <a:off x="4773168" y="2788920"/>
            <a:ext cx="3886200" cy="219456"/>
          </a:xfrm>
          <a:prstGeom prst="rect">
            <a:avLst/>
          </a:prstGeom>
          <a:solidFill>
            <a:srgbClr val="C0533A">
              <a:alpha val="15000"/>
            </a:srgbClr>
          </a:solidFill>
          <a:ln w="12700">
            <a:solidFill>
              <a:srgbClr val="C0533A">
                <a:alpha val="30000"/>
              </a:srgbClr>
            </a:solidFill>
            <a:prstDash val="solid"/>
          </a:ln>
        </p:spPr>
        <p:txBody>
          <a:bodyPr/>
          <a:lstStyle/>
          <a:p>
            <a:endParaRPr lang="es-AR"/>
          </a:p>
        </p:txBody>
      </p:sp>
      <p:sp>
        <p:nvSpPr>
          <p:cNvPr id="27" name="Text 25"/>
          <p:cNvSpPr/>
          <p:nvPr/>
        </p:nvSpPr>
        <p:spPr>
          <a:xfrm>
            <a:off x="4773168" y="2807208"/>
            <a:ext cx="3886200" cy="182880"/>
          </a:xfrm>
          <a:prstGeom prst="rect">
            <a:avLst/>
          </a:prstGeom>
          <a:noFill/>
          <a:ln/>
        </p:spPr>
        <p:txBody>
          <a:bodyPr wrap="square" lIns="0" tIns="0" rIns="0" bIns="0" rtlCol="0" anchor="ctr"/>
          <a:lstStyle/>
          <a:p>
            <a:pPr marL="0" indent="0">
              <a:buNone/>
            </a:pPr>
            <a:r>
              <a:rPr lang="en-US" sz="950" b="1" dirty="0">
                <a:solidFill>
                  <a:srgbClr val="C0533A"/>
                </a:solidFill>
                <a:latin typeface="Calibri" pitchFamily="34" charset="0"/>
                <a:ea typeface="Calibri" pitchFamily="34" charset="-122"/>
                <a:cs typeface="Calibri" pitchFamily="34" charset="-120"/>
              </a:rPr>
              <a:t>Calidad real del docente</a:t>
            </a:r>
            <a:endParaRPr lang="en-US" sz="950" dirty="0"/>
          </a:p>
        </p:txBody>
      </p:sp>
      <p:sp>
        <p:nvSpPr>
          <p:cNvPr id="28" name="Text 26"/>
          <p:cNvSpPr/>
          <p:nvPr/>
        </p:nvSpPr>
        <p:spPr>
          <a:xfrm>
            <a:off x="4773168" y="3017520"/>
            <a:ext cx="388620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Puede ser que la formación docente no sea suficiente o que las condiciones de trabajo afecten su desempeño.</a:t>
            </a:r>
            <a:endParaRPr lang="en-US" sz="900" dirty="0"/>
          </a:p>
        </p:txBody>
      </p:sp>
      <p:sp>
        <p:nvSpPr>
          <p:cNvPr id="29" name="Shape 27"/>
          <p:cNvSpPr/>
          <p:nvPr/>
        </p:nvSpPr>
        <p:spPr>
          <a:xfrm>
            <a:off x="4773168" y="3447288"/>
            <a:ext cx="3886200" cy="219456"/>
          </a:xfrm>
          <a:prstGeom prst="rect">
            <a:avLst/>
          </a:prstGeom>
          <a:solidFill>
            <a:srgbClr val="C0533A">
              <a:alpha val="15000"/>
            </a:srgbClr>
          </a:solidFill>
          <a:ln w="12700">
            <a:solidFill>
              <a:srgbClr val="C0533A">
                <a:alpha val="30000"/>
              </a:srgbClr>
            </a:solidFill>
            <a:prstDash val="solid"/>
          </a:ln>
        </p:spPr>
        <p:txBody>
          <a:bodyPr/>
          <a:lstStyle/>
          <a:p>
            <a:endParaRPr lang="es-AR"/>
          </a:p>
        </p:txBody>
      </p:sp>
      <p:sp>
        <p:nvSpPr>
          <p:cNvPr id="30" name="Text 28"/>
          <p:cNvSpPr/>
          <p:nvPr/>
        </p:nvSpPr>
        <p:spPr>
          <a:xfrm>
            <a:off x="4773168" y="3465576"/>
            <a:ext cx="3886200" cy="182880"/>
          </a:xfrm>
          <a:prstGeom prst="rect">
            <a:avLst/>
          </a:prstGeom>
          <a:noFill/>
          <a:ln/>
        </p:spPr>
        <p:txBody>
          <a:bodyPr wrap="square" lIns="0" tIns="0" rIns="0" bIns="0" rtlCol="0" anchor="ctr"/>
          <a:lstStyle/>
          <a:p>
            <a:pPr marL="0" indent="0">
              <a:buNone/>
            </a:pPr>
            <a:r>
              <a:rPr lang="en-US" sz="950" b="1" dirty="0">
                <a:solidFill>
                  <a:srgbClr val="C0533A"/>
                </a:solidFill>
                <a:latin typeface="Calibri" pitchFamily="34" charset="0"/>
                <a:ea typeface="Calibri" pitchFamily="34" charset="-122"/>
                <a:cs typeface="Calibri" pitchFamily="34" charset="-120"/>
              </a:rPr>
              <a:t>Infraestructura del aula</a:t>
            </a:r>
            <a:endParaRPr lang="en-US" sz="950" dirty="0"/>
          </a:p>
        </p:txBody>
      </p:sp>
      <p:sp>
        <p:nvSpPr>
          <p:cNvPr id="31" name="Text 29"/>
          <p:cNvSpPr/>
          <p:nvPr/>
        </p:nvSpPr>
        <p:spPr>
          <a:xfrm>
            <a:off x="4773168" y="3675888"/>
            <a:ext cx="388620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Temperatura, iluminación, materiales: condiciones físicas que afectan la capacidad de aprender.</a:t>
            </a:r>
            <a:endParaRPr lang="en-US" sz="900" dirty="0"/>
          </a:p>
        </p:txBody>
      </p:sp>
      <p:sp>
        <p:nvSpPr>
          <p:cNvPr id="32" name="Shape 30"/>
          <p:cNvSpPr/>
          <p:nvPr/>
        </p:nvSpPr>
        <p:spPr>
          <a:xfrm>
            <a:off x="4773168" y="4105656"/>
            <a:ext cx="3886200" cy="219456"/>
          </a:xfrm>
          <a:prstGeom prst="rect">
            <a:avLst/>
          </a:prstGeom>
          <a:solidFill>
            <a:srgbClr val="C0533A">
              <a:alpha val="15000"/>
            </a:srgbClr>
          </a:solidFill>
          <a:ln w="12700">
            <a:solidFill>
              <a:srgbClr val="C0533A">
                <a:alpha val="30000"/>
              </a:srgbClr>
            </a:solidFill>
            <a:prstDash val="solid"/>
          </a:ln>
        </p:spPr>
        <p:txBody>
          <a:bodyPr/>
          <a:lstStyle/>
          <a:p>
            <a:endParaRPr lang="es-AR"/>
          </a:p>
        </p:txBody>
      </p:sp>
      <p:sp>
        <p:nvSpPr>
          <p:cNvPr id="33" name="Text 31"/>
          <p:cNvSpPr/>
          <p:nvPr/>
        </p:nvSpPr>
        <p:spPr>
          <a:xfrm>
            <a:off x="4773168" y="4123944"/>
            <a:ext cx="3886200" cy="182880"/>
          </a:xfrm>
          <a:prstGeom prst="rect">
            <a:avLst/>
          </a:prstGeom>
          <a:noFill/>
          <a:ln/>
        </p:spPr>
        <p:txBody>
          <a:bodyPr wrap="square" lIns="0" tIns="0" rIns="0" bIns="0" rtlCol="0" anchor="ctr"/>
          <a:lstStyle/>
          <a:p>
            <a:pPr marL="0" indent="0">
              <a:buNone/>
            </a:pPr>
            <a:r>
              <a:rPr lang="en-US" sz="950" b="1" dirty="0">
                <a:solidFill>
                  <a:srgbClr val="C0533A"/>
                </a:solidFill>
                <a:latin typeface="Calibri" pitchFamily="34" charset="0"/>
                <a:ea typeface="Calibri" pitchFamily="34" charset="-122"/>
                <a:cs typeface="Calibri" pitchFamily="34" charset="-120"/>
              </a:rPr>
              <a:t>Pertinencia del currículo</a:t>
            </a:r>
            <a:endParaRPr lang="en-US" sz="950" dirty="0"/>
          </a:p>
        </p:txBody>
      </p:sp>
      <p:sp>
        <p:nvSpPr>
          <p:cNvPr id="34" name="Text 32"/>
          <p:cNvSpPr/>
          <p:nvPr/>
        </p:nvSpPr>
        <p:spPr>
          <a:xfrm>
            <a:off x="4773168" y="4334256"/>
            <a:ext cx="3886200"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Si el contenido no conecta con la realidad del estudiante, la conversión en aprendizaje es menor.</a:t>
            </a:r>
            <a:endParaRPr lang="en-US" sz="900" dirty="0"/>
          </a:p>
        </p:txBody>
      </p:sp>
      <p:sp>
        <p:nvSpPr>
          <p:cNvPr id="35" name="Shape 33"/>
          <p:cNvSpPr/>
          <p:nvPr/>
        </p:nvSpPr>
        <p:spPr>
          <a:xfrm>
            <a:off x="365760" y="4919472"/>
            <a:ext cx="8412480" cy="201168"/>
          </a:xfrm>
          <a:prstGeom prst="rect">
            <a:avLst/>
          </a:prstGeom>
          <a:solidFill>
            <a:srgbClr val="FFF3CD"/>
          </a:solidFill>
          <a:ln w="12700">
            <a:solidFill>
              <a:srgbClr val="CBD5E0"/>
            </a:solidFill>
            <a:prstDash val="solid"/>
          </a:ln>
        </p:spPr>
        <p:txBody>
          <a:bodyPr/>
          <a:lstStyle/>
          <a:p>
            <a:endParaRPr lang="es-AR"/>
          </a:p>
        </p:txBody>
      </p:sp>
      <p:sp>
        <p:nvSpPr>
          <p:cNvPr id="36" name="Text 34"/>
          <p:cNvSpPr/>
          <p:nvPr/>
        </p:nvSpPr>
        <p:spPr>
          <a:xfrm>
            <a:off x="548640" y="4937760"/>
            <a:ext cx="8046720" cy="164592"/>
          </a:xfrm>
          <a:prstGeom prst="rect">
            <a:avLst/>
          </a:prstGeom>
          <a:noFill/>
          <a:ln/>
        </p:spPr>
        <p:txBody>
          <a:bodyPr wrap="square" lIns="0" tIns="0" rIns="0" bIns="0" rtlCol="0" anchor="ctr"/>
          <a:lstStyle/>
          <a:p>
            <a:pPr marL="0" indent="0">
              <a:buNone/>
            </a:pPr>
            <a:r>
              <a:rPr lang="en-US" sz="900" b="1" dirty="0">
                <a:solidFill>
                  <a:srgbClr val="C0533A"/>
                </a:solidFill>
                <a:latin typeface="Calibri" pitchFamily="34" charset="0"/>
                <a:ea typeface="Calibri" pitchFamily="34" charset="-122"/>
                <a:cs typeface="Calibri" pitchFamily="34" charset="-120"/>
              </a:rPr>
              <a:t>Conclusión: Con la misma inversión educativa, algunos alumnos aprenden mucho más que otros. Eso es exactamente lo que los factores de conversión buscan explicar.</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Sen vs. Nussbaum: ¿Consenso o Lista?</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U3.2 — DEBATE SOBRE QUÉ CAPACIDADES IMPORTAN</a:t>
            </a:r>
            <a:endParaRPr lang="en-US" sz="900" dirty="0"/>
          </a:p>
        </p:txBody>
      </p:sp>
      <p:sp>
        <p:nvSpPr>
          <p:cNvPr id="7" name="Shape 5"/>
          <p:cNvSpPr/>
          <p:nvPr/>
        </p:nvSpPr>
        <p:spPr>
          <a:xfrm>
            <a:off x="365760" y="1005840"/>
            <a:ext cx="4206240" cy="37947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4206240" cy="384048"/>
          </a:xfrm>
          <a:prstGeom prst="rect">
            <a:avLst/>
          </a:prstGeom>
          <a:solidFill>
            <a:srgbClr val="2C5282"/>
          </a:solidFill>
          <a:ln w="12700">
            <a:solidFill>
              <a:srgbClr val="2C5282"/>
            </a:solidFill>
            <a:prstDash val="solid"/>
          </a:ln>
        </p:spPr>
        <p:txBody>
          <a:bodyPr/>
          <a:lstStyle/>
          <a:p>
            <a:endParaRPr lang="es-AR"/>
          </a:p>
        </p:txBody>
      </p:sp>
      <p:sp>
        <p:nvSpPr>
          <p:cNvPr id="9" name="Text 7"/>
          <p:cNvSpPr/>
          <p:nvPr/>
        </p:nvSpPr>
        <p:spPr>
          <a:xfrm>
            <a:off x="475488" y="1033272"/>
            <a:ext cx="3986784" cy="20116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Amartya Sen</a:t>
            </a:r>
            <a:endParaRPr lang="en-US" sz="1400" dirty="0"/>
          </a:p>
        </p:txBody>
      </p:sp>
      <p:sp>
        <p:nvSpPr>
          <p:cNvPr id="10" name="Text 8"/>
          <p:cNvSpPr/>
          <p:nvPr/>
        </p:nvSpPr>
        <p:spPr>
          <a:xfrm>
            <a:off x="475488" y="1243584"/>
            <a:ext cx="3986784" cy="128016"/>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Economista / Nobel 1998</a:t>
            </a:r>
            <a:endParaRPr lang="en-US" sz="900" dirty="0"/>
          </a:p>
        </p:txBody>
      </p:sp>
      <p:sp>
        <p:nvSpPr>
          <p:cNvPr id="11" name="Shape 9"/>
          <p:cNvSpPr/>
          <p:nvPr/>
        </p:nvSpPr>
        <p:spPr>
          <a:xfrm>
            <a:off x="475488" y="1453896"/>
            <a:ext cx="3986784" cy="219456"/>
          </a:xfrm>
          <a:prstGeom prst="rect">
            <a:avLst/>
          </a:prstGeom>
          <a:solidFill>
            <a:srgbClr val="2C5282">
              <a:alpha val="70000"/>
            </a:srgbClr>
          </a:solidFill>
          <a:ln w="12700">
            <a:solidFill>
              <a:srgbClr val="2C5282">
                <a:alpha val="70000"/>
              </a:srgbClr>
            </a:solidFill>
            <a:prstDash val="solid"/>
          </a:ln>
        </p:spPr>
        <p:txBody>
          <a:bodyPr/>
          <a:lstStyle/>
          <a:p>
            <a:endParaRPr lang="es-AR"/>
          </a:p>
        </p:txBody>
      </p:sp>
      <p:sp>
        <p:nvSpPr>
          <p:cNvPr id="12" name="Text 10"/>
          <p:cNvSpPr/>
          <p:nvPr/>
        </p:nvSpPr>
        <p:spPr>
          <a:xfrm>
            <a:off x="475488" y="1472184"/>
            <a:ext cx="3986784" cy="1828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CONSENSO COMUNITARIO</a:t>
            </a:r>
            <a:endParaRPr lang="en-US" sz="1000" dirty="0"/>
          </a:p>
        </p:txBody>
      </p:sp>
      <p:sp>
        <p:nvSpPr>
          <p:cNvPr id="13" name="Text 11"/>
          <p:cNvSpPr/>
          <p:nvPr/>
        </p:nvSpPr>
        <p:spPr>
          <a:xfrm>
            <a:off x="502920" y="1737360"/>
            <a:ext cx="3931920" cy="292608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No propone una lista cerrada de capacidades.</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Las capacidades valiosas deben definirse mediante un proceso participativo y democrático.</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La comunidad decide qué considera valioso: qué seres y quehaceres importan.</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Ejemplo: El Salvador con TECHO — consultar directamente a la población pobre.</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Ventaja: flexible, contextual, respeta diversidad cultural.</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Riesgo: el proceso puede ser sesgado si no es representativo.</a:t>
            </a:r>
            <a:endParaRPr lang="en-US" sz="1050" dirty="0"/>
          </a:p>
        </p:txBody>
      </p:sp>
      <p:sp>
        <p:nvSpPr>
          <p:cNvPr id="14" name="Shape 12"/>
          <p:cNvSpPr/>
          <p:nvPr/>
        </p:nvSpPr>
        <p:spPr>
          <a:xfrm>
            <a:off x="4709160" y="1005840"/>
            <a:ext cx="4206240" cy="379476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5" name="Shape 13"/>
          <p:cNvSpPr/>
          <p:nvPr/>
        </p:nvSpPr>
        <p:spPr>
          <a:xfrm>
            <a:off x="4709160" y="1005840"/>
            <a:ext cx="4206240" cy="384048"/>
          </a:xfrm>
          <a:prstGeom prst="rect">
            <a:avLst/>
          </a:prstGeom>
          <a:solidFill>
            <a:srgbClr val="7B5EA7"/>
          </a:solidFill>
          <a:ln w="12700">
            <a:solidFill>
              <a:srgbClr val="7B5EA7"/>
            </a:solidFill>
            <a:prstDash val="solid"/>
          </a:ln>
        </p:spPr>
        <p:txBody>
          <a:bodyPr/>
          <a:lstStyle/>
          <a:p>
            <a:endParaRPr lang="es-AR"/>
          </a:p>
        </p:txBody>
      </p:sp>
      <p:sp>
        <p:nvSpPr>
          <p:cNvPr id="16" name="Text 14"/>
          <p:cNvSpPr/>
          <p:nvPr/>
        </p:nvSpPr>
        <p:spPr>
          <a:xfrm>
            <a:off x="4818888" y="1033272"/>
            <a:ext cx="3986784" cy="20116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Martha Nussbaum</a:t>
            </a:r>
            <a:endParaRPr lang="en-US" sz="1400" dirty="0"/>
          </a:p>
        </p:txBody>
      </p:sp>
      <p:sp>
        <p:nvSpPr>
          <p:cNvPr id="17" name="Text 15"/>
          <p:cNvSpPr/>
          <p:nvPr/>
        </p:nvSpPr>
        <p:spPr>
          <a:xfrm>
            <a:off x="4818888" y="1243584"/>
            <a:ext cx="3986784" cy="128016"/>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Filósofa / Profesora U. Chicago</a:t>
            </a:r>
            <a:endParaRPr lang="en-US" sz="900" dirty="0"/>
          </a:p>
        </p:txBody>
      </p:sp>
      <p:sp>
        <p:nvSpPr>
          <p:cNvPr id="18" name="Shape 16"/>
          <p:cNvSpPr/>
          <p:nvPr/>
        </p:nvSpPr>
        <p:spPr>
          <a:xfrm>
            <a:off x="4818888" y="1453896"/>
            <a:ext cx="3986784" cy="219456"/>
          </a:xfrm>
          <a:prstGeom prst="rect">
            <a:avLst/>
          </a:prstGeom>
          <a:solidFill>
            <a:srgbClr val="7B5EA7">
              <a:alpha val="70000"/>
            </a:srgbClr>
          </a:solidFill>
          <a:ln w="12700">
            <a:solidFill>
              <a:srgbClr val="7B5EA7">
                <a:alpha val="70000"/>
              </a:srgbClr>
            </a:solidFill>
            <a:prstDash val="solid"/>
          </a:ln>
        </p:spPr>
        <p:txBody>
          <a:bodyPr/>
          <a:lstStyle/>
          <a:p>
            <a:endParaRPr lang="es-AR"/>
          </a:p>
        </p:txBody>
      </p:sp>
      <p:sp>
        <p:nvSpPr>
          <p:cNvPr id="19" name="Text 17"/>
          <p:cNvSpPr/>
          <p:nvPr/>
        </p:nvSpPr>
        <p:spPr>
          <a:xfrm>
            <a:off x="4818888" y="1472184"/>
            <a:ext cx="3986784" cy="1828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LISTA DE CAPACIDADES CENTRALES</a:t>
            </a:r>
            <a:endParaRPr lang="en-US" sz="1000" dirty="0"/>
          </a:p>
        </p:txBody>
      </p:sp>
      <p:sp>
        <p:nvSpPr>
          <p:cNvPr id="20" name="Text 18"/>
          <p:cNvSpPr/>
          <p:nvPr/>
        </p:nvSpPr>
        <p:spPr>
          <a:xfrm>
            <a:off x="4846320" y="1737360"/>
            <a:ext cx="3931920" cy="292608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Propone una lista concreta y universal de 10 capacidades mínimas.</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La lista surge de la filosofía política, no de un proceso participativo.</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Las 10 capacidades son umbrales mínimos que toda persona debe tener garantizados.</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Son: vida, salud corporal, integridad corporal, sentidos/imaginación, emociones, razón práctica, afiliación, otras especies, juego, control sobre el entorno (político y material).</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Ventaja: más operacionalizable, más directa para políticas.</a:t>
            </a:r>
            <a:endParaRPr lang="en-US" sz="1050" dirty="0"/>
          </a:p>
          <a:p>
            <a:pPr marL="342900" indent="-342900">
              <a:spcAft>
                <a:spcPts val="400"/>
              </a:spcAft>
              <a:buSzPct val="100000"/>
              <a:buChar char="•"/>
            </a:pPr>
            <a:r>
              <a:rPr lang="en-US" sz="1050" dirty="0">
                <a:solidFill>
                  <a:srgbClr val="1A202C"/>
                </a:solidFill>
                <a:latin typeface="Calibri" pitchFamily="34" charset="0"/>
                <a:ea typeface="Calibri" pitchFamily="34" charset="-122"/>
                <a:cs typeface="Calibri" pitchFamily="34" charset="-120"/>
              </a:rPr>
              <a:t>Riesgo: puede ser demasiado universal e ignorar contextos específicos.</a:t>
            </a:r>
            <a:endParaRPr lang="en-US" sz="1050" dirty="0"/>
          </a:p>
        </p:txBody>
      </p:sp>
      <p:sp>
        <p:nvSpPr>
          <p:cNvPr id="21" name="Shape 19"/>
          <p:cNvSpPr/>
          <p:nvPr/>
        </p:nvSpPr>
        <p:spPr>
          <a:xfrm>
            <a:off x="4206240" y="2578608"/>
            <a:ext cx="548640" cy="548640"/>
          </a:xfrm>
          <a:prstGeom prst="ellipse">
            <a:avLst/>
          </a:prstGeom>
          <a:solidFill>
            <a:srgbClr val="1B2A3B"/>
          </a:solidFill>
          <a:ln w="12700">
            <a:solidFill>
              <a:srgbClr val="1B2A3B"/>
            </a:solidFill>
            <a:prstDash val="solid"/>
          </a:ln>
        </p:spPr>
        <p:txBody>
          <a:bodyPr/>
          <a:lstStyle/>
          <a:p>
            <a:endParaRPr lang="es-AR"/>
          </a:p>
        </p:txBody>
      </p:sp>
      <p:sp>
        <p:nvSpPr>
          <p:cNvPr id="22" name="Text 20"/>
          <p:cNvSpPr/>
          <p:nvPr/>
        </p:nvSpPr>
        <p:spPr>
          <a:xfrm>
            <a:off x="4206240" y="2596896"/>
            <a:ext cx="548640" cy="512064"/>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VS</a:t>
            </a:r>
            <a:endParaRPr lang="en-US" sz="1100" dirty="0"/>
          </a:p>
        </p:txBody>
      </p:sp>
      <p:sp>
        <p:nvSpPr>
          <p:cNvPr id="23" name="Shape 21"/>
          <p:cNvSpPr/>
          <p:nvPr/>
        </p:nvSpPr>
        <p:spPr>
          <a:xfrm>
            <a:off x="365760" y="4864608"/>
            <a:ext cx="8412480" cy="256032"/>
          </a:xfrm>
          <a:prstGeom prst="rect">
            <a:avLst/>
          </a:prstGeom>
          <a:solidFill>
            <a:srgbClr val="EEF2FF"/>
          </a:solidFill>
          <a:ln w="12700">
            <a:solidFill>
              <a:srgbClr val="CBD5E0"/>
            </a:solidFill>
            <a:prstDash val="solid"/>
          </a:ln>
        </p:spPr>
        <p:txBody>
          <a:bodyPr/>
          <a:lstStyle/>
          <a:p>
            <a:endParaRPr lang="es-AR"/>
          </a:p>
        </p:txBody>
      </p:sp>
      <p:sp>
        <p:nvSpPr>
          <p:cNvPr id="24" name="Text 22"/>
          <p:cNvSpPr/>
          <p:nvPr/>
        </p:nvSpPr>
        <p:spPr>
          <a:xfrm>
            <a:off x="548640" y="4892040"/>
            <a:ext cx="8046720" cy="201168"/>
          </a:xfrm>
          <a:prstGeom prst="rect">
            <a:avLst/>
          </a:prstGeom>
          <a:noFill/>
          <a:ln/>
        </p:spPr>
        <p:txBody>
          <a:bodyPr wrap="square" lIns="0" tIns="0" rIns="0" bIns="0" rtlCol="0" anchor="ctr"/>
          <a:lstStyle/>
          <a:p>
            <a:pPr marL="0" indent="0">
              <a:buNone/>
            </a:pPr>
            <a:r>
              <a:rPr lang="en-US" sz="1000" b="1" dirty="0">
                <a:solidFill>
                  <a:srgbClr val="2C5282"/>
                </a:solidFill>
                <a:latin typeface="Calibri" pitchFamily="34" charset="0"/>
                <a:ea typeface="Calibri" pitchFamily="34" charset="-122"/>
                <a:cs typeface="Calibri" pitchFamily="34" charset="-120"/>
              </a:rPr>
              <a:t>En la práctica: si hay datos disponibles (EPH), se usan las dimensiones que se pueden medir. Si se tiene recursos propios (UCA), se diseña la encuesta siguiendo el enfoque de capacidades.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7B5EA7"/>
          </a:solidFill>
          <a:ln w="12700">
            <a:solidFill>
              <a:srgbClr val="7B5EA7"/>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Las 10 Capacidades Centrales de Nussbaum</a:t>
            </a:r>
            <a:endParaRPr lang="en-US" sz="2800" dirty="0"/>
          </a:p>
        </p:txBody>
      </p:sp>
      <p:sp>
        <p:nvSpPr>
          <p:cNvPr id="5" name="Shape 3"/>
          <p:cNvSpPr/>
          <p:nvPr/>
        </p:nvSpPr>
        <p:spPr>
          <a:xfrm>
            <a:off x="457200" y="731520"/>
            <a:ext cx="36576" cy="201168"/>
          </a:xfrm>
          <a:prstGeom prst="rect">
            <a:avLst/>
          </a:prstGeom>
          <a:solidFill>
            <a:srgbClr val="7B5EA7"/>
          </a:solidFill>
          <a:ln w="12700">
            <a:solidFill>
              <a:srgbClr val="7B5EA7"/>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7B5EA7"/>
                </a:solidFill>
                <a:latin typeface="Calibri" pitchFamily="34" charset="0"/>
                <a:ea typeface="Calibri" pitchFamily="34" charset="-122"/>
                <a:cs typeface="Calibri" pitchFamily="34" charset="-120"/>
              </a:rPr>
              <a:t>U3.2 — LISTA DE CAPACIDADES MÍNIMAS UNIVERSALES</a:t>
            </a:r>
            <a:endParaRPr lang="en-US" sz="900" dirty="0"/>
          </a:p>
        </p:txBody>
      </p:sp>
      <p:sp>
        <p:nvSpPr>
          <p:cNvPr id="7" name="Text 5"/>
          <p:cNvSpPr/>
          <p:nvPr/>
        </p:nvSpPr>
        <p:spPr>
          <a:xfrm>
            <a:off x="457200" y="1005840"/>
            <a:ext cx="8229600" cy="34747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Son umbrales mínimos que toda persona debe tener garantizados para llevar una vida humana digna. No son negociables ni prescindibles.</a:t>
            </a:r>
            <a:endParaRPr lang="en-US" sz="1200" dirty="0"/>
          </a:p>
        </p:txBody>
      </p:sp>
      <p:sp>
        <p:nvSpPr>
          <p:cNvPr id="8" name="Shape 6"/>
          <p:cNvSpPr/>
          <p:nvPr/>
        </p:nvSpPr>
        <p:spPr>
          <a:xfrm>
            <a:off x="365760" y="1417320"/>
            <a:ext cx="4114800" cy="585216"/>
          </a:xfrm>
          <a:prstGeom prst="rect">
            <a:avLst/>
          </a:prstGeom>
          <a:solidFill>
            <a:srgbClr val="FFFFFF"/>
          </a:solidFill>
          <a:ln w="12700">
            <a:solidFill>
              <a:srgbClr val="CBD5E0"/>
            </a:solidFill>
            <a:prstDash val="solid"/>
          </a:ln>
        </p:spPr>
        <p:txBody>
          <a:bodyPr/>
          <a:lstStyle/>
          <a:p>
            <a:endParaRPr lang="es-AR"/>
          </a:p>
        </p:txBody>
      </p:sp>
      <p:sp>
        <p:nvSpPr>
          <p:cNvPr id="9" name="Shape 7"/>
          <p:cNvSpPr/>
          <p:nvPr/>
        </p:nvSpPr>
        <p:spPr>
          <a:xfrm>
            <a:off x="365760" y="1417320"/>
            <a:ext cx="329184" cy="585216"/>
          </a:xfrm>
          <a:prstGeom prst="rect">
            <a:avLst/>
          </a:prstGeom>
          <a:solidFill>
            <a:srgbClr val="7B5EA7">
              <a:alpha val="80000"/>
            </a:srgbClr>
          </a:solidFill>
          <a:ln w="12700">
            <a:solidFill>
              <a:srgbClr val="7B5EA7"/>
            </a:solidFill>
            <a:prstDash val="solid"/>
          </a:ln>
        </p:spPr>
        <p:txBody>
          <a:bodyPr/>
          <a:lstStyle/>
          <a:p>
            <a:endParaRPr lang="es-AR"/>
          </a:p>
        </p:txBody>
      </p:sp>
      <p:sp>
        <p:nvSpPr>
          <p:cNvPr id="10" name="Text 8"/>
          <p:cNvSpPr/>
          <p:nvPr/>
        </p:nvSpPr>
        <p:spPr>
          <a:xfrm>
            <a:off x="365760" y="1417320"/>
            <a:ext cx="329184" cy="585216"/>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1" name="Text 9"/>
          <p:cNvSpPr/>
          <p:nvPr/>
        </p:nvSpPr>
        <p:spPr>
          <a:xfrm>
            <a:off x="768096" y="1453896"/>
            <a:ext cx="3584448" cy="219456"/>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Vida</a:t>
            </a:r>
            <a:endParaRPr lang="en-US" sz="1100" dirty="0"/>
          </a:p>
        </p:txBody>
      </p:sp>
      <p:sp>
        <p:nvSpPr>
          <p:cNvPr id="12" name="Text 10"/>
          <p:cNvSpPr/>
          <p:nvPr/>
        </p:nvSpPr>
        <p:spPr>
          <a:xfrm>
            <a:off x="768096" y="1691640"/>
            <a:ext cx="3584448"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Vivir una vida de duración normal y digna, sin muerte prematura.</a:t>
            </a:r>
            <a:endParaRPr lang="en-US" sz="950" dirty="0"/>
          </a:p>
        </p:txBody>
      </p:sp>
      <p:sp>
        <p:nvSpPr>
          <p:cNvPr id="13" name="Shape 11"/>
          <p:cNvSpPr/>
          <p:nvPr/>
        </p:nvSpPr>
        <p:spPr>
          <a:xfrm>
            <a:off x="4709160" y="1417320"/>
            <a:ext cx="4114800" cy="585216"/>
          </a:xfrm>
          <a:prstGeom prst="rect">
            <a:avLst/>
          </a:prstGeom>
          <a:solidFill>
            <a:srgbClr val="FFFFFF"/>
          </a:solidFill>
          <a:ln w="12700">
            <a:solidFill>
              <a:srgbClr val="CBD5E0"/>
            </a:solidFill>
            <a:prstDash val="solid"/>
          </a:ln>
        </p:spPr>
        <p:txBody>
          <a:bodyPr/>
          <a:lstStyle/>
          <a:p>
            <a:endParaRPr lang="es-AR"/>
          </a:p>
        </p:txBody>
      </p:sp>
      <p:sp>
        <p:nvSpPr>
          <p:cNvPr id="14" name="Shape 12"/>
          <p:cNvSpPr/>
          <p:nvPr/>
        </p:nvSpPr>
        <p:spPr>
          <a:xfrm>
            <a:off x="4709160" y="1417320"/>
            <a:ext cx="329184" cy="585216"/>
          </a:xfrm>
          <a:prstGeom prst="rect">
            <a:avLst/>
          </a:prstGeom>
          <a:solidFill>
            <a:srgbClr val="7B5EA7">
              <a:alpha val="80000"/>
            </a:srgbClr>
          </a:solidFill>
          <a:ln w="12700">
            <a:solidFill>
              <a:srgbClr val="7B5EA7"/>
            </a:solidFill>
            <a:prstDash val="solid"/>
          </a:ln>
        </p:spPr>
        <p:txBody>
          <a:bodyPr/>
          <a:lstStyle/>
          <a:p>
            <a:endParaRPr lang="es-AR"/>
          </a:p>
        </p:txBody>
      </p:sp>
      <p:sp>
        <p:nvSpPr>
          <p:cNvPr id="15" name="Text 13"/>
          <p:cNvSpPr/>
          <p:nvPr/>
        </p:nvSpPr>
        <p:spPr>
          <a:xfrm>
            <a:off x="4709160" y="1417320"/>
            <a:ext cx="329184" cy="585216"/>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6" name="Text 14"/>
          <p:cNvSpPr/>
          <p:nvPr/>
        </p:nvSpPr>
        <p:spPr>
          <a:xfrm>
            <a:off x="5111496" y="1453896"/>
            <a:ext cx="3584448" cy="219456"/>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Salud corporal</a:t>
            </a:r>
            <a:endParaRPr lang="en-US" sz="1100" dirty="0"/>
          </a:p>
        </p:txBody>
      </p:sp>
      <p:sp>
        <p:nvSpPr>
          <p:cNvPr id="17" name="Text 15"/>
          <p:cNvSpPr/>
          <p:nvPr/>
        </p:nvSpPr>
        <p:spPr>
          <a:xfrm>
            <a:off x="5111496" y="1691640"/>
            <a:ext cx="3584448"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Buena salud, nutrición adecuada, vivienda digna, reproducción saludable.</a:t>
            </a:r>
            <a:endParaRPr lang="en-US" sz="950" dirty="0"/>
          </a:p>
        </p:txBody>
      </p:sp>
      <p:sp>
        <p:nvSpPr>
          <p:cNvPr id="18" name="Shape 16"/>
          <p:cNvSpPr/>
          <p:nvPr/>
        </p:nvSpPr>
        <p:spPr>
          <a:xfrm>
            <a:off x="365760" y="2075688"/>
            <a:ext cx="4114800" cy="585216"/>
          </a:xfrm>
          <a:prstGeom prst="rect">
            <a:avLst/>
          </a:prstGeom>
          <a:solidFill>
            <a:srgbClr val="FFFFFF"/>
          </a:solidFill>
          <a:ln w="12700">
            <a:solidFill>
              <a:srgbClr val="CBD5E0"/>
            </a:solidFill>
            <a:prstDash val="solid"/>
          </a:ln>
        </p:spPr>
        <p:txBody>
          <a:bodyPr/>
          <a:lstStyle/>
          <a:p>
            <a:endParaRPr lang="es-AR"/>
          </a:p>
        </p:txBody>
      </p:sp>
      <p:sp>
        <p:nvSpPr>
          <p:cNvPr id="19" name="Shape 17"/>
          <p:cNvSpPr/>
          <p:nvPr/>
        </p:nvSpPr>
        <p:spPr>
          <a:xfrm>
            <a:off x="365760" y="2075688"/>
            <a:ext cx="329184" cy="585216"/>
          </a:xfrm>
          <a:prstGeom prst="rect">
            <a:avLst/>
          </a:prstGeom>
          <a:solidFill>
            <a:srgbClr val="7B5EA7">
              <a:alpha val="80000"/>
            </a:srgbClr>
          </a:solidFill>
          <a:ln w="12700">
            <a:solidFill>
              <a:srgbClr val="7B5EA7"/>
            </a:solidFill>
            <a:prstDash val="solid"/>
          </a:ln>
        </p:spPr>
        <p:txBody>
          <a:bodyPr/>
          <a:lstStyle/>
          <a:p>
            <a:endParaRPr lang="es-AR"/>
          </a:p>
        </p:txBody>
      </p:sp>
      <p:sp>
        <p:nvSpPr>
          <p:cNvPr id="20" name="Text 18"/>
          <p:cNvSpPr/>
          <p:nvPr/>
        </p:nvSpPr>
        <p:spPr>
          <a:xfrm>
            <a:off x="365760" y="2075688"/>
            <a:ext cx="329184" cy="585216"/>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1" name="Text 19"/>
          <p:cNvSpPr/>
          <p:nvPr/>
        </p:nvSpPr>
        <p:spPr>
          <a:xfrm>
            <a:off x="768096" y="2112264"/>
            <a:ext cx="3584448" cy="219456"/>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Integridad corporal</a:t>
            </a:r>
            <a:endParaRPr lang="en-US" sz="1100" dirty="0"/>
          </a:p>
        </p:txBody>
      </p:sp>
      <p:sp>
        <p:nvSpPr>
          <p:cNvPr id="22" name="Text 20"/>
          <p:cNvSpPr/>
          <p:nvPr/>
        </p:nvSpPr>
        <p:spPr>
          <a:xfrm>
            <a:off x="768096" y="2350008"/>
            <a:ext cx="3584448"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Libertad de movimiento, seguridad, libre de violencia y abuso sexual.</a:t>
            </a:r>
            <a:endParaRPr lang="en-US" sz="950" dirty="0"/>
          </a:p>
        </p:txBody>
      </p:sp>
      <p:sp>
        <p:nvSpPr>
          <p:cNvPr id="23" name="Shape 21"/>
          <p:cNvSpPr/>
          <p:nvPr/>
        </p:nvSpPr>
        <p:spPr>
          <a:xfrm>
            <a:off x="4709160" y="2075688"/>
            <a:ext cx="4114800" cy="585216"/>
          </a:xfrm>
          <a:prstGeom prst="rect">
            <a:avLst/>
          </a:prstGeom>
          <a:solidFill>
            <a:srgbClr val="FFFFFF"/>
          </a:solidFill>
          <a:ln w="12700">
            <a:solidFill>
              <a:srgbClr val="CBD5E0"/>
            </a:solidFill>
            <a:prstDash val="solid"/>
          </a:ln>
        </p:spPr>
        <p:txBody>
          <a:bodyPr/>
          <a:lstStyle/>
          <a:p>
            <a:endParaRPr lang="es-AR"/>
          </a:p>
        </p:txBody>
      </p:sp>
      <p:sp>
        <p:nvSpPr>
          <p:cNvPr id="24" name="Shape 22"/>
          <p:cNvSpPr/>
          <p:nvPr/>
        </p:nvSpPr>
        <p:spPr>
          <a:xfrm>
            <a:off x="4709160" y="2075688"/>
            <a:ext cx="329184" cy="585216"/>
          </a:xfrm>
          <a:prstGeom prst="rect">
            <a:avLst/>
          </a:prstGeom>
          <a:solidFill>
            <a:srgbClr val="7B5EA7">
              <a:alpha val="80000"/>
            </a:srgbClr>
          </a:solidFill>
          <a:ln w="12700">
            <a:solidFill>
              <a:srgbClr val="7B5EA7"/>
            </a:solidFill>
            <a:prstDash val="solid"/>
          </a:ln>
        </p:spPr>
        <p:txBody>
          <a:bodyPr/>
          <a:lstStyle/>
          <a:p>
            <a:endParaRPr lang="es-AR"/>
          </a:p>
        </p:txBody>
      </p:sp>
      <p:sp>
        <p:nvSpPr>
          <p:cNvPr id="25" name="Text 23"/>
          <p:cNvSpPr/>
          <p:nvPr/>
        </p:nvSpPr>
        <p:spPr>
          <a:xfrm>
            <a:off x="4709160" y="2075688"/>
            <a:ext cx="329184" cy="585216"/>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6" name="Text 24"/>
          <p:cNvSpPr/>
          <p:nvPr/>
        </p:nvSpPr>
        <p:spPr>
          <a:xfrm>
            <a:off x="5111496" y="2112264"/>
            <a:ext cx="3584448" cy="219456"/>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Sentidos, imaginación y pensamiento</a:t>
            </a:r>
            <a:endParaRPr lang="en-US" sz="1100" dirty="0"/>
          </a:p>
        </p:txBody>
      </p:sp>
      <p:sp>
        <p:nvSpPr>
          <p:cNvPr id="27" name="Text 25"/>
          <p:cNvSpPr/>
          <p:nvPr/>
        </p:nvSpPr>
        <p:spPr>
          <a:xfrm>
            <a:off x="5111496" y="2350008"/>
            <a:ext cx="3584448"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Educación, creatividad, capacidad de razonar y vivir experiencias placenteras.</a:t>
            </a:r>
            <a:endParaRPr lang="en-US" sz="950" dirty="0"/>
          </a:p>
        </p:txBody>
      </p:sp>
      <p:sp>
        <p:nvSpPr>
          <p:cNvPr id="28" name="Shape 26"/>
          <p:cNvSpPr/>
          <p:nvPr/>
        </p:nvSpPr>
        <p:spPr>
          <a:xfrm>
            <a:off x="365760" y="2734056"/>
            <a:ext cx="4114800" cy="585216"/>
          </a:xfrm>
          <a:prstGeom prst="rect">
            <a:avLst/>
          </a:prstGeom>
          <a:solidFill>
            <a:srgbClr val="FFFFFF"/>
          </a:solidFill>
          <a:ln w="12700">
            <a:solidFill>
              <a:srgbClr val="CBD5E0"/>
            </a:solidFill>
            <a:prstDash val="solid"/>
          </a:ln>
        </p:spPr>
        <p:txBody>
          <a:bodyPr/>
          <a:lstStyle/>
          <a:p>
            <a:endParaRPr lang="es-AR"/>
          </a:p>
        </p:txBody>
      </p:sp>
      <p:sp>
        <p:nvSpPr>
          <p:cNvPr id="29" name="Shape 27"/>
          <p:cNvSpPr/>
          <p:nvPr/>
        </p:nvSpPr>
        <p:spPr>
          <a:xfrm>
            <a:off x="365760" y="2734056"/>
            <a:ext cx="329184" cy="585216"/>
          </a:xfrm>
          <a:prstGeom prst="rect">
            <a:avLst/>
          </a:prstGeom>
          <a:solidFill>
            <a:srgbClr val="7B5EA7">
              <a:alpha val="80000"/>
            </a:srgbClr>
          </a:solidFill>
          <a:ln w="12700">
            <a:solidFill>
              <a:srgbClr val="7B5EA7"/>
            </a:solidFill>
            <a:prstDash val="solid"/>
          </a:ln>
        </p:spPr>
        <p:txBody>
          <a:bodyPr/>
          <a:lstStyle/>
          <a:p>
            <a:endParaRPr lang="es-AR"/>
          </a:p>
        </p:txBody>
      </p:sp>
      <p:sp>
        <p:nvSpPr>
          <p:cNvPr id="30" name="Text 28"/>
          <p:cNvSpPr/>
          <p:nvPr/>
        </p:nvSpPr>
        <p:spPr>
          <a:xfrm>
            <a:off x="365760" y="2734056"/>
            <a:ext cx="329184" cy="585216"/>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31" name="Text 29"/>
          <p:cNvSpPr/>
          <p:nvPr/>
        </p:nvSpPr>
        <p:spPr>
          <a:xfrm>
            <a:off x="768096" y="2770632"/>
            <a:ext cx="3584448" cy="219456"/>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Emociones</a:t>
            </a:r>
            <a:endParaRPr lang="en-US" sz="1100" dirty="0"/>
          </a:p>
        </p:txBody>
      </p:sp>
      <p:sp>
        <p:nvSpPr>
          <p:cNvPr id="32" name="Text 30"/>
          <p:cNvSpPr/>
          <p:nvPr/>
        </p:nvSpPr>
        <p:spPr>
          <a:xfrm>
            <a:off x="768096" y="3008376"/>
            <a:ext cx="3584448"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Poder amar, sentir duelo, gratitud. Tener relaciones humanas significativas.</a:t>
            </a:r>
            <a:endParaRPr lang="en-US" sz="950" dirty="0"/>
          </a:p>
        </p:txBody>
      </p:sp>
      <p:sp>
        <p:nvSpPr>
          <p:cNvPr id="33" name="Shape 31"/>
          <p:cNvSpPr/>
          <p:nvPr/>
        </p:nvSpPr>
        <p:spPr>
          <a:xfrm>
            <a:off x="4709160" y="2734056"/>
            <a:ext cx="4114800" cy="585216"/>
          </a:xfrm>
          <a:prstGeom prst="rect">
            <a:avLst/>
          </a:prstGeom>
          <a:solidFill>
            <a:srgbClr val="FFFFFF"/>
          </a:solidFill>
          <a:ln w="12700">
            <a:solidFill>
              <a:srgbClr val="CBD5E0"/>
            </a:solidFill>
            <a:prstDash val="solid"/>
          </a:ln>
        </p:spPr>
        <p:txBody>
          <a:bodyPr/>
          <a:lstStyle/>
          <a:p>
            <a:endParaRPr lang="es-AR"/>
          </a:p>
        </p:txBody>
      </p:sp>
      <p:sp>
        <p:nvSpPr>
          <p:cNvPr id="34" name="Shape 32"/>
          <p:cNvSpPr/>
          <p:nvPr/>
        </p:nvSpPr>
        <p:spPr>
          <a:xfrm>
            <a:off x="4709160" y="2734056"/>
            <a:ext cx="329184" cy="585216"/>
          </a:xfrm>
          <a:prstGeom prst="rect">
            <a:avLst/>
          </a:prstGeom>
          <a:solidFill>
            <a:srgbClr val="7B5EA7">
              <a:alpha val="80000"/>
            </a:srgbClr>
          </a:solidFill>
          <a:ln w="12700">
            <a:solidFill>
              <a:srgbClr val="7B5EA7"/>
            </a:solidFill>
            <a:prstDash val="solid"/>
          </a:ln>
        </p:spPr>
        <p:txBody>
          <a:bodyPr/>
          <a:lstStyle/>
          <a:p>
            <a:endParaRPr lang="es-AR"/>
          </a:p>
        </p:txBody>
      </p:sp>
      <p:sp>
        <p:nvSpPr>
          <p:cNvPr id="35" name="Text 33"/>
          <p:cNvSpPr/>
          <p:nvPr/>
        </p:nvSpPr>
        <p:spPr>
          <a:xfrm>
            <a:off x="4709160" y="2734056"/>
            <a:ext cx="329184" cy="585216"/>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6</a:t>
            </a:r>
            <a:endParaRPr lang="en-US" sz="1400" dirty="0"/>
          </a:p>
        </p:txBody>
      </p:sp>
      <p:sp>
        <p:nvSpPr>
          <p:cNvPr id="36" name="Text 34"/>
          <p:cNvSpPr/>
          <p:nvPr/>
        </p:nvSpPr>
        <p:spPr>
          <a:xfrm>
            <a:off x="5111496" y="2770632"/>
            <a:ext cx="3584448" cy="219456"/>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Razón práctica</a:t>
            </a:r>
            <a:endParaRPr lang="en-US" sz="1100" dirty="0"/>
          </a:p>
        </p:txBody>
      </p:sp>
      <p:sp>
        <p:nvSpPr>
          <p:cNvPr id="37" name="Text 35"/>
          <p:cNvSpPr/>
          <p:nvPr/>
        </p:nvSpPr>
        <p:spPr>
          <a:xfrm>
            <a:off x="5111496" y="3008376"/>
            <a:ext cx="3584448"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Poder planificar la propia vida, tomar decisiones sobre qué hacer y cómo vivir.</a:t>
            </a:r>
            <a:endParaRPr lang="en-US" sz="950" dirty="0"/>
          </a:p>
        </p:txBody>
      </p:sp>
      <p:sp>
        <p:nvSpPr>
          <p:cNvPr id="38" name="Shape 36"/>
          <p:cNvSpPr/>
          <p:nvPr/>
        </p:nvSpPr>
        <p:spPr>
          <a:xfrm>
            <a:off x="365760" y="3392424"/>
            <a:ext cx="4114800" cy="585216"/>
          </a:xfrm>
          <a:prstGeom prst="rect">
            <a:avLst/>
          </a:prstGeom>
          <a:solidFill>
            <a:srgbClr val="FFFFFF"/>
          </a:solidFill>
          <a:ln w="12700">
            <a:solidFill>
              <a:srgbClr val="CBD5E0"/>
            </a:solidFill>
            <a:prstDash val="solid"/>
          </a:ln>
        </p:spPr>
        <p:txBody>
          <a:bodyPr/>
          <a:lstStyle/>
          <a:p>
            <a:endParaRPr lang="es-AR"/>
          </a:p>
        </p:txBody>
      </p:sp>
      <p:sp>
        <p:nvSpPr>
          <p:cNvPr id="39" name="Shape 37"/>
          <p:cNvSpPr/>
          <p:nvPr/>
        </p:nvSpPr>
        <p:spPr>
          <a:xfrm>
            <a:off x="365760" y="3392424"/>
            <a:ext cx="329184" cy="585216"/>
          </a:xfrm>
          <a:prstGeom prst="rect">
            <a:avLst/>
          </a:prstGeom>
          <a:solidFill>
            <a:srgbClr val="7B5EA7">
              <a:alpha val="80000"/>
            </a:srgbClr>
          </a:solidFill>
          <a:ln w="12700">
            <a:solidFill>
              <a:srgbClr val="7B5EA7"/>
            </a:solidFill>
            <a:prstDash val="solid"/>
          </a:ln>
        </p:spPr>
        <p:txBody>
          <a:bodyPr/>
          <a:lstStyle/>
          <a:p>
            <a:endParaRPr lang="es-AR"/>
          </a:p>
        </p:txBody>
      </p:sp>
      <p:sp>
        <p:nvSpPr>
          <p:cNvPr id="40" name="Text 38"/>
          <p:cNvSpPr/>
          <p:nvPr/>
        </p:nvSpPr>
        <p:spPr>
          <a:xfrm>
            <a:off x="365760" y="3392424"/>
            <a:ext cx="329184" cy="585216"/>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7</a:t>
            </a:r>
            <a:endParaRPr lang="en-US" sz="1400" dirty="0"/>
          </a:p>
        </p:txBody>
      </p:sp>
      <p:sp>
        <p:nvSpPr>
          <p:cNvPr id="41" name="Text 39"/>
          <p:cNvSpPr/>
          <p:nvPr/>
        </p:nvSpPr>
        <p:spPr>
          <a:xfrm>
            <a:off x="768096" y="3429000"/>
            <a:ext cx="3584448" cy="219456"/>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Afiliación</a:t>
            </a:r>
            <a:endParaRPr lang="en-US" sz="1100" dirty="0"/>
          </a:p>
        </p:txBody>
      </p:sp>
      <p:sp>
        <p:nvSpPr>
          <p:cNvPr id="42" name="Text 40"/>
          <p:cNvSpPr/>
          <p:nvPr/>
        </p:nvSpPr>
        <p:spPr>
          <a:xfrm>
            <a:off x="768096" y="3666744"/>
            <a:ext cx="3584448"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Vivir con otros, reconocimiento, no discriminación, dignidad en las interacciones.</a:t>
            </a:r>
            <a:endParaRPr lang="en-US" sz="950" dirty="0"/>
          </a:p>
        </p:txBody>
      </p:sp>
      <p:sp>
        <p:nvSpPr>
          <p:cNvPr id="43" name="Shape 41"/>
          <p:cNvSpPr/>
          <p:nvPr/>
        </p:nvSpPr>
        <p:spPr>
          <a:xfrm>
            <a:off x="4709160" y="3392424"/>
            <a:ext cx="4114800" cy="585216"/>
          </a:xfrm>
          <a:prstGeom prst="rect">
            <a:avLst/>
          </a:prstGeom>
          <a:solidFill>
            <a:srgbClr val="FFFFFF"/>
          </a:solidFill>
          <a:ln w="12700">
            <a:solidFill>
              <a:srgbClr val="CBD5E0"/>
            </a:solidFill>
            <a:prstDash val="solid"/>
          </a:ln>
        </p:spPr>
        <p:txBody>
          <a:bodyPr/>
          <a:lstStyle/>
          <a:p>
            <a:endParaRPr lang="es-AR"/>
          </a:p>
        </p:txBody>
      </p:sp>
      <p:sp>
        <p:nvSpPr>
          <p:cNvPr id="44" name="Shape 42"/>
          <p:cNvSpPr/>
          <p:nvPr/>
        </p:nvSpPr>
        <p:spPr>
          <a:xfrm>
            <a:off x="4709160" y="3392424"/>
            <a:ext cx="329184" cy="585216"/>
          </a:xfrm>
          <a:prstGeom prst="rect">
            <a:avLst/>
          </a:prstGeom>
          <a:solidFill>
            <a:srgbClr val="7B5EA7">
              <a:alpha val="80000"/>
            </a:srgbClr>
          </a:solidFill>
          <a:ln w="12700">
            <a:solidFill>
              <a:srgbClr val="7B5EA7"/>
            </a:solidFill>
            <a:prstDash val="solid"/>
          </a:ln>
        </p:spPr>
        <p:txBody>
          <a:bodyPr/>
          <a:lstStyle/>
          <a:p>
            <a:endParaRPr lang="es-AR"/>
          </a:p>
        </p:txBody>
      </p:sp>
      <p:sp>
        <p:nvSpPr>
          <p:cNvPr id="45" name="Text 43"/>
          <p:cNvSpPr/>
          <p:nvPr/>
        </p:nvSpPr>
        <p:spPr>
          <a:xfrm>
            <a:off x="4709160" y="3392424"/>
            <a:ext cx="329184" cy="585216"/>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8</a:t>
            </a:r>
            <a:endParaRPr lang="en-US" sz="1400" dirty="0"/>
          </a:p>
        </p:txBody>
      </p:sp>
      <p:sp>
        <p:nvSpPr>
          <p:cNvPr id="46" name="Text 44"/>
          <p:cNvSpPr/>
          <p:nvPr/>
        </p:nvSpPr>
        <p:spPr>
          <a:xfrm>
            <a:off x="5111496" y="3429000"/>
            <a:ext cx="3584448" cy="219456"/>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Relación con otras especies</a:t>
            </a:r>
            <a:endParaRPr lang="en-US" sz="1100" dirty="0"/>
          </a:p>
        </p:txBody>
      </p:sp>
      <p:sp>
        <p:nvSpPr>
          <p:cNvPr id="47" name="Text 45"/>
          <p:cNvSpPr/>
          <p:nvPr/>
        </p:nvSpPr>
        <p:spPr>
          <a:xfrm>
            <a:off x="5111496" y="3666744"/>
            <a:ext cx="3584448"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Cuidar y relacionarse con animales, plantas y el mundo natural.</a:t>
            </a:r>
            <a:endParaRPr lang="en-US" sz="950" dirty="0"/>
          </a:p>
        </p:txBody>
      </p:sp>
      <p:sp>
        <p:nvSpPr>
          <p:cNvPr id="48" name="Shape 46"/>
          <p:cNvSpPr/>
          <p:nvPr/>
        </p:nvSpPr>
        <p:spPr>
          <a:xfrm>
            <a:off x="365760" y="4050792"/>
            <a:ext cx="4114800" cy="585216"/>
          </a:xfrm>
          <a:prstGeom prst="rect">
            <a:avLst/>
          </a:prstGeom>
          <a:solidFill>
            <a:srgbClr val="FFFFFF"/>
          </a:solidFill>
          <a:ln w="12700">
            <a:solidFill>
              <a:srgbClr val="CBD5E0"/>
            </a:solidFill>
            <a:prstDash val="solid"/>
          </a:ln>
        </p:spPr>
        <p:txBody>
          <a:bodyPr/>
          <a:lstStyle/>
          <a:p>
            <a:endParaRPr lang="es-AR"/>
          </a:p>
        </p:txBody>
      </p:sp>
      <p:sp>
        <p:nvSpPr>
          <p:cNvPr id="49" name="Shape 47"/>
          <p:cNvSpPr/>
          <p:nvPr/>
        </p:nvSpPr>
        <p:spPr>
          <a:xfrm>
            <a:off x="365760" y="4050792"/>
            <a:ext cx="329184" cy="585216"/>
          </a:xfrm>
          <a:prstGeom prst="rect">
            <a:avLst/>
          </a:prstGeom>
          <a:solidFill>
            <a:srgbClr val="7B5EA7">
              <a:alpha val="80000"/>
            </a:srgbClr>
          </a:solidFill>
          <a:ln w="12700">
            <a:solidFill>
              <a:srgbClr val="7B5EA7"/>
            </a:solidFill>
            <a:prstDash val="solid"/>
          </a:ln>
        </p:spPr>
        <p:txBody>
          <a:bodyPr/>
          <a:lstStyle/>
          <a:p>
            <a:endParaRPr lang="es-AR"/>
          </a:p>
        </p:txBody>
      </p:sp>
      <p:sp>
        <p:nvSpPr>
          <p:cNvPr id="50" name="Text 48"/>
          <p:cNvSpPr/>
          <p:nvPr/>
        </p:nvSpPr>
        <p:spPr>
          <a:xfrm>
            <a:off x="365760" y="4050792"/>
            <a:ext cx="329184" cy="585216"/>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9</a:t>
            </a:r>
            <a:endParaRPr lang="en-US" sz="1400" dirty="0"/>
          </a:p>
        </p:txBody>
      </p:sp>
      <p:sp>
        <p:nvSpPr>
          <p:cNvPr id="51" name="Text 49"/>
          <p:cNvSpPr/>
          <p:nvPr/>
        </p:nvSpPr>
        <p:spPr>
          <a:xfrm>
            <a:off x="768096" y="4087368"/>
            <a:ext cx="3584448" cy="219456"/>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Juego</a:t>
            </a:r>
            <a:endParaRPr lang="en-US" sz="1100" dirty="0"/>
          </a:p>
        </p:txBody>
      </p:sp>
      <p:sp>
        <p:nvSpPr>
          <p:cNvPr id="52" name="Text 50"/>
          <p:cNvSpPr/>
          <p:nvPr/>
        </p:nvSpPr>
        <p:spPr>
          <a:xfrm>
            <a:off x="768096" y="4325112"/>
            <a:ext cx="3584448"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Disfrutar de la recreación, el humor, el ocio.</a:t>
            </a:r>
            <a:endParaRPr lang="en-US" sz="950" dirty="0"/>
          </a:p>
        </p:txBody>
      </p:sp>
      <p:sp>
        <p:nvSpPr>
          <p:cNvPr id="53" name="Shape 51"/>
          <p:cNvSpPr/>
          <p:nvPr/>
        </p:nvSpPr>
        <p:spPr>
          <a:xfrm>
            <a:off x="4709160" y="4050792"/>
            <a:ext cx="4114800" cy="585216"/>
          </a:xfrm>
          <a:prstGeom prst="rect">
            <a:avLst/>
          </a:prstGeom>
          <a:solidFill>
            <a:srgbClr val="FFFFFF"/>
          </a:solidFill>
          <a:ln w="12700">
            <a:solidFill>
              <a:srgbClr val="CBD5E0"/>
            </a:solidFill>
            <a:prstDash val="solid"/>
          </a:ln>
        </p:spPr>
        <p:txBody>
          <a:bodyPr/>
          <a:lstStyle/>
          <a:p>
            <a:endParaRPr lang="es-AR"/>
          </a:p>
        </p:txBody>
      </p:sp>
      <p:sp>
        <p:nvSpPr>
          <p:cNvPr id="54" name="Shape 52"/>
          <p:cNvSpPr/>
          <p:nvPr/>
        </p:nvSpPr>
        <p:spPr>
          <a:xfrm>
            <a:off x="4709160" y="4050792"/>
            <a:ext cx="329184" cy="585216"/>
          </a:xfrm>
          <a:prstGeom prst="rect">
            <a:avLst/>
          </a:prstGeom>
          <a:solidFill>
            <a:srgbClr val="7B5EA7">
              <a:alpha val="80000"/>
            </a:srgbClr>
          </a:solidFill>
          <a:ln w="12700">
            <a:solidFill>
              <a:srgbClr val="7B5EA7"/>
            </a:solidFill>
            <a:prstDash val="solid"/>
          </a:ln>
        </p:spPr>
        <p:txBody>
          <a:bodyPr/>
          <a:lstStyle/>
          <a:p>
            <a:endParaRPr lang="es-AR"/>
          </a:p>
        </p:txBody>
      </p:sp>
      <p:sp>
        <p:nvSpPr>
          <p:cNvPr id="55" name="Text 53"/>
          <p:cNvSpPr/>
          <p:nvPr/>
        </p:nvSpPr>
        <p:spPr>
          <a:xfrm>
            <a:off x="4709160" y="4050792"/>
            <a:ext cx="329184" cy="585216"/>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10</a:t>
            </a:r>
            <a:endParaRPr lang="en-US" sz="1400" dirty="0"/>
          </a:p>
        </p:txBody>
      </p:sp>
      <p:sp>
        <p:nvSpPr>
          <p:cNvPr id="56" name="Text 54"/>
          <p:cNvSpPr/>
          <p:nvPr/>
        </p:nvSpPr>
        <p:spPr>
          <a:xfrm>
            <a:off x="5111496" y="4087368"/>
            <a:ext cx="3584448" cy="219456"/>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Control sobre el entorno</a:t>
            </a:r>
            <a:endParaRPr lang="en-US" sz="1100" dirty="0"/>
          </a:p>
        </p:txBody>
      </p:sp>
      <p:sp>
        <p:nvSpPr>
          <p:cNvPr id="57" name="Text 55"/>
          <p:cNvSpPr/>
          <p:nvPr/>
        </p:nvSpPr>
        <p:spPr>
          <a:xfrm>
            <a:off x="5111496" y="4325112"/>
            <a:ext cx="3584448"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(a) Político: participar, votar, tener voz. (b) Material: poder tener propiedad y trabajo en condiciones dignas.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2E8B74"/>
          </a:solidFill>
          <a:ln w="12700">
            <a:solidFill>
              <a:srgbClr val="2E8B74"/>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¿Cómo Identificar las Dimensiones del Bienestar?</a:t>
            </a:r>
            <a:endParaRPr lang="en-US" sz="2800" dirty="0"/>
          </a:p>
        </p:txBody>
      </p:sp>
      <p:sp>
        <p:nvSpPr>
          <p:cNvPr id="5" name="Shape 3"/>
          <p:cNvSpPr/>
          <p:nvPr/>
        </p:nvSpPr>
        <p:spPr>
          <a:xfrm>
            <a:off x="457200" y="731520"/>
            <a:ext cx="36576" cy="201168"/>
          </a:xfrm>
          <a:prstGeom prst="rect">
            <a:avLst/>
          </a:prstGeom>
          <a:solidFill>
            <a:srgbClr val="2E8B74"/>
          </a:solidFill>
          <a:ln w="12700">
            <a:solidFill>
              <a:srgbClr val="2E8B74"/>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2E8B74"/>
                </a:solidFill>
                <a:latin typeface="Calibri" pitchFamily="34" charset="0"/>
                <a:ea typeface="Calibri" pitchFamily="34" charset="-122"/>
                <a:cs typeface="Calibri" pitchFamily="34" charset="-120"/>
              </a:rPr>
              <a:t>U3.2 — MÉTODOS Y SUS PROBLEMAS</a:t>
            </a:r>
            <a:endParaRPr lang="en-US" sz="900" dirty="0"/>
          </a:p>
        </p:txBody>
      </p:sp>
      <p:sp>
        <p:nvSpPr>
          <p:cNvPr id="7" name="Shape 5"/>
          <p:cNvSpPr/>
          <p:nvPr/>
        </p:nvSpPr>
        <p:spPr>
          <a:xfrm>
            <a:off x="365760" y="1005840"/>
            <a:ext cx="2029968" cy="365760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2029968" cy="365760"/>
          </a:xfrm>
          <a:prstGeom prst="rect">
            <a:avLst/>
          </a:prstGeom>
          <a:solidFill>
            <a:srgbClr val="2E8B74"/>
          </a:solidFill>
          <a:ln w="12700">
            <a:solidFill>
              <a:srgbClr val="2E8B74"/>
            </a:solidFill>
            <a:prstDash val="solid"/>
          </a:ln>
        </p:spPr>
        <p:txBody>
          <a:bodyPr/>
          <a:lstStyle/>
          <a:p>
            <a:endParaRPr lang="es-AR"/>
          </a:p>
        </p:txBody>
      </p:sp>
      <p:sp>
        <p:nvSpPr>
          <p:cNvPr id="9" name="Text 7"/>
          <p:cNvSpPr/>
          <p:nvPr/>
        </p:nvSpPr>
        <p:spPr>
          <a:xfrm>
            <a:off x="457200" y="1033272"/>
            <a:ext cx="329184" cy="310896"/>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10" name="Text 8"/>
          <p:cNvSpPr/>
          <p:nvPr/>
        </p:nvSpPr>
        <p:spPr>
          <a:xfrm>
            <a:off x="786384" y="1051560"/>
            <a:ext cx="1499616"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1. Proceso participativo</a:t>
            </a:r>
            <a:endParaRPr lang="en-US" sz="1000" dirty="0"/>
          </a:p>
        </p:txBody>
      </p:sp>
      <p:sp>
        <p:nvSpPr>
          <p:cNvPr id="11" name="Text 9"/>
          <p:cNvSpPr/>
          <p:nvPr/>
        </p:nvSpPr>
        <p:spPr>
          <a:xfrm>
            <a:off x="475488" y="1444752"/>
            <a:ext cx="1810512" cy="219456"/>
          </a:xfrm>
          <a:prstGeom prst="rect">
            <a:avLst/>
          </a:prstGeom>
          <a:noFill/>
          <a:ln/>
        </p:spPr>
        <p:txBody>
          <a:bodyPr wrap="square" lIns="0" tIns="0" rIns="0" bIns="0" rtlCol="0" anchor="ctr"/>
          <a:lstStyle/>
          <a:p>
            <a:pPr marL="0" indent="0">
              <a:buNone/>
            </a:pPr>
            <a:r>
              <a:rPr lang="en-US" sz="950" b="1" dirty="0">
                <a:solidFill>
                  <a:srgbClr val="2E8B74"/>
                </a:solidFill>
                <a:latin typeface="Calibri" pitchFamily="34" charset="0"/>
                <a:ea typeface="Calibri" pitchFamily="34" charset="-122"/>
                <a:cs typeface="Calibri" pitchFamily="34" charset="-120"/>
              </a:rPr>
              <a:t>✓ Ventaja:</a:t>
            </a:r>
            <a:endParaRPr lang="en-US" sz="950" dirty="0"/>
          </a:p>
        </p:txBody>
      </p:sp>
      <p:sp>
        <p:nvSpPr>
          <p:cNvPr id="12" name="Text 10"/>
          <p:cNvSpPr/>
          <p:nvPr/>
        </p:nvSpPr>
        <p:spPr>
          <a:xfrm>
            <a:off x="475488" y="1664208"/>
            <a:ext cx="1810512" cy="841248"/>
          </a:xfrm>
          <a:prstGeom prst="rect">
            <a:avLst/>
          </a:prstGeom>
          <a:noFill/>
          <a:ln/>
        </p:spPr>
        <p:txBody>
          <a:bodyPr wrap="square" lIns="0" tIns="0" rIns="0" bIns="0" rtlCol="0" anchor="ctr"/>
          <a:lstStyle/>
          <a:p>
            <a:pPr marL="0" indent="0">
              <a:buNone/>
            </a:pPr>
            <a:r>
              <a:rPr lang="en-US" sz="1000" dirty="0">
                <a:solidFill>
                  <a:srgbClr val="1A202C"/>
                </a:solidFill>
                <a:latin typeface="Calibri" pitchFamily="34" charset="0"/>
                <a:ea typeface="Calibri" pitchFamily="34" charset="-122"/>
                <a:cs typeface="Calibri" pitchFamily="34" charset="-120"/>
              </a:rPr>
              <a:t>Escucha directamente a la población afectada. Ej: El Salvador con TECHO.</a:t>
            </a:r>
            <a:endParaRPr lang="en-US" sz="1000" dirty="0"/>
          </a:p>
        </p:txBody>
      </p:sp>
      <p:sp>
        <p:nvSpPr>
          <p:cNvPr id="13" name="Text 11"/>
          <p:cNvSpPr/>
          <p:nvPr/>
        </p:nvSpPr>
        <p:spPr>
          <a:xfrm>
            <a:off x="475488" y="2560320"/>
            <a:ext cx="1810512" cy="219456"/>
          </a:xfrm>
          <a:prstGeom prst="rect">
            <a:avLst/>
          </a:prstGeom>
          <a:noFill/>
          <a:ln/>
        </p:spPr>
        <p:txBody>
          <a:bodyPr wrap="square" lIns="0" tIns="0" rIns="0" bIns="0" rtlCol="0" anchor="ctr"/>
          <a:lstStyle/>
          <a:p>
            <a:pPr marL="0" indent="0">
              <a:buNone/>
            </a:pPr>
            <a:r>
              <a:rPr lang="en-US" sz="950" b="1" dirty="0">
                <a:solidFill>
                  <a:srgbClr val="C0533A"/>
                </a:solidFill>
                <a:latin typeface="Calibri" pitchFamily="34" charset="0"/>
                <a:ea typeface="Calibri" pitchFamily="34" charset="-122"/>
                <a:cs typeface="Calibri" pitchFamily="34" charset="-120"/>
              </a:rPr>
              <a:t>✗ Problema:</a:t>
            </a:r>
            <a:endParaRPr lang="en-US" sz="950" dirty="0"/>
          </a:p>
        </p:txBody>
      </p:sp>
      <p:sp>
        <p:nvSpPr>
          <p:cNvPr id="14" name="Text 12"/>
          <p:cNvSpPr/>
          <p:nvPr/>
        </p:nvSpPr>
        <p:spPr>
          <a:xfrm>
            <a:off x="475488" y="2779776"/>
            <a:ext cx="1810512" cy="178308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Puede ser sesgado si no llega a toda la población. Riesgo de sesgo del investigador al interpretar.</a:t>
            </a:r>
            <a:endParaRPr lang="en-US" sz="1000" dirty="0"/>
          </a:p>
        </p:txBody>
      </p:sp>
      <p:sp>
        <p:nvSpPr>
          <p:cNvPr id="15" name="Shape 13"/>
          <p:cNvSpPr/>
          <p:nvPr/>
        </p:nvSpPr>
        <p:spPr>
          <a:xfrm>
            <a:off x="2514600" y="1005840"/>
            <a:ext cx="2029968" cy="365760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6" name="Shape 14"/>
          <p:cNvSpPr/>
          <p:nvPr/>
        </p:nvSpPr>
        <p:spPr>
          <a:xfrm>
            <a:off x="2514600" y="1005840"/>
            <a:ext cx="2029968" cy="365760"/>
          </a:xfrm>
          <a:prstGeom prst="rect">
            <a:avLst/>
          </a:prstGeom>
          <a:solidFill>
            <a:srgbClr val="2C5282"/>
          </a:solidFill>
          <a:ln w="12700">
            <a:solidFill>
              <a:srgbClr val="2C5282"/>
            </a:solidFill>
            <a:prstDash val="solid"/>
          </a:ln>
        </p:spPr>
        <p:txBody>
          <a:bodyPr/>
          <a:lstStyle/>
          <a:p>
            <a:endParaRPr lang="es-AR"/>
          </a:p>
        </p:txBody>
      </p:sp>
      <p:sp>
        <p:nvSpPr>
          <p:cNvPr id="17" name="Text 15"/>
          <p:cNvSpPr/>
          <p:nvPr/>
        </p:nvSpPr>
        <p:spPr>
          <a:xfrm>
            <a:off x="2606040" y="1033272"/>
            <a:ext cx="329184" cy="310896"/>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18" name="Text 16"/>
          <p:cNvSpPr/>
          <p:nvPr/>
        </p:nvSpPr>
        <p:spPr>
          <a:xfrm>
            <a:off x="2935224" y="1051560"/>
            <a:ext cx="1499616"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2. Enfoque teórico</a:t>
            </a:r>
            <a:endParaRPr lang="en-US" sz="1000" dirty="0"/>
          </a:p>
        </p:txBody>
      </p:sp>
      <p:sp>
        <p:nvSpPr>
          <p:cNvPr id="19" name="Text 17"/>
          <p:cNvSpPr/>
          <p:nvPr/>
        </p:nvSpPr>
        <p:spPr>
          <a:xfrm>
            <a:off x="2624328" y="1444752"/>
            <a:ext cx="1810512" cy="219456"/>
          </a:xfrm>
          <a:prstGeom prst="rect">
            <a:avLst/>
          </a:prstGeom>
          <a:noFill/>
          <a:ln/>
        </p:spPr>
        <p:txBody>
          <a:bodyPr wrap="square" lIns="0" tIns="0" rIns="0" bIns="0" rtlCol="0" anchor="ctr"/>
          <a:lstStyle/>
          <a:p>
            <a:pPr marL="0" indent="0">
              <a:buNone/>
            </a:pPr>
            <a:r>
              <a:rPr lang="en-US" sz="950" b="1" dirty="0">
                <a:solidFill>
                  <a:srgbClr val="2E8B74"/>
                </a:solidFill>
                <a:latin typeface="Calibri" pitchFamily="34" charset="0"/>
                <a:ea typeface="Calibri" pitchFamily="34" charset="-122"/>
                <a:cs typeface="Calibri" pitchFamily="34" charset="-120"/>
              </a:rPr>
              <a:t>✓ Ventaja:</a:t>
            </a:r>
            <a:endParaRPr lang="en-US" sz="950" dirty="0"/>
          </a:p>
        </p:txBody>
      </p:sp>
      <p:sp>
        <p:nvSpPr>
          <p:cNvPr id="20" name="Text 18"/>
          <p:cNvSpPr/>
          <p:nvPr/>
        </p:nvSpPr>
        <p:spPr>
          <a:xfrm>
            <a:off x="2624328" y="1664208"/>
            <a:ext cx="1810512" cy="841248"/>
          </a:xfrm>
          <a:prstGeom prst="rect">
            <a:avLst/>
          </a:prstGeom>
          <a:noFill/>
          <a:ln/>
        </p:spPr>
        <p:txBody>
          <a:bodyPr wrap="square" lIns="0" tIns="0" rIns="0" bIns="0" rtlCol="0" anchor="ctr"/>
          <a:lstStyle/>
          <a:p>
            <a:pPr marL="0" indent="0">
              <a:buNone/>
            </a:pPr>
            <a:r>
              <a:rPr lang="en-US" sz="1000" dirty="0">
                <a:solidFill>
                  <a:srgbClr val="1A202C"/>
                </a:solidFill>
                <a:latin typeface="Calibri" pitchFamily="34" charset="0"/>
                <a:ea typeface="Calibri" pitchFamily="34" charset="-122"/>
                <a:cs typeface="Calibri" pitchFamily="34" charset="-120"/>
              </a:rPr>
              <a:t>Riguroso, fundamentado en la teoría académica.</a:t>
            </a:r>
            <a:endParaRPr lang="en-US" sz="1000" dirty="0"/>
          </a:p>
        </p:txBody>
      </p:sp>
      <p:sp>
        <p:nvSpPr>
          <p:cNvPr id="21" name="Text 19"/>
          <p:cNvSpPr/>
          <p:nvPr/>
        </p:nvSpPr>
        <p:spPr>
          <a:xfrm>
            <a:off x="2624328" y="2560320"/>
            <a:ext cx="1810512" cy="219456"/>
          </a:xfrm>
          <a:prstGeom prst="rect">
            <a:avLst/>
          </a:prstGeom>
          <a:noFill/>
          <a:ln/>
        </p:spPr>
        <p:txBody>
          <a:bodyPr wrap="square" lIns="0" tIns="0" rIns="0" bIns="0" rtlCol="0" anchor="ctr"/>
          <a:lstStyle/>
          <a:p>
            <a:pPr marL="0" indent="0">
              <a:buNone/>
            </a:pPr>
            <a:r>
              <a:rPr lang="en-US" sz="950" b="1" dirty="0">
                <a:solidFill>
                  <a:srgbClr val="C0533A"/>
                </a:solidFill>
                <a:latin typeface="Calibri" pitchFamily="34" charset="0"/>
                <a:ea typeface="Calibri" pitchFamily="34" charset="-122"/>
                <a:cs typeface="Calibri" pitchFamily="34" charset="-120"/>
              </a:rPr>
              <a:t>✗ Problema:</a:t>
            </a:r>
            <a:endParaRPr lang="en-US" sz="950" dirty="0"/>
          </a:p>
        </p:txBody>
      </p:sp>
      <p:sp>
        <p:nvSpPr>
          <p:cNvPr id="22" name="Text 20"/>
          <p:cNvSpPr/>
          <p:nvPr/>
        </p:nvSpPr>
        <p:spPr>
          <a:xfrm>
            <a:off x="2624328" y="2779776"/>
            <a:ext cx="1810512" cy="178308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Puede estar muy alejado de la realidad. Los teóricos no son pobres: hay riesgo de desconexión.</a:t>
            </a:r>
            <a:endParaRPr lang="en-US" sz="1000" dirty="0"/>
          </a:p>
        </p:txBody>
      </p:sp>
      <p:sp>
        <p:nvSpPr>
          <p:cNvPr id="23" name="Shape 21"/>
          <p:cNvSpPr/>
          <p:nvPr/>
        </p:nvSpPr>
        <p:spPr>
          <a:xfrm>
            <a:off x="4663440" y="1005840"/>
            <a:ext cx="2029968" cy="365760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4" name="Shape 22"/>
          <p:cNvSpPr/>
          <p:nvPr/>
        </p:nvSpPr>
        <p:spPr>
          <a:xfrm>
            <a:off x="4663440" y="1005840"/>
            <a:ext cx="2029968" cy="365760"/>
          </a:xfrm>
          <a:prstGeom prst="rect">
            <a:avLst/>
          </a:prstGeom>
          <a:solidFill>
            <a:srgbClr val="C0533A"/>
          </a:solidFill>
          <a:ln w="12700">
            <a:solidFill>
              <a:srgbClr val="C0533A"/>
            </a:solidFill>
            <a:prstDash val="solid"/>
          </a:ln>
        </p:spPr>
        <p:txBody>
          <a:bodyPr/>
          <a:lstStyle/>
          <a:p>
            <a:endParaRPr lang="es-AR"/>
          </a:p>
        </p:txBody>
      </p:sp>
      <p:sp>
        <p:nvSpPr>
          <p:cNvPr id="25" name="Text 23"/>
          <p:cNvSpPr/>
          <p:nvPr/>
        </p:nvSpPr>
        <p:spPr>
          <a:xfrm>
            <a:off x="4754880" y="1033272"/>
            <a:ext cx="329184" cy="310896"/>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26" name="Text 24"/>
          <p:cNvSpPr/>
          <p:nvPr/>
        </p:nvSpPr>
        <p:spPr>
          <a:xfrm>
            <a:off x="5084064" y="1051560"/>
            <a:ext cx="1499616"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3. Datos disponibles</a:t>
            </a:r>
            <a:endParaRPr lang="en-US" sz="1000" dirty="0"/>
          </a:p>
        </p:txBody>
      </p:sp>
      <p:sp>
        <p:nvSpPr>
          <p:cNvPr id="27" name="Text 25"/>
          <p:cNvSpPr/>
          <p:nvPr/>
        </p:nvSpPr>
        <p:spPr>
          <a:xfrm>
            <a:off x="4773168" y="1444752"/>
            <a:ext cx="1810512" cy="219456"/>
          </a:xfrm>
          <a:prstGeom prst="rect">
            <a:avLst/>
          </a:prstGeom>
          <a:noFill/>
          <a:ln/>
        </p:spPr>
        <p:txBody>
          <a:bodyPr wrap="square" lIns="0" tIns="0" rIns="0" bIns="0" rtlCol="0" anchor="ctr"/>
          <a:lstStyle/>
          <a:p>
            <a:pPr marL="0" indent="0">
              <a:buNone/>
            </a:pPr>
            <a:r>
              <a:rPr lang="en-US" sz="950" b="1" dirty="0">
                <a:solidFill>
                  <a:srgbClr val="2E8B74"/>
                </a:solidFill>
                <a:latin typeface="Calibri" pitchFamily="34" charset="0"/>
                <a:ea typeface="Calibri" pitchFamily="34" charset="-122"/>
                <a:cs typeface="Calibri" pitchFamily="34" charset="-120"/>
              </a:rPr>
              <a:t>✓ Ventaja:</a:t>
            </a:r>
            <a:endParaRPr lang="en-US" sz="950" dirty="0"/>
          </a:p>
        </p:txBody>
      </p:sp>
      <p:sp>
        <p:nvSpPr>
          <p:cNvPr id="28" name="Text 26"/>
          <p:cNvSpPr/>
          <p:nvPr/>
        </p:nvSpPr>
        <p:spPr>
          <a:xfrm>
            <a:off x="4773168" y="1664208"/>
            <a:ext cx="1810512" cy="841248"/>
          </a:xfrm>
          <a:prstGeom prst="rect">
            <a:avLst/>
          </a:prstGeom>
          <a:noFill/>
          <a:ln/>
        </p:spPr>
        <p:txBody>
          <a:bodyPr wrap="square" lIns="0" tIns="0" rIns="0" bIns="0" rtlCol="0" anchor="ctr"/>
          <a:lstStyle/>
          <a:p>
            <a:pPr marL="0" indent="0">
              <a:buNone/>
            </a:pPr>
            <a:r>
              <a:rPr lang="en-US" sz="1000" dirty="0">
                <a:solidFill>
                  <a:srgbClr val="1A202C"/>
                </a:solidFill>
                <a:latin typeface="Calibri" pitchFamily="34" charset="0"/>
                <a:ea typeface="Calibri" pitchFamily="34" charset="-122"/>
                <a:cs typeface="Calibri" pitchFamily="34" charset="-120"/>
              </a:rPr>
              <a:t>Es la opción más usada en la práctica. Se usan los datos de la EPH, el Censo, etc.</a:t>
            </a:r>
            <a:endParaRPr lang="en-US" sz="1000" dirty="0"/>
          </a:p>
        </p:txBody>
      </p:sp>
      <p:sp>
        <p:nvSpPr>
          <p:cNvPr id="29" name="Text 27"/>
          <p:cNvSpPr/>
          <p:nvPr/>
        </p:nvSpPr>
        <p:spPr>
          <a:xfrm>
            <a:off x="4773168" y="2560320"/>
            <a:ext cx="1810512" cy="219456"/>
          </a:xfrm>
          <a:prstGeom prst="rect">
            <a:avLst/>
          </a:prstGeom>
          <a:noFill/>
          <a:ln/>
        </p:spPr>
        <p:txBody>
          <a:bodyPr wrap="square" lIns="0" tIns="0" rIns="0" bIns="0" rtlCol="0" anchor="ctr"/>
          <a:lstStyle/>
          <a:p>
            <a:pPr marL="0" indent="0">
              <a:buNone/>
            </a:pPr>
            <a:r>
              <a:rPr lang="en-US" sz="950" b="1" dirty="0">
                <a:solidFill>
                  <a:srgbClr val="C0533A"/>
                </a:solidFill>
                <a:latin typeface="Calibri" pitchFamily="34" charset="0"/>
                <a:ea typeface="Calibri" pitchFamily="34" charset="-122"/>
                <a:cs typeface="Calibri" pitchFamily="34" charset="-120"/>
              </a:rPr>
              <a:t>✗ Problema:</a:t>
            </a:r>
            <a:endParaRPr lang="en-US" sz="950" dirty="0"/>
          </a:p>
        </p:txBody>
      </p:sp>
      <p:sp>
        <p:nvSpPr>
          <p:cNvPr id="30" name="Text 28"/>
          <p:cNvSpPr/>
          <p:nvPr/>
        </p:nvSpPr>
        <p:spPr>
          <a:xfrm>
            <a:off x="4773168" y="2779776"/>
            <a:ext cx="1810512" cy="178308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Se mide lo que se puede medir, no lo que se debería. En Argentina: nunca se incluyó salud porque la EPH no lo medía.</a:t>
            </a:r>
            <a:endParaRPr lang="en-US" sz="1000" dirty="0"/>
          </a:p>
        </p:txBody>
      </p:sp>
      <p:sp>
        <p:nvSpPr>
          <p:cNvPr id="31" name="Shape 29"/>
          <p:cNvSpPr/>
          <p:nvPr/>
        </p:nvSpPr>
        <p:spPr>
          <a:xfrm>
            <a:off x="6812280" y="1005840"/>
            <a:ext cx="2029968" cy="365760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32" name="Shape 30"/>
          <p:cNvSpPr/>
          <p:nvPr/>
        </p:nvSpPr>
        <p:spPr>
          <a:xfrm>
            <a:off x="6812280" y="1005840"/>
            <a:ext cx="2029968" cy="365760"/>
          </a:xfrm>
          <a:prstGeom prst="rect">
            <a:avLst/>
          </a:prstGeom>
          <a:solidFill>
            <a:srgbClr val="7B5EA7"/>
          </a:solidFill>
          <a:ln w="12700">
            <a:solidFill>
              <a:srgbClr val="7B5EA7"/>
            </a:solidFill>
            <a:prstDash val="solid"/>
          </a:ln>
        </p:spPr>
        <p:txBody>
          <a:bodyPr/>
          <a:lstStyle/>
          <a:p>
            <a:endParaRPr lang="es-AR"/>
          </a:p>
        </p:txBody>
      </p:sp>
      <p:sp>
        <p:nvSpPr>
          <p:cNvPr id="33" name="Text 31"/>
          <p:cNvSpPr/>
          <p:nvPr/>
        </p:nvSpPr>
        <p:spPr>
          <a:xfrm>
            <a:off x="6903720" y="1033272"/>
            <a:ext cx="329184" cy="310896"/>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34" name="Text 32"/>
          <p:cNvSpPr/>
          <p:nvPr/>
        </p:nvSpPr>
        <p:spPr>
          <a:xfrm>
            <a:off x="7232904" y="1051560"/>
            <a:ext cx="1499616"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4. Consenso internacional</a:t>
            </a:r>
            <a:endParaRPr lang="en-US" sz="1000" dirty="0"/>
          </a:p>
        </p:txBody>
      </p:sp>
      <p:sp>
        <p:nvSpPr>
          <p:cNvPr id="35" name="Text 33"/>
          <p:cNvSpPr/>
          <p:nvPr/>
        </p:nvSpPr>
        <p:spPr>
          <a:xfrm>
            <a:off x="6922008" y="1444752"/>
            <a:ext cx="1810512" cy="219456"/>
          </a:xfrm>
          <a:prstGeom prst="rect">
            <a:avLst/>
          </a:prstGeom>
          <a:noFill/>
          <a:ln/>
        </p:spPr>
        <p:txBody>
          <a:bodyPr wrap="square" lIns="0" tIns="0" rIns="0" bIns="0" rtlCol="0" anchor="ctr"/>
          <a:lstStyle/>
          <a:p>
            <a:pPr marL="0" indent="0">
              <a:buNone/>
            </a:pPr>
            <a:r>
              <a:rPr lang="en-US" sz="950" b="1" dirty="0">
                <a:solidFill>
                  <a:srgbClr val="2E8B74"/>
                </a:solidFill>
                <a:latin typeface="Calibri" pitchFamily="34" charset="0"/>
                <a:ea typeface="Calibri" pitchFamily="34" charset="-122"/>
                <a:cs typeface="Calibri" pitchFamily="34" charset="-120"/>
              </a:rPr>
              <a:t>✓ Ventaja:</a:t>
            </a:r>
            <a:endParaRPr lang="en-US" sz="950" dirty="0"/>
          </a:p>
        </p:txBody>
      </p:sp>
      <p:sp>
        <p:nvSpPr>
          <p:cNvPr id="36" name="Text 34"/>
          <p:cNvSpPr/>
          <p:nvPr/>
        </p:nvSpPr>
        <p:spPr>
          <a:xfrm>
            <a:off x="6922008" y="1664208"/>
            <a:ext cx="1810512" cy="841248"/>
          </a:xfrm>
          <a:prstGeom prst="rect">
            <a:avLst/>
          </a:prstGeom>
          <a:noFill/>
          <a:ln/>
        </p:spPr>
        <p:txBody>
          <a:bodyPr wrap="square" lIns="0" tIns="0" rIns="0" bIns="0" rtlCol="0" anchor="ctr"/>
          <a:lstStyle/>
          <a:p>
            <a:pPr marL="0" indent="0">
              <a:buNone/>
            </a:pPr>
            <a:r>
              <a:rPr lang="en-US" sz="1000" dirty="0">
                <a:solidFill>
                  <a:srgbClr val="1A202C"/>
                </a:solidFill>
                <a:latin typeface="Calibri" pitchFamily="34" charset="0"/>
                <a:ea typeface="Calibri" pitchFamily="34" charset="-122"/>
                <a:cs typeface="Calibri" pitchFamily="34" charset="-120"/>
              </a:rPr>
              <a:t>Los ODS son un ejemplo: dimensiones que todo el mundo considera necesarias.</a:t>
            </a:r>
            <a:endParaRPr lang="en-US" sz="1000" dirty="0"/>
          </a:p>
        </p:txBody>
      </p:sp>
      <p:sp>
        <p:nvSpPr>
          <p:cNvPr id="37" name="Text 35"/>
          <p:cNvSpPr/>
          <p:nvPr/>
        </p:nvSpPr>
        <p:spPr>
          <a:xfrm>
            <a:off x="6922008" y="2560320"/>
            <a:ext cx="1810512" cy="219456"/>
          </a:xfrm>
          <a:prstGeom prst="rect">
            <a:avLst/>
          </a:prstGeom>
          <a:noFill/>
          <a:ln/>
        </p:spPr>
        <p:txBody>
          <a:bodyPr wrap="square" lIns="0" tIns="0" rIns="0" bIns="0" rtlCol="0" anchor="ctr"/>
          <a:lstStyle/>
          <a:p>
            <a:pPr marL="0" indent="0">
              <a:buNone/>
            </a:pPr>
            <a:r>
              <a:rPr lang="en-US" sz="950" b="1" dirty="0">
                <a:solidFill>
                  <a:srgbClr val="C0533A"/>
                </a:solidFill>
                <a:latin typeface="Calibri" pitchFamily="34" charset="0"/>
                <a:ea typeface="Calibri" pitchFamily="34" charset="-122"/>
                <a:cs typeface="Calibri" pitchFamily="34" charset="-120"/>
              </a:rPr>
              <a:t>✗ Problema:</a:t>
            </a:r>
            <a:endParaRPr lang="en-US" sz="950" dirty="0"/>
          </a:p>
        </p:txBody>
      </p:sp>
      <p:sp>
        <p:nvSpPr>
          <p:cNvPr id="38" name="Text 36"/>
          <p:cNvSpPr/>
          <p:nvPr/>
        </p:nvSpPr>
        <p:spPr>
          <a:xfrm>
            <a:off x="6922008" y="2779776"/>
            <a:ext cx="1810512" cy="178308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Puede no capturar especificidades locales o culturales.</a:t>
            </a:r>
            <a:endParaRPr lang="en-US" sz="1000" dirty="0"/>
          </a:p>
        </p:txBody>
      </p:sp>
      <p:sp>
        <p:nvSpPr>
          <p:cNvPr id="39" name="Shape 37"/>
          <p:cNvSpPr/>
          <p:nvPr/>
        </p:nvSpPr>
        <p:spPr>
          <a:xfrm>
            <a:off x="365760" y="4736592"/>
            <a:ext cx="8412480" cy="4114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40" name="Text 38"/>
          <p:cNvSpPr/>
          <p:nvPr/>
        </p:nvSpPr>
        <p:spPr>
          <a:xfrm>
            <a:off x="548640" y="4754880"/>
            <a:ext cx="4023360" cy="128016"/>
          </a:xfrm>
          <a:prstGeom prst="rect">
            <a:avLst/>
          </a:prstGeom>
          <a:noFill/>
          <a:ln/>
        </p:spPr>
        <p:txBody>
          <a:bodyPr wrap="square" lIns="0" tIns="0" rIns="0" bIns="0" rtlCol="0" anchor="ctr"/>
          <a:lstStyle/>
          <a:p>
            <a:pPr marL="0" indent="0">
              <a:buNone/>
            </a:pPr>
            <a:r>
              <a:rPr lang="en-US" sz="1000" b="1" dirty="0">
                <a:solidFill>
                  <a:srgbClr val="2C5282"/>
                </a:solidFill>
                <a:latin typeface="Calibri" pitchFamily="34" charset="0"/>
                <a:ea typeface="Calibri" pitchFamily="34" charset="-122"/>
                <a:cs typeface="Calibri" pitchFamily="34" charset="-120"/>
              </a:rPr>
              <a:t>Dimensiones que siempre aparecen (independiente del método):</a:t>
            </a:r>
            <a:endParaRPr lang="en-US" sz="1000" dirty="0"/>
          </a:p>
        </p:txBody>
      </p:sp>
      <p:sp>
        <p:nvSpPr>
          <p:cNvPr id="41" name="Shape 39"/>
          <p:cNvSpPr/>
          <p:nvPr/>
        </p:nvSpPr>
        <p:spPr>
          <a:xfrm>
            <a:off x="502920" y="4956048"/>
            <a:ext cx="676656" cy="201168"/>
          </a:xfrm>
          <a:prstGeom prst="rect">
            <a:avLst/>
          </a:prstGeom>
          <a:solidFill>
            <a:srgbClr val="2C5282"/>
          </a:solidFill>
          <a:ln w="12700">
            <a:solidFill>
              <a:srgbClr val="2C5282"/>
            </a:solidFill>
            <a:prstDash val="solid"/>
          </a:ln>
        </p:spPr>
        <p:txBody>
          <a:bodyPr/>
          <a:lstStyle/>
          <a:p>
            <a:endParaRPr lang="es-AR"/>
          </a:p>
        </p:txBody>
      </p:sp>
      <p:sp>
        <p:nvSpPr>
          <p:cNvPr id="42" name="Text 40"/>
          <p:cNvSpPr/>
          <p:nvPr/>
        </p:nvSpPr>
        <p:spPr>
          <a:xfrm>
            <a:off x="594360" y="4974336"/>
            <a:ext cx="566928"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Salud</a:t>
            </a:r>
            <a:endParaRPr lang="en-US" sz="800" dirty="0"/>
          </a:p>
        </p:txBody>
      </p:sp>
      <p:sp>
        <p:nvSpPr>
          <p:cNvPr id="43" name="Shape 41"/>
          <p:cNvSpPr/>
          <p:nvPr/>
        </p:nvSpPr>
        <p:spPr>
          <a:xfrm>
            <a:off x="1965960" y="4956048"/>
            <a:ext cx="1013155" cy="201168"/>
          </a:xfrm>
          <a:prstGeom prst="rect">
            <a:avLst/>
          </a:prstGeom>
          <a:solidFill>
            <a:srgbClr val="2C5282"/>
          </a:solidFill>
          <a:ln w="12700">
            <a:solidFill>
              <a:srgbClr val="2C5282"/>
            </a:solidFill>
            <a:prstDash val="solid"/>
          </a:ln>
        </p:spPr>
        <p:txBody>
          <a:bodyPr/>
          <a:lstStyle/>
          <a:p>
            <a:endParaRPr lang="es-AR"/>
          </a:p>
        </p:txBody>
      </p:sp>
      <p:sp>
        <p:nvSpPr>
          <p:cNvPr id="44" name="Text 42"/>
          <p:cNvSpPr/>
          <p:nvPr/>
        </p:nvSpPr>
        <p:spPr>
          <a:xfrm>
            <a:off x="2057400" y="4974336"/>
            <a:ext cx="903427"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Educación</a:t>
            </a:r>
            <a:endParaRPr lang="en-US" sz="800" dirty="0"/>
          </a:p>
        </p:txBody>
      </p:sp>
      <p:sp>
        <p:nvSpPr>
          <p:cNvPr id="45" name="Shape 43"/>
          <p:cNvSpPr/>
          <p:nvPr/>
        </p:nvSpPr>
        <p:spPr>
          <a:xfrm>
            <a:off x="3429000" y="4956048"/>
            <a:ext cx="844906" cy="201168"/>
          </a:xfrm>
          <a:prstGeom prst="rect">
            <a:avLst/>
          </a:prstGeom>
          <a:solidFill>
            <a:srgbClr val="2C5282"/>
          </a:solidFill>
          <a:ln w="12700">
            <a:solidFill>
              <a:srgbClr val="2C5282"/>
            </a:solidFill>
            <a:prstDash val="solid"/>
          </a:ln>
        </p:spPr>
        <p:txBody>
          <a:bodyPr/>
          <a:lstStyle/>
          <a:p>
            <a:endParaRPr lang="es-AR"/>
          </a:p>
        </p:txBody>
      </p:sp>
      <p:sp>
        <p:nvSpPr>
          <p:cNvPr id="46" name="Text 44"/>
          <p:cNvSpPr/>
          <p:nvPr/>
        </p:nvSpPr>
        <p:spPr>
          <a:xfrm>
            <a:off x="3520440" y="4974336"/>
            <a:ext cx="735178"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Trabajo</a:t>
            </a:r>
            <a:endParaRPr lang="en-US" sz="800" dirty="0"/>
          </a:p>
        </p:txBody>
      </p:sp>
      <p:sp>
        <p:nvSpPr>
          <p:cNvPr id="47" name="Shape 45"/>
          <p:cNvSpPr/>
          <p:nvPr/>
        </p:nvSpPr>
        <p:spPr>
          <a:xfrm>
            <a:off x="4892040" y="4956048"/>
            <a:ext cx="929030" cy="201168"/>
          </a:xfrm>
          <a:prstGeom prst="rect">
            <a:avLst/>
          </a:prstGeom>
          <a:solidFill>
            <a:srgbClr val="2C5282"/>
          </a:solidFill>
          <a:ln w="12700">
            <a:solidFill>
              <a:srgbClr val="2C5282"/>
            </a:solidFill>
            <a:prstDash val="solid"/>
          </a:ln>
        </p:spPr>
        <p:txBody>
          <a:bodyPr/>
          <a:lstStyle/>
          <a:p>
            <a:endParaRPr lang="es-AR"/>
          </a:p>
        </p:txBody>
      </p:sp>
      <p:sp>
        <p:nvSpPr>
          <p:cNvPr id="48" name="Text 46"/>
          <p:cNvSpPr/>
          <p:nvPr/>
        </p:nvSpPr>
        <p:spPr>
          <a:xfrm>
            <a:off x="4983480" y="4974336"/>
            <a:ext cx="819302"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Vivienda</a:t>
            </a:r>
            <a:endParaRPr lang="en-US" sz="800" dirty="0"/>
          </a:p>
        </p:txBody>
      </p:sp>
      <p:sp>
        <p:nvSpPr>
          <p:cNvPr id="49" name="Shape 47"/>
          <p:cNvSpPr/>
          <p:nvPr/>
        </p:nvSpPr>
        <p:spPr>
          <a:xfrm>
            <a:off x="6355080" y="4956048"/>
            <a:ext cx="1686154" cy="201168"/>
          </a:xfrm>
          <a:prstGeom prst="rect">
            <a:avLst/>
          </a:prstGeom>
          <a:solidFill>
            <a:srgbClr val="2C5282"/>
          </a:solidFill>
          <a:ln w="12700">
            <a:solidFill>
              <a:srgbClr val="2C5282"/>
            </a:solidFill>
            <a:prstDash val="solid"/>
          </a:ln>
        </p:spPr>
        <p:txBody>
          <a:bodyPr/>
          <a:lstStyle/>
          <a:p>
            <a:endParaRPr lang="es-AR"/>
          </a:p>
        </p:txBody>
      </p:sp>
      <p:sp>
        <p:nvSpPr>
          <p:cNvPr id="50" name="Text 48"/>
          <p:cNvSpPr/>
          <p:nvPr/>
        </p:nvSpPr>
        <p:spPr>
          <a:xfrm>
            <a:off x="6446520" y="4974336"/>
            <a:ext cx="1576426"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Servicios básicos</a:t>
            </a:r>
            <a:endParaRPr lang="en-US" sz="800" dirty="0"/>
          </a:p>
        </p:txBody>
      </p:sp>
      <p:sp>
        <p:nvSpPr>
          <p:cNvPr id="51" name="Shape 49"/>
          <p:cNvSpPr/>
          <p:nvPr/>
        </p:nvSpPr>
        <p:spPr>
          <a:xfrm>
            <a:off x="7818120" y="4956048"/>
            <a:ext cx="1265530" cy="201168"/>
          </a:xfrm>
          <a:prstGeom prst="rect">
            <a:avLst/>
          </a:prstGeom>
          <a:solidFill>
            <a:srgbClr val="2C5282"/>
          </a:solidFill>
          <a:ln w="12700">
            <a:solidFill>
              <a:srgbClr val="2C5282"/>
            </a:solidFill>
            <a:prstDash val="solid"/>
          </a:ln>
        </p:spPr>
        <p:txBody>
          <a:bodyPr/>
          <a:lstStyle/>
          <a:p>
            <a:endParaRPr lang="es-AR"/>
          </a:p>
        </p:txBody>
      </p:sp>
      <p:sp>
        <p:nvSpPr>
          <p:cNvPr id="52" name="Text 50"/>
          <p:cNvSpPr/>
          <p:nvPr/>
        </p:nvSpPr>
        <p:spPr>
          <a:xfrm>
            <a:off x="7909560" y="4974336"/>
            <a:ext cx="1155802"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Alimentación</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C0533A"/>
          </a:solidFill>
          <a:ln w="12700">
            <a:solidFill>
              <a:srgbClr val="C0533A"/>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Desarrollo Humano vs. Liberalismo Económico</a:t>
            </a:r>
            <a:endParaRPr lang="en-US" sz="2800" dirty="0"/>
          </a:p>
        </p:txBody>
      </p:sp>
      <p:sp>
        <p:nvSpPr>
          <p:cNvPr id="5" name="Shape 3"/>
          <p:cNvSpPr/>
          <p:nvPr/>
        </p:nvSpPr>
        <p:spPr>
          <a:xfrm>
            <a:off x="457200" y="731520"/>
            <a:ext cx="36576" cy="201168"/>
          </a:xfrm>
          <a:prstGeom prst="rect">
            <a:avLst/>
          </a:prstGeom>
          <a:solidFill>
            <a:srgbClr val="C0533A"/>
          </a:solidFill>
          <a:ln w="12700">
            <a:solidFill>
              <a:srgbClr val="C0533A"/>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C0533A"/>
                </a:solidFill>
                <a:latin typeface="Calibri" pitchFamily="34" charset="0"/>
                <a:ea typeface="Calibri" pitchFamily="34" charset="-122"/>
                <a:cs typeface="Calibri" pitchFamily="34" charset="-120"/>
              </a:rPr>
              <a:t>U3.2 — DOS CONCEPCIONES DE LIBERTAD</a:t>
            </a:r>
            <a:endParaRPr lang="en-US" sz="900" dirty="0"/>
          </a:p>
        </p:txBody>
      </p:sp>
      <p:sp>
        <p:nvSpPr>
          <p:cNvPr id="7" name="Text 5"/>
          <p:cNvSpPr/>
          <p:nvPr/>
        </p:nvSpPr>
        <p:spPr>
          <a:xfrm>
            <a:off x="457200" y="1024128"/>
            <a:ext cx="8229600" cy="292608"/>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Ambos enfoques hablan de libertad, pero significan cosas muy distintas:</a:t>
            </a:r>
            <a:endParaRPr lang="en-US" sz="1200" dirty="0"/>
          </a:p>
        </p:txBody>
      </p:sp>
      <p:sp>
        <p:nvSpPr>
          <p:cNvPr id="8" name="Shape 6"/>
          <p:cNvSpPr/>
          <p:nvPr/>
        </p:nvSpPr>
        <p:spPr>
          <a:xfrm>
            <a:off x="365760" y="1389888"/>
            <a:ext cx="2651760" cy="292608"/>
          </a:xfrm>
          <a:prstGeom prst="rect">
            <a:avLst/>
          </a:prstGeom>
          <a:solidFill>
            <a:srgbClr val="1B2A3B"/>
          </a:solidFill>
          <a:ln w="12700">
            <a:solidFill>
              <a:srgbClr val="1B2A3B"/>
            </a:solidFill>
            <a:prstDash val="solid"/>
          </a:ln>
        </p:spPr>
        <p:txBody>
          <a:bodyPr/>
          <a:lstStyle/>
          <a:p>
            <a:endParaRPr lang="es-AR"/>
          </a:p>
        </p:txBody>
      </p:sp>
      <p:sp>
        <p:nvSpPr>
          <p:cNvPr id="9" name="Shape 7"/>
          <p:cNvSpPr/>
          <p:nvPr/>
        </p:nvSpPr>
        <p:spPr>
          <a:xfrm>
            <a:off x="3090672" y="1389888"/>
            <a:ext cx="2743200" cy="292608"/>
          </a:xfrm>
          <a:prstGeom prst="rect">
            <a:avLst/>
          </a:prstGeom>
          <a:solidFill>
            <a:srgbClr val="2E8B74"/>
          </a:solidFill>
          <a:ln w="12700">
            <a:solidFill>
              <a:srgbClr val="2E8B74"/>
            </a:solidFill>
            <a:prstDash val="solid"/>
          </a:ln>
        </p:spPr>
        <p:txBody>
          <a:bodyPr/>
          <a:lstStyle/>
          <a:p>
            <a:endParaRPr lang="es-AR"/>
          </a:p>
        </p:txBody>
      </p:sp>
      <p:sp>
        <p:nvSpPr>
          <p:cNvPr id="10" name="Shape 8"/>
          <p:cNvSpPr/>
          <p:nvPr/>
        </p:nvSpPr>
        <p:spPr>
          <a:xfrm>
            <a:off x="5907024" y="1389888"/>
            <a:ext cx="2834640" cy="292608"/>
          </a:xfrm>
          <a:prstGeom prst="rect">
            <a:avLst/>
          </a:prstGeom>
          <a:solidFill>
            <a:srgbClr val="C0533A"/>
          </a:solidFill>
          <a:ln w="12700">
            <a:solidFill>
              <a:srgbClr val="C0533A"/>
            </a:solidFill>
            <a:prstDash val="solid"/>
          </a:ln>
        </p:spPr>
        <p:txBody>
          <a:bodyPr/>
          <a:lstStyle/>
          <a:p>
            <a:endParaRPr lang="es-AR"/>
          </a:p>
        </p:txBody>
      </p:sp>
      <p:sp>
        <p:nvSpPr>
          <p:cNvPr id="11" name="Text 9"/>
          <p:cNvSpPr/>
          <p:nvPr/>
        </p:nvSpPr>
        <p:spPr>
          <a:xfrm>
            <a:off x="457200" y="1408176"/>
            <a:ext cx="2468880"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DIMENSIÓN</a:t>
            </a:r>
            <a:endParaRPr lang="en-US" sz="1000" dirty="0"/>
          </a:p>
        </p:txBody>
      </p:sp>
      <p:sp>
        <p:nvSpPr>
          <p:cNvPr id="12" name="Text 10"/>
          <p:cNvSpPr/>
          <p:nvPr/>
        </p:nvSpPr>
        <p:spPr>
          <a:xfrm>
            <a:off x="3154680" y="1408176"/>
            <a:ext cx="2606040"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DESARROLLO HUMANO</a:t>
            </a:r>
            <a:endParaRPr lang="en-US" sz="1000" dirty="0"/>
          </a:p>
        </p:txBody>
      </p:sp>
      <p:sp>
        <p:nvSpPr>
          <p:cNvPr id="13" name="Text 11"/>
          <p:cNvSpPr/>
          <p:nvPr/>
        </p:nvSpPr>
        <p:spPr>
          <a:xfrm>
            <a:off x="5971032" y="1408176"/>
            <a:ext cx="2697480"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LIBERALISMO ECONÓMICO</a:t>
            </a:r>
            <a:endParaRPr lang="en-US" sz="1000" dirty="0"/>
          </a:p>
        </p:txBody>
      </p:sp>
      <p:sp>
        <p:nvSpPr>
          <p:cNvPr id="14" name="Shape 12"/>
          <p:cNvSpPr/>
          <p:nvPr/>
        </p:nvSpPr>
        <p:spPr>
          <a:xfrm>
            <a:off x="365760" y="1719072"/>
            <a:ext cx="8375904" cy="530352"/>
          </a:xfrm>
          <a:prstGeom prst="rect">
            <a:avLst/>
          </a:prstGeom>
          <a:solidFill>
            <a:srgbClr val="FFFFFF"/>
          </a:solidFill>
          <a:ln w="12700">
            <a:solidFill>
              <a:srgbClr val="CBD5E0"/>
            </a:solidFill>
            <a:prstDash val="solid"/>
          </a:ln>
        </p:spPr>
        <p:txBody>
          <a:bodyPr/>
          <a:lstStyle/>
          <a:p>
            <a:endParaRPr lang="es-AR"/>
          </a:p>
        </p:txBody>
      </p:sp>
      <p:sp>
        <p:nvSpPr>
          <p:cNvPr id="15" name="Text 13"/>
          <p:cNvSpPr/>
          <p:nvPr/>
        </p:nvSpPr>
        <p:spPr>
          <a:xfrm>
            <a:off x="457200" y="1755648"/>
            <a:ext cx="2542032" cy="457200"/>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¿Qué es la libertad?</a:t>
            </a:r>
            <a:endParaRPr lang="en-US" sz="1000" dirty="0"/>
          </a:p>
        </p:txBody>
      </p:sp>
      <p:sp>
        <p:nvSpPr>
          <p:cNvPr id="16" name="Shape 14"/>
          <p:cNvSpPr/>
          <p:nvPr/>
        </p:nvSpPr>
        <p:spPr>
          <a:xfrm>
            <a:off x="3063240" y="1719072"/>
            <a:ext cx="0" cy="530352"/>
          </a:xfrm>
          <a:prstGeom prst="line">
            <a:avLst/>
          </a:prstGeom>
          <a:noFill/>
          <a:ln w="12700">
            <a:solidFill>
              <a:srgbClr val="CBD5E0"/>
            </a:solidFill>
            <a:prstDash val="solid"/>
          </a:ln>
        </p:spPr>
        <p:txBody>
          <a:bodyPr/>
          <a:lstStyle/>
          <a:p>
            <a:endParaRPr lang="es-AR"/>
          </a:p>
        </p:txBody>
      </p:sp>
      <p:sp>
        <p:nvSpPr>
          <p:cNvPr id="17" name="Text 15"/>
          <p:cNvSpPr/>
          <p:nvPr/>
        </p:nvSpPr>
        <p:spPr>
          <a:xfrm>
            <a:off x="3154680" y="1755648"/>
            <a:ext cx="2670048" cy="457200"/>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Libertad real de las personas para elegir y lograr lo que valoran. Requiere condiciones, no solo ausencia de prohibición.</a:t>
            </a:r>
            <a:endParaRPr lang="en-US" sz="950" dirty="0"/>
          </a:p>
        </p:txBody>
      </p:sp>
      <p:sp>
        <p:nvSpPr>
          <p:cNvPr id="18" name="Shape 16"/>
          <p:cNvSpPr/>
          <p:nvPr/>
        </p:nvSpPr>
        <p:spPr>
          <a:xfrm>
            <a:off x="5879592" y="1719072"/>
            <a:ext cx="0" cy="530352"/>
          </a:xfrm>
          <a:prstGeom prst="line">
            <a:avLst/>
          </a:prstGeom>
          <a:noFill/>
          <a:ln w="12700">
            <a:solidFill>
              <a:srgbClr val="CBD5E0"/>
            </a:solidFill>
            <a:prstDash val="solid"/>
          </a:ln>
        </p:spPr>
        <p:txBody>
          <a:bodyPr/>
          <a:lstStyle/>
          <a:p>
            <a:endParaRPr lang="es-AR"/>
          </a:p>
        </p:txBody>
      </p:sp>
      <p:sp>
        <p:nvSpPr>
          <p:cNvPr id="19" name="Text 17"/>
          <p:cNvSpPr/>
          <p:nvPr/>
        </p:nvSpPr>
        <p:spPr>
          <a:xfrm>
            <a:off x="5971032" y="1755648"/>
            <a:ext cx="2697480" cy="457200"/>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Ausencia de interferencias, especialmente del Estado en el mercado. Libre funcionamiento de la oferta y la demanda.</a:t>
            </a:r>
            <a:endParaRPr lang="en-US" sz="950" dirty="0"/>
          </a:p>
        </p:txBody>
      </p:sp>
      <p:sp>
        <p:nvSpPr>
          <p:cNvPr id="20" name="Shape 18"/>
          <p:cNvSpPr/>
          <p:nvPr/>
        </p:nvSpPr>
        <p:spPr>
          <a:xfrm>
            <a:off x="365760" y="2313432"/>
            <a:ext cx="8375904" cy="530352"/>
          </a:xfrm>
          <a:prstGeom prst="rect">
            <a:avLst/>
          </a:prstGeom>
          <a:solidFill>
            <a:srgbClr val="F7F9FC"/>
          </a:solidFill>
          <a:ln w="12700">
            <a:solidFill>
              <a:srgbClr val="CBD5E0"/>
            </a:solidFill>
            <a:prstDash val="solid"/>
          </a:ln>
        </p:spPr>
        <p:txBody>
          <a:bodyPr/>
          <a:lstStyle/>
          <a:p>
            <a:endParaRPr lang="es-AR"/>
          </a:p>
        </p:txBody>
      </p:sp>
      <p:sp>
        <p:nvSpPr>
          <p:cNvPr id="21" name="Text 19"/>
          <p:cNvSpPr/>
          <p:nvPr/>
        </p:nvSpPr>
        <p:spPr>
          <a:xfrm>
            <a:off x="457200" y="2350008"/>
            <a:ext cx="2542032" cy="457200"/>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¿Qué importa?</a:t>
            </a:r>
            <a:endParaRPr lang="en-US" sz="1000" dirty="0"/>
          </a:p>
        </p:txBody>
      </p:sp>
      <p:sp>
        <p:nvSpPr>
          <p:cNvPr id="22" name="Shape 20"/>
          <p:cNvSpPr/>
          <p:nvPr/>
        </p:nvSpPr>
        <p:spPr>
          <a:xfrm>
            <a:off x="3063240" y="2313432"/>
            <a:ext cx="0" cy="530352"/>
          </a:xfrm>
          <a:prstGeom prst="line">
            <a:avLst/>
          </a:prstGeom>
          <a:noFill/>
          <a:ln w="12700">
            <a:solidFill>
              <a:srgbClr val="CBD5E0"/>
            </a:solidFill>
            <a:prstDash val="solid"/>
          </a:ln>
        </p:spPr>
        <p:txBody>
          <a:bodyPr/>
          <a:lstStyle/>
          <a:p>
            <a:endParaRPr lang="es-AR"/>
          </a:p>
        </p:txBody>
      </p:sp>
      <p:sp>
        <p:nvSpPr>
          <p:cNvPr id="23" name="Text 21"/>
          <p:cNvSpPr/>
          <p:nvPr/>
        </p:nvSpPr>
        <p:spPr>
          <a:xfrm>
            <a:off x="3154680" y="2350008"/>
            <a:ext cx="2670048" cy="457200"/>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Que las personas PUEDAN acceder a educación, salud, oportunidades. No basta con que no se les prohíba.</a:t>
            </a:r>
            <a:endParaRPr lang="en-US" sz="950" dirty="0"/>
          </a:p>
        </p:txBody>
      </p:sp>
      <p:sp>
        <p:nvSpPr>
          <p:cNvPr id="24" name="Shape 22"/>
          <p:cNvSpPr/>
          <p:nvPr/>
        </p:nvSpPr>
        <p:spPr>
          <a:xfrm>
            <a:off x="5879592" y="2313432"/>
            <a:ext cx="0" cy="530352"/>
          </a:xfrm>
          <a:prstGeom prst="line">
            <a:avLst/>
          </a:prstGeom>
          <a:noFill/>
          <a:ln w="12700">
            <a:solidFill>
              <a:srgbClr val="CBD5E0"/>
            </a:solidFill>
            <a:prstDash val="solid"/>
          </a:ln>
        </p:spPr>
        <p:txBody>
          <a:bodyPr/>
          <a:lstStyle/>
          <a:p>
            <a:endParaRPr lang="es-AR"/>
          </a:p>
        </p:txBody>
      </p:sp>
      <p:sp>
        <p:nvSpPr>
          <p:cNvPr id="25" name="Text 23"/>
          <p:cNvSpPr/>
          <p:nvPr/>
        </p:nvSpPr>
        <p:spPr>
          <a:xfrm>
            <a:off x="5971032" y="2350008"/>
            <a:ext cx="2697480" cy="457200"/>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Que no haya regulaciones que impidan el intercambio, la producción y el consumo.</a:t>
            </a:r>
            <a:endParaRPr lang="en-US" sz="950" dirty="0"/>
          </a:p>
        </p:txBody>
      </p:sp>
      <p:sp>
        <p:nvSpPr>
          <p:cNvPr id="26" name="Shape 24"/>
          <p:cNvSpPr/>
          <p:nvPr/>
        </p:nvSpPr>
        <p:spPr>
          <a:xfrm>
            <a:off x="365760" y="2907792"/>
            <a:ext cx="8375904" cy="530352"/>
          </a:xfrm>
          <a:prstGeom prst="rect">
            <a:avLst/>
          </a:prstGeom>
          <a:solidFill>
            <a:srgbClr val="FFFFFF"/>
          </a:solidFill>
          <a:ln w="12700">
            <a:solidFill>
              <a:srgbClr val="CBD5E0"/>
            </a:solidFill>
            <a:prstDash val="solid"/>
          </a:ln>
        </p:spPr>
        <p:txBody>
          <a:bodyPr/>
          <a:lstStyle/>
          <a:p>
            <a:endParaRPr lang="es-AR"/>
          </a:p>
        </p:txBody>
      </p:sp>
      <p:sp>
        <p:nvSpPr>
          <p:cNvPr id="27" name="Text 25"/>
          <p:cNvSpPr/>
          <p:nvPr/>
        </p:nvSpPr>
        <p:spPr>
          <a:xfrm>
            <a:off x="457200" y="2944368"/>
            <a:ext cx="2542032" cy="457200"/>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¿Rol del Estado?</a:t>
            </a:r>
            <a:endParaRPr lang="en-US" sz="1000" dirty="0"/>
          </a:p>
        </p:txBody>
      </p:sp>
      <p:sp>
        <p:nvSpPr>
          <p:cNvPr id="28" name="Shape 26"/>
          <p:cNvSpPr/>
          <p:nvPr/>
        </p:nvSpPr>
        <p:spPr>
          <a:xfrm>
            <a:off x="3063240" y="2907792"/>
            <a:ext cx="0" cy="530352"/>
          </a:xfrm>
          <a:prstGeom prst="line">
            <a:avLst/>
          </a:prstGeom>
          <a:noFill/>
          <a:ln w="12700">
            <a:solidFill>
              <a:srgbClr val="CBD5E0"/>
            </a:solidFill>
            <a:prstDash val="solid"/>
          </a:ln>
        </p:spPr>
        <p:txBody>
          <a:bodyPr/>
          <a:lstStyle/>
          <a:p>
            <a:endParaRPr lang="es-AR"/>
          </a:p>
        </p:txBody>
      </p:sp>
      <p:sp>
        <p:nvSpPr>
          <p:cNvPr id="29" name="Text 27"/>
          <p:cNvSpPr/>
          <p:nvPr/>
        </p:nvSpPr>
        <p:spPr>
          <a:xfrm>
            <a:off x="3154680" y="2944368"/>
            <a:ext cx="2670048" cy="457200"/>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Activo: debe crear condiciones para que las libertades sean reales. Inversión pública en salud, educación.</a:t>
            </a:r>
            <a:endParaRPr lang="en-US" sz="950" dirty="0"/>
          </a:p>
        </p:txBody>
      </p:sp>
      <p:sp>
        <p:nvSpPr>
          <p:cNvPr id="30" name="Shape 28"/>
          <p:cNvSpPr/>
          <p:nvPr/>
        </p:nvSpPr>
        <p:spPr>
          <a:xfrm>
            <a:off x="5879592" y="2907792"/>
            <a:ext cx="0" cy="530352"/>
          </a:xfrm>
          <a:prstGeom prst="line">
            <a:avLst/>
          </a:prstGeom>
          <a:noFill/>
          <a:ln w="12700">
            <a:solidFill>
              <a:srgbClr val="CBD5E0"/>
            </a:solidFill>
            <a:prstDash val="solid"/>
          </a:ln>
        </p:spPr>
        <p:txBody>
          <a:bodyPr/>
          <a:lstStyle/>
          <a:p>
            <a:endParaRPr lang="es-AR"/>
          </a:p>
        </p:txBody>
      </p:sp>
      <p:sp>
        <p:nvSpPr>
          <p:cNvPr id="31" name="Text 29"/>
          <p:cNvSpPr/>
          <p:nvPr/>
        </p:nvSpPr>
        <p:spPr>
          <a:xfrm>
            <a:off x="5971032" y="2944368"/>
            <a:ext cx="2697480" cy="457200"/>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Mínimo: el Estado debe retirarse para que el mercado funcione sin distorsiones.</a:t>
            </a:r>
            <a:endParaRPr lang="en-US" sz="950" dirty="0"/>
          </a:p>
        </p:txBody>
      </p:sp>
      <p:sp>
        <p:nvSpPr>
          <p:cNvPr id="32" name="Shape 30"/>
          <p:cNvSpPr/>
          <p:nvPr/>
        </p:nvSpPr>
        <p:spPr>
          <a:xfrm>
            <a:off x="365760" y="3502152"/>
            <a:ext cx="8375904" cy="530352"/>
          </a:xfrm>
          <a:prstGeom prst="rect">
            <a:avLst/>
          </a:prstGeom>
          <a:solidFill>
            <a:srgbClr val="F7F9FC"/>
          </a:solidFill>
          <a:ln w="12700">
            <a:solidFill>
              <a:srgbClr val="CBD5E0"/>
            </a:solidFill>
            <a:prstDash val="solid"/>
          </a:ln>
        </p:spPr>
        <p:txBody>
          <a:bodyPr/>
          <a:lstStyle/>
          <a:p>
            <a:endParaRPr lang="es-AR"/>
          </a:p>
        </p:txBody>
      </p:sp>
      <p:sp>
        <p:nvSpPr>
          <p:cNvPr id="33" name="Text 31"/>
          <p:cNvSpPr/>
          <p:nvPr/>
        </p:nvSpPr>
        <p:spPr>
          <a:xfrm>
            <a:off x="457200" y="3538728"/>
            <a:ext cx="2542032" cy="457200"/>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¿Cómo se mide?</a:t>
            </a:r>
            <a:endParaRPr lang="en-US" sz="1000" dirty="0"/>
          </a:p>
        </p:txBody>
      </p:sp>
      <p:sp>
        <p:nvSpPr>
          <p:cNvPr id="34" name="Shape 32"/>
          <p:cNvSpPr/>
          <p:nvPr/>
        </p:nvSpPr>
        <p:spPr>
          <a:xfrm>
            <a:off x="3063240" y="3502152"/>
            <a:ext cx="0" cy="530352"/>
          </a:xfrm>
          <a:prstGeom prst="line">
            <a:avLst/>
          </a:prstGeom>
          <a:noFill/>
          <a:ln w="12700">
            <a:solidFill>
              <a:srgbClr val="CBD5E0"/>
            </a:solidFill>
            <a:prstDash val="solid"/>
          </a:ln>
        </p:spPr>
        <p:txBody>
          <a:bodyPr/>
          <a:lstStyle/>
          <a:p>
            <a:endParaRPr lang="es-AR"/>
          </a:p>
        </p:txBody>
      </p:sp>
      <p:sp>
        <p:nvSpPr>
          <p:cNvPr id="35" name="Text 33"/>
          <p:cNvSpPr/>
          <p:nvPr/>
        </p:nvSpPr>
        <p:spPr>
          <a:xfrm>
            <a:off x="3154680" y="3538728"/>
            <a:ext cx="2670048" cy="457200"/>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Capacidades reales. Funcionamientos logrados. IDH, NBI, pobreza multidimensional.</a:t>
            </a:r>
            <a:endParaRPr lang="en-US" sz="950" dirty="0"/>
          </a:p>
        </p:txBody>
      </p:sp>
      <p:sp>
        <p:nvSpPr>
          <p:cNvPr id="36" name="Shape 34"/>
          <p:cNvSpPr/>
          <p:nvPr/>
        </p:nvSpPr>
        <p:spPr>
          <a:xfrm>
            <a:off x="5879592" y="3502152"/>
            <a:ext cx="0" cy="530352"/>
          </a:xfrm>
          <a:prstGeom prst="line">
            <a:avLst/>
          </a:prstGeom>
          <a:noFill/>
          <a:ln w="12700">
            <a:solidFill>
              <a:srgbClr val="CBD5E0"/>
            </a:solidFill>
            <a:prstDash val="solid"/>
          </a:ln>
        </p:spPr>
        <p:txBody>
          <a:bodyPr/>
          <a:lstStyle/>
          <a:p>
            <a:endParaRPr lang="es-AR"/>
          </a:p>
        </p:txBody>
      </p:sp>
      <p:sp>
        <p:nvSpPr>
          <p:cNvPr id="37" name="Text 35"/>
          <p:cNvSpPr/>
          <p:nvPr/>
        </p:nvSpPr>
        <p:spPr>
          <a:xfrm>
            <a:off x="5971032" y="3538728"/>
            <a:ext cx="2697480" cy="457200"/>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Ingreso per cápita, PIB, crecimiento del mercado, precios relativos.</a:t>
            </a:r>
            <a:endParaRPr lang="en-US" sz="950" dirty="0"/>
          </a:p>
        </p:txBody>
      </p:sp>
      <p:sp>
        <p:nvSpPr>
          <p:cNvPr id="38" name="Shape 36"/>
          <p:cNvSpPr/>
          <p:nvPr/>
        </p:nvSpPr>
        <p:spPr>
          <a:xfrm>
            <a:off x="365760" y="4096512"/>
            <a:ext cx="8375904" cy="530352"/>
          </a:xfrm>
          <a:prstGeom prst="rect">
            <a:avLst/>
          </a:prstGeom>
          <a:solidFill>
            <a:srgbClr val="FFFFFF"/>
          </a:solidFill>
          <a:ln w="12700">
            <a:solidFill>
              <a:srgbClr val="CBD5E0"/>
            </a:solidFill>
            <a:prstDash val="solid"/>
          </a:ln>
        </p:spPr>
        <p:txBody>
          <a:bodyPr/>
          <a:lstStyle/>
          <a:p>
            <a:endParaRPr lang="es-AR"/>
          </a:p>
        </p:txBody>
      </p:sp>
      <p:sp>
        <p:nvSpPr>
          <p:cNvPr id="39" name="Text 37"/>
          <p:cNvSpPr/>
          <p:nvPr/>
        </p:nvSpPr>
        <p:spPr>
          <a:xfrm>
            <a:off x="457200" y="4133088"/>
            <a:ext cx="2542032" cy="457200"/>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Crítica del otro enfoque</a:t>
            </a:r>
            <a:endParaRPr lang="en-US" sz="1000" dirty="0"/>
          </a:p>
        </p:txBody>
      </p:sp>
      <p:sp>
        <p:nvSpPr>
          <p:cNvPr id="40" name="Shape 38"/>
          <p:cNvSpPr/>
          <p:nvPr/>
        </p:nvSpPr>
        <p:spPr>
          <a:xfrm>
            <a:off x="3063240" y="4096512"/>
            <a:ext cx="0" cy="530352"/>
          </a:xfrm>
          <a:prstGeom prst="line">
            <a:avLst/>
          </a:prstGeom>
          <a:noFill/>
          <a:ln w="12700">
            <a:solidFill>
              <a:srgbClr val="CBD5E0"/>
            </a:solidFill>
            <a:prstDash val="solid"/>
          </a:ln>
        </p:spPr>
        <p:txBody>
          <a:bodyPr/>
          <a:lstStyle/>
          <a:p>
            <a:endParaRPr lang="es-AR"/>
          </a:p>
        </p:txBody>
      </p:sp>
      <p:sp>
        <p:nvSpPr>
          <p:cNvPr id="41" name="Text 39"/>
          <p:cNvSpPr/>
          <p:nvPr/>
        </p:nvSpPr>
        <p:spPr>
          <a:xfrm>
            <a:off x="3154680" y="4133088"/>
            <a:ext cx="2670048" cy="457200"/>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El liberalismo confunde libertad formal con libertad real. Tener derecho no es lo mismo que poder ejercerlo.</a:t>
            </a:r>
            <a:endParaRPr lang="en-US" sz="950" dirty="0"/>
          </a:p>
        </p:txBody>
      </p:sp>
      <p:sp>
        <p:nvSpPr>
          <p:cNvPr id="42" name="Shape 40"/>
          <p:cNvSpPr/>
          <p:nvPr/>
        </p:nvSpPr>
        <p:spPr>
          <a:xfrm>
            <a:off x="5879592" y="4096512"/>
            <a:ext cx="0" cy="530352"/>
          </a:xfrm>
          <a:prstGeom prst="line">
            <a:avLst/>
          </a:prstGeom>
          <a:noFill/>
          <a:ln w="12700">
            <a:solidFill>
              <a:srgbClr val="CBD5E0"/>
            </a:solidFill>
            <a:prstDash val="solid"/>
          </a:ln>
        </p:spPr>
        <p:txBody>
          <a:bodyPr/>
          <a:lstStyle/>
          <a:p>
            <a:endParaRPr lang="es-AR"/>
          </a:p>
        </p:txBody>
      </p:sp>
      <p:sp>
        <p:nvSpPr>
          <p:cNvPr id="43" name="Text 41"/>
          <p:cNvSpPr/>
          <p:nvPr/>
        </p:nvSpPr>
        <p:spPr>
          <a:xfrm>
            <a:off x="5971032" y="4133088"/>
            <a:ext cx="2697480" cy="457200"/>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El desarrollo humano interviene en el mercado generando ineficiencias y distorsiones.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D4A853"/>
          </a:solidFill>
          <a:ln w="12700">
            <a:solidFill>
              <a:srgbClr val="D4A853"/>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El Enfoque de los Derechos Humanos</a:t>
            </a:r>
            <a:endParaRPr lang="en-US" sz="2800" dirty="0"/>
          </a:p>
        </p:txBody>
      </p:sp>
      <p:sp>
        <p:nvSpPr>
          <p:cNvPr id="5" name="Shape 3"/>
          <p:cNvSpPr/>
          <p:nvPr/>
        </p:nvSpPr>
        <p:spPr>
          <a:xfrm>
            <a:off x="457200" y="731520"/>
            <a:ext cx="36576" cy="201168"/>
          </a:xfrm>
          <a:prstGeom prst="rect">
            <a:avLst/>
          </a:prstGeom>
          <a:solidFill>
            <a:srgbClr val="D4A853"/>
          </a:solidFill>
          <a:ln w="12700">
            <a:solidFill>
              <a:srgbClr val="D4A853"/>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D4A853"/>
                </a:solidFill>
                <a:latin typeface="Calibri" pitchFamily="34" charset="0"/>
                <a:ea typeface="Calibri" pitchFamily="34" charset="-122"/>
                <a:cs typeface="Calibri" pitchFamily="34" charset="-120"/>
              </a:rPr>
              <a:t>U3.2 — DEFINICIÓN, PRINCIPIOS Y RELACIÓN CON CAPACIDADES</a:t>
            </a:r>
            <a:endParaRPr lang="en-US" sz="900" dirty="0"/>
          </a:p>
        </p:txBody>
      </p:sp>
      <p:sp>
        <p:nvSpPr>
          <p:cNvPr id="7" name="Shape 5"/>
          <p:cNvSpPr/>
          <p:nvPr/>
        </p:nvSpPr>
        <p:spPr>
          <a:xfrm>
            <a:off x="365760" y="1005840"/>
            <a:ext cx="8412480" cy="713232"/>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05840"/>
            <a:ext cx="54864" cy="713232"/>
          </a:xfrm>
          <a:prstGeom prst="rect">
            <a:avLst/>
          </a:prstGeom>
          <a:solidFill>
            <a:srgbClr val="2C5282"/>
          </a:solidFill>
          <a:ln w="12700">
            <a:solidFill>
              <a:srgbClr val="2C5282"/>
            </a:solidFill>
            <a:prstDash val="solid"/>
          </a:ln>
        </p:spPr>
        <p:txBody>
          <a:bodyPr/>
          <a:lstStyle/>
          <a:p>
            <a:endParaRPr lang="es-AR"/>
          </a:p>
        </p:txBody>
      </p:sp>
      <p:sp>
        <p:nvSpPr>
          <p:cNvPr id="9" name="Text 7"/>
          <p:cNvSpPr/>
          <p:nvPr/>
        </p:nvSpPr>
        <p:spPr>
          <a:xfrm>
            <a:off x="548640" y="1060704"/>
            <a:ext cx="8046720" cy="603504"/>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Todas las personas, por el solo hecho de ser humanas, tienen derechos fundamentales: educación, salud, trabajo, igualdad y no discriminación. El Estado tiene la obligación de garantizarlos. El objetivo es asegurar una vida digna.</a:t>
            </a:r>
            <a:endParaRPr lang="en-US" sz="1200" dirty="0"/>
          </a:p>
        </p:txBody>
      </p:sp>
      <p:sp>
        <p:nvSpPr>
          <p:cNvPr id="10" name="Text 8"/>
          <p:cNvSpPr/>
          <p:nvPr/>
        </p:nvSpPr>
        <p:spPr>
          <a:xfrm>
            <a:off x="457200" y="1828800"/>
            <a:ext cx="3657600" cy="274320"/>
          </a:xfrm>
          <a:prstGeom prst="rect">
            <a:avLst/>
          </a:prstGeom>
          <a:noFill/>
          <a:ln/>
        </p:spPr>
        <p:txBody>
          <a:bodyPr wrap="square" lIns="0" tIns="0" rIns="0" bIns="0"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Cinco principios clave:</a:t>
            </a:r>
            <a:endParaRPr lang="en-US" sz="1100" dirty="0"/>
          </a:p>
        </p:txBody>
      </p:sp>
      <p:sp>
        <p:nvSpPr>
          <p:cNvPr id="11" name="Shape 9"/>
          <p:cNvSpPr/>
          <p:nvPr/>
        </p:nvSpPr>
        <p:spPr>
          <a:xfrm>
            <a:off x="365760" y="2148840"/>
            <a:ext cx="1627632" cy="15544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2" name="Shape 10"/>
          <p:cNvSpPr/>
          <p:nvPr/>
        </p:nvSpPr>
        <p:spPr>
          <a:xfrm>
            <a:off x="365760" y="2148840"/>
            <a:ext cx="1627632" cy="54864"/>
          </a:xfrm>
          <a:prstGeom prst="rect">
            <a:avLst/>
          </a:prstGeom>
          <a:solidFill>
            <a:srgbClr val="2C5282"/>
          </a:solidFill>
          <a:ln w="12700">
            <a:solidFill>
              <a:srgbClr val="2C5282"/>
            </a:solidFill>
            <a:prstDash val="solid"/>
          </a:ln>
        </p:spPr>
        <p:txBody>
          <a:bodyPr/>
          <a:lstStyle/>
          <a:p>
            <a:endParaRPr lang="es-AR"/>
          </a:p>
        </p:txBody>
      </p:sp>
      <p:sp>
        <p:nvSpPr>
          <p:cNvPr id="13" name="Text 11"/>
          <p:cNvSpPr/>
          <p:nvPr/>
        </p:nvSpPr>
        <p:spPr>
          <a:xfrm>
            <a:off x="457200" y="2249424"/>
            <a:ext cx="411480" cy="41148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4" name="Text 12"/>
          <p:cNvSpPr/>
          <p:nvPr/>
        </p:nvSpPr>
        <p:spPr>
          <a:xfrm>
            <a:off x="457200" y="2706624"/>
            <a:ext cx="1444752" cy="274320"/>
          </a:xfrm>
          <a:prstGeom prst="rect">
            <a:avLst/>
          </a:prstGeom>
          <a:noFill/>
          <a:ln/>
        </p:spPr>
        <p:txBody>
          <a:bodyPr wrap="square" lIns="0" tIns="0" rIns="0" bIns="0" rtlCol="0" anchor="ctr"/>
          <a:lstStyle/>
          <a:p>
            <a:pPr marL="0" indent="0">
              <a:buNone/>
            </a:pPr>
            <a:r>
              <a:rPr lang="en-US" sz="1150" b="1" dirty="0">
                <a:solidFill>
                  <a:srgbClr val="2C5282"/>
                </a:solidFill>
                <a:latin typeface="Calibri" pitchFamily="34" charset="0"/>
                <a:ea typeface="Calibri" pitchFamily="34" charset="-122"/>
                <a:cs typeface="Calibri" pitchFamily="34" charset="-120"/>
              </a:rPr>
              <a:t>Universales</a:t>
            </a:r>
            <a:endParaRPr lang="en-US" sz="1150" dirty="0"/>
          </a:p>
        </p:txBody>
      </p:sp>
      <p:sp>
        <p:nvSpPr>
          <p:cNvPr id="15" name="Text 13"/>
          <p:cNvSpPr/>
          <p:nvPr/>
        </p:nvSpPr>
        <p:spPr>
          <a:xfrm>
            <a:off x="457200" y="3017520"/>
            <a:ext cx="1444752" cy="62179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Para todas las personas, sin excepción ni condición.</a:t>
            </a:r>
            <a:endParaRPr lang="en-US" sz="1000" dirty="0"/>
          </a:p>
        </p:txBody>
      </p:sp>
      <p:sp>
        <p:nvSpPr>
          <p:cNvPr id="16" name="Shape 14"/>
          <p:cNvSpPr/>
          <p:nvPr/>
        </p:nvSpPr>
        <p:spPr>
          <a:xfrm>
            <a:off x="2084832" y="2148840"/>
            <a:ext cx="1627632" cy="15544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17" name="Shape 15"/>
          <p:cNvSpPr/>
          <p:nvPr/>
        </p:nvSpPr>
        <p:spPr>
          <a:xfrm>
            <a:off x="2084832" y="2148840"/>
            <a:ext cx="1627632" cy="54864"/>
          </a:xfrm>
          <a:prstGeom prst="rect">
            <a:avLst/>
          </a:prstGeom>
          <a:solidFill>
            <a:srgbClr val="2C5282"/>
          </a:solidFill>
          <a:ln w="12700">
            <a:solidFill>
              <a:srgbClr val="2C5282"/>
            </a:solidFill>
            <a:prstDash val="solid"/>
          </a:ln>
        </p:spPr>
        <p:txBody>
          <a:bodyPr/>
          <a:lstStyle/>
          <a:p>
            <a:endParaRPr lang="es-AR"/>
          </a:p>
        </p:txBody>
      </p:sp>
      <p:sp>
        <p:nvSpPr>
          <p:cNvPr id="18" name="Text 16"/>
          <p:cNvSpPr/>
          <p:nvPr/>
        </p:nvSpPr>
        <p:spPr>
          <a:xfrm>
            <a:off x="2176272" y="2249424"/>
            <a:ext cx="411480" cy="41148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9" name="Text 17"/>
          <p:cNvSpPr/>
          <p:nvPr/>
        </p:nvSpPr>
        <p:spPr>
          <a:xfrm>
            <a:off x="2176272" y="2706624"/>
            <a:ext cx="1444752" cy="274320"/>
          </a:xfrm>
          <a:prstGeom prst="rect">
            <a:avLst/>
          </a:prstGeom>
          <a:noFill/>
          <a:ln/>
        </p:spPr>
        <p:txBody>
          <a:bodyPr wrap="square" lIns="0" tIns="0" rIns="0" bIns="0" rtlCol="0" anchor="ctr"/>
          <a:lstStyle/>
          <a:p>
            <a:pPr marL="0" indent="0">
              <a:buNone/>
            </a:pPr>
            <a:r>
              <a:rPr lang="en-US" sz="1150" b="1" dirty="0">
                <a:solidFill>
                  <a:srgbClr val="2C5282"/>
                </a:solidFill>
                <a:latin typeface="Calibri" pitchFamily="34" charset="0"/>
                <a:ea typeface="Calibri" pitchFamily="34" charset="-122"/>
                <a:cs typeface="Calibri" pitchFamily="34" charset="-120"/>
              </a:rPr>
              <a:t>Iguales</a:t>
            </a:r>
            <a:endParaRPr lang="en-US" sz="1150" dirty="0"/>
          </a:p>
        </p:txBody>
      </p:sp>
      <p:sp>
        <p:nvSpPr>
          <p:cNvPr id="20" name="Text 18"/>
          <p:cNvSpPr/>
          <p:nvPr/>
        </p:nvSpPr>
        <p:spPr>
          <a:xfrm>
            <a:off x="2176272" y="3017520"/>
            <a:ext cx="1444752" cy="62179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Sin discriminación de ningún tipo.</a:t>
            </a:r>
            <a:endParaRPr lang="en-US" sz="1000" dirty="0"/>
          </a:p>
        </p:txBody>
      </p:sp>
      <p:sp>
        <p:nvSpPr>
          <p:cNvPr id="21" name="Shape 19"/>
          <p:cNvSpPr/>
          <p:nvPr/>
        </p:nvSpPr>
        <p:spPr>
          <a:xfrm>
            <a:off x="3803904" y="2148840"/>
            <a:ext cx="1627632" cy="15544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2" name="Shape 20"/>
          <p:cNvSpPr/>
          <p:nvPr/>
        </p:nvSpPr>
        <p:spPr>
          <a:xfrm>
            <a:off x="3803904" y="2148840"/>
            <a:ext cx="1627632" cy="54864"/>
          </a:xfrm>
          <a:prstGeom prst="rect">
            <a:avLst/>
          </a:prstGeom>
          <a:solidFill>
            <a:srgbClr val="2C5282"/>
          </a:solidFill>
          <a:ln w="12700">
            <a:solidFill>
              <a:srgbClr val="2C5282"/>
            </a:solidFill>
            <a:prstDash val="solid"/>
          </a:ln>
        </p:spPr>
        <p:txBody>
          <a:bodyPr/>
          <a:lstStyle/>
          <a:p>
            <a:endParaRPr lang="es-AR"/>
          </a:p>
        </p:txBody>
      </p:sp>
      <p:sp>
        <p:nvSpPr>
          <p:cNvPr id="23" name="Text 21"/>
          <p:cNvSpPr/>
          <p:nvPr/>
        </p:nvSpPr>
        <p:spPr>
          <a:xfrm>
            <a:off x="3895344" y="2249424"/>
            <a:ext cx="411480" cy="41148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4" name="Text 22"/>
          <p:cNvSpPr/>
          <p:nvPr/>
        </p:nvSpPr>
        <p:spPr>
          <a:xfrm>
            <a:off x="3895344" y="2706624"/>
            <a:ext cx="1444752" cy="274320"/>
          </a:xfrm>
          <a:prstGeom prst="rect">
            <a:avLst/>
          </a:prstGeom>
          <a:noFill/>
          <a:ln/>
        </p:spPr>
        <p:txBody>
          <a:bodyPr wrap="square" lIns="0" tIns="0" rIns="0" bIns="0" rtlCol="0" anchor="ctr"/>
          <a:lstStyle/>
          <a:p>
            <a:pPr marL="0" indent="0">
              <a:buNone/>
            </a:pPr>
            <a:r>
              <a:rPr lang="en-US" sz="1150" b="1" dirty="0">
                <a:solidFill>
                  <a:srgbClr val="2C5282"/>
                </a:solidFill>
                <a:latin typeface="Calibri" pitchFamily="34" charset="0"/>
                <a:ea typeface="Calibri" pitchFamily="34" charset="-122"/>
                <a:cs typeface="Calibri" pitchFamily="34" charset="-120"/>
              </a:rPr>
              <a:t>Inalienables</a:t>
            </a:r>
            <a:endParaRPr lang="en-US" sz="1150" dirty="0"/>
          </a:p>
        </p:txBody>
      </p:sp>
      <p:sp>
        <p:nvSpPr>
          <p:cNvPr id="25" name="Text 23"/>
          <p:cNvSpPr/>
          <p:nvPr/>
        </p:nvSpPr>
        <p:spPr>
          <a:xfrm>
            <a:off x="3895344" y="3017520"/>
            <a:ext cx="1444752" cy="62179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No pueden quitarse ni renunciarse.</a:t>
            </a:r>
            <a:endParaRPr lang="en-US" sz="1000" dirty="0"/>
          </a:p>
        </p:txBody>
      </p:sp>
      <p:sp>
        <p:nvSpPr>
          <p:cNvPr id="26" name="Shape 24"/>
          <p:cNvSpPr/>
          <p:nvPr/>
        </p:nvSpPr>
        <p:spPr>
          <a:xfrm>
            <a:off x="5522976" y="2148840"/>
            <a:ext cx="1627632" cy="15544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27" name="Shape 25"/>
          <p:cNvSpPr/>
          <p:nvPr/>
        </p:nvSpPr>
        <p:spPr>
          <a:xfrm>
            <a:off x="5522976" y="2148840"/>
            <a:ext cx="1627632" cy="54864"/>
          </a:xfrm>
          <a:prstGeom prst="rect">
            <a:avLst/>
          </a:prstGeom>
          <a:solidFill>
            <a:srgbClr val="2C5282"/>
          </a:solidFill>
          <a:ln w="12700">
            <a:solidFill>
              <a:srgbClr val="2C5282"/>
            </a:solidFill>
            <a:prstDash val="solid"/>
          </a:ln>
        </p:spPr>
        <p:txBody>
          <a:bodyPr/>
          <a:lstStyle/>
          <a:p>
            <a:endParaRPr lang="es-AR"/>
          </a:p>
        </p:txBody>
      </p:sp>
      <p:sp>
        <p:nvSpPr>
          <p:cNvPr id="28" name="Text 26"/>
          <p:cNvSpPr/>
          <p:nvPr/>
        </p:nvSpPr>
        <p:spPr>
          <a:xfrm>
            <a:off x="5614416" y="2249424"/>
            <a:ext cx="411480" cy="41148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9" name="Text 27"/>
          <p:cNvSpPr/>
          <p:nvPr/>
        </p:nvSpPr>
        <p:spPr>
          <a:xfrm>
            <a:off x="5614416" y="2706624"/>
            <a:ext cx="1444752" cy="274320"/>
          </a:xfrm>
          <a:prstGeom prst="rect">
            <a:avLst/>
          </a:prstGeom>
          <a:noFill/>
          <a:ln/>
        </p:spPr>
        <p:txBody>
          <a:bodyPr wrap="square" lIns="0" tIns="0" rIns="0" bIns="0" rtlCol="0" anchor="ctr"/>
          <a:lstStyle/>
          <a:p>
            <a:pPr marL="0" indent="0">
              <a:buNone/>
            </a:pPr>
            <a:r>
              <a:rPr lang="en-US" sz="1150" b="1" dirty="0">
                <a:solidFill>
                  <a:srgbClr val="2C5282"/>
                </a:solidFill>
                <a:latin typeface="Calibri" pitchFamily="34" charset="0"/>
                <a:ea typeface="Calibri" pitchFamily="34" charset="-122"/>
                <a:cs typeface="Calibri" pitchFamily="34" charset="-120"/>
              </a:rPr>
              <a:t>Indivisibles</a:t>
            </a:r>
            <a:endParaRPr lang="en-US" sz="1150" dirty="0"/>
          </a:p>
        </p:txBody>
      </p:sp>
      <p:sp>
        <p:nvSpPr>
          <p:cNvPr id="30" name="Text 28"/>
          <p:cNvSpPr/>
          <p:nvPr/>
        </p:nvSpPr>
        <p:spPr>
          <a:xfrm>
            <a:off x="5614416" y="3017520"/>
            <a:ext cx="1444752" cy="62179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Todos son igualmente importantes, no hay jerarquía.</a:t>
            </a:r>
            <a:endParaRPr lang="en-US" sz="1000" dirty="0"/>
          </a:p>
        </p:txBody>
      </p:sp>
      <p:sp>
        <p:nvSpPr>
          <p:cNvPr id="31" name="Shape 29"/>
          <p:cNvSpPr/>
          <p:nvPr/>
        </p:nvSpPr>
        <p:spPr>
          <a:xfrm>
            <a:off x="7242048" y="2148840"/>
            <a:ext cx="1627632" cy="1554480"/>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32" name="Shape 30"/>
          <p:cNvSpPr/>
          <p:nvPr/>
        </p:nvSpPr>
        <p:spPr>
          <a:xfrm>
            <a:off x="7242048" y="2148840"/>
            <a:ext cx="1627632" cy="54864"/>
          </a:xfrm>
          <a:prstGeom prst="rect">
            <a:avLst/>
          </a:prstGeom>
          <a:solidFill>
            <a:srgbClr val="2C5282"/>
          </a:solidFill>
          <a:ln w="12700">
            <a:solidFill>
              <a:srgbClr val="2C5282"/>
            </a:solidFill>
            <a:prstDash val="solid"/>
          </a:ln>
        </p:spPr>
        <p:txBody>
          <a:bodyPr/>
          <a:lstStyle/>
          <a:p>
            <a:endParaRPr lang="es-AR"/>
          </a:p>
        </p:txBody>
      </p:sp>
      <p:sp>
        <p:nvSpPr>
          <p:cNvPr id="33" name="Text 31"/>
          <p:cNvSpPr/>
          <p:nvPr/>
        </p:nvSpPr>
        <p:spPr>
          <a:xfrm>
            <a:off x="7333488" y="2249424"/>
            <a:ext cx="411480" cy="41148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34" name="Text 32"/>
          <p:cNvSpPr/>
          <p:nvPr/>
        </p:nvSpPr>
        <p:spPr>
          <a:xfrm>
            <a:off x="7333488" y="2706624"/>
            <a:ext cx="1444752" cy="274320"/>
          </a:xfrm>
          <a:prstGeom prst="rect">
            <a:avLst/>
          </a:prstGeom>
          <a:noFill/>
          <a:ln/>
        </p:spPr>
        <p:txBody>
          <a:bodyPr wrap="square" lIns="0" tIns="0" rIns="0" bIns="0" rtlCol="0" anchor="ctr"/>
          <a:lstStyle/>
          <a:p>
            <a:pPr marL="0" indent="0">
              <a:buNone/>
            </a:pPr>
            <a:r>
              <a:rPr lang="en-US" sz="1150" b="1" dirty="0">
                <a:solidFill>
                  <a:srgbClr val="2C5282"/>
                </a:solidFill>
                <a:latin typeface="Calibri" pitchFamily="34" charset="0"/>
                <a:ea typeface="Calibri" pitchFamily="34" charset="-122"/>
                <a:cs typeface="Calibri" pitchFamily="34" charset="-120"/>
              </a:rPr>
              <a:t>Interdependientes</a:t>
            </a:r>
            <a:endParaRPr lang="en-US" sz="1150" dirty="0"/>
          </a:p>
        </p:txBody>
      </p:sp>
      <p:sp>
        <p:nvSpPr>
          <p:cNvPr id="35" name="Text 33"/>
          <p:cNvSpPr/>
          <p:nvPr/>
        </p:nvSpPr>
        <p:spPr>
          <a:xfrm>
            <a:off x="7333488" y="3017520"/>
            <a:ext cx="1444752" cy="62179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Están relacionados entre sí: salud afecta la educación, etc.</a:t>
            </a:r>
            <a:endParaRPr lang="en-US" sz="1000" dirty="0"/>
          </a:p>
        </p:txBody>
      </p:sp>
      <p:sp>
        <p:nvSpPr>
          <p:cNvPr id="36" name="Shape 34"/>
          <p:cNvSpPr/>
          <p:nvPr/>
        </p:nvSpPr>
        <p:spPr>
          <a:xfrm>
            <a:off x="365760" y="3785616"/>
            <a:ext cx="8412480" cy="987552"/>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37" name="Shape 35"/>
          <p:cNvSpPr/>
          <p:nvPr/>
        </p:nvSpPr>
        <p:spPr>
          <a:xfrm>
            <a:off x="365760" y="3785616"/>
            <a:ext cx="8412480" cy="329184"/>
          </a:xfrm>
          <a:prstGeom prst="rect">
            <a:avLst/>
          </a:prstGeom>
          <a:solidFill>
            <a:srgbClr val="2E8B74"/>
          </a:solidFill>
          <a:ln w="12700">
            <a:solidFill>
              <a:srgbClr val="2E8B74"/>
            </a:solidFill>
            <a:prstDash val="solid"/>
          </a:ln>
        </p:spPr>
        <p:txBody>
          <a:bodyPr/>
          <a:lstStyle/>
          <a:p>
            <a:endParaRPr lang="es-AR"/>
          </a:p>
        </p:txBody>
      </p:sp>
      <p:sp>
        <p:nvSpPr>
          <p:cNvPr id="38" name="Text 36"/>
          <p:cNvSpPr/>
          <p:nvPr/>
        </p:nvSpPr>
        <p:spPr>
          <a:xfrm>
            <a:off x="502920" y="3813048"/>
            <a:ext cx="81381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Objetivo compartido con el Enfoque de Capacidades</a:t>
            </a:r>
            <a:endParaRPr lang="en-US" sz="1200" dirty="0"/>
          </a:p>
        </p:txBody>
      </p:sp>
      <p:sp>
        <p:nvSpPr>
          <p:cNvPr id="39" name="Text 37"/>
          <p:cNvSpPr/>
          <p:nvPr/>
        </p:nvSpPr>
        <p:spPr>
          <a:xfrm>
            <a:off x="502920" y="4169664"/>
            <a:ext cx="8138160" cy="530352"/>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Ambos buscan promover la libertad, el bienestar y la dignidad de todas las personas, colocando a los individuos como el centro del desarrollo. Las personas son fines, no medios.</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C0533A"/>
          </a:solidFill>
          <a:ln w="12700">
            <a:solidFill>
              <a:srgbClr val="C0533A"/>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Capacidades vs. Derechos Humanos</a:t>
            </a:r>
            <a:endParaRPr lang="en-US" sz="2800" dirty="0"/>
          </a:p>
        </p:txBody>
      </p:sp>
      <p:sp>
        <p:nvSpPr>
          <p:cNvPr id="5" name="Shape 3"/>
          <p:cNvSpPr/>
          <p:nvPr/>
        </p:nvSpPr>
        <p:spPr>
          <a:xfrm>
            <a:off x="457200" y="731520"/>
            <a:ext cx="36576" cy="201168"/>
          </a:xfrm>
          <a:prstGeom prst="rect">
            <a:avLst/>
          </a:prstGeom>
          <a:solidFill>
            <a:srgbClr val="C0533A"/>
          </a:solidFill>
          <a:ln w="12700">
            <a:solidFill>
              <a:srgbClr val="C0533A"/>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C0533A"/>
                </a:solidFill>
                <a:latin typeface="Calibri" pitchFamily="34" charset="0"/>
                <a:ea typeface="Calibri" pitchFamily="34" charset="-122"/>
                <a:cs typeface="Calibri" pitchFamily="34" charset="-120"/>
              </a:rPr>
              <a:t>U3.2 — SIMILITUDES Y DIFERENCIAS CLAVE</a:t>
            </a:r>
            <a:endParaRPr lang="en-US" sz="900" dirty="0"/>
          </a:p>
        </p:txBody>
      </p:sp>
      <p:sp>
        <p:nvSpPr>
          <p:cNvPr id="7" name="Shape 5"/>
          <p:cNvSpPr/>
          <p:nvPr/>
        </p:nvSpPr>
        <p:spPr>
          <a:xfrm>
            <a:off x="365760" y="1024128"/>
            <a:ext cx="8412480" cy="658368"/>
          </a:xfrm>
          <a:prstGeom prst="rect">
            <a:avLst/>
          </a:prstGeom>
          <a:solidFill>
            <a:srgbClr val="FFFFFF"/>
          </a:solidFill>
          <a:ln w="12700">
            <a:solidFill>
              <a:srgbClr val="CBD5E0"/>
            </a:solidFill>
            <a:prstDash val="solid"/>
          </a:ln>
          <a:effectLst>
            <a:outerShdw blurRad="101600" dist="38100" dir="8100000" algn="bl" rotWithShape="0">
              <a:srgbClr val="000000">
                <a:alpha val="10000"/>
              </a:srgbClr>
            </a:outerShdw>
          </a:effectLst>
        </p:spPr>
        <p:txBody>
          <a:bodyPr/>
          <a:lstStyle/>
          <a:p>
            <a:endParaRPr lang="es-AR"/>
          </a:p>
        </p:txBody>
      </p:sp>
      <p:sp>
        <p:nvSpPr>
          <p:cNvPr id="8" name="Shape 6"/>
          <p:cNvSpPr/>
          <p:nvPr/>
        </p:nvSpPr>
        <p:spPr>
          <a:xfrm>
            <a:off x="365760" y="1024128"/>
            <a:ext cx="8412480" cy="329184"/>
          </a:xfrm>
          <a:prstGeom prst="rect">
            <a:avLst/>
          </a:prstGeom>
          <a:solidFill>
            <a:srgbClr val="2E8B74"/>
          </a:solidFill>
          <a:ln w="12700">
            <a:solidFill>
              <a:srgbClr val="2E8B74"/>
            </a:solidFill>
            <a:prstDash val="solid"/>
          </a:ln>
        </p:spPr>
        <p:txBody>
          <a:bodyPr/>
          <a:lstStyle/>
          <a:p>
            <a:endParaRPr lang="es-AR"/>
          </a:p>
        </p:txBody>
      </p:sp>
      <p:sp>
        <p:nvSpPr>
          <p:cNvPr id="9" name="Text 7"/>
          <p:cNvSpPr/>
          <p:nvPr/>
        </p:nvSpPr>
        <p:spPr>
          <a:xfrm>
            <a:off x="502920" y="1051560"/>
            <a:ext cx="813816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COMPARTEN: Las personas son el centro. Deben ser tratadas como fines. Buscan dignidad, libertad y bienestar.</a:t>
            </a:r>
            <a:endParaRPr lang="en-US" sz="1150" dirty="0"/>
          </a:p>
        </p:txBody>
      </p:sp>
      <p:sp>
        <p:nvSpPr>
          <p:cNvPr id="10" name="Text 8"/>
          <p:cNvSpPr/>
          <p:nvPr/>
        </p:nvSpPr>
        <p:spPr>
          <a:xfrm>
            <a:off x="502920" y="1389888"/>
            <a:ext cx="8138160" cy="25603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Ambos se orientan a promover la libertad humana y rechazan que las personas sean consideradas solo como medios para el crecimiento económico.</a:t>
            </a:r>
            <a:endParaRPr lang="en-US" sz="1050" dirty="0"/>
          </a:p>
        </p:txBody>
      </p:sp>
      <p:sp>
        <p:nvSpPr>
          <p:cNvPr id="11" name="Shape 9"/>
          <p:cNvSpPr/>
          <p:nvPr/>
        </p:nvSpPr>
        <p:spPr>
          <a:xfrm>
            <a:off x="365760" y="1755648"/>
            <a:ext cx="2651760" cy="292608"/>
          </a:xfrm>
          <a:prstGeom prst="rect">
            <a:avLst/>
          </a:prstGeom>
          <a:solidFill>
            <a:srgbClr val="1B2A3B"/>
          </a:solidFill>
          <a:ln w="12700">
            <a:solidFill>
              <a:srgbClr val="1B2A3B"/>
            </a:solidFill>
            <a:prstDash val="solid"/>
          </a:ln>
        </p:spPr>
        <p:txBody>
          <a:bodyPr/>
          <a:lstStyle/>
          <a:p>
            <a:endParaRPr lang="es-AR"/>
          </a:p>
        </p:txBody>
      </p:sp>
      <p:sp>
        <p:nvSpPr>
          <p:cNvPr id="12" name="Shape 10"/>
          <p:cNvSpPr/>
          <p:nvPr/>
        </p:nvSpPr>
        <p:spPr>
          <a:xfrm>
            <a:off x="3090672" y="1755648"/>
            <a:ext cx="2788920" cy="292608"/>
          </a:xfrm>
          <a:prstGeom prst="rect">
            <a:avLst/>
          </a:prstGeom>
          <a:solidFill>
            <a:srgbClr val="7B5EA7"/>
          </a:solidFill>
          <a:ln w="12700">
            <a:solidFill>
              <a:srgbClr val="7B5EA7"/>
            </a:solidFill>
            <a:prstDash val="solid"/>
          </a:ln>
        </p:spPr>
        <p:txBody>
          <a:bodyPr/>
          <a:lstStyle/>
          <a:p>
            <a:endParaRPr lang="es-AR"/>
          </a:p>
        </p:txBody>
      </p:sp>
      <p:sp>
        <p:nvSpPr>
          <p:cNvPr id="13" name="Shape 11"/>
          <p:cNvSpPr/>
          <p:nvPr/>
        </p:nvSpPr>
        <p:spPr>
          <a:xfrm>
            <a:off x="5952744" y="1755648"/>
            <a:ext cx="2788920" cy="292608"/>
          </a:xfrm>
          <a:prstGeom prst="rect">
            <a:avLst/>
          </a:prstGeom>
          <a:solidFill>
            <a:srgbClr val="2C5282"/>
          </a:solidFill>
          <a:ln w="12700">
            <a:solidFill>
              <a:srgbClr val="2C5282"/>
            </a:solidFill>
            <a:prstDash val="solid"/>
          </a:ln>
        </p:spPr>
        <p:txBody>
          <a:bodyPr/>
          <a:lstStyle/>
          <a:p>
            <a:endParaRPr lang="es-AR"/>
          </a:p>
        </p:txBody>
      </p:sp>
      <p:sp>
        <p:nvSpPr>
          <p:cNvPr id="14" name="Text 12"/>
          <p:cNvSpPr/>
          <p:nvPr/>
        </p:nvSpPr>
        <p:spPr>
          <a:xfrm>
            <a:off x="457200" y="1773936"/>
            <a:ext cx="2468880"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DIMENSIÓN</a:t>
            </a:r>
            <a:endParaRPr lang="en-US" sz="1000" dirty="0"/>
          </a:p>
        </p:txBody>
      </p:sp>
      <p:sp>
        <p:nvSpPr>
          <p:cNvPr id="15" name="Text 13"/>
          <p:cNvSpPr/>
          <p:nvPr/>
        </p:nvSpPr>
        <p:spPr>
          <a:xfrm>
            <a:off x="3182112" y="1773936"/>
            <a:ext cx="2606040"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CAPACIDADES (Sen)</a:t>
            </a:r>
            <a:endParaRPr lang="en-US" sz="1000" dirty="0"/>
          </a:p>
        </p:txBody>
      </p:sp>
      <p:sp>
        <p:nvSpPr>
          <p:cNvPr id="16" name="Text 14"/>
          <p:cNvSpPr/>
          <p:nvPr/>
        </p:nvSpPr>
        <p:spPr>
          <a:xfrm>
            <a:off x="6044184" y="1773936"/>
            <a:ext cx="2606040"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DERECHOS HUMANOS</a:t>
            </a:r>
            <a:endParaRPr lang="en-US" sz="1000" dirty="0"/>
          </a:p>
        </p:txBody>
      </p:sp>
      <p:sp>
        <p:nvSpPr>
          <p:cNvPr id="17" name="Shape 15"/>
          <p:cNvSpPr/>
          <p:nvPr/>
        </p:nvSpPr>
        <p:spPr>
          <a:xfrm>
            <a:off x="365760" y="2084832"/>
            <a:ext cx="8375904" cy="512064"/>
          </a:xfrm>
          <a:prstGeom prst="rect">
            <a:avLst/>
          </a:prstGeom>
          <a:solidFill>
            <a:srgbClr val="FFFFFF"/>
          </a:solidFill>
          <a:ln w="12700">
            <a:solidFill>
              <a:srgbClr val="CBD5E0"/>
            </a:solidFill>
            <a:prstDash val="solid"/>
          </a:ln>
        </p:spPr>
        <p:txBody>
          <a:bodyPr/>
          <a:lstStyle/>
          <a:p>
            <a:endParaRPr lang="es-AR"/>
          </a:p>
        </p:txBody>
      </p:sp>
      <p:sp>
        <p:nvSpPr>
          <p:cNvPr id="18" name="Text 16"/>
          <p:cNvSpPr/>
          <p:nvPr/>
        </p:nvSpPr>
        <p:spPr>
          <a:xfrm>
            <a:off x="457200" y="2121408"/>
            <a:ext cx="2542032" cy="438912"/>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Tipo de normas</a:t>
            </a:r>
            <a:endParaRPr lang="en-US" sz="1000" dirty="0"/>
          </a:p>
        </p:txBody>
      </p:sp>
      <p:sp>
        <p:nvSpPr>
          <p:cNvPr id="19" name="Shape 17"/>
          <p:cNvSpPr/>
          <p:nvPr/>
        </p:nvSpPr>
        <p:spPr>
          <a:xfrm>
            <a:off x="3063240" y="2084832"/>
            <a:ext cx="0" cy="512064"/>
          </a:xfrm>
          <a:prstGeom prst="line">
            <a:avLst/>
          </a:prstGeom>
          <a:noFill/>
          <a:ln w="12700">
            <a:solidFill>
              <a:srgbClr val="CBD5E0"/>
            </a:solidFill>
            <a:prstDash val="solid"/>
          </a:ln>
        </p:spPr>
        <p:txBody>
          <a:bodyPr/>
          <a:lstStyle/>
          <a:p>
            <a:endParaRPr lang="es-AR"/>
          </a:p>
        </p:txBody>
      </p:sp>
      <p:sp>
        <p:nvSpPr>
          <p:cNvPr id="20" name="Text 18"/>
          <p:cNvSpPr/>
          <p:nvPr/>
        </p:nvSpPr>
        <p:spPr>
          <a:xfrm>
            <a:off x="3154680" y="2121408"/>
            <a:ext cx="2715768" cy="438912"/>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Flexible y contextual: qué capacidades son importantes depende de cada sociedad y se define en debate social.</a:t>
            </a:r>
            <a:endParaRPr lang="en-US" sz="950" dirty="0"/>
          </a:p>
        </p:txBody>
      </p:sp>
      <p:sp>
        <p:nvSpPr>
          <p:cNvPr id="21" name="Shape 19"/>
          <p:cNvSpPr/>
          <p:nvPr/>
        </p:nvSpPr>
        <p:spPr>
          <a:xfrm>
            <a:off x="5925312" y="2084832"/>
            <a:ext cx="0" cy="512064"/>
          </a:xfrm>
          <a:prstGeom prst="line">
            <a:avLst/>
          </a:prstGeom>
          <a:noFill/>
          <a:ln w="12700">
            <a:solidFill>
              <a:srgbClr val="CBD5E0"/>
            </a:solidFill>
            <a:prstDash val="solid"/>
          </a:ln>
        </p:spPr>
        <p:txBody>
          <a:bodyPr/>
          <a:lstStyle/>
          <a:p>
            <a:endParaRPr lang="es-AR"/>
          </a:p>
        </p:txBody>
      </p:sp>
      <p:sp>
        <p:nvSpPr>
          <p:cNvPr id="22" name="Text 20"/>
          <p:cNvSpPr/>
          <p:nvPr/>
        </p:nvSpPr>
        <p:spPr>
          <a:xfrm>
            <a:off x="6016752" y="2121408"/>
            <a:ext cx="2651760" cy="438912"/>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Universales y fijas: los derechos son iguales para todos, no negociables según el contexto.</a:t>
            </a:r>
            <a:endParaRPr lang="en-US" sz="950" dirty="0"/>
          </a:p>
        </p:txBody>
      </p:sp>
      <p:sp>
        <p:nvSpPr>
          <p:cNvPr id="23" name="Shape 21"/>
          <p:cNvSpPr/>
          <p:nvPr/>
        </p:nvSpPr>
        <p:spPr>
          <a:xfrm>
            <a:off x="365760" y="2651760"/>
            <a:ext cx="8375904" cy="512064"/>
          </a:xfrm>
          <a:prstGeom prst="rect">
            <a:avLst/>
          </a:prstGeom>
          <a:solidFill>
            <a:srgbClr val="F7F9FC"/>
          </a:solidFill>
          <a:ln w="12700">
            <a:solidFill>
              <a:srgbClr val="CBD5E0"/>
            </a:solidFill>
            <a:prstDash val="solid"/>
          </a:ln>
        </p:spPr>
        <p:txBody>
          <a:bodyPr/>
          <a:lstStyle/>
          <a:p>
            <a:endParaRPr lang="es-AR"/>
          </a:p>
        </p:txBody>
      </p:sp>
      <p:sp>
        <p:nvSpPr>
          <p:cNvPr id="24" name="Text 22"/>
          <p:cNvSpPr/>
          <p:nvPr/>
        </p:nvSpPr>
        <p:spPr>
          <a:xfrm>
            <a:off x="457200" y="2688336"/>
            <a:ext cx="2542032" cy="438912"/>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¿Quién las define?</a:t>
            </a:r>
            <a:endParaRPr lang="en-US" sz="1000" dirty="0"/>
          </a:p>
        </p:txBody>
      </p:sp>
      <p:sp>
        <p:nvSpPr>
          <p:cNvPr id="25" name="Shape 23"/>
          <p:cNvSpPr/>
          <p:nvPr/>
        </p:nvSpPr>
        <p:spPr>
          <a:xfrm>
            <a:off x="3063240" y="2651760"/>
            <a:ext cx="0" cy="512064"/>
          </a:xfrm>
          <a:prstGeom prst="line">
            <a:avLst/>
          </a:prstGeom>
          <a:noFill/>
          <a:ln w="12700">
            <a:solidFill>
              <a:srgbClr val="CBD5E0"/>
            </a:solidFill>
            <a:prstDash val="solid"/>
          </a:ln>
        </p:spPr>
        <p:txBody>
          <a:bodyPr/>
          <a:lstStyle/>
          <a:p>
            <a:endParaRPr lang="es-AR"/>
          </a:p>
        </p:txBody>
      </p:sp>
      <p:sp>
        <p:nvSpPr>
          <p:cNvPr id="26" name="Text 24"/>
          <p:cNvSpPr/>
          <p:nvPr/>
        </p:nvSpPr>
        <p:spPr>
          <a:xfrm>
            <a:off x="3154680" y="2688336"/>
            <a:ext cx="2715768" cy="438912"/>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La comunidad a través de procesos deliberativos (Sen) o la filosofía política (Nussbaum).</a:t>
            </a:r>
            <a:endParaRPr lang="en-US" sz="950" dirty="0"/>
          </a:p>
        </p:txBody>
      </p:sp>
      <p:sp>
        <p:nvSpPr>
          <p:cNvPr id="27" name="Shape 25"/>
          <p:cNvSpPr/>
          <p:nvPr/>
        </p:nvSpPr>
        <p:spPr>
          <a:xfrm>
            <a:off x="5925312" y="2651760"/>
            <a:ext cx="0" cy="512064"/>
          </a:xfrm>
          <a:prstGeom prst="line">
            <a:avLst/>
          </a:prstGeom>
          <a:noFill/>
          <a:ln w="12700">
            <a:solidFill>
              <a:srgbClr val="CBD5E0"/>
            </a:solidFill>
            <a:prstDash val="solid"/>
          </a:ln>
        </p:spPr>
        <p:txBody>
          <a:bodyPr/>
          <a:lstStyle/>
          <a:p>
            <a:endParaRPr lang="es-AR"/>
          </a:p>
        </p:txBody>
      </p:sp>
      <p:sp>
        <p:nvSpPr>
          <p:cNvPr id="28" name="Text 26"/>
          <p:cNvSpPr/>
          <p:nvPr/>
        </p:nvSpPr>
        <p:spPr>
          <a:xfrm>
            <a:off x="6016752" y="2688336"/>
            <a:ext cx="2651760" cy="438912"/>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Las normas del derecho internacional. Convenciones, tratados, constituciones nacionales.</a:t>
            </a:r>
            <a:endParaRPr lang="en-US" sz="950" dirty="0"/>
          </a:p>
        </p:txBody>
      </p:sp>
      <p:sp>
        <p:nvSpPr>
          <p:cNvPr id="29" name="Shape 27"/>
          <p:cNvSpPr/>
          <p:nvPr/>
        </p:nvSpPr>
        <p:spPr>
          <a:xfrm>
            <a:off x="365760" y="3218688"/>
            <a:ext cx="8375904" cy="512064"/>
          </a:xfrm>
          <a:prstGeom prst="rect">
            <a:avLst/>
          </a:prstGeom>
          <a:solidFill>
            <a:srgbClr val="FFFFFF"/>
          </a:solidFill>
          <a:ln w="12700">
            <a:solidFill>
              <a:srgbClr val="CBD5E0"/>
            </a:solidFill>
            <a:prstDash val="solid"/>
          </a:ln>
        </p:spPr>
        <p:txBody>
          <a:bodyPr/>
          <a:lstStyle/>
          <a:p>
            <a:endParaRPr lang="es-AR"/>
          </a:p>
        </p:txBody>
      </p:sp>
      <p:sp>
        <p:nvSpPr>
          <p:cNvPr id="30" name="Text 28"/>
          <p:cNvSpPr/>
          <p:nvPr/>
        </p:nvSpPr>
        <p:spPr>
          <a:xfrm>
            <a:off x="457200" y="3255264"/>
            <a:ext cx="2542032" cy="438912"/>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¿Quién garantiza?</a:t>
            </a:r>
            <a:endParaRPr lang="en-US" sz="1000" dirty="0"/>
          </a:p>
        </p:txBody>
      </p:sp>
      <p:sp>
        <p:nvSpPr>
          <p:cNvPr id="31" name="Shape 29"/>
          <p:cNvSpPr/>
          <p:nvPr/>
        </p:nvSpPr>
        <p:spPr>
          <a:xfrm>
            <a:off x="3063240" y="3218688"/>
            <a:ext cx="0" cy="512064"/>
          </a:xfrm>
          <a:prstGeom prst="line">
            <a:avLst/>
          </a:prstGeom>
          <a:noFill/>
          <a:ln w="12700">
            <a:solidFill>
              <a:srgbClr val="CBD5E0"/>
            </a:solidFill>
            <a:prstDash val="solid"/>
          </a:ln>
        </p:spPr>
        <p:txBody>
          <a:bodyPr/>
          <a:lstStyle/>
          <a:p>
            <a:endParaRPr lang="es-AR"/>
          </a:p>
        </p:txBody>
      </p:sp>
      <p:sp>
        <p:nvSpPr>
          <p:cNvPr id="32" name="Text 30"/>
          <p:cNvSpPr/>
          <p:nvPr/>
        </p:nvSpPr>
        <p:spPr>
          <a:xfrm>
            <a:off x="3154680" y="3255264"/>
            <a:ext cx="2715768" cy="438912"/>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El Estado y las condiciones sociales. Las capacidades requieren contexto favorable, no solo ley.</a:t>
            </a:r>
            <a:endParaRPr lang="en-US" sz="950" dirty="0"/>
          </a:p>
        </p:txBody>
      </p:sp>
      <p:sp>
        <p:nvSpPr>
          <p:cNvPr id="33" name="Shape 31"/>
          <p:cNvSpPr/>
          <p:nvPr/>
        </p:nvSpPr>
        <p:spPr>
          <a:xfrm>
            <a:off x="5925312" y="3218688"/>
            <a:ext cx="0" cy="512064"/>
          </a:xfrm>
          <a:prstGeom prst="line">
            <a:avLst/>
          </a:prstGeom>
          <a:noFill/>
          <a:ln w="12700">
            <a:solidFill>
              <a:srgbClr val="CBD5E0"/>
            </a:solidFill>
            <a:prstDash val="solid"/>
          </a:ln>
        </p:spPr>
        <p:txBody>
          <a:bodyPr/>
          <a:lstStyle/>
          <a:p>
            <a:endParaRPr lang="es-AR"/>
          </a:p>
        </p:txBody>
      </p:sp>
      <p:sp>
        <p:nvSpPr>
          <p:cNvPr id="34" name="Text 32"/>
          <p:cNvSpPr/>
          <p:nvPr/>
        </p:nvSpPr>
        <p:spPr>
          <a:xfrm>
            <a:off x="6016752" y="3255264"/>
            <a:ext cx="2651760" cy="438912"/>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Los Estados son los obligados a garantizar los derechos humanos.</a:t>
            </a:r>
            <a:endParaRPr lang="en-US" sz="950" dirty="0"/>
          </a:p>
        </p:txBody>
      </p:sp>
      <p:sp>
        <p:nvSpPr>
          <p:cNvPr id="35" name="Shape 33"/>
          <p:cNvSpPr/>
          <p:nvPr/>
        </p:nvSpPr>
        <p:spPr>
          <a:xfrm>
            <a:off x="365760" y="3785616"/>
            <a:ext cx="8375904" cy="512064"/>
          </a:xfrm>
          <a:prstGeom prst="rect">
            <a:avLst/>
          </a:prstGeom>
          <a:solidFill>
            <a:srgbClr val="F7F9FC"/>
          </a:solidFill>
          <a:ln w="12700">
            <a:solidFill>
              <a:srgbClr val="CBD5E0"/>
            </a:solidFill>
            <a:prstDash val="solid"/>
          </a:ln>
        </p:spPr>
        <p:txBody>
          <a:bodyPr/>
          <a:lstStyle/>
          <a:p>
            <a:endParaRPr lang="es-AR"/>
          </a:p>
        </p:txBody>
      </p:sp>
      <p:sp>
        <p:nvSpPr>
          <p:cNvPr id="36" name="Text 34"/>
          <p:cNvSpPr/>
          <p:nvPr/>
        </p:nvSpPr>
        <p:spPr>
          <a:xfrm>
            <a:off x="457200" y="3822192"/>
            <a:ext cx="2542032" cy="438912"/>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¿Cómo se priorizan?</a:t>
            </a:r>
            <a:endParaRPr lang="en-US" sz="1000" dirty="0"/>
          </a:p>
        </p:txBody>
      </p:sp>
      <p:sp>
        <p:nvSpPr>
          <p:cNvPr id="37" name="Shape 35"/>
          <p:cNvSpPr/>
          <p:nvPr/>
        </p:nvSpPr>
        <p:spPr>
          <a:xfrm>
            <a:off x="3063240" y="3785616"/>
            <a:ext cx="0" cy="512064"/>
          </a:xfrm>
          <a:prstGeom prst="line">
            <a:avLst/>
          </a:prstGeom>
          <a:noFill/>
          <a:ln w="12700">
            <a:solidFill>
              <a:srgbClr val="CBD5E0"/>
            </a:solidFill>
            <a:prstDash val="solid"/>
          </a:ln>
        </p:spPr>
        <p:txBody>
          <a:bodyPr/>
          <a:lstStyle/>
          <a:p>
            <a:endParaRPr lang="es-AR"/>
          </a:p>
        </p:txBody>
      </p:sp>
      <p:sp>
        <p:nvSpPr>
          <p:cNvPr id="38" name="Text 36"/>
          <p:cNvSpPr/>
          <p:nvPr/>
        </p:nvSpPr>
        <p:spPr>
          <a:xfrm>
            <a:off x="3154680" y="3822192"/>
            <a:ext cx="2715768" cy="438912"/>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Mediante debate social: qué capacidades son más importantes en este contexto.</a:t>
            </a:r>
            <a:endParaRPr lang="en-US" sz="950" dirty="0"/>
          </a:p>
        </p:txBody>
      </p:sp>
      <p:sp>
        <p:nvSpPr>
          <p:cNvPr id="39" name="Shape 37"/>
          <p:cNvSpPr/>
          <p:nvPr/>
        </p:nvSpPr>
        <p:spPr>
          <a:xfrm>
            <a:off x="5925312" y="3785616"/>
            <a:ext cx="0" cy="512064"/>
          </a:xfrm>
          <a:prstGeom prst="line">
            <a:avLst/>
          </a:prstGeom>
          <a:noFill/>
          <a:ln w="12700">
            <a:solidFill>
              <a:srgbClr val="CBD5E0"/>
            </a:solidFill>
            <a:prstDash val="solid"/>
          </a:ln>
        </p:spPr>
        <p:txBody>
          <a:bodyPr/>
          <a:lstStyle/>
          <a:p>
            <a:endParaRPr lang="es-AR"/>
          </a:p>
        </p:txBody>
      </p:sp>
      <p:sp>
        <p:nvSpPr>
          <p:cNvPr id="40" name="Text 38"/>
          <p:cNvSpPr/>
          <p:nvPr/>
        </p:nvSpPr>
        <p:spPr>
          <a:xfrm>
            <a:off x="6016752" y="3822192"/>
            <a:ext cx="2651760" cy="438912"/>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Son indivisibles e igualmente importantes: no se puede elegir cuáles garantizar primero.</a:t>
            </a:r>
            <a:endParaRPr lang="en-US" sz="950" dirty="0"/>
          </a:p>
        </p:txBody>
      </p:sp>
      <p:sp>
        <p:nvSpPr>
          <p:cNvPr id="41" name="Shape 39"/>
          <p:cNvSpPr/>
          <p:nvPr/>
        </p:nvSpPr>
        <p:spPr>
          <a:xfrm>
            <a:off x="365760" y="4352544"/>
            <a:ext cx="8375904" cy="512064"/>
          </a:xfrm>
          <a:prstGeom prst="rect">
            <a:avLst/>
          </a:prstGeom>
          <a:solidFill>
            <a:srgbClr val="FFFFFF"/>
          </a:solidFill>
          <a:ln w="12700">
            <a:solidFill>
              <a:srgbClr val="CBD5E0"/>
            </a:solidFill>
            <a:prstDash val="solid"/>
          </a:ln>
        </p:spPr>
        <p:txBody>
          <a:bodyPr/>
          <a:lstStyle/>
          <a:p>
            <a:endParaRPr lang="es-AR"/>
          </a:p>
        </p:txBody>
      </p:sp>
      <p:sp>
        <p:nvSpPr>
          <p:cNvPr id="42" name="Text 40"/>
          <p:cNvSpPr/>
          <p:nvPr/>
        </p:nvSpPr>
        <p:spPr>
          <a:xfrm>
            <a:off x="457200" y="4389120"/>
            <a:ext cx="2542032" cy="438912"/>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Fortaleza central</a:t>
            </a:r>
            <a:endParaRPr lang="en-US" sz="1000" dirty="0"/>
          </a:p>
        </p:txBody>
      </p:sp>
      <p:sp>
        <p:nvSpPr>
          <p:cNvPr id="43" name="Shape 41"/>
          <p:cNvSpPr/>
          <p:nvPr/>
        </p:nvSpPr>
        <p:spPr>
          <a:xfrm>
            <a:off x="3063240" y="4352544"/>
            <a:ext cx="0" cy="512064"/>
          </a:xfrm>
          <a:prstGeom prst="line">
            <a:avLst/>
          </a:prstGeom>
          <a:noFill/>
          <a:ln w="12700">
            <a:solidFill>
              <a:srgbClr val="CBD5E0"/>
            </a:solidFill>
            <a:prstDash val="solid"/>
          </a:ln>
        </p:spPr>
        <p:txBody>
          <a:bodyPr/>
          <a:lstStyle/>
          <a:p>
            <a:endParaRPr lang="es-AR"/>
          </a:p>
        </p:txBody>
      </p:sp>
      <p:sp>
        <p:nvSpPr>
          <p:cNvPr id="44" name="Text 42"/>
          <p:cNvSpPr/>
          <p:nvPr/>
        </p:nvSpPr>
        <p:spPr>
          <a:xfrm>
            <a:off x="3154680" y="4389120"/>
            <a:ext cx="2715768" cy="438912"/>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Flexibilidad y atención a la diversidad humana y contextual.</a:t>
            </a:r>
            <a:endParaRPr lang="en-US" sz="950" dirty="0"/>
          </a:p>
        </p:txBody>
      </p:sp>
      <p:sp>
        <p:nvSpPr>
          <p:cNvPr id="45" name="Shape 43"/>
          <p:cNvSpPr/>
          <p:nvPr/>
        </p:nvSpPr>
        <p:spPr>
          <a:xfrm>
            <a:off x="5925312" y="4352544"/>
            <a:ext cx="0" cy="512064"/>
          </a:xfrm>
          <a:prstGeom prst="line">
            <a:avLst/>
          </a:prstGeom>
          <a:noFill/>
          <a:ln w="12700">
            <a:solidFill>
              <a:srgbClr val="CBD5E0"/>
            </a:solidFill>
            <a:prstDash val="solid"/>
          </a:ln>
        </p:spPr>
        <p:txBody>
          <a:bodyPr/>
          <a:lstStyle/>
          <a:p>
            <a:endParaRPr lang="es-AR"/>
          </a:p>
        </p:txBody>
      </p:sp>
      <p:sp>
        <p:nvSpPr>
          <p:cNvPr id="46" name="Text 44"/>
          <p:cNvSpPr/>
          <p:nvPr/>
        </p:nvSpPr>
        <p:spPr>
          <a:xfrm>
            <a:off x="6016752" y="4389120"/>
            <a:ext cx="2651760" cy="438912"/>
          </a:xfrm>
          <a:prstGeom prst="rect">
            <a:avLst/>
          </a:prstGeom>
          <a:noFill/>
          <a:ln/>
        </p:spPr>
        <p:txBody>
          <a:bodyPr wrap="square" lIns="0" tIns="0" rIns="0" bIns="0" rtlCol="0" anchor="ctr"/>
          <a:lstStyle/>
          <a:p>
            <a:pPr marL="0" indent="0">
              <a:buNone/>
            </a:pPr>
            <a:r>
              <a:rPr lang="en-US" sz="950" dirty="0">
                <a:solidFill>
                  <a:srgbClr val="1A202C"/>
                </a:solidFill>
                <a:latin typeface="Calibri" pitchFamily="34" charset="0"/>
                <a:ea typeface="Calibri" pitchFamily="34" charset="-122"/>
                <a:cs typeface="Calibri" pitchFamily="34" charset="-120"/>
              </a:rPr>
              <a:t>Universalidad y fuerza jurídica: son exigibles legalmente.</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C0533A"/>
          </a:solidFill>
          <a:ln w="12700">
            <a:solidFill>
              <a:srgbClr val="C0533A"/>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Errores Comunes y Conceptos Trampa</a:t>
            </a:r>
            <a:endParaRPr lang="en-US" sz="2800" dirty="0"/>
          </a:p>
        </p:txBody>
      </p:sp>
      <p:sp>
        <p:nvSpPr>
          <p:cNvPr id="5" name="Shape 3"/>
          <p:cNvSpPr/>
          <p:nvPr/>
        </p:nvSpPr>
        <p:spPr>
          <a:xfrm>
            <a:off x="457200" y="731520"/>
            <a:ext cx="36576" cy="201168"/>
          </a:xfrm>
          <a:prstGeom prst="rect">
            <a:avLst/>
          </a:prstGeom>
          <a:solidFill>
            <a:srgbClr val="C0533A"/>
          </a:solidFill>
          <a:ln w="12700">
            <a:solidFill>
              <a:srgbClr val="C0533A"/>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C0533A"/>
                </a:solidFill>
                <a:latin typeface="Calibri" pitchFamily="34" charset="0"/>
                <a:ea typeface="Calibri" pitchFamily="34" charset="-122"/>
                <a:cs typeface="Calibri" pitchFamily="34" charset="-120"/>
              </a:rPr>
              <a:t>U3.1 Y U3.2 — PARA EL EXAMEN</a:t>
            </a:r>
            <a:endParaRPr lang="en-US" sz="900" dirty="0"/>
          </a:p>
        </p:txBody>
      </p:sp>
      <p:sp>
        <p:nvSpPr>
          <p:cNvPr id="7" name="Shape 5"/>
          <p:cNvSpPr/>
          <p:nvPr/>
        </p:nvSpPr>
        <p:spPr>
          <a:xfrm>
            <a:off x="365760" y="1005840"/>
            <a:ext cx="8412480" cy="585216"/>
          </a:xfrm>
          <a:prstGeom prst="rect">
            <a:avLst/>
          </a:prstGeom>
          <a:solidFill>
            <a:srgbClr val="FFFFFF"/>
          </a:solidFill>
          <a:ln w="12700">
            <a:solidFill>
              <a:srgbClr val="CBD5E0"/>
            </a:solidFill>
            <a:prstDash val="solid"/>
          </a:ln>
        </p:spPr>
        <p:txBody>
          <a:bodyPr/>
          <a:lstStyle/>
          <a:p>
            <a:endParaRPr lang="es-AR"/>
          </a:p>
        </p:txBody>
      </p:sp>
      <p:sp>
        <p:nvSpPr>
          <p:cNvPr id="8" name="Shape 6"/>
          <p:cNvSpPr/>
          <p:nvPr/>
        </p:nvSpPr>
        <p:spPr>
          <a:xfrm>
            <a:off x="365760" y="1005840"/>
            <a:ext cx="3291840" cy="585216"/>
          </a:xfrm>
          <a:prstGeom prst="rect">
            <a:avLst/>
          </a:prstGeom>
          <a:solidFill>
            <a:srgbClr val="C0533A">
              <a:alpha val="12000"/>
            </a:srgbClr>
          </a:solidFill>
          <a:ln w="12700">
            <a:solidFill>
              <a:srgbClr val="C0533A">
                <a:alpha val="30000"/>
              </a:srgbClr>
            </a:solidFill>
            <a:prstDash val="solid"/>
          </a:ln>
        </p:spPr>
        <p:txBody>
          <a:bodyPr/>
          <a:lstStyle/>
          <a:p>
            <a:endParaRPr lang="es-AR"/>
          </a:p>
        </p:txBody>
      </p:sp>
      <p:sp>
        <p:nvSpPr>
          <p:cNvPr id="9" name="Text 7"/>
          <p:cNvSpPr/>
          <p:nvPr/>
        </p:nvSpPr>
        <p:spPr>
          <a:xfrm>
            <a:off x="475488" y="1078992"/>
            <a:ext cx="3090672" cy="438912"/>
          </a:xfrm>
          <a:prstGeom prst="rect">
            <a:avLst/>
          </a:prstGeom>
          <a:noFill/>
          <a:ln/>
        </p:spPr>
        <p:txBody>
          <a:bodyPr wrap="square" lIns="0" tIns="0" rIns="0" bIns="0" rtlCol="0" anchor="ctr"/>
          <a:lstStyle/>
          <a:p>
            <a:pPr marL="0" indent="0">
              <a:buNone/>
            </a:pPr>
            <a:r>
              <a:rPr lang="en-US" sz="1050" b="1" dirty="0">
                <a:solidFill>
                  <a:srgbClr val="C0533A"/>
                </a:solidFill>
                <a:latin typeface="Calibri" pitchFamily="34" charset="0"/>
                <a:ea typeface="Calibri" pitchFamily="34" charset="-122"/>
                <a:cs typeface="Calibri" pitchFamily="34" charset="-120"/>
              </a:rPr>
              <a:t>✗  Capacidades = habilidades o competencias</a:t>
            </a:r>
            <a:endParaRPr lang="en-US" sz="1050" dirty="0"/>
          </a:p>
        </p:txBody>
      </p:sp>
      <p:sp>
        <p:nvSpPr>
          <p:cNvPr id="10" name="Text 8"/>
          <p:cNvSpPr/>
          <p:nvPr/>
        </p:nvSpPr>
        <p:spPr>
          <a:xfrm>
            <a:off x="3694176" y="1115568"/>
            <a:ext cx="274320" cy="365760"/>
          </a:xfrm>
          <a:prstGeom prst="rect">
            <a:avLst/>
          </a:prstGeom>
          <a:noFill/>
          <a:ln/>
        </p:spPr>
        <p:txBody>
          <a:bodyPr wrap="square" lIns="0" tIns="0" rIns="0" bIns="0" rtlCol="0" anchor="ctr"/>
          <a:lstStyle/>
          <a:p>
            <a:pPr marL="0" indent="0" algn="ctr">
              <a:buNone/>
            </a:pPr>
            <a:r>
              <a:rPr lang="en-US" sz="1800" dirty="0">
                <a:solidFill>
                  <a:srgbClr val="64748B"/>
                </a:solidFill>
              </a:rPr>
              <a:t>→</a:t>
            </a:r>
            <a:endParaRPr lang="en-US" sz="1800" dirty="0"/>
          </a:p>
        </p:txBody>
      </p:sp>
      <p:sp>
        <p:nvSpPr>
          <p:cNvPr id="11" name="Text 9"/>
          <p:cNvSpPr/>
          <p:nvPr/>
        </p:nvSpPr>
        <p:spPr>
          <a:xfrm>
            <a:off x="4005072" y="1078992"/>
            <a:ext cx="4572000" cy="43891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Las capacidades del enfoque de Sen son libertades reales para lograr funcionamientos valiosos — NO competencias para el mercado de trabajo.</a:t>
            </a:r>
            <a:endParaRPr lang="en-US" sz="1050" dirty="0"/>
          </a:p>
        </p:txBody>
      </p:sp>
      <p:sp>
        <p:nvSpPr>
          <p:cNvPr id="12" name="Shape 10"/>
          <p:cNvSpPr/>
          <p:nvPr/>
        </p:nvSpPr>
        <p:spPr>
          <a:xfrm>
            <a:off x="365760" y="1664208"/>
            <a:ext cx="8412480" cy="585216"/>
          </a:xfrm>
          <a:prstGeom prst="rect">
            <a:avLst/>
          </a:prstGeom>
          <a:solidFill>
            <a:srgbClr val="FFFFFF"/>
          </a:solidFill>
          <a:ln w="12700">
            <a:solidFill>
              <a:srgbClr val="CBD5E0"/>
            </a:solidFill>
            <a:prstDash val="solid"/>
          </a:ln>
        </p:spPr>
        <p:txBody>
          <a:bodyPr/>
          <a:lstStyle/>
          <a:p>
            <a:endParaRPr lang="es-AR"/>
          </a:p>
        </p:txBody>
      </p:sp>
      <p:sp>
        <p:nvSpPr>
          <p:cNvPr id="13" name="Shape 11"/>
          <p:cNvSpPr/>
          <p:nvPr/>
        </p:nvSpPr>
        <p:spPr>
          <a:xfrm>
            <a:off x="365760" y="1664208"/>
            <a:ext cx="3291840" cy="585216"/>
          </a:xfrm>
          <a:prstGeom prst="rect">
            <a:avLst/>
          </a:prstGeom>
          <a:solidFill>
            <a:srgbClr val="C0533A">
              <a:alpha val="12000"/>
            </a:srgbClr>
          </a:solidFill>
          <a:ln w="12700">
            <a:solidFill>
              <a:srgbClr val="C0533A">
                <a:alpha val="30000"/>
              </a:srgbClr>
            </a:solidFill>
            <a:prstDash val="solid"/>
          </a:ln>
        </p:spPr>
        <p:txBody>
          <a:bodyPr/>
          <a:lstStyle/>
          <a:p>
            <a:endParaRPr lang="es-AR"/>
          </a:p>
        </p:txBody>
      </p:sp>
      <p:sp>
        <p:nvSpPr>
          <p:cNvPr id="14" name="Text 12"/>
          <p:cNvSpPr/>
          <p:nvPr/>
        </p:nvSpPr>
        <p:spPr>
          <a:xfrm>
            <a:off x="475488" y="1737360"/>
            <a:ext cx="3090672" cy="438912"/>
          </a:xfrm>
          <a:prstGeom prst="rect">
            <a:avLst/>
          </a:prstGeom>
          <a:noFill/>
          <a:ln/>
        </p:spPr>
        <p:txBody>
          <a:bodyPr wrap="square" lIns="0" tIns="0" rIns="0" bIns="0" rtlCol="0" anchor="ctr"/>
          <a:lstStyle/>
          <a:p>
            <a:pPr marL="0" indent="0">
              <a:buNone/>
            </a:pPr>
            <a:r>
              <a:rPr lang="en-US" sz="1050" b="1" dirty="0">
                <a:solidFill>
                  <a:srgbClr val="C0533A"/>
                </a:solidFill>
                <a:latin typeface="Calibri" pitchFamily="34" charset="0"/>
                <a:ea typeface="Calibri" pitchFamily="34" charset="-122"/>
                <a:cs typeface="Calibri" pitchFamily="34" charset="-120"/>
              </a:rPr>
              <a:t>✗  Si no consume educación, es porque no quiere</a:t>
            </a:r>
            <a:endParaRPr lang="en-US" sz="1050" dirty="0"/>
          </a:p>
        </p:txBody>
      </p:sp>
      <p:sp>
        <p:nvSpPr>
          <p:cNvPr id="15" name="Text 13"/>
          <p:cNvSpPr/>
          <p:nvPr/>
        </p:nvSpPr>
        <p:spPr>
          <a:xfrm>
            <a:off x="3694176" y="1773936"/>
            <a:ext cx="274320" cy="365760"/>
          </a:xfrm>
          <a:prstGeom prst="rect">
            <a:avLst/>
          </a:prstGeom>
          <a:noFill/>
          <a:ln/>
        </p:spPr>
        <p:txBody>
          <a:bodyPr wrap="square" lIns="0" tIns="0" rIns="0" bIns="0" rtlCol="0" anchor="ctr"/>
          <a:lstStyle/>
          <a:p>
            <a:pPr marL="0" indent="0" algn="ctr">
              <a:buNone/>
            </a:pPr>
            <a:r>
              <a:rPr lang="en-US" sz="1800" dirty="0">
                <a:solidFill>
                  <a:srgbClr val="64748B"/>
                </a:solidFill>
              </a:rPr>
              <a:t>→</a:t>
            </a:r>
            <a:endParaRPr lang="en-US" sz="1800" dirty="0"/>
          </a:p>
        </p:txBody>
      </p:sp>
      <p:sp>
        <p:nvSpPr>
          <p:cNvPr id="16" name="Text 14"/>
          <p:cNvSpPr/>
          <p:nvPr/>
        </p:nvSpPr>
        <p:spPr>
          <a:xfrm>
            <a:off x="4005072" y="1737360"/>
            <a:ext cx="4572000" cy="43891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Las preferencias reveladas pueden estar distorsionadas. Puede no consumir porque no PUEDE, no porque no quiera. Eso es una trampa del enfoque bienestarista.</a:t>
            </a:r>
            <a:endParaRPr lang="en-US" sz="1050" dirty="0"/>
          </a:p>
        </p:txBody>
      </p:sp>
      <p:sp>
        <p:nvSpPr>
          <p:cNvPr id="17" name="Shape 15"/>
          <p:cNvSpPr/>
          <p:nvPr/>
        </p:nvSpPr>
        <p:spPr>
          <a:xfrm>
            <a:off x="365760" y="2322576"/>
            <a:ext cx="8412480" cy="585216"/>
          </a:xfrm>
          <a:prstGeom prst="rect">
            <a:avLst/>
          </a:prstGeom>
          <a:solidFill>
            <a:srgbClr val="FFFFFF"/>
          </a:solidFill>
          <a:ln w="12700">
            <a:solidFill>
              <a:srgbClr val="CBD5E0"/>
            </a:solidFill>
            <a:prstDash val="solid"/>
          </a:ln>
        </p:spPr>
        <p:txBody>
          <a:bodyPr/>
          <a:lstStyle/>
          <a:p>
            <a:endParaRPr lang="es-AR"/>
          </a:p>
        </p:txBody>
      </p:sp>
      <p:sp>
        <p:nvSpPr>
          <p:cNvPr id="18" name="Shape 16"/>
          <p:cNvSpPr/>
          <p:nvPr/>
        </p:nvSpPr>
        <p:spPr>
          <a:xfrm>
            <a:off x="365760" y="2322576"/>
            <a:ext cx="3291840" cy="585216"/>
          </a:xfrm>
          <a:prstGeom prst="rect">
            <a:avLst/>
          </a:prstGeom>
          <a:solidFill>
            <a:srgbClr val="C0533A">
              <a:alpha val="12000"/>
            </a:srgbClr>
          </a:solidFill>
          <a:ln w="12700">
            <a:solidFill>
              <a:srgbClr val="C0533A">
                <a:alpha val="30000"/>
              </a:srgbClr>
            </a:solidFill>
            <a:prstDash val="solid"/>
          </a:ln>
        </p:spPr>
        <p:txBody>
          <a:bodyPr/>
          <a:lstStyle/>
          <a:p>
            <a:endParaRPr lang="es-AR"/>
          </a:p>
        </p:txBody>
      </p:sp>
      <p:sp>
        <p:nvSpPr>
          <p:cNvPr id="19" name="Text 17"/>
          <p:cNvSpPr/>
          <p:nvPr/>
        </p:nvSpPr>
        <p:spPr>
          <a:xfrm>
            <a:off x="475488" y="2395728"/>
            <a:ext cx="3090672" cy="438912"/>
          </a:xfrm>
          <a:prstGeom prst="rect">
            <a:avLst/>
          </a:prstGeom>
          <a:noFill/>
          <a:ln/>
        </p:spPr>
        <p:txBody>
          <a:bodyPr wrap="square" lIns="0" tIns="0" rIns="0" bIns="0" rtlCol="0" anchor="ctr"/>
          <a:lstStyle/>
          <a:p>
            <a:pPr marL="0" indent="0">
              <a:buNone/>
            </a:pPr>
            <a:r>
              <a:rPr lang="en-US" sz="1050" b="1" dirty="0">
                <a:solidFill>
                  <a:srgbClr val="C0533A"/>
                </a:solidFill>
                <a:latin typeface="Calibri" pitchFamily="34" charset="0"/>
                <a:ea typeface="Calibri" pitchFamily="34" charset="-122"/>
                <a:cs typeface="Calibri" pitchFamily="34" charset="-120"/>
              </a:rPr>
              <a:t>✗  El enfoque de necesidades básicas considera la agencia</a:t>
            </a:r>
            <a:endParaRPr lang="en-US" sz="1050" dirty="0"/>
          </a:p>
        </p:txBody>
      </p:sp>
      <p:sp>
        <p:nvSpPr>
          <p:cNvPr id="20" name="Text 18"/>
          <p:cNvSpPr/>
          <p:nvPr/>
        </p:nvSpPr>
        <p:spPr>
          <a:xfrm>
            <a:off x="3694176" y="2432304"/>
            <a:ext cx="274320" cy="365760"/>
          </a:xfrm>
          <a:prstGeom prst="rect">
            <a:avLst/>
          </a:prstGeom>
          <a:noFill/>
          <a:ln/>
        </p:spPr>
        <p:txBody>
          <a:bodyPr wrap="square" lIns="0" tIns="0" rIns="0" bIns="0" rtlCol="0" anchor="ctr"/>
          <a:lstStyle/>
          <a:p>
            <a:pPr marL="0" indent="0" algn="ctr">
              <a:buNone/>
            </a:pPr>
            <a:r>
              <a:rPr lang="en-US" sz="1800" dirty="0">
                <a:solidFill>
                  <a:srgbClr val="64748B"/>
                </a:solidFill>
              </a:rPr>
              <a:t>→</a:t>
            </a:r>
            <a:endParaRPr lang="en-US" sz="1800" dirty="0"/>
          </a:p>
        </p:txBody>
      </p:sp>
      <p:sp>
        <p:nvSpPr>
          <p:cNvPr id="21" name="Text 19"/>
          <p:cNvSpPr/>
          <p:nvPr/>
        </p:nvSpPr>
        <p:spPr>
          <a:xfrm>
            <a:off x="4005072" y="2395728"/>
            <a:ext cx="4572000" cy="43891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NO. Pone a la persona en rol pasivo. Solo importa si la necesidad está cubierta, no cómo. El de capacidades sí considera la agencia.</a:t>
            </a:r>
            <a:endParaRPr lang="en-US" sz="1050" dirty="0"/>
          </a:p>
        </p:txBody>
      </p:sp>
      <p:sp>
        <p:nvSpPr>
          <p:cNvPr id="22" name="Shape 20"/>
          <p:cNvSpPr/>
          <p:nvPr/>
        </p:nvSpPr>
        <p:spPr>
          <a:xfrm>
            <a:off x="365760" y="2980944"/>
            <a:ext cx="8412480" cy="585216"/>
          </a:xfrm>
          <a:prstGeom prst="rect">
            <a:avLst/>
          </a:prstGeom>
          <a:solidFill>
            <a:srgbClr val="FFFFFF"/>
          </a:solidFill>
          <a:ln w="12700">
            <a:solidFill>
              <a:srgbClr val="CBD5E0"/>
            </a:solidFill>
            <a:prstDash val="solid"/>
          </a:ln>
        </p:spPr>
        <p:txBody>
          <a:bodyPr/>
          <a:lstStyle/>
          <a:p>
            <a:endParaRPr lang="es-AR"/>
          </a:p>
        </p:txBody>
      </p:sp>
      <p:sp>
        <p:nvSpPr>
          <p:cNvPr id="23" name="Shape 21"/>
          <p:cNvSpPr/>
          <p:nvPr/>
        </p:nvSpPr>
        <p:spPr>
          <a:xfrm>
            <a:off x="365760" y="2980944"/>
            <a:ext cx="3291840" cy="585216"/>
          </a:xfrm>
          <a:prstGeom prst="rect">
            <a:avLst/>
          </a:prstGeom>
          <a:solidFill>
            <a:srgbClr val="C0533A">
              <a:alpha val="12000"/>
            </a:srgbClr>
          </a:solidFill>
          <a:ln w="12700">
            <a:solidFill>
              <a:srgbClr val="C0533A">
                <a:alpha val="30000"/>
              </a:srgbClr>
            </a:solidFill>
            <a:prstDash val="solid"/>
          </a:ln>
        </p:spPr>
        <p:txBody>
          <a:bodyPr/>
          <a:lstStyle/>
          <a:p>
            <a:endParaRPr lang="es-AR"/>
          </a:p>
        </p:txBody>
      </p:sp>
      <p:sp>
        <p:nvSpPr>
          <p:cNvPr id="24" name="Text 22"/>
          <p:cNvSpPr/>
          <p:nvPr/>
        </p:nvSpPr>
        <p:spPr>
          <a:xfrm>
            <a:off x="475488" y="3054096"/>
            <a:ext cx="3090672" cy="438912"/>
          </a:xfrm>
          <a:prstGeom prst="rect">
            <a:avLst/>
          </a:prstGeom>
          <a:noFill/>
          <a:ln/>
        </p:spPr>
        <p:txBody>
          <a:bodyPr wrap="square" lIns="0" tIns="0" rIns="0" bIns="0" rtlCol="0" anchor="ctr"/>
          <a:lstStyle/>
          <a:p>
            <a:pPr marL="0" indent="0">
              <a:buNone/>
            </a:pPr>
            <a:r>
              <a:rPr lang="en-US" sz="1050" b="1" dirty="0">
                <a:solidFill>
                  <a:srgbClr val="C0533A"/>
                </a:solidFill>
                <a:latin typeface="Calibri" pitchFamily="34" charset="0"/>
                <a:ea typeface="Calibri" pitchFamily="34" charset="-122"/>
                <a:cs typeface="Calibri" pitchFamily="34" charset="-120"/>
              </a:rPr>
              <a:t>✗  Igualdad = Equidad</a:t>
            </a:r>
            <a:endParaRPr lang="en-US" sz="1050" dirty="0"/>
          </a:p>
        </p:txBody>
      </p:sp>
      <p:sp>
        <p:nvSpPr>
          <p:cNvPr id="25" name="Text 23"/>
          <p:cNvSpPr/>
          <p:nvPr/>
        </p:nvSpPr>
        <p:spPr>
          <a:xfrm>
            <a:off x="3694176" y="3090672"/>
            <a:ext cx="274320" cy="365760"/>
          </a:xfrm>
          <a:prstGeom prst="rect">
            <a:avLst/>
          </a:prstGeom>
          <a:noFill/>
          <a:ln/>
        </p:spPr>
        <p:txBody>
          <a:bodyPr wrap="square" lIns="0" tIns="0" rIns="0" bIns="0" rtlCol="0" anchor="ctr"/>
          <a:lstStyle/>
          <a:p>
            <a:pPr marL="0" indent="0" algn="ctr">
              <a:buNone/>
            </a:pPr>
            <a:r>
              <a:rPr lang="en-US" sz="1800" dirty="0">
                <a:solidFill>
                  <a:srgbClr val="64748B"/>
                </a:solidFill>
              </a:rPr>
              <a:t>→</a:t>
            </a:r>
            <a:endParaRPr lang="en-US" sz="1800" dirty="0"/>
          </a:p>
        </p:txBody>
      </p:sp>
      <p:sp>
        <p:nvSpPr>
          <p:cNvPr id="26" name="Text 24"/>
          <p:cNvSpPr/>
          <p:nvPr/>
        </p:nvSpPr>
        <p:spPr>
          <a:xfrm>
            <a:off x="4005072" y="3054096"/>
            <a:ext cx="4572000" cy="43891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Igualdad = darle lo mismo a todos. Equidad = ayudar más a quien está en desventaja para NIVELAR el punto de partida (level playing field).</a:t>
            </a:r>
            <a:endParaRPr lang="en-US" sz="1050" dirty="0"/>
          </a:p>
        </p:txBody>
      </p:sp>
      <p:sp>
        <p:nvSpPr>
          <p:cNvPr id="27" name="Shape 25"/>
          <p:cNvSpPr/>
          <p:nvPr/>
        </p:nvSpPr>
        <p:spPr>
          <a:xfrm>
            <a:off x="365760" y="3639312"/>
            <a:ext cx="8412480" cy="585216"/>
          </a:xfrm>
          <a:prstGeom prst="rect">
            <a:avLst/>
          </a:prstGeom>
          <a:solidFill>
            <a:srgbClr val="FFFFFF"/>
          </a:solidFill>
          <a:ln w="12700">
            <a:solidFill>
              <a:srgbClr val="CBD5E0"/>
            </a:solidFill>
            <a:prstDash val="solid"/>
          </a:ln>
        </p:spPr>
        <p:txBody>
          <a:bodyPr/>
          <a:lstStyle/>
          <a:p>
            <a:endParaRPr lang="es-AR"/>
          </a:p>
        </p:txBody>
      </p:sp>
      <p:sp>
        <p:nvSpPr>
          <p:cNvPr id="28" name="Shape 26"/>
          <p:cNvSpPr/>
          <p:nvPr/>
        </p:nvSpPr>
        <p:spPr>
          <a:xfrm>
            <a:off x="365760" y="3639312"/>
            <a:ext cx="3291840" cy="585216"/>
          </a:xfrm>
          <a:prstGeom prst="rect">
            <a:avLst/>
          </a:prstGeom>
          <a:solidFill>
            <a:srgbClr val="C0533A">
              <a:alpha val="12000"/>
            </a:srgbClr>
          </a:solidFill>
          <a:ln w="12700">
            <a:solidFill>
              <a:srgbClr val="C0533A">
                <a:alpha val="30000"/>
              </a:srgbClr>
            </a:solidFill>
            <a:prstDash val="solid"/>
          </a:ln>
        </p:spPr>
        <p:txBody>
          <a:bodyPr/>
          <a:lstStyle/>
          <a:p>
            <a:endParaRPr lang="es-AR"/>
          </a:p>
        </p:txBody>
      </p:sp>
      <p:sp>
        <p:nvSpPr>
          <p:cNvPr id="29" name="Text 27"/>
          <p:cNvSpPr/>
          <p:nvPr/>
        </p:nvSpPr>
        <p:spPr>
          <a:xfrm>
            <a:off x="475488" y="3712464"/>
            <a:ext cx="3090672" cy="438912"/>
          </a:xfrm>
          <a:prstGeom prst="rect">
            <a:avLst/>
          </a:prstGeom>
          <a:noFill/>
          <a:ln/>
        </p:spPr>
        <p:txBody>
          <a:bodyPr wrap="square" lIns="0" tIns="0" rIns="0" bIns="0" rtlCol="0" anchor="ctr"/>
          <a:lstStyle/>
          <a:p>
            <a:pPr marL="0" indent="0">
              <a:buNone/>
            </a:pPr>
            <a:r>
              <a:rPr lang="en-US" sz="1050" b="1" dirty="0">
                <a:solidFill>
                  <a:srgbClr val="C0533A"/>
                </a:solidFill>
                <a:latin typeface="Calibri" pitchFamily="34" charset="0"/>
                <a:ea typeface="Calibri" pitchFamily="34" charset="-122"/>
                <a:cs typeface="Calibri" pitchFamily="34" charset="-120"/>
              </a:rPr>
              <a:t>✗  IDH es un indicador completo y suficiente</a:t>
            </a:r>
            <a:endParaRPr lang="en-US" sz="1050" dirty="0"/>
          </a:p>
        </p:txBody>
      </p:sp>
      <p:sp>
        <p:nvSpPr>
          <p:cNvPr id="30" name="Text 28"/>
          <p:cNvSpPr/>
          <p:nvPr/>
        </p:nvSpPr>
        <p:spPr>
          <a:xfrm>
            <a:off x="3694176" y="3749040"/>
            <a:ext cx="274320" cy="365760"/>
          </a:xfrm>
          <a:prstGeom prst="rect">
            <a:avLst/>
          </a:prstGeom>
          <a:noFill/>
          <a:ln/>
        </p:spPr>
        <p:txBody>
          <a:bodyPr wrap="square" lIns="0" tIns="0" rIns="0" bIns="0" rtlCol="0" anchor="ctr"/>
          <a:lstStyle/>
          <a:p>
            <a:pPr marL="0" indent="0" algn="ctr">
              <a:buNone/>
            </a:pPr>
            <a:r>
              <a:rPr lang="en-US" sz="1800" dirty="0">
                <a:solidFill>
                  <a:srgbClr val="64748B"/>
                </a:solidFill>
              </a:rPr>
              <a:t>→</a:t>
            </a:r>
            <a:endParaRPr lang="en-US" sz="1800" dirty="0"/>
          </a:p>
        </p:txBody>
      </p:sp>
      <p:sp>
        <p:nvSpPr>
          <p:cNvPr id="31" name="Text 29"/>
          <p:cNvSpPr/>
          <p:nvPr/>
        </p:nvSpPr>
        <p:spPr>
          <a:xfrm>
            <a:off x="4005072" y="3712464"/>
            <a:ext cx="4572000" cy="43891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Es muy agregado. No captura desigualdades internas, diferencias regionales ni brechas de género. Útil para comparar países, insuficiente para análisis interno.</a:t>
            </a:r>
            <a:endParaRPr lang="en-US" sz="1050" dirty="0"/>
          </a:p>
        </p:txBody>
      </p:sp>
      <p:sp>
        <p:nvSpPr>
          <p:cNvPr id="32" name="Shape 30"/>
          <p:cNvSpPr/>
          <p:nvPr/>
        </p:nvSpPr>
        <p:spPr>
          <a:xfrm>
            <a:off x="365760" y="4297680"/>
            <a:ext cx="8412480" cy="585216"/>
          </a:xfrm>
          <a:prstGeom prst="rect">
            <a:avLst/>
          </a:prstGeom>
          <a:solidFill>
            <a:srgbClr val="FFFFFF"/>
          </a:solidFill>
          <a:ln w="12700">
            <a:solidFill>
              <a:srgbClr val="CBD5E0"/>
            </a:solidFill>
            <a:prstDash val="solid"/>
          </a:ln>
        </p:spPr>
        <p:txBody>
          <a:bodyPr/>
          <a:lstStyle/>
          <a:p>
            <a:endParaRPr lang="es-AR"/>
          </a:p>
        </p:txBody>
      </p:sp>
      <p:sp>
        <p:nvSpPr>
          <p:cNvPr id="33" name="Shape 31"/>
          <p:cNvSpPr/>
          <p:nvPr/>
        </p:nvSpPr>
        <p:spPr>
          <a:xfrm>
            <a:off x="365760" y="4297680"/>
            <a:ext cx="3291840" cy="585216"/>
          </a:xfrm>
          <a:prstGeom prst="rect">
            <a:avLst/>
          </a:prstGeom>
          <a:solidFill>
            <a:srgbClr val="C0533A">
              <a:alpha val="12000"/>
            </a:srgbClr>
          </a:solidFill>
          <a:ln w="12700">
            <a:solidFill>
              <a:srgbClr val="C0533A">
                <a:alpha val="30000"/>
              </a:srgbClr>
            </a:solidFill>
            <a:prstDash val="solid"/>
          </a:ln>
        </p:spPr>
        <p:txBody>
          <a:bodyPr/>
          <a:lstStyle/>
          <a:p>
            <a:endParaRPr lang="es-AR"/>
          </a:p>
        </p:txBody>
      </p:sp>
      <p:sp>
        <p:nvSpPr>
          <p:cNvPr id="34" name="Text 32"/>
          <p:cNvSpPr/>
          <p:nvPr/>
        </p:nvSpPr>
        <p:spPr>
          <a:xfrm>
            <a:off x="475488" y="4370832"/>
            <a:ext cx="3090672" cy="438912"/>
          </a:xfrm>
          <a:prstGeom prst="rect">
            <a:avLst/>
          </a:prstGeom>
          <a:noFill/>
          <a:ln/>
        </p:spPr>
        <p:txBody>
          <a:bodyPr wrap="square" lIns="0" tIns="0" rIns="0" bIns="0" rtlCol="0" anchor="ctr"/>
          <a:lstStyle/>
          <a:p>
            <a:pPr marL="0" indent="0">
              <a:buNone/>
            </a:pPr>
            <a:r>
              <a:rPr lang="en-US" sz="1050" b="1" dirty="0">
                <a:solidFill>
                  <a:srgbClr val="C0533A"/>
                </a:solidFill>
                <a:latin typeface="Calibri" pitchFamily="34" charset="0"/>
                <a:ea typeface="Calibri" pitchFamily="34" charset="-122"/>
                <a:cs typeface="Calibri" pitchFamily="34" charset="-120"/>
              </a:rPr>
              <a:t>✗  Derechos humanos y capacidades son lo mismo</a:t>
            </a:r>
            <a:endParaRPr lang="en-US" sz="1050" dirty="0"/>
          </a:p>
        </p:txBody>
      </p:sp>
      <p:sp>
        <p:nvSpPr>
          <p:cNvPr id="35" name="Text 33"/>
          <p:cNvSpPr/>
          <p:nvPr/>
        </p:nvSpPr>
        <p:spPr>
          <a:xfrm>
            <a:off x="3694176" y="4407408"/>
            <a:ext cx="274320" cy="365760"/>
          </a:xfrm>
          <a:prstGeom prst="rect">
            <a:avLst/>
          </a:prstGeom>
          <a:noFill/>
          <a:ln/>
        </p:spPr>
        <p:txBody>
          <a:bodyPr wrap="square" lIns="0" tIns="0" rIns="0" bIns="0" rtlCol="0" anchor="ctr"/>
          <a:lstStyle/>
          <a:p>
            <a:pPr marL="0" indent="0" algn="ctr">
              <a:buNone/>
            </a:pPr>
            <a:r>
              <a:rPr lang="en-US" sz="1800" dirty="0">
                <a:solidFill>
                  <a:srgbClr val="64748B"/>
                </a:solidFill>
              </a:rPr>
              <a:t>→</a:t>
            </a:r>
            <a:endParaRPr lang="en-US" sz="1800" dirty="0"/>
          </a:p>
        </p:txBody>
      </p:sp>
      <p:sp>
        <p:nvSpPr>
          <p:cNvPr id="36" name="Text 34"/>
          <p:cNvSpPr/>
          <p:nvPr/>
        </p:nvSpPr>
        <p:spPr>
          <a:xfrm>
            <a:off x="4005072" y="4370832"/>
            <a:ext cx="4572000" cy="438912"/>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Comparten objetivos pero difieren: los derechos son universales y fijos; las capacidades son contextuales y se priorizan por debate social.</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1B2A3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2E8B74"/>
          </a:solidFill>
          <a:ln w="12700">
            <a:solidFill>
              <a:srgbClr val="2E8B74"/>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Preguntas Frecuentes de Examen</a:t>
            </a:r>
            <a:endParaRPr lang="en-US" sz="2600" dirty="0"/>
          </a:p>
        </p:txBody>
      </p:sp>
      <p:sp>
        <p:nvSpPr>
          <p:cNvPr id="5" name="Shape 3"/>
          <p:cNvSpPr/>
          <p:nvPr/>
        </p:nvSpPr>
        <p:spPr>
          <a:xfrm>
            <a:off x="365760" y="804672"/>
            <a:ext cx="8412480" cy="530352"/>
          </a:xfrm>
          <a:prstGeom prst="rect">
            <a:avLst/>
          </a:prstGeom>
          <a:solidFill>
            <a:srgbClr val="FFFFFF">
              <a:alpha val="6000"/>
            </a:srgbClr>
          </a:solidFill>
          <a:ln w="12700">
            <a:solidFill>
              <a:srgbClr val="FFFFFF">
                <a:alpha val="20000"/>
              </a:srgbClr>
            </a:solidFill>
            <a:prstDash val="solid"/>
          </a:ln>
        </p:spPr>
        <p:txBody>
          <a:bodyPr/>
          <a:lstStyle/>
          <a:p>
            <a:endParaRPr lang="es-AR"/>
          </a:p>
        </p:txBody>
      </p:sp>
      <p:sp>
        <p:nvSpPr>
          <p:cNvPr id="6" name="Shape 4"/>
          <p:cNvSpPr/>
          <p:nvPr/>
        </p:nvSpPr>
        <p:spPr>
          <a:xfrm>
            <a:off x="365760" y="804672"/>
            <a:ext cx="777240" cy="530352"/>
          </a:xfrm>
          <a:prstGeom prst="rect">
            <a:avLst/>
          </a:prstGeom>
          <a:solidFill>
            <a:srgbClr val="D4A853">
              <a:alpha val="70000"/>
            </a:srgbClr>
          </a:solidFill>
          <a:ln w="12700">
            <a:solidFill>
              <a:srgbClr val="D4A853">
                <a:alpha val="70000"/>
              </a:srgbClr>
            </a:solidFill>
            <a:prstDash val="solid"/>
          </a:ln>
        </p:spPr>
        <p:txBody>
          <a:bodyPr/>
          <a:lstStyle/>
          <a:p>
            <a:endParaRPr lang="es-AR"/>
          </a:p>
        </p:txBody>
      </p:sp>
      <p:sp>
        <p:nvSpPr>
          <p:cNvPr id="7" name="Text 5"/>
          <p:cNvSpPr/>
          <p:nvPr/>
        </p:nvSpPr>
        <p:spPr>
          <a:xfrm>
            <a:off x="384048" y="896112"/>
            <a:ext cx="740664"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Nivel 1</a:t>
            </a:r>
            <a:endParaRPr lang="en-US" sz="800" dirty="0"/>
          </a:p>
        </p:txBody>
      </p:sp>
      <p:sp>
        <p:nvSpPr>
          <p:cNvPr id="8" name="Text 6"/>
          <p:cNvSpPr/>
          <p:nvPr/>
        </p:nvSpPr>
        <p:spPr>
          <a:xfrm>
            <a:off x="1234440" y="859536"/>
            <a:ext cx="7315200" cy="42062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¿Qué es el IDH? ¿Cuáles son sus tres dimensiones y qué mide cada una?</a:t>
            </a:r>
            <a:endParaRPr lang="en-US" sz="1100" dirty="0"/>
          </a:p>
        </p:txBody>
      </p:sp>
      <p:sp>
        <p:nvSpPr>
          <p:cNvPr id="9" name="Shape 7"/>
          <p:cNvSpPr/>
          <p:nvPr/>
        </p:nvSpPr>
        <p:spPr>
          <a:xfrm>
            <a:off x="365760" y="1408176"/>
            <a:ext cx="8412480" cy="530352"/>
          </a:xfrm>
          <a:prstGeom prst="rect">
            <a:avLst/>
          </a:prstGeom>
          <a:solidFill>
            <a:srgbClr val="FFFFFF">
              <a:alpha val="6000"/>
            </a:srgbClr>
          </a:solidFill>
          <a:ln w="12700">
            <a:solidFill>
              <a:srgbClr val="FFFFFF">
                <a:alpha val="20000"/>
              </a:srgbClr>
            </a:solidFill>
            <a:prstDash val="solid"/>
          </a:ln>
        </p:spPr>
        <p:txBody>
          <a:bodyPr/>
          <a:lstStyle/>
          <a:p>
            <a:endParaRPr lang="es-AR"/>
          </a:p>
        </p:txBody>
      </p:sp>
      <p:sp>
        <p:nvSpPr>
          <p:cNvPr id="10" name="Shape 8"/>
          <p:cNvSpPr/>
          <p:nvPr/>
        </p:nvSpPr>
        <p:spPr>
          <a:xfrm>
            <a:off x="365760" y="1408176"/>
            <a:ext cx="777240" cy="530352"/>
          </a:xfrm>
          <a:prstGeom prst="rect">
            <a:avLst/>
          </a:prstGeom>
          <a:solidFill>
            <a:srgbClr val="D4A853">
              <a:alpha val="70000"/>
            </a:srgbClr>
          </a:solidFill>
          <a:ln w="12700">
            <a:solidFill>
              <a:srgbClr val="D4A853">
                <a:alpha val="70000"/>
              </a:srgbClr>
            </a:solidFill>
            <a:prstDash val="solid"/>
          </a:ln>
        </p:spPr>
        <p:txBody>
          <a:bodyPr/>
          <a:lstStyle/>
          <a:p>
            <a:endParaRPr lang="es-AR"/>
          </a:p>
        </p:txBody>
      </p:sp>
      <p:sp>
        <p:nvSpPr>
          <p:cNvPr id="11" name="Text 9"/>
          <p:cNvSpPr/>
          <p:nvPr/>
        </p:nvSpPr>
        <p:spPr>
          <a:xfrm>
            <a:off x="384048" y="1499616"/>
            <a:ext cx="740664"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Nivel 1</a:t>
            </a:r>
            <a:endParaRPr lang="en-US" sz="800" dirty="0"/>
          </a:p>
        </p:txBody>
      </p:sp>
      <p:sp>
        <p:nvSpPr>
          <p:cNvPr id="12" name="Text 10"/>
          <p:cNvSpPr/>
          <p:nvPr/>
        </p:nvSpPr>
        <p:spPr>
          <a:xfrm>
            <a:off x="1234440" y="1463040"/>
            <a:ext cx="7315200" cy="42062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¿Cuáles son los 4 pilares procedimentales del paradigma del desarrollo humano?</a:t>
            </a:r>
            <a:endParaRPr lang="en-US" sz="1100" dirty="0"/>
          </a:p>
        </p:txBody>
      </p:sp>
      <p:sp>
        <p:nvSpPr>
          <p:cNvPr id="13" name="Shape 11"/>
          <p:cNvSpPr/>
          <p:nvPr/>
        </p:nvSpPr>
        <p:spPr>
          <a:xfrm>
            <a:off x="365760" y="2011680"/>
            <a:ext cx="8412480" cy="530352"/>
          </a:xfrm>
          <a:prstGeom prst="rect">
            <a:avLst/>
          </a:prstGeom>
          <a:solidFill>
            <a:srgbClr val="FFFFFF">
              <a:alpha val="6000"/>
            </a:srgbClr>
          </a:solidFill>
          <a:ln w="12700">
            <a:solidFill>
              <a:srgbClr val="FFFFFF">
                <a:alpha val="20000"/>
              </a:srgbClr>
            </a:solidFill>
            <a:prstDash val="solid"/>
          </a:ln>
        </p:spPr>
        <p:txBody>
          <a:bodyPr/>
          <a:lstStyle/>
          <a:p>
            <a:endParaRPr lang="es-AR"/>
          </a:p>
        </p:txBody>
      </p:sp>
      <p:sp>
        <p:nvSpPr>
          <p:cNvPr id="14" name="Shape 12"/>
          <p:cNvSpPr/>
          <p:nvPr/>
        </p:nvSpPr>
        <p:spPr>
          <a:xfrm>
            <a:off x="365760" y="2011680"/>
            <a:ext cx="777240" cy="530352"/>
          </a:xfrm>
          <a:prstGeom prst="rect">
            <a:avLst/>
          </a:prstGeom>
          <a:solidFill>
            <a:srgbClr val="2E8B74">
              <a:alpha val="70000"/>
            </a:srgbClr>
          </a:solidFill>
          <a:ln w="12700">
            <a:solidFill>
              <a:srgbClr val="2E8B74">
                <a:alpha val="70000"/>
              </a:srgbClr>
            </a:solidFill>
            <a:prstDash val="solid"/>
          </a:ln>
        </p:spPr>
        <p:txBody>
          <a:bodyPr/>
          <a:lstStyle/>
          <a:p>
            <a:endParaRPr lang="es-AR"/>
          </a:p>
        </p:txBody>
      </p:sp>
      <p:sp>
        <p:nvSpPr>
          <p:cNvPr id="15" name="Text 13"/>
          <p:cNvSpPr/>
          <p:nvPr/>
        </p:nvSpPr>
        <p:spPr>
          <a:xfrm>
            <a:off x="384048" y="2103120"/>
            <a:ext cx="740664"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Nivel 2</a:t>
            </a:r>
            <a:endParaRPr lang="en-US" sz="800" dirty="0"/>
          </a:p>
        </p:txBody>
      </p:sp>
      <p:sp>
        <p:nvSpPr>
          <p:cNvPr id="16" name="Text 14"/>
          <p:cNvSpPr/>
          <p:nvPr/>
        </p:nvSpPr>
        <p:spPr>
          <a:xfrm>
            <a:off x="1234440" y="2066544"/>
            <a:ext cx="7315200" cy="42062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¿Por qué el ingreso es un medio y no un fin? ¿Cuál es el problema del enfoque bienestarista?</a:t>
            </a:r>
            <a:endParaRPr lang="en-US" sz="1100" dirty="0"/>
          </a:p>
        </p:txBody>
      </p:sp>
      <p:sp>
        <p:nvSpPr>
          <p:cNvPr id="17" name="Shape 15"/>
          <p:cNvSpPr/>
          <p:nvPr/>
        </p:nvSpPr>
        <p:spPr>
          <a:xfrm>
            <a:off x="365760" y="2615184"/>
            <a:ext cx="8412480" cy="530352"/>
          </a:xfrm>
          <a:prstGeom prst="rect">
            <a:avLst/>
          </a:prstGeom>
          <a:solidFill>
            <a:srgbClr val="FFFFFF">
              <a:alpha val="6000"/>
            </a:srgbClr>
          </a:solidFill>
          <a:ln w="12700">
            <a:solidFill>
              <a:srgbClr val="FFFFFF">
                <a:alpha val="20000"/>
              </a:srgbClr>
            </a:solidFill>
            <a:prstDash val="solid"/>
          </a:ln>
        </p:spPr>
        <p:txBody>
          <a:bodyPr/>
          <a:lstStyle/>
          <a:p>
            <a:endParaRPr lang="es-AR"/>
          </a:p>
        </p:txBody>
      </p:sp>
      <p:sp>
        <p:nvSpPr>
          <p:cNvPr id="18" name="Shape 16"/>
          <p:cNvSpPr/>
          <p:nvPr/>
        </p:nvSpPr>
        <p:spPr>
          <a:xfrm>
            <a:off x="365760" y="2615184"/>
            <a:ext cx="777240" cy="530352"/>
          </a:xfrm>
          <a:prstGeom prst="rect">
            <a:avLst/>
          </a:prstGeom>
          <a:solidFill>
            <a:srgbClr val="2E8B74">
              <a:alpha val="70000"/>
            </a:srgbClr>
          </a:solidFill>
          <a:ln w="12700">
            <a:solidFill>
              <a:srgbClr val="2E8B74">
                <a:alpha val="70000"/>
              </a:srgbClr>
            </a:solidFill>
            <a:prstDash val="solid"/>
          </a:ln>
        </p:spPr>
        <p:txBody>
          <a:bodyPr/>
          <a:lstStyle/>
          <a:p>
            <a:endParaRPr lang="es-AR"/>
          </a:p>
        </p:txBody>
      </p:sp>
      <p:sp>
        <p:nvSpPr>
          <p:cNvPr id="19" name="Text 17"/>
          <p:cNvSpPr/>
          <p:nvPr/>
        </p:nvSpPr>
        <p:spPr>
          <a:xfrm>
            <a:off x="384048" y="2706624"/>
            <a:ext cx="740664"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Nivel 2</a:t>
            </a:r>
            <a:endParaRPr lang="en-US" sz="800" dirty="0"/>
          </a:p>
        </p:txBody>
      </p:sp>
      <p:sp>
        <p:nvSpPr>
          <p:cNvPr id="20" name="Text 18"/>
          <p:cNvSpPr/>
          <p:nvPr/>
        </p:nvSpPr>
        <p:spPr>
          <a:xfrm>
            <a:off x="1234440" y="2670048"/>
            <a:ext cx="7315200" cy="42062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¿Qué son los factores de conversión y por qué importa distinguir entre internos y externos?</a:t>
            </a:r>
            <a:endParaRPr lang="en-US" sz="1100" dirty="0"/>
          </a:p>
        </p:txBody>
      </p:sp>
      <p:sp>
        <p:nvSpPr>
          <p:cNvPr id="21" name="Shape 19"/>
          <p:cNvSpPr/>
          <p:nvPr/>
        </p:nvSpPr>
        <p:spPr>
          <a:xfrm>
            <a:off x="365760" y="3218688"/>
            <a:ext cx="8412480" cy="530352"/>
          </a:xfrm>
          <a:prstGeom prst="rect">
            <a:avLst/>
          </a:prstGeom>
          <a:solidFill>
            <a:srgbClr val="FFFFFF">
              <a:alpha val="6000"/>
            </a:srgbClr>
          </a:solidFill>
          <a:ln w="12700">
            <a:solidFill>
              <a:srgbClr val="FFFFFF">
                <a:alpha val="20000"/>
              </a:srgbClr>
            </a:solidFill>
            <a:prstDash val="solid"/>
          </a:ln>
        </p:spPr>
        <p:txBody>
          <a:bodyPr/>
          <a:lstStyle/>
          <a:p>
            <a:endParaRPr lang="es-AR"/>
          </a:p>
        </p:txBody>
      </p:sp>
      <p:sp>
        <p:nvSpPr>
          <p:cNvPr id="22" name="Shape 20"/>
          <p:cNvSpPr/>
          <p:nvPr/>
        </p:nvSpPr>
        <p:spPr>
          <a:xfrm>
            <a:off x="365760" y="3218688"/>
            <a:ext cx="777240" cy="530352"/>
          </a:xfrm>
          <a:prstGeom prst="rect">
            <a:avLst/>
          </a:prstGeom>
          <a:solidFill>
            <a:srgbClr val="C0533A">
              <a:alpha val="70000"/>
            </a:srgbClr>
          </a:solidFill>
          <a:ln w="12700">
            <a:solidFill>
              <a:srgbClr val="C0533A">
                <a:alpha val="70000"/>
              </a:srgbClr>
            </a:solidFill>
            <a:prstDash val="solid"/>
          </a:ln>
        </p:spPr>
        <p:txBody>
          <a:bodyPr/>
          <a:lstStyle/>
          <a:p>
            <a:endParaRPr lang="es-AR"/>
          </a:p>
        </p:txBody>
      </p:sp>
      <p:sp>
        <p:nvSpPr>
          <p:cNvPr id="23" name="Text 21"/>
          <p:cNvSpPr/>
          <p:nvPr/>
        </p:nvSpPr>
        <p:spPr>
          <a:xfrm>
            <a:off x="384048" y="3310128"/>
            <a:ext cx="740664"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Nivel 3</a:t>
            </a:r>
            <a:endParaRPr lang="en-US" sz="800" dirty="0"/>
          </a:p>
        </p:txBody>
      </p:sp>
      <p:sp>
        <p:nvSpPr>
          <p:cNvPr id="24" name="Text 22"/>
          <p:cNvSpPr/>
          <p:nvPr/>
        </p:nvSpPr>
        <p:spPr>
          <a:xfrm>
            <a:off x="1234440" y="3273552"/>
            <a:ext cx="7315200" cy="42062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Usá el ejemplo de la bicicleta para explicar la diferencia entre tener un recurso y tener capacidad.</a:t>
            </a:r>
            <a:endParaRPr lang="en-US" sz="1100" dirty="0"/>
          </a:p>
        </p:txBody>
      </p:sp>
      <p:sp>
        <p:nvSpPr>
          <p:cNvPr id="25" name="Shape 23"/>
          <p:cNvSpPr/>
          <p:nvPr/>
        </p:nvSpPr>
        <p:spPr>
          <a:xfrm>
            <a:off x="365760" y="3822192"/>
            <a:ext cx="8412480" cy="530352"/>
          </a:xfrm>
          <a:prstGeom prst="rect">
            <a:avLst/>
          </a:prstGeom>
          <a:solidFill>
            <a:srgbClr val="FFFFFF">
              <a:alpha val="6000"/>
            </a:srgbClr>
          </a:solidFill>
          <a:ln w="12700">
            <a:solidFill>
              <a:srgbClr val="FFFFFF">
                <a:alpha val="20000"/>
              </a:srgbClr>
            </a:solidFill>
            <a:prstDash val="solid"/>
          </a:ln>
        </p:spPr>
        <p:txBody>
          <a:bodyPr/>
          <a:lstStyle/>
          <a:p>
            <a:endParaRPr lang="es-AR"/>
          </a:p>
        </p:txBody>
      </p:sp>
      <p:sp>
        <p:nvSpPr>
          <p:cNvPr id="26" name="Shape 24"/>
          <p:cNvSpPr/>
          <p:nvPr/>
        </p:nvSpPr>
        <p:spPr>
          <a:xfrm>
            <a:off x="365760" y="3822192"/>
            <a:ext cx="777240" cy="530352"/>
          </a:xfrm>
          <a:prstGeom prst="rect">
            <a:avLst/>
          </a:prstGeom>
          <a:solidFill>
            <a:srgbClr val="C0533A">
              <a:alpha val="70000"/>
            </a:srgbClr>
          </a:solidFill>
          <a:ln w="12700">
            <a:solidFill>
              <a:srgbClr val="C0533A">
                <a:alpha val="70000"/>
              </a:srgbClr>
            </a:solidFill>
            <a:prstDash val="solid"/>
          </a:ln>
        </p:spPr>
        <p:txBody>
          <a:bodyPr/>
          <a:lstStyle/>
          <a:p>
            <a:endParaRPr lang="es-AR"/>
          </a:p>
        </p:txBody>
      </p:sp>
      <p:sp>
        <p:nvSpPr>
          <p:cNvPr id="27" name="Text 25"/>
          <p:cNvSpPr/>
          <p:nvPr/>
        </p:nvSpPr>
        <p:spPr>
          <a:xfrm>
            <a:off x="384048" y="3913632"/>
            <a:ext cx="740664"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Nivel 3</a:t>
            </a:r>
            <a:endParaRPr lang="en-US" sz="800" dirty="0"/>
          </a:p>
        </p:txBody>
      </p:sp>
      <p:sp>
        <p:nvSpPr>
          <p:cNvPr id="28" name="Text 26"/>
          <p:cNvSpPr/>
          <p:nvPr/>
        </p:nvSpPr>
        <p:spPr>
          <a:xfrm>
            <a:off x="1234440" y="3877056"/>
            <a:ext cx="7315200" cy="42062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Comparé el enfoque bienestarista con el de capacidades: ¿qué mide cada uno y cuáles son sus críticas?</a:t>
            </a:r>
            <a:endParaRPr lang="en-US" sz="1100" dirty="0"/>
          </a:p>
        </p:txBody>
      </p:sp>
      <p:sp>
        <p:nvSpPr>
          <p:cNvPr id="29" name="Shape 27"/>
          <p:cNvSpPr/>
          <p:nvPr/>
        </p:nvSpPr>
        <p:spPr>
          <a:xfrm>
            <a:off x="365760" y="4425696"/>
            <a:ext cx="8412480" cy="530352"/>
          </a:xfrm>
          <a:prstGeom prst="rect">
            <a:avLst/>
          </a:prstGeom>
          <a:solidFill>
            <a:srgbClr val="FFFFFF">
              <a:alpha val="6000"/>
            </a:srgbClr>
          </a:solidFill>
          <a:ln w="12700">
            <a:solidFill>
              <a:srgbClr val="FFFFFF">
                <a:alpha val="20000"/>
              </a:srgbClr>
            </a:solidFill>
            <a:prstDash val="solid"/>
          </a:ln>
        </p:spPr>
        <p:txBody>
          <a:bodyPr/>
          <a:lstStyle/>
          <a:p>
            <a:endParaRPr lang="es-AR"/>
          </a:p>
        </p:txBody>
      </p:sp>
      <p:sp>
        <p:nvSpPr>
          <p:cNvPr id="30" name="Shape 28"/>
          <p:cNvSpPr/>
          <p:nvPr/>
        </p:nvSpPr>
        <p:spPr>
          <a:xfrm>
            <a:off x="365760" y="4425696"/>
            <a:ext cx="777240" cy="530352"/>
          </a:xfrm>
          <a:prstGeom prst="rect">
            <a:avLst/>
          </a:prstGeom>
          <a:solidFill>
            <a:srgbClr val="7B5EA7">
              <a:alpha val="70000"/>
            </a:srgbClr>
          </a:solidFill>
          <a:ln w="12700">
            <a:solidFill>
              <a:srgbClr val="7B5EA7">
                <a:alpha val="70000"/>
              </a:srgbClr>
            </a:solidFill>
            <a:prstDash val="solid"/>
          </a:ln>
        </p:spPr>
        <p:txBody>
          <a:bodyPr/>
          <a:lstStyle/>
          <a:p>
            <a:endParaRPr lang="es-AR"/>
          </a:p>
        </p:txBody>
      </p:sp>
      <p:sp>
        <p:nvSpPr>
          <p:cNvPr id="31" name="Text 29"/>
          <p:cNvSpPr/>
          <p:nvPr/>
        </p:nvSpPr>
        <p:spPr>
          <a:xfrm>
            <a:off x="384048" y="4517136"/>
            <a:ext cx="740664"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Nivel 4</a:t>
            </a:r>
            <a:endParaRPr lang="en-US" sz="800" dirty="0"/>
          </a:p>
        </p:txBody>
      </p:sp>
      <p:sp>
        <p:nvSpPr>
          <p:cNvPr id="32" name="Text 30"/>
          <p:cNvSpPr/>
          <p:nvPr/>
        </p:nvSpPr>
        <p:spPr>
          <a:xfrm>
            <a:off x="1234440" y="4480560"/>
            <a:ext cx="7315200" cy="42062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¿Por qué Sen no propone una lista de capacidades y Nussbaum sí? ¿Cuáles son las fortalezas y riesgos de cada posición?</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282"/>
          </a:solidFill>
          <a:ln w="12700">
            <a:solidFill>
              <a:srgbClr val="2C5282"/>
            </a:solidFill>
            <a:prstDash val="solid"/>
          </a:ln>
        </p:spPr>
        <p:txBody>
          <a:bodyPr/>
          <a:lstStyle/>
          <a:p>
            <a:endParaRPr lang="es-AR"/>
          </a:p>
        </p:txBody>
      </p:sp>
      <p:sp>
        <p:nvSpPr>
          <p:cNvPr id="3" name="Shape 1"/>
          <p:cNvSpPr/>
          <p:nvPr/>
        </p:nvSpPr>
        <p:spPr>
          <a:xfrm>
            <a:off x="0" y="0"/>
            <a:ext cx="1280160" cy="73152"/>
          </a:xfrm>
          <a:prstGeom prst="rect">
            <a:avLst/>
          </a:prstGeom>
          <a:solidFill>
            <a:srgbClr val="2E8B74"/>
          </a:solidFill>
          <a:ln w="12700">
            <a:solidFill>
              <a:srgbClr val="2E8B74"/>
            </a:solidFill>
            <a:prstDash val="solid"/>
          </a:ln>
        </p:spPr>
        <p:txBody>
          <a:bodyPr/>
          <a:lstStyle/>
          <a:p>
            <a:endParaRPr lang="es-AR"/>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800" b="1" dirty="0">
                <a:solidFill>
                  <a:srgbClr val="1B2A3B"/>
                </a:solidFill>
                <a:latin typeface="Georgia" pitchFamily="34" charset="0"/>
                <a:ea typeface="Georgia" pitchFamily="34" charset="-122"/>
                <a:cs typeface="Georgia" pitchFamily="34" charset="-120"/>
              </a:rPr>
              <a:t>Resumen Final — Lo Que Tenés que Saber</a:t>
            </a:r>
            <a:endParaRPr lang="en-US" sz="2800" dirty="0"/>
          </a:p>
        </p:txBody>
      </p:sp>
      <p:sp>
        <p:nvSpPr>
          <p:cNvPr id="5" name="Shape 3"/>
          <p:cNvSpPr/>
          <p:nvPr/>
        </p:nvSpPr>
        <p:spPr>
          <a:xfrm>
            <a:off x="457200" y="731520"/>
            <a:ext cx="36576" cy="201168"/>
          </a:xfrm>
          <a:prstGeom prst="rect">
            <a:avLst/>
          </a:prstGeom>
          <a:solidFill>
            <a:srgbClr val="2E8B74"/>
          </a:solidFill>
          <a:ln w="12700">
            <a:solidFill>
              <a:srgbClr val="2E8B74"/>
            </a:solidFill>
            <a:prstDash val="solid"/>
          </a:ln>
        </p:spPr>
        <p:txBody>
          <a:bodyPr/>
          <a:lstStyle/>
          <a:p>
            <a:endParaRPr lang="es-AR"/>
          </a:p>
        </p:txBody>
      </p:sp>
      <p:sp>
        <p:nvSpPr>
          <p:cNvPr id="6" name="Text 4"/>
          <p:cNvSpPr/>
          <p:nvPr/>
        </p:nvSpPr>
        <p:spPr>
          <a:xfrm>
            <a:off x="566928" y="713232"/>
            <a:ext cx="4572000" cy="256032"/>
          </a:xfrm>
          <a:prstGeom prst="rect">
            <a:avLst/>
          </a:prstGeom>
          <a:noFill/>
          <a:ln/>
        </p:spPr>
        <p:txBody>
          <a:bodyPr wrap="square" lIns="0" tIns="0" rIns="0" bIns="0" rtlCol="0" anchor="ctr"/>
          <a:lstStyle/>
          <a:p>
            <a:pPr marL="0" indent="0">
              <a:buNone/>
            </a:pPr>
            <a:r>
              <a:rPr lang="en-US" sz="900" b="1" kern="0" spc="200" dirty="0">
                <a:solidFill>
                  <a:srgbClr val="2E8B74"/>
                </a:solidFill>
                <a:latin typeface="Calibri" pitchFamily="34" charset="0"/>
                <a:ea typeface="Calibri" pitchFamily="34" charset="-122"/>
                <a:cs typeface="Calibri" pitchFamily="34" charset="-120"/>
              </a:rPr>
              <a:t>U3.1 Y U3.2 — SÍNTESIS COMPLETA</a:t>
            </a:r>
            <a:endParaRPr lang="en-US" sz="900" dirty="0"/>
          </a:p>
        </p:txBody>
      </p:sp>
      <p:sp>
        <p:nvSpPr>
          <p:cNvPr id="7" name="Shape 5"/>
          <p:cNvSpPr/>
          <p:nvPr/>
        </p:nvSpPr>
        <p:spPr>
          <a:xfrm>
            <a:off x="365760" y="987552"/>
            <a:ext cx="594360" cy="420624"/>
          </a:xfrm>
          <a:prstGeom prst="rect">
            <a:avLst/>
          </a:prstGeom>
          <a:solidFill>
            <a:srgbClr val="2C5282"/>
          </a:solidFill>
          <a:ln w="12700">
            <a:solidFill>
              <a:srgbClr val="2C5282"/>
            </a:solidFill>
            <a:prstDash val="solid"/>
          </a:ln>
        </p:spPr>
        <p:txBody>
          <a:bodyPr/>
          <a:lstStyle/>
          <a:p>
            <a:endParaRPr lang="es-AR"/>
          </a:p>
        </p:txBody>
      </p:sp>
      <p:sp>
        <p:nvSpPr>
          <p:cNvPr id="8" name="Text 6"/>
          <p:cNvSpPr/>
          <p:nvPr/>
        </p:nvSpPr>
        <p:spPr>
          <a:xfrm>
            <a:off x="365760" y="987552"/>
            <a:ext cx="594360" cy="42062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U3.1</a:t>
            </a:r>
            <a:endParaRPr lang="en-US" sz="850" dirty="0"/>
          </a:p>
        </p:txBody>
      </p:sp>
      <p:sp>
        <p:nvSpPr>
          <p:cNvPr id="9" name="Text 7"/>
          <p:cNvSpPr/>
          <p:nvPr/>
        </p:nvSpPr>
        <p:spPr>
          <a:xfrm>
            <a:off x="1078992" y="1024128"/>
            <a:ext cx="7680960" cy="34747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El bienestar evolucionó de medios (ingreso) a fines (ser educado, estar sano, poder participar). El paradigma del Desarrollo Humano pone a las personas en el centro.</a:t>
            </a:r>
            <a:endParaRPr lang="en-US" sz="1100" dirty="0"/>
          </a:p>
        </p:txBody>
      </p:sp>
      <p:sp>
        <p:nvSpPr>
          <p:cNvPr id="10" name="Shape 8"/>
          <p:cNvSpPr/>
          <p:nvPr/>
        </p:nvSpPr>
        <p:spPr>
          <a:xfrm>
            <a:off x="365760" y="1481328"/>
            <a:ext cx="594360" cy="420624"/>
          </a:xfrm>
          <a:prstGeom prst="rect">
            <a:avLst/>
          </a:prstGeom>
          <a:solidFill>
            <a:srgbClr val="2C5282"/>
          </a:solidFill>
          <a:ln w="12700">
            <a:solidFill>
              <a:srgbClr val="2C5282"/>
            </a:solidFill>
            <a:prstDash val="solid"/>
          </a:ln>
        </p:spPr>
        <p:txBody>
          <a:bodyPr/>
          <a:lstStyle/>
          <a:p>
            <a:endParaRPr lang="es-AR"/>
          </a:p>
        </p:txBody>
      </p:sp>
      <p:sp>
        <p:nvSpPr>
          <p:cNvPr id="11" name="Text 9"/>
          <p:cNvSpPr/>
          <p:nvPr/>
        </p:nvSpPr>
        <p:spPr>
          <a:xfrm>
            <a:off x="365760" y="1481328"/>
            <a:ext cx="594360" cy="42062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U3.1</a:t>
            </a:r>
            <a:endParaRPr lang="en-US" sz="850" dirty="0"/>
          </a:p>
        </p:txBody>
      </p:sp>
      <p:sp>
        <p:nvSpPr>
          <p:cNvPr id="12" name="Text 10"/>
          <p:cNvSpPr/>
          <p:nvPr/>
        </p:nvSpPr>
        <p:spPr>
          <a:xfrm>
            <a:off x="1078992" y="1517904"/>
            <a:ext cx="7680960" cy="34747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Los 4 pilares: eficiencia, equidad (≠ igualdad), potenciación (agencia) y sustentabilidad. Son las condiciones DEL PROCESO de desarrollo.</a:t>
            </a:r>
            <a:endParaRPr lang="en-US" sz="1100" dirty="0"/>
          </a:p>
        </p:txBody>
      </p:sp>
      <p:sp>
        <p:nvSpPr>
          <p:cNvPr id="13" name="Shape 11"/>
          <p:cNvSpPr/>
          <p:nvPr/>
        </p:nvSpPr>
        <p:spPr>
          <a:xfrm>
            <a:off x="365760" y="1975104"/>
            <a:ext cx="594360" cy="420624"/>
          </a:xfrm>
          <a:prstGeom prst="rect">
            <a:avLst/>
          </a:prstGeom>
          <a:solidFill>
            <a:srgbClr val="2C5282"/>
          </a:solidFill>
          <a:ln w="12700">
            <a:solidFill>
              <a:srgbClr val="2C5282"/>
            </a:solidFill>
            <a:prstDash val="solid"/>
          </a:ln>
        </p:spPr>
        <p:txBody>
          <a:bodyPr/>
          <a:lstStyle/>
          <a:p>
            <a:endParaRPr lang="es-AR"/>
          </a:p>
        </p:txBody>
      </p:sp>
      <p:sp>
        <p:nvSpPr>
          <p:cNvPr id="14" name="Text 12"/>
          <p:cNvSpPr/>
          <p:nvPr/>
        </p:nvSpPr>
        <p:spPr>
          <a:xfrm>
            <a:off x="365760" y="1975104"/>
            <a:ext cx="594360" cy="42062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U3.1</a:t>
            </a:r>
            <a:endParaRPr lang="en-US" sz="850" dirty="0"/>
          </a:p>
        </p:txBody>
      </p:sp>
      <p:sp>
        <p:nvSpPr>
          <p:cNvPr id="15" name="Text 13"/>
          <p:cNvSpPr/>
          <p:nvPr/>
        </p:nvSpPr>
        <p:spPr>
          <a:xfrm>
            <a:off x="1078992" y="2011680"/>
            <a:ext cx="7680960" cy="34747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Bienestar ≠ Desigualdad ≠ Pobreza. El IDH mide 3 dimensiones pero es muy agregado. Crecimiento es necesario pero no suficiente.</a:t>
            </a:r>
            <a:endParaRPr lang="en-US" sz="1100" dirty="0"/>
          </a:p>
        </p:txBody>
      </p:sp>
      <p:sp>
        <p:nvSpPr>
          <p:cNvPr id="16" name="Shape 14"/>
          <p:cNvSpPr/>
          <p:nvPr/>
        </p:nvSpPr>
        <p:spPr>
          <a:xfrm>
            <a:off x="365760" y="2468880"/>
            <a:ext cx="594360" cy="420624"/>
          </a:xfrm>
          <a:prstGeom prst="rect">
            <a:avLst/>
          </a:prstGeom>
          <a:solidFill>
            <a:srgbClr val="2C5282"/>
          </a:solidFill>
          <a:ln w="12700">
            <a:solidFill>
              <a:srgbClr val="2C5282"/>
            </a:solidFill>
            <a:prstDash val="solid"/>
          </a:ln>
        </p:spPr>
        <p:txBody>
          <a:bodyPr/>
          <a:lstStyle/>
          <a:p>
            <a:endParaRPr lang="es-AR"/>
          </a:p>
        </p:txBody>
      </p:sp>
      <p:sp>
        <p:nvSpPr>
          <p:cNvPr id="17" name="Text 15"/>
          <p:cNvSpPr/>
          <p:nvPr/>
        </p:nvSpPr>
        <p:spPr>
          <a:xfrm>
            <a:off x="365760" y="2468880"/>
            <a:ext cx="594360" cy="42062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U3.1</a:t>
            </a:r>
            <a:endParaRPr lang="en-US" sz="850" dirty="0"/>
          </a:p>
        </p:txBody>
      </p:sp>
      <p:sp>
        <p:nvSpPr>
          <p:cNvPr id="18" name="Text 16"/>
          <p:cNvSpPr/>
          <p:nvPr/>
        </p:nvSpPr>
        <p:spPr>
          <a:xfrm>
            <a:off x="1078992" y="2505456"/>
            <a:ext cx="7680960" cy="34747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Enfoque bienestarista: mide utilidad vía ingreso. Problema: el ingreso es un medio, no un fin. Preferencias pueden estar distorsionadas.</a:t>
            </a:r>
            <a:endParaRPr lang="en-US" sz="1100" dirty="0"/>
          </a:p>
        </p:txBody>
      </p:sp>
      <p:sp>
        <p:nvSpPr>
          <p:cNvPr id="19" name="Shape 17"/>
          <p:cNvSpPr/>
          <p:nvPr/>
        </p:nvSpPr>
        <p:spPr>
          <a:xfrm>
            <a:off x="365760" y="2962656"/>
            <a:ext cx="594360" cy="420624"/>
          </a:xfrm>
          <a:prstGeom prst="rect">
            <a:avLst/>
          </a:prstGeom>
          <a:solidFill>
            <a:srgbClr val="2E8B74"/>
          </a:solidFill>
          <a:ln w="12700">
            <a:solidFill>
              <a:srgbClr val="2E8B74"/>
            </a:solidFill>
            <a:prstDash val="solid"/>
          </a:ln>
        </p:spPr>
        <p:txBody>
          <a:bodyPr/>
          <a:lstStyle/>
          <a:p>
            <a:endParaRPr lang="es-AR"/>
          </a:p>
        </p:txBody>
      </p:sp>
      <p:sp>
        <p:nvSpPr>
          <p:cNvPr id="20" name="Text 18"/>
          <p:cNvSpPr/>
          <p:nvPr/>
        </p:nvSpPr>
        <p:spPr>
          <a:xfrm>
            <a:off x="365760" y="2962656"/>
            <a:ext cx="594360" cy="42062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U3.2</a:t>
            </a:r>
            <a:endParaRPr lang="en-US" sz="850" dirty="0"/>
          </a:p>
        </p:txBody>
      </p:sp>
      <p:sp>
        <p:nvSpPr>
          <p:cNvPr id="21" name="Text 19"/>
          <p:cNvSpPr/>
          <p:nvPr/>
        </p:nvSpPr>
        <p:spPr>
          <a:xfrm>
            <a:off x="1078992" y="2999232"/>
            <a:ext cx="7680960" cy="34747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Sen: funcionamientos (lo que logro), capacidades (lo que puedo lograr), agencia (cómo lo persigo activamente). Factores de conversión explican la brecha recurso→bienestar.</a:t>
            </a:r>
            <a:endParaRPr lang="en-US" sz="1100" dirty="0"/>
          </a:p>
        </p:txBody>
      </p:sp>
      <p:sp>
        <p:nvSpPr>
          <p:cNvPr id="22" name="Shape 20"/>
          <p:cNvSpPr/>
          <p:nvPr/>
        </p:nvSpPr>
        <p:spPr>
          <a:xfrm>
            <a:off x="365760" y="3456432"/>
            <a:ext cx="594360" cy="420624"/>
          </a:xfrm>
          <a:prstGeom prst="rect">
            <a:avLst/>
          </a:prstGeom>
          <a:solidFill>
            <a:srgbClr val="2E8B74"/>
          </a:solidFill>
          <a:ln w="12700">
            <a:solidFill>
              <a:srgbClr val="2E8B74"/>
            </a:solidFill>
            <a:prstDash val="solid"/>
          </a:ln>
        </p:spPr>
        <p:txBody>
          <a:bodyPr/>
          <a:lstStyle/>
          <a:p>
            <a:endParaRPr lang="es-AR"/>
          </a:p>
        </p:txBody>
      </p:sp>
      <p:sp>
        <p:nvSpPr>
          <p:cNvPr id="23" name="Text 21"/>
          <p:cNvSpPr/>
          <p:nvPr/>
        </p:nvSpPr>
        <p:spPr>
          <a:xfrm>
            <a:off x="365760" y="3456432"/>
            <a:ext cx="594360" cy="42062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U3.2</a:t>
            </a:r>
            <a:endParaRPr lang="en-US" sz="850" dirty="0"/>
          </a:p>
        </p:txBody>
      </p:sp>
      <p:sp>
        <p:nvSpPr>
          <p:cNvPr id="24" name="Text 22"/>
          <p:cNvSpPr/>
          <p:nvPr/>
        </p:nvSpPr>
        <p:spPr>
          <a:xfrm>
            <a:off x="1078992" y="3493008"/>
            <a:ext cx="7680960" cy="34747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Sen: consenso comunitario para definir capacidades. Nussbaum: lista de 10 capacidades universales. Ambas posiciones con ventajas y riesgos.</a:t>
            </a:r>
            <a:endParaRPr lang="en-US" sz="1100" dirty="0"/>
          </a:p>
        </p:txBody>
      </p:sp>
      <p:sp>
        <p:nvSpPr>
          <p:cNvPr id="25" name="Shape 23"/>
          <p:cNvSpPr/>
          <p:nvPr/>
        </p:nvSpPr>
        <p:spPr>
          <a:xfrm>
            <a:off x="365760" y="3950208"/>
            <a:ext cx="594360" cy="420624"/>
          </a:xfrm>
          <a:prstGeom prst="rect">
            <a:avLst/>
          </a:prstGeom>
          <a:solidFill>
            <a:srgbClr val="2E8B74"/>
          </a:solidFill>
          <a:ln w="12700">
            <a:solidFill>
              <a:srgbClr val="2E8B74"/>
            </a:solidFill>
            <a:prstDash val="solid"/>
          </a:ln>
        </p:spPr>
        <p:txBody>
          <a:bodyPr/>
          <a:lstStyle/>
          <a:p>
            <a:endParaRPr lang="es-AR"/>
          </a:p>
        </p:txBody>
      </p:sp>
      <p:sp>
        <p:nvSpPr>
          <p:cNvPr id="26" name="Text 24"/>
          <p:cNvSpPr/>
          <p:nvPr/>
        </p:nvSpPr>
        <p:spPr>
          <a:xfrm>
            <a:off x="365760" y="3950208"/>
            <a:ext cx="594360" cy="42062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U3.2</a:t>
            </a:r>
            <a:endParaRPr lang="en-US" sz="850" dirty="0"/>
          </a:p>
        </p:txBody>
      </p:sp>
      <p:sp>
        <p:nvSpPr>
          <p:cNvPr id="27" name="Text 25"/>
          <p:cNvSpPr/>
          <p:nvPr/>
        </p:nvSpPr>
        <p:spPr>
          <a:xfrm>
            <a:off x="1078992" y="3986784"/>
            <a:ext cx="7680960" cy="34747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Desarrollo humano vs. Liberalismo: ambos hablan de libertad, pero libertad REAL (condiciones) vs. libertad FORMAL (ausencia de prohibición).</a:t>
            </a:r>
            <a:endParaRPr lang="en-US" sz="1100" dirty="0"/>
          </a:p>
        </p:txBody>
      </p:sp>
      <p:sp>
        <p:nvSpPr>
          <p:cNvPr id="28" name="Shape 26"/>
          <p:cNvSpPr/>
          <p:nvPr/>
        </p:nvSpPr>
        <p:spPr>
          <a:xfrm>
            <a:off x="365760" y="4443984"/>
            <a:ext cx="594360" cy="420624"/>
          </a:xfrm>
          <a:prstGeom prst="rect">
            <a:avLst/>
          </a:prstGeom>
          <a:solidFill>
            <a:srgbClr val="7B5EA7"/>
          </a:solidFill>
          <a:ln w="12700">
            <a:solidFill>
              <a:srgbClr val="7B5EA7"/>
            </a:solidFill>
            <a:prstDash val="solid"/>
          </a:ln>
        </p:spPr>
        <p:txBody>
          <a:bodyPr/>
          <a:lstStyle/>
          <a:p>
            <a:endParaRPr lang="es-AR"/>
          </a:p>
        </p:txBody>
      </p:sp>
      <p:sp>
        <p:nvSpPr>
          <p:cNvPr id="29" name="Text 27"/>
          <p:cNvSpPr/>
          <p:nvPr/>
        </p:nvSpPr>
        <p:spPr>
          <a:xfrm>
            <a:off x="365760" y="4443984"/>
            <a:ext cx="594360" cy="42062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t>
            </a:r>
            <a:endParaRPr lang="en-US" sz="850" dirty="0"/>
          </a:p>
        </p:txBody>
      </p:sp>
      <p:sp>
        <p:nvSpPr>
          <p:cNvPr id="30" name="Text 28"/>
          <p:cNvSpPr/>
          <p:nvPr/>
        </p:nvSpPr>
        <p:spPr>
          <a:xfrm>
            <a:off x="1078992" y="4480560"/>
            <a:ext cx="7680960" cy="34747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Derechos humanos y capacidades comparten objetivos pero difieren: los derechos son universales y fijos; las capacidades son contextuales y deliberativas.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7B5EA7"/>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Mini Repaso Rápido</a:t>
            </a:r>
            <a:endParaRPr lang="en-US" sz="26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marL="0" indent="0">
              <a:buNone/>
            </a:pPr>
            <a:r>
              <a:rPr lang="en-US" sz="1200" i="1" dirty="0">
                <a:solidFill>
                  <a:srgbClr val="EDF2F7"/>
                </a:solidFill>
                <a:latin typeface="Calibri" pitchFamily="34" charset="0"/>
                <a:ea typeface="Calibri" pitchFamily="34" charset="-122"/>
                <a:cs typeface="Calibri" pitchFamily="34" charset="-120"/>
              </a:rPr>
              <a:t>Completá mentalmente cada uno antes de cerrar la presentación</a:t>
            </a:r>
            <a:endParaRPr lang="en-US" sz="1200" dirty="0"/>
          </a:p>
        </p:txBody>
      </p:sp>
      <p:sp>
        <p:nvSpPr>
          <p:cNvPr id="4" name="Shape 2"/>
          <p:cNvSpPr/>
          <p:nvPr/>
        </p:nvSpPr>
        <p:spPr>
          <a:xfrm>
            <a:off x="457200" y="1051560"/>
            <a:ext cx="8229600" cy="548640"/>
          </a:xfrm>
          <a:prstGeom prst="rect">
            <a:avLst/>
          </a:prstGeom>
          <a:solidFill>
            <a:srgbClr val="FFFFFF">
              <a:alpha val="10000"/>
            </a:srgbClr>
          </a:solidFill>
          <a:ln w="12700">
            <a:solidFill>
              <a:srgbClr val="FFFFFF">
                <a:alpha val="30000"/>
              </a:srgbClr>
            </a:solidFill>
            <a:prstDash val="solid"/>
          </a:ln>
        </p:spPr>
        <p:txBody>
          <a:bodyPr/>
          <a:lstStyle/>
          <a:p>
            <a:endParaRPr lang="es-AR"/>
          </a:p>
        </p:txBody>
      </p:sp>
      <p:sp>
        <p:nvSpPr>
          <p:cNvPr id="5" name="Text 3"/>
          <p:cNvSpPr/>
          <p:nvPr/>
        </p:nvSpPr>
        <p:spPr>
          <a:xfrm>
            <a:off x="594360" y="1106424"/>
            <a:ext cx="7955280" cy="43891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1. ¿Cuál es la diferencia entre igualdad y equidad?</a:t>
            </a:r>
            <a:endParaRPr lang="en-US" sz="1100" dirty="0"/>
          </a:p>
        </p:txBody>
      </p:sp>
      <p:sp>
        <p:nvSpPr>
          <p:cNvPr id="6" name="Shape 4"/>
          <p:cNvSpPr/>
          <p:nvPr/>
        </p:nvSpPr>
        <p:spPr>
          <a:xfrm>
            <a:off x="457200" y="1673352"/>
            <a:ext cx="8229600" cy="548640"/>
          </a:xfrm>
          <a:prstGeom prst="rect">
            <a:avLst/>
          </a:prstGeom>
          <a:solidFill>
            <a:srgbClr val="FFFFFF">
              <a:alpha val="10000"/>
            </a:srgbClr>
          </a:solidFill>
          <a:ln w="12700">
            <a:solidFill>
              <a:srgbClr val="FFFFFF">
                <a:alpha val="30000"/>
              </a:srgbClr>
            </a:solidFill>
            <a:prstDash val="solid"/>
          </a:ln>
        </p:spPr>
        <p:txBody>
          <a:bodyPr/>
          <a:lstStyle/>
          <a:p>
            <a:endParaRPr lang="es-AR"/>
          </a:p>
        </p:txBody>
      </p:sp>
      <p:sp>
        <p:nvSpPr>
          <p:cNvPr id="7" name="Text 5"/>
          <p:cNvSpPr/>
          <p:nvPr/>
        </p:nvSpPr>
        <p:spPr>
          <a:xfrm>
            <a:off x="594360" y="1728216"/>
            <a:ext cx="7955280" cy="43891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2. ¿Qué son los funcionamientos? ¿Y las capacidades? ¿Y la agencia?</a:t>
            </a:r>
            <a:endParaRPr lang="en-US" sz="1100" dirty="0"/>
          </a:p>
        </p:txBody>
      </p:sp>
      <p:sp>
        <p:nvSpPr>
          <p:cNvPr id="8" name="Shape 6"/>
          <p:cNvSpPr/>
          <p:nvPr/>
        </p:nvSpPr>
        <p:spPr>
          <a:xfrm>
            <a:off x="457200" y="2295144"/>
            <a:ext cx="8229600" cy="548640"/>
          </a:xfrm>
          <a:prstGeom prst="rect">
            <a:avLst/>
          </a:prstGeom>
          <a:solidFill>
            <a:srgbClr val="FFFFFF">
              <a:alpha val="10000"/>
            </a:srgbClr>
          </a:solidFill>
          <a:ln w="12700">
            <a:solidFill>
              <a:srgbClr val="FFFFFF">
                <a:alpha val="30000"/>
              </a:srgbClr>
            </a:solidFill>
            <a:prstDash val="solid"/>
          </a:ln>
        </p:spPr>
        <p:txBody>
          <a:bodyPr/>
          <a:lstStyle/>
          <a:p>
            <a:endParaRPr lang="es-AR"/>
          </a:p>
        </p:txBody>
      </p:sp>
      <p:sp>
        <p:nvSpPr>
          <p:cNvPr id="9" name="Text 7"/>
          <p:cNvSpPr/>
          <p:nvPr/>
        </p:nvSpPr>
        <p:spPr>
          <a:xfrm>
            <a:off x="594360" y="2350008"/>
            <a:ext cx="7955280" cy="43891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3. ¿Por qué la persona en el enfoque de necesidades básicas está en un rol pasivo?</a:t>
            </a:r>
            <a:endParaRPr lang="en-US" sz="1100" dirty="0"/>
          </a:p>
        </p:txBody>
      </p:sp>
      <p:sp>
        <p:nvSpPr>
          <p:cNvPr id="10" name="Shape 8"/>
          <p:cNvSpPr/>
          <p:nvPr/>
        </p:nvSpPr>
        <p:spPr>
          <a:xfrm>
            <a:off x="457200" y="2916936"/>
            <a:ext cx="8229600" cy="548640"/>
          </a:xfrm>
          <a:prstGeom prst="rect">
            <a:avLst/>
          </a:prstGeom>
          <a:solidFill>
            <a:srgbClr val="FFFFFF">
              <a:alpha val="10000"/>
            </a:srgbClr>
          </a:solidFill>
          <a:ln w="12700">
            <a:solidFill>
              <a:srgbClr val="FFFFFF">
                <a:alpha val="30000"/>
              </a:srgbClr>
            </a:solidFill>
            <a:prstDash val="solid"/>
          </a:ln>
        </p:spPr>
        <p:txBody>
          <a:bodyPr/>
          <a:lstStyle/>
          <a:p>
            <a:endParaRPr lang="es-AR"/>
          </a:p>
        </p:txBody>
      </p:sp>
      <p:sp>
        <p:nvSpPr>
          <p:cNvPr id="11" name="Text 9"/>
          <p:cNvSpPr/>
          <p:nvPr/>
        </p:nvSpPr>
        <p:spPr>
          <a:xfrm>
            <a:off x="594360" y="2971800"/>
            <a:ext cx="7955280" cy="43891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4. Mencioná un factor de conversión interno y uno externo en el contexto de educación.</a:t>
            </a:r>
            <a:endParaRPr lang="en-US" sz="1100" dirty="0"/>
          </a:p>
        </p:txBody>
      </p:sp>
      <p:sp>
        <p:nvSpPr>
          <p:cNvPr id="12" name="Shape 10"/>
          <p:cNvSpPr/>
          <p:nvPr/>
        </p:nvSpPr>
        <p:spPr>
          <a:xfrm>
            <a:off x="457200" y="3538728"/>
            <a:ext cx="8229600" cy="548640"/>
          </a:xfrm>
          <a:prstGeom prst="rect">
            <a:avLst/>
          </a:prstGeom>
          <a:solidFill>
            <a:srgbClr val="FFFFFF">
              <a:alpha val="10000"/>
            </a:srgbClr>
          </a:solidFill>
          <a:ln w="12700">
            <a:solidFill>
              <a:srgbClr val="FFFFFF">
                <a:alpha val="30000"/>
              </a:srgbClr>
            </a:solidFill>
            <a:prstDash val="solid"/>
          </a:ln>
        </p:spPr>
        <p:txBody>
          <a:bodyPr/>
          <a:lstStyle/>
          <a:p>
            <a:endParaRPr lang="es-AR"/>
          </a:p>
        </p:txBody>
      </p:sp>
      <p:sp>
        <p:nvSpPr>
          <p:cNvPr id="13" name="Text 11"/>
          <p:cNvSpPr/>
          <p:nvPr/>
        </p:nvSpPr>
        <p:spPr>
          <a:xfrm>
            <a:off x="594360" y="3593592"/>
            <a:ext cx="7955280" cy="43891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5. ¿Qué diferencia hay entre la libertad real (Sen) y la libertad del liberalismo económico?</a:t>
            </a:r>
            <a:endParaRPr lang="en-US" sz="1100" dirty="0"/>
          </a:p>
        </p:txBody>
      </p:sp>
      <p:sp>
        <p:nvSpPr>
          <p:cNvPr id="14" name="Shape 12"/>
          <p:cNvSpPr/>
          <p:nvPr/>
        </p:nvSpPr>
        <p:spPr>
          <a:xfrm>
            <a:off x="457200" y="4160520"/>
            <a:ext cx="8229600" cy="548640"/>
          </a:xfrm>
          <a:prstGeom prst="rect">
            <a:avLst/>
          </a:prstGeom>
          <a:solidFill>
            <a:srgbClr val="FFFFFF">
              <a:alpha val="10000"/>
            </a:srgbClr>
          </a:solidFill>
          <a:ln w="12700">
            <a:solidFill>
              <a:srgbClr val="FFFFFF">
                <a:alpha val="30000"/>
              </a:srgbClr>
            </a:solidFill>
            <a:prstDash val="solid"/>
          </a:ln>
        </p:spPr>
        <p:txBody>
          <a:bodyPr/>
          <a:lstStyle/>
          <a:p>
            <a:endParaRPr lang="es-AR"/>
          </a:p>
        </p:txBody>
      </p:sp>
      <p:sp>
        <p:nvSpPr>
          <p:cNvPr id="15" name="Text 13"/>
          <p:cNvSpPr/>
          <p:nvPr/>
        </p:nvSpPr>
        <p:spPr>
          <a:xfrm>
            <a:off x="594360" y="4215384"/>
            <a:ext cx="7955280" cy="43891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6. ¿Por qué los derechos humanos son universales y las capacidades no necesariamente?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4419</Words>
  <Application>Microsoft Office PowerPoint</Application>
  <PresentationFormat>Presentación en pantalla (16:9)</PresentationFormat>
  <Paragraphs>464</Paragraphs>
  <Slides>25</Slides>
  <Notes>24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25</vt:i4>
      </vt:variant>
    </vt:vector>
  </HeadingPairs>
  <TitlesOfParts>
    <vt:vector size="29" baseType="lpstr">
      <vt:lpstr>Arial</vt:lpstr>
      <vt:lpstr>Calibri</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Economía del Desarrollo – U3.1 y U3.2 – Desarrollo Humano</dc:title>
  <dc:subject>PptxGenJS Presentation</dc:subject>
  <dc:creator>PptxGenJS</dc:creator>
  <cp:lastModifiedBy>estefanny vasquez</cp:lastModifiedBy>
  <cp:revision>1</cp:revision>
  <dcterms:created xsi:type="dcterms:W3CDTF">2026-05-07T02:31:00Z</dcterms:created>
  <dcterms:modified xsi:type="dcterms:W3CDTF">2026-05-09T23:59:34Z</dcterms:modified>
</cp:coreProperties>
</file>