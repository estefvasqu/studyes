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91" r:id="rId25"/>
    <p:sldId id="279" r:id="rId26"/>
    <p:sldId id="292" r:id="rId27"/>
    <p:sldId id="280" r:id="rId28"/>
    <p:sldId id="281" r:id="rId29"/>
    <p:sldId id="282" r:id="rId30"/>
    <p:sldId id="283" r:id="rId31"/>
    <p:sldId id="293" r:id="rId32"/>
    <p:sldId id="284" r:id="rId33"/>
    <p:sldId id="285" r:id="rId34"/>
    <p:sldId id="286" r:id="rId35"/>
    <p:sldId id="287" r:id="rId36"/>
    <p:sldId id="288" r:id="rId37"/>
    <p:sldId id="289" r:id="rId38"/>
    <p:sldId id="290"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23BFAC-6DB5-4C68-A4A6-6D9C04290894}" v="9" dt="2026-05-21T02:02:54.014"/>
  </p1510:revLst>
</p1510:revInfo>
</file>

<file path=ppt/tableStyles.xml><?xml version="1.0" encoding="utf-8"?>
<a:tblStyleLst xmlns:a="http://schemas.openxmlformats.org/drawingml/2006/main" def="{5C22544A-7EE6-4342-B048-85BDC9FD1C3A}">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0" d="100"/>
          <a:sy n="90" d="100"/>
        </p:scale>
        <p:origin x="37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tefanny vasquez" userId="d5a657f96adc8ecf" providerId="LiveId" clId="{98A29601-CF73-4DD9-B5EE-BFDCD35D78FF}"/>
    <pc:docChg chg="custSel addSld modSld">
      <pc:chgData name="estefanny vasquez" userId="d5a657f96adc8ecf" providerId="LiveId" clId="{98A29601-CF73-4DD9-B5EE-BFDCD35D78FF}" dt="2026-05-21T02:04:31.803" v="103" actId="20577"/>
      <pc:docMkLst>
        <pc:docMk/>
      </pc:docMkLst>
      <pc:sldChg chg="modSp mod">
        <pc:chgData name="estefanny vasquez" userId="d5a657f96adc8ecf" providerId="LiveId" clId="{98A29601-CF73-4DD9-B5EE-BFDCD35D78FF}" dt="2026-05-17T00:13:45.243" v="2" actId="20577"/>
        <pc:sldMkLst>
          <pc:docMk/>
          <pc:sldMk cId="0" sldId="276"/>
        </pc:sldMkLst>
        <pc:spChg chg="mod">
          <ac:chgData name="estefanny vasquez" userId="d5a657f96adc8ecf" providerId="LiveId" clId="{98A29601-CF73-4DD9-B5EE-BFDCD35D78FF}" dt="2026-05-17T00:13:45.243" v="2" actId="20577"/>
          <ac:spMkLst>
            <pc:docMk/>
            <pc:sldMk cId="0" sldId="276"/>
            <ac:spMk id="27" creationId="{00000000-0000-0000-0000-000000000000}"/>
          </ac:spMkLst>
        </pc:spChg>
      </pc:sldChg>
      <pc:sldChg chg="addSp modSp mod">
        <pc:chgData name="estefanny vasquez" userId="d5a657f96adc8ecf" providerId="LiveId" clId="{98A29601-CF73-4DD9-B5EE-BFDCD35D78FF}" dt="2026-05-19T00:02:57.435" v="40" actId="20577"/>
        <pc:sldMkLst>
          <pc:docMk/>
          <pc:sldMk cId="0" sldId="278"/>
        </pc:sldMkLst>
        <pc:spChg chg="mod">
          <ac:chgData name="estefanny vasquez" userId="d5a657f96adc8ecf" providerId="LiveId" clId="{98A29601-CF73-4DD9-B5EE-BFDCD35D78FF}" dt="2026-05-19T00:02:57.435" v="40" actId="20577"/>
          <ac:spMkLst>
            <pc:docMk/>
            <pc:sldMk cId="0" sldId="278"/>
            <ac:spMk id="3" creationId="{00000000-0000-0000-0000-000000000000}"/>
          </ac:spMkLst>
        </pc:spChg>
        <pc:spChg chg="add mod">
          <ac:chgData name="estefanny vasquez" userId="d5a657f96adc8ecf" providerId="LiveId" clId="{98A29601-CF73-4DD9-B5EE-BFDCD35D78FF}" dt="2026-05-19T00:02:51.886" v="39" actId="113"/>
          <ac:spMkLst>
            <pc:docMk/>
            <pc:sldMk cId="0" sldId="278"/>
            <ac:spMk id="21" creationId="{A35B3BC1-1E19-0DC6-75D2-5E08A2663E22}"/>
          </ac:spMkLst>
        </pc:spChg>
      </pc:sldChg>
      <pc:sldChg chg="modSp mod">
        <pc:chgData name="estefanny vasquez" userId="d5a657f96adc8ecf" providerId="LiveId" clId="{98A29601-CF73-4DD9-B5EE-BFDCD35D78FF}" dt="2026-05-17T00:15:32.903" v="4" actId="20577"/>
        <pc:sldMkLst>
          <pc:docMk/>
          <pc:sldMk cId="0" sldId="281"/>
        </pc:sldMkLst>
        <pc:spChg chg="mod">
          <ac:chgData name="estefanny vasquez" userId="d5a657f96adc8ecf" providerId="LiveId" clId="{98A29601-CF73-4DD9-B5EE-BFDCD35D78FF}" dt="2026-05-17T00:15:32.903" v="4" actId="20577"/>
          <ac:spMkLst>
            <pc:docMk/>
            <pc:sldMk cId="0" sldId="281"/>
            <ac:spMk id="29" creationId="{00000000-0000-0000-0000-000000000000}"/>
          </ac:spMkLst>
        </pc:spChg>
      </pc:sldChg>
      <pc:sldChg chg="addSp delSp modSp mod">
        <pc:chgData name="estefanny vasquez" userId="d5a657f96adc8ecf" providerId="LiveId" clId="{98A29601-CF73-4DD9-B5EE-BFDCD35D78FF}" dt="2026-05-21T02:03:05.700" v="97"/>
        <pc:sldMkLst>
          <pc:docMk/>
          <pc:sldMk cId="0" sldId="283"/>
        </pc:sldMkLst>
        <pc:spChg chg="mod">
          <ac:chgData name="estefanny vasquez" userId="d5a657f96adc8ecf" providerId="LiveId" clId="{98A29601-CF73-4DD9-B5EE-BFDCD35D78FF}" dt="2026-05-17T00:09:06.806" v="0" actId="404"/>
          <ac:spMkLst>
            <pc:docMk/>
            <pc:sldMk cId="0" sldId="283"/>
            <ac:spMk id="3" creationId="{00000000-0000-0000-0000-000000000000}"/>
          </ac:spMkLst>
        </pc:spChg>
        <pc:spChg chg="add del mod">
          <ac:chgData name="estefanny vasquez" userId="d5a657f96adc8ecf" providerId="LiveId" clId="{98A29601-CF73-4DD9-B5EE-BFDCD35D78FF}" dt="2026-05-21T02:02:50.870" v="93"/>
          <ac:spMkLst>
            <pc:docMk/>
            <pc:sldMk cId="0" sldId="283"/>
            <ac:spMk id="14" creationId="{50167BC1-1BEA-DD10-95E7-0898AD462750}"/>
          </ac:spMkLst>
        </pc:spChg>
        <pc:spChg chg="add mod">
          <ac:chgData name="estefanny vasquez" userId="d5a657f96adc8ecf" providerId="LiveId" clId="{98A29601-CF73-4DD9-B5EE-BFDCD35D78FF}" dt="2026-05-21T02:03:05.700" v="97"/>
          <ac:spMkLst>
            <pc:docMk/>
            <pc:sldMk cId="0" sldId="283"/>
            <ac:spMk id="15" creationId="{A43A9065-C139-B13C-DF6D-72444D3D8932}"/>
          </ac:spMkLst>
        </pc:spChg>
      </pc:sldChg>
      <pc:sldChg chg="addSp delSp modSp new mod">
        <pc:chgData name="estefanny vasquez" userId="d5a657f96adc8ecf" providerId="LiveId" clId="{98A29601-CF73-4DD9-B5EE-BFDCD35D78FF}" dt="2026-05-19T00:07:53.608" v="74" actId="113"/>
        <pc:sldMkLst>
          <pc:docMk/>
          <pc:sldMk cId="1458844695" sldId="291"/>
        </pc:sldMkLst>
        <pc:graphicFrameChg chg="add mod modGraphic">
          <ac:chgData name="estefanny vasquez" userId="d5a657f96adc8ecf" providerId="LiveId" clId="{98A29601-CF73-4DD9-B5EE-BFDCD35D78FF}" dt="2026-05-19T00:07:53.608" v="74" actId="113"/>
          <ac:graphicFrameMkLst>
            <pc:docMk/>
            <pc:sldMk cId="1458844695" sldId="291"/>
            <ac:graphicFrameMk id="2" creationId="{D563F7CD-E1EE-C974-EF51-35BE36CC4CFC}"/>
          </ac:graphicFrameMkLst>
        </pc:graphicFrameChg>
      </pc:sldChg>
      <pc:sldChg chg="addSp modSp new mod">
        <pc:chgData name="estefanny vasquez" userId="d5a657f96adc8ecf" providerId="LiveId" clId="{98A29601-CF73-4DD9-B5EE-BFDCD35D78FF}" dt="2026-05-19T00:12:29.891" v="90" actId="1076"/>
        <pc:sldMkLst>
          <pc:docMk/>
          <pc:sldMk cId="395564430" sldId="292"/>
        </pc:sldMkLst>
        <pc:graphicFrameChg chg="add mod modGraphic">
          <ac:chgData name="estefanny vasquez" userId="d5a657f96adc8ecf" providerId="LiveId" clId="{98A29601-CF73-4DD9-B5EE-BFDCD35D78FF}" dt="2026-05-19T00:12:29.891" v="90" actId="1076"/>
          <ac:graphicFrameMkLst>
            <pc:docMk/>
            <pc:sldMk cId="395564430" sldId="292"/>
            <ac:graphicFrameMk id="2" creationId="{7595C90F-5945-A6CC-CE72-00A355454D45}"/>
          </ac:graphicFrameMkLst>
        </pc:graphicFrameChg>
      </pc:sldChg>
      <pc:sldChg chg="addSp modSp new mod">
        <pc:chgData name="estefanny vasquez" userId="d5a657f96adc8ecf" providerId="LiveId" clId="{98A29601-CF73-4DD9-B5EE-BFDCD35D78FF}" dt="2026-05-21T02:04:31.803" v="103" actId="20577"/>
        <pc:sldMkLst>
          <pc:docMk/>
          <pc:sldMk cId="969481096" sldId="293"/>
        </pc:sldMkLst>
        <pc:spChg chg="add mod">
          <ac:chgData name="estefanny vasquez" userId="d5a657f96adc8ecf" providerId="LiveId" clId="{98A29601-CF73-4DD9-B5EE-BFDCD35D78FF}" dt="2026-05-21T02:04:31.803" v="103" actId="20577"/>
          <ac:spMkLst>
            <pc:docMk/>
            <pc:sldMk cId="969481096" sldId="293"/>
            <ac:spMk id="3" creationId="{8D0CAEA8-6A99-1857-B533-B8352485399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381B"/>
        </a:solidFill>
        <a:effectLst/>
      </p:bgPr>
    </p:bg>
    <p:spTree>
      <p:nvGrpSpPr>
        <p:cNvPr id="1" name=""/>
        <p:cNvGrpSpPr/>
        <p:nvPr/>
      </p:nvGrpSpPr>
      <p:grpSpPr>
        <a:xfrm>
          <a:off x="0" y="0"/>
          <a:ext cx="0" cy="0"/>
          <a:chOff x="0" y="0"/>
          <a:chExt cx="0" cy="0"/>
        </a:xfrm>
      </p:grpSpPr>
      <p:sp>
        <p:nvSpPr>
          <p:cNvPr id="2" name="Rectangle 1"/>
          <p:cNvSpPr/>
          <p:nvPr/>
        </p:nvSpPr>
        <p:spPr>
          <a:xfrm>
            <a:off x="0" y="2286000"/>
            <a:ext cx="109728" cy="228600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548640"/>
            <a:ext cx="10972800" cy="457200"/>
          </a:xfrm>
          <a:prstGeom prst="rect">
            <a:avLst/>
          </a:prstGeom>
          <a:noFill/>
          <a:ln>
            <a:noFill/>
          </a:ln>
        </p:spPr>
        <p:txBody>
          <a:bodyPr wrap="square">
            <a:noAutofit/>
          </a:bodyPr>
          <a:lstStyle/>
          <a:p>
            <a:pPr algn="l"/>
            <a:r>
              <a:rPr sz="1600" b="1" i="0">
                <a:solidFill>
                  <a:srgbClr val="CCE899"/>
                </a:solidFill>
              </a:rPr>
              <a:t>UNIDAD 4</a:t>
            </a:r>
          </a:p>
        </p:txBody>
      </p:sp>
      <p:sp>
        <p:nvSpPr>
          <p:cNvPr id="4" name="TextBox 3"/>
          <p:cNvSpPr txBox="1"/>
          <p:nvPr/>
        </p:nvSpPr>
        <p:spPr>
          <a:xfrm>
            <a:off x="320040" y="1097280"/>
            <a:ext cx="10972800" cy="914400"/>
          </a:xfrm>
          <a:prstGeom prst="rect">
            <a:avLst/>
          </a:prstGeom>
          <a:noFill/>
          <a:ln>
            <a:noFill/>
          </a:ln>
        </p:spPr>
        <p:txBody>
          <a:bodyPr wrap="square">
            <a:noAutofit/>
          </a:bodyPr>
          <a:lstStyle/>
          <a:p>
            <a:pPr algn="l"/>
            <a:r>
              <a:rPr sz="4200" b="1" i="0">
                <a:solidFill>
                  <a:srgbClr val="FFFFFF"/>
                </a:solidFill>
              </a:rPr>
              <a:t>Pobreza e Inequidad</a:t>
            </a:r>
          </a:p>
        </p:txBody>
      </p:sp>
      <p:sp>
        <p:nvSpPr>
          <p:cNvPr id="5" name="TextBox 4"/>
          <p:cNvSpPr txBox="1"/>
          <p:nvPr/>
        </p:nvSpPr>
        <p:spPr>
          <a:xfrm>
            <a:off x="320040" y="2103120"/>
            <a:ext cx="9144000" cy="548640"/>
          </a:xfrm>
          <a:prstGeom prst="rect">
            <a:avLst/>
          </a:prstGeom>
          <a:noFill/>
          <a:ln>
            <a:noFill/>
          </a:ln>
        </p:spPr>
        <p:txBody>
          <a:bodyPr wrap="square">
            <a:noAutofit/>
          </a:bodyPr>
          <a:lstStyle/>
          <a:p>
            <a:pPr algn="l"/>
            <a:r>
              <a:rPr sz="2400" b="0" i="0">
                <a:solidFill>
                  <a:srgbClr val="97BC62"/>
                </a:solidFill>
              </a:rPr>
              <a:t>Desarrollo Económico — UBA FCE</a:t>
            </a:r>
          </a:p>
        </p:txBody>
      </p:sp>
      <p:sp>
        <p:nvSpPr>
          <p:cNvPr id="6" name="TextBox 5"/>
          <p:cNvSpPr txBox="1"/>
          <p:nvPr/>
        </p:nvSpPr>
        <p:spPr>
          <a:xfrm>
            <a:off x="320040" y="2926080"/>
            <a:ext cx="9144000" cy="1371600"/>
          </a:xfrm>
          <a:prstGeom prst="rect">
            <a:avLst/>
          </a:prstGeom>
          <a:noFill/>
          <a:ln>
            <a:noFill/>
          </a:ln>
        </p:spPr>
        <p:txBody>
          <a:bodyPr wrap="square">
            <a:noAutofit/>
          </a:bodyPr>
          <a:lstStyle/>
          <a:p>
            <a:pPr algn="l">
              <a:spcBef>
                <a:spcPts val="0"/>
              </a:spcBef>
            </a:pPr>
            <a:r>
              <a:rPr sz="1600" b="0">
                <a:solidFill>
                  <a:srgbClr val="CCE899"/>
                </a:solidFill>
              </a:rPr>
              <a:t>Medición de la pobreza  ·  Metodologías comparadas</a:t>
            </a:r>
          </a:p>
          <a:p>
            <a:pPr algn="l">
              <a:spcBef>
                <a:spcPts val="800"/>
              </a:spcBef>
            </a:pPr>
            <a:r>
              <a:rPr sz="1600" b="0">
                <a:solidFill>
                  <a:srgbClr val="CCE899"/>
                </a:solidFill>
              </a:rPr>
              <a:t>Desigualdad y crecimiento  ·  8 canales  ·  Políticas</a:t>
            </a:r>
          </a:p>
          <a:p>
            <a:pPr algn="l">
              <a:spcBef>
                <a:spcPts val="800"/>
              </a:spcBef>
            </a:pPr>
            <a:r>
              <a:rPr sz="1600" b="0">
                <a:solidFill>
                  <a:srgbClr val="CCE899"/>
                </a:solidFill>
              </a:rPr>
              <a:t>Justicia social  ·  América Latina  ·  Examen</a:t>
            </a:r>
          </a:p>
        </p:txBody>
      </p:sp>
      <p:sp>
        <p:nvSpPr>
          <p:cNvPr id="7" name="TextBox 6"/>
          <p:cNvSpPr txBox="1"/>
          <p:nvPr/>
        </p:nvSpPr>
        <p:spPr>
          <a:xfrm>
            <a:off x="320040" y="6309360"/>
            <a:ext cx="3657600" cy="365760"/>
          </a:xfrm>
          <a:prstGeom prst="rect">
            <a:avLst/>
          </a:prstGeom>
          <a:noFill/>
          <a:ln>
            <a:noFill/>
          </a:ln>
        </p:spPr>
        <p:txBody>
          <a:bodyPr wrap="square">
            <a:noAutofit/>
          </a:bodyPr>
          <a:lstStyle/>
          <a:p>
            <a:pPr algn="l"/>
            <a:r>
              <a:rPr sz="1300" b="0" i="0">
                <a:solidFill>
                  <a:srgbClr val="97BC62"/>
                </a:solidFill>
              </a:rPr>
              <a:t>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VISIÓN GENERAL</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a:solidFill>
                  <a:srgbClr val="2C5F2D"/>
                </a:solidFill>
              </a:rPr>
              <a:t>Mapa de la Unidad 4</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508760"/>
            <a:ext cx="5212080" cy="475488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645920"/>
            <a:ext cx="4846320" cy="4389120"/>
          </a:xfrm>
          <a:prstGeom prst="rect">
            <a:avLst/>
          </a:prstGeom>
          <a:noFill/>
          <a:ln>
            <a:noFill/>
          </a:ln>
        </p:spPr>
        <p:txBody>
          <a:bodyPr wrap="square">
            <a:noAutofit/>
          </a:bodyPr>
          <a:lstStyle/>
          <a:p>
            <a:pPr algn="l">
              <a:spcBef>
                <a:spcPts val="0"/>
              </a:spcBef>
            </a:pPr>
            <a:r>
              <a:rPr sz="1700" b="1">
                <a:solidFill>
                  <a:srgbClr val="2C5F2D"/>
                </a:solidFill>
              </a:rPr>
              <a:t>U4_1 — Medición de la Pobreza</a:t>
            </a:r>
          </a:p>
          <a:p>
            <a:pPr algn="l">
              <a:spcBef>
                <a:spcPts val="600"/>
              </a:spcBef>
            </a:pPr>
            <a:r>
              <a:rPr sz="1400" b="0">
                <a:solidFill>
                  <a:srgbClr val="444444"/>
                </a:solidFill>
              </a:rPr>
              <a:t>• Definición y etapas</a:t>
            </a:r>
          </a:p>
          <a:p>
            <a:pPr algn="l">
              <a:spcBef>
                <a:spcPts val="600"/>
              </a:spcBef>
            </a:pPr>
            <a:r>
              <a:rPr sz="1400" b="0">
                <a:solidFill>
                  <a:srgbClr val="444444"/>
                </a:solidFill>
              </a:rPr>
              <a:t>• Enfoques: Absoluto vs. Relativo</a:t>
            </a:r>
          </a:p>
          <a:p>
            <a:pPr algn="l">
              <a:spcBef>
                <a:spcPts val="600"/>
              </a:spcBef>
            </a:pPr>
            <a:r>
              <a:rPr sz="1400" b="0">
                <a:solidFill>
                  <a:srgbClr val="444444"/>
                </a:solidFill>
              </a:rPr>
              <a:t>• CBA / CBT / Engel</a:t>
            </a:r>
          </a:p>
          <a:p>
            <a:pPr algn="l">
              <a:spcBef>
                <a:spcPts val="600"/>
              </a:spcBef>
            </a:pPr>
            <a:r>
              <a:rPr sz="1400" b="0">
                <a:solidFill>
                  <a:srgbClr val="444444"/>
                </a:solidFill>
              </a:rPr>
              <a:t>• Índices FGT (α=0,1,2)</a:t>
            </a:r>
          </a:p>
          <a:p>
            <a:pPr algn="l">
              <a:spcBef>
                <a:spcPts val="600"/>
              </a:spcBef>
            </a:pPr>
            <a:r>
              <a:rPr sz="1400" b="0">
                <a:solidFill>
                  <a:srgbClr val="444444"/>
                </a:solidFill>
              </a:rPr>
              <a:t>• NBI  •  Alkire-Foster  •  Consensual</a:t>
            </a:r>
          </a:p>
        </p:txBody>
      </p:sp>
      <p:sp>
        <p:nvSpPr>
          <p:cNvPr id="7" name="Rectangle 6"/>
          <p:cNvSpPr/>
          <p:nvPr/>
        </p:nvSpPr>
        <p:spPr>
          <a:xfrm>
            <a:off x="6492240" y="1508760"/>
            <a:ext cx="5212080" cy="475488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75120" y="1645920"/>
            <a:ext cx="4846320" cy="4389120"/>
          </a:xfrm>
          <a:prstGeom prst="rect">
            <a:avLst/>
          </a:prstGeom>
          <a:noFill/>
          <a:ln>
            <a:noFill/>
          </a:ln>
        </p:spPr>
        <p:txBody>
          <a:bodyPr wrap="square">
            <a:noAutofit/>
          </a:bodyPr>
          <a:lstStyle/>
          <a:p>
            <a:pPr algn="l">
              <a:spcBef>
                <a:spcPts val="0"/>
              </a:spcBef>
            </a:pPr>
            <a:r>
              <a:rPr sz="1700" b="1">
                <a:solidFill>
                  <a:srgbClr val="2C5F2D"/>
                </a:solidFill>
              </a:rPr>
              <a:t>U4_5 — Desigualdad y Crecimiento</a:t>
            </a:r>
          </a:p>
          <a:p>
            <a:pPr algn="l">
              <a:spcBef>
                <a:spcPts val="600"/>
              </a:spcBef>
            </a:pPr>
            <a:r>
              <a:rPr sz="1400" b="0">
                <a:solidFill>
                  <a:srgbClr val="444444"/>
                </a:solidFill>
              </a:rPr>
              <a:t>• Teorías de justicia social</a:t>
            </a:r>
          </a:p>
          <a:p>
            <a:pPr algn="l">
              <a:spcBef>
                <a:spcPts val="600"/>
              </a:spcBef>
            </a:pPr>
            <a:r>
              <a:rPr sz="1400" b="0">
                <a:solidFill>
                  <a:srgbClr val="444444"/>
                </a:solidFill>
              </a:rPr>
              <a:t>• Tipos de desigualdad</a:t>
            </a:r>
          </a:p>
          <a:p>
            <a:pPr algn="l">
              <a:spcBef>
                <a:spcPts val="600"/>
              </a:spcBef>
            </a:pPr>
            <a:r>
              <a:rPr sz="1400" b="0">
                <a:solidFill>
                  <a:srgbClr val="444444"/>
                </a:solidFill>
              </a:rPr>
              <a:t>• Curva de Kuznets</a:t>
            </a:r>
          </a:p>
          <a:p>
            <a:pPr algn="l">
              <a:spcBef>
                <a:spcPts val="600"/>
              </a:spcBef>
            </a:pPr>
            <a:r>
              <a:rPr sz="1400" b="0">
                <a:solidFill>
                  <a:srgbClr val="444444"/>
                </a:solidFill>
              </a:rPr>
              <a:t>• 8 canales desigualdad→crecimiento</a:t>
            </a:r>
          </a:p>
          <a:p>
            <a:pPr algn="l">
              <a:spcBef>
                <a:spcPts val="600"/>
              </a:spcBef>
            </a:pPr>
            <a:r>
              <a:rPr sz="1400" b="0">
                <a:solidFill>
                  <a:srgbClr val="444444"/>
                </a:solidFill>
              </a:rPr>
              <a:t>• América Latina  •  Políticas  •  Debate equidad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ÍNDICE</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a:solidFill>
                  <a:srgbClr val="2C5F2D"/>
                </a:solidFill>
              </a:rPr>
              <a:t>Contenido de esta presentación</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508760"/>
            <a:ext cx="411480" cy="502920"/>
          </a:xfrm>
          <a:prstGeom prst="rect">
            <a:avLst/>
          </a:prstGeom>
          <a:solidFill>
            <a:srgbClr val="2C5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72" y="1581912"/>
            <a:ext cx="320040" cy="365760"/>
          </a:xfrm>
          <a:prstGeom prst="rect">
            <a:avLst/>
          </a:prstGeom>
          <a:noFill/>
          <a:ln>
            <a:noFill/>
          </a:ln>
        </p:spPr>
        <p:txBody>
          <a:bodyPr wrap="square">
            <a:noAutofit/>
          </a:bodyPr>
          <a:lstStyle/>
          <a:p>
            <a:pPr algn="ctr"/>
            <a:r>
              <a:rPr sz="1300" b="1" i="0">
                <a:solidFill>
                  <a:srgbClr val="FFFFFF"/>
                </a:solidFill>
              </a:rPr>
              <a:t>01</a:t>
            </a:r>
          </a:p>
        </p:txBody>
      </p:sp>
      <p:sp>
        <p:nvSpPr>
          <p:cNvPr id="7" name="TextBox 6"/>
          <p:cNvSpPr txBox="1"/>
          <p:nvPr/>
        </p:nvSpPr>
        <p:spPr>
          <a:xfrm>
            <a:off x="1005840" y="1600200"/>
            <a:ext cx="5394960" cy="457200"/>
          </a:xfrm>
          <a:prstGeom prst="rect">
            <a:avLst/>
          </a:prstGeom>
          <a:noFill/>
          <a:ln>
            <a:noFill/>
          </a:ln>
        </p:spPr>
        <p:txBody>
          <a:bodyPr wrap="square">
            <a:noAutofit/>
          </a:bodyPr>
          <a:lstStyle/>
          <a:p>
            <a:pPr algn="l"/>
            <a:r>
              <a:rPr sz="1400" b="0" i="0">
                <a:solidFill>
                  <a:srgbClr val="1A1A1A"/>
                </a:solidFill>
              </a:rPr>
              <a:t>Contexto: ¿Por qué pobreza y desigualdad juntos?</a:t>
            </a:r>
          </a:p>
        </p:txBody>
      </p:sp>
      <p:sp>
        <p:nvSpPr>
          <p:cNvPr id="8" name="Rectangle 7"/>
          <p:cNvSpPr/>
          <p:nvPr/>
        </p:nvSpPr>
        <p:spPr>
          <a:xfrm>
            <a:off x="502920" y="2258568"/>
            <a:ext cx="411480" cy="502920"/>
          </a:xfrm>
          <a:prstGeom prst="rect">
            <a:avLst/>
          </a:prstGeom>
          <a:solidFill>
            <a:srgbClr val="2C5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72" y="2331720"/>
            <a:ext cx="320040" cy="365760"/>
          </a:xfrm>
          <a:prstGeom prst="rect">
            <a:avLst/>
          </a:prstGeom>
          <a:noFill/>
          <a:ln>
            <a:noFill/>
          </a:ln>
        </p:spPr>
        <p:txBody>
          <a:bodyPr wrap="square">
            <a:noAutofit/>
          </a:bodyPr>
          <a:lstStyle/>
          <a:p>
            <a:pPr algn="ctr"/>
            <a:r>
              <a:rPr sz="1300" b="1" i="0">
                <a:solidFill>
                  <a:srgbClr val="FFFFFF"/>
                </a:solidFill>
              </a:rPr>
              <a:t>02</a:t>
            </a:r>
          </a:p>
        </p:txBody>
      </p:sp>
      <p:sp>
        <p:nvSpPr>
          <p:cNvPr id="10" name="TextBox 9"/>
          <p:cNvSpPr txBox="1"/>
          <p:nvPr/>
        </p:nvSpPr>
        <p:spPr>
          <a:xfrm>
            <a:off x="1005840" y="2350008"/>
            <a:ext cx="5394960" cy="457200"/>
          </a:xfrm>
          <a:prstGeom prst="rect">
            <a:avLst/>
          </a:prstGeom>
          <a:noFill/>
          <a:ln>
            <a:noFill/>
          </a:ln>
        </p:spPr>
        <p:txBody>
          <a:bodyPr wrap="square">
            <a:noAutofit/>
          </a:bodyPr>
          <a:lstStyle/>
          <a:p>
            <a:pPr algn="l"/>
            <a:r>
              <a:rPr sz="1400" b="0" i="0">
                <a:solidFill>
                  <a:srgbClr val="1A1A1A"/>
                </a:solidFill>
              </a:rPr>
              <a:t>Medición de la pobreza: etapas y enfoques</a:t>
            </a:r>
          </a:p>
        </p:txBody>
      </p:sp>
      <p:sp>
        <p:nvSpPr>
          <p:cNvPr id="11" name="Rectangle 10"/>
          <p:cNvSpPr/>
          <p:nvPr/>
        </p:nvSpPr>
        <p:spPr>
          <a:xfrm>
            <a:off x="502920" y="3008376"/>
            <a:ext cx="411480" cy="502920"/>
          </a:xfrm>
          <a:prstGeom prst="rect">
            <a:avLst/>
          </a:prstGeom>
          <a:solidFill>
            <a:srgbClr val="2C5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76072" y="3081528"/>
            <a:ext cx="320040" cy="365760"/>
          </a:xfrm>
          <a:prstGeom prst="rect">
            <a:avLst/>
          </a:prstGeom>
          <a:noFill/>
          <a:ln>
            <a:noFill/>
          </a:ln>
        </p:spPr>
        <p:txBody>
          <a:bodyPr wrap="square">
            <a:noAutofit/>
          </a:bodyPr>
          <a:lstStyle/>
          <a:p>
            <a:pPr algn="ctr"/>
            <a:r>
              <a:rPr sz="1300" b="1" i="0">
                <a:solidFill>
                  <a:srgbClr val="FFFFFF"/>
                </a:solidFill>
              </a:rPr>
              <a:t>03</a:t>
            </a:r>
          </a:p>
        </p:txBody>
      </p:sp>
      <p:sp>
        <p:nvSpPr>
          <p:cNvPr id="13" name="TextBox 12"/>
          <p:cNvSpPr txBox="1"/>
          <p:nvPr/>
        </p:nvSpPr>
        <p:spPr>
          <a:xfrm>
            <a:off x="1005840" y="3099816"/>
            <a:ext cx="5394960" cy="457200"/>
          </a:xfrm>
          <a:prstGeom prst="rect">
            <a:avLst/>
          </a:prstGeom>
          <a:noFill/>
          <a:ln>
            <a:noFill/>
          </a:ln>
        </p:spPr>
        <p:txBody>
          <a:bodyPr wrap="square">
            <a:noAutofit/>
          </a:bodyPr>
          <a:lstStyle/>
          <a:p>
            <a:pPr algn="l"/>
            <a:r>
              <a:rPr sz="1400" b="0" i="0">
                <a:solidFill>
                  <a:srgbClr val="1A1A1A"/>
                </a:solidFill>
              </a:rPr>
              <a:t>Método monetario: CBA, CBT y Coeficiente de Engel</a:t>
            </a:r>
          </a:p>
        </p:txBody>
      </p:sp>
      <p:sp>
        <p:nvSpPr>
          <p:cNvPr id="14" name="Rectangle 13"/>
          <p:cNvSpPr/>
          <p:nvPr/>
        </p:nvSpPr>
        <p:spPr>
          <a:xfrm>
            <a:off x="502920" y="3758184"/>
            <a:ext cx="411480" cy="502920"/>
          </a:xfrm>
          <a:prstGeom prst="rect">
            <a:avLst/>
          </a:prstGeom>
          <a:solidFill>
            <a:srgbClr val="2C5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76072" y="3831336"/>
            <a:ext cx="320040" cy="365760"/>
          </a:xfrm>
          <a:prstGeom prst="rect">
            <a:avLst/>
          </a:prstGeom>
          <a:noFill/>
          <a:ln>
            <a:noFill/>
          </a:ln>
        </p:spPr>
        <p:txBody>
          <a:bodyPr wrap="square">
            <a:noAutofit/>
          </a:bodyPr>
          <a:lstStyle/>
          <a:p>
            <a:pPr algn="ctr"/>
            <a:r>
              <a:rPr sz="1300" b="1" i="0">
                <a:solidFill>
                  <a:srgbClr val="FFFFFF"/>
                </a:solidFill>
              </a:rPr>
              <a:t>04</a:t>
            </a:r>
          </a:p>
        </p:txBody>
      </p:sp>
      <p:sp>
        <p:nvSpPr>
          <p:cNvPr id="16" name="TextBox 15"/>
          <p:cNvSpPr txBox="1"/>
          <p:nvPr/>
        </p:nvSpPr>
        <p:spPr>
          <a:xfrm>
            <a:off x="1005840" y="3849624"/>
            <a:ext cx="5394960" cy="457200"/>
          </a:xfrm>
          <a:prstGeom prst="rect">
            <a:avLst/>
          </a:prstGeom>
          <a:noFill/>
          <a:ln>
            <a:noFill/>
          </a:ln>
        </p:spPr>
        <p:txBody>
          <a:bodyPr wrap="square">
            <a:noAutofit/>
          </a:bodyPr>
          <a:lstStyle/>
          <a:p>
            <a:pPr algn="l"/>
            <a:r>
              <a:rPr sz="1400" b="0" i="0">
                <a:solidFill>
                  <a:srgbClr val="1A1A1A"/>
                </a:solidFill>
              </a:rPr>
              <a:t>Índices FGT y métodos alternativos (NBI, IPM, Consensual)</a:t>
            </a:r>
          </a:p>
        </p:txBody>
      </p:sp>
      <p:sp>
        <p:nvSpPr>
          <p:cNvPr id="17" name="Rectangle 16"/>
          <p:cNvSpPr/>
          <p:nvPr/>
        </p:nvSpPr>
        <p:spPr>
          <a:xfrm>
            <a:off x="502920" y="4507992"/>
            <a:ext cx="411480" cy="502920"/>
          </a:xfrm>
          <a:prstGeom prst="rect">
            <a:avLst/>
          </a:prstGeom>
          <a:solidFill>
            <a:srgbClr val="2C5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76072" y="4581144"/>
            <a:ext cx="320040" cy="365760"/>
          </a:xfrm>
          <a:prstGeom prst="rect">
            <a:avLst/>
          </a:prstGeom>
          <a:noFill/>
          <a:ln>
            <a:noFill/>
          </a:ln>
        </p:spPr>
        <p:txBody>
          <a:bodyPr wrap="square">
            <a:noAutofit/>
          </a:bodyPr>
          <a:lstStyle/>
          <a:p>
            <a:pPr algn="ctr"/>
            <a:r>
              <a:rPr sz="1300" b="1" i="0">
                <a:solidFill>
                  <a:srgbClr val="FFFFFF"/>
                </a:solidFill>
              </a:rPr>
              <a:t>05</a:t>
            </a:r>
          </a:p>
        </p:txBody>
      </p:sp>
      <p:sp>
        <p:nvSpPr>
          <p:cNvPr id="19" name="TextBox 18"/>
          <p:cNvSpPr txBox="1"/>
          <p:nvPr/>
        </p:nvSpPr>
        <p:spPr>
          <a:xfrm>
            <a:off x="1005840" y="4599432"/>
            <a:ext cx="5394960" cy="457200"/>
          </a:xfrm>
          <a:prstGeom prst="rect">
            <a:avLst/>
          </a:prstGeom>
          <a:noFill/>
          <a:ln>
            <a:noFill/>
          </a:ln>
        </p:spPr>
        <p:txBody>
          <a:bodyPr wrap="square">
            <a:noAutofit/>
          </a:bodyPr>
          <a:lstStyle/>
          <a:p>
            <a:pPr algn="l"/>
            <a:r>
              <a:rPr sz="1400" b="0" i="0">
                <a:solidFill>
                  <a:srgbClr val="1A1A1A"/>
                </a:solidFill>
              </a:rPr>
              <a:t>Comparación de los 4 métodos</a:t>
            </a:r>
          </a:p>
        </p:txBody>
      </p:sp>
      <p:sp>
        <p:nvSpPr>
          <p:cNvPr id="20" name="Rectangle 19"/>
          <p:cNvSpPr/>
          <p:nvPr/>
        </p:nvSpPr>
        <p:spPr>
          <a:xfrm>
            <a:off x="502920" y="5257800"/>
            <a:ext cx="411480" cy="502920"/>
          </a:xfrm>
          <a:prstGeom prst="rect">
            <a:avLst/>
          </a:prstGeom>
          <a:solidFill>
            <a:srgbClr val="2C5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6072" y="5330952"/>
            <a:ext cx="320040" cy="365760"/>
          </a:xfrm>
          <a:prstGeom prst="rect">
            <a:avLst/>
          </a:prstGeom>
          <a:noFill/>
          <a:ln>
            <a:noFill/>
          </a:ln>
        </p:spPr>
        <p:txBody>
          <a:bodyPr wrap="square">
            <a:noAutofit/>
          </a:bodyPr>
          <a:lstStyle/>
          <a:p>
            <a:pPr algn="ctr"/>
            <a:r>
              <a:rPr sz="1300" b="1" i="0">
                <a:solidFill>
                  <a:srgbClr val="FFFFFF"/>
                </a:solidFill>
              </a:rPr>
              <a:t>06</a:t>
            </a:r>
          </a:p>
        </p:txBody>
      </p:sp>
      <p:sp>
        <p:nvSpPr>
          <p:cNvPr id="22" name="TextBox 21"/>
          <p:cNvSpPr txBox="1"/>
          <p:nvPr/>
        </p:nvSpPr>
        <p:spPr>
          <a:xfrm>
            <a:off x="1005840" y="5349240"/>
            <a:ext cx="5394960" cy="457200"/>
          </a:xfrm>
          <a:prstGeom prst="rect">
            <a:avLst/>
          </a:prstGeom>
          <a:noFill/>
          <a:ln>
            <a:noFill/>
          </a:ln>
        </p:spPr>
        <p:txBody>
          <a:bodyPr wrap="square">
            <a:noAutofit/>
          </a:bodyPr>
          <a:lstStyle/>
          <a:p>
            <a:pPr algn="l"/>
            <a:r>
              <a:rPr sz="1400" b="0" i="0">
                <a:solidFill>
                  <a:srgbClr val="1A1A1A"/>
                </a:solidFill>
              </a:rPr>
              <a:t>Justicia social: teorías y tipos de desigualdad</a:t>
            </a:r>
          </a:p>
        </p:txBody>
      </p:sp>
      <p:sp>
        <p:nvSpPr>
          <p:cNvPr id="23" name="Rectangle 22"/>
          <p:cNvSpPr/>
          <p:nvPr/>
        </p:nvSpPr>
        <p:spPr>
          <a:xfrm>
            <a:off x="6583680" y="1508760"/>
            <a:ext cx="411480" cy="502920"/>
          </a:xfrm>
          <a:prstGeom prst="rect">
            <a:avLst/>
          </a:prstGeom>
          <a:solidFill>
            <a:srgbClr val="2C5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56832" y="1581912"/>
            <a:ext cx="320040" cy="365760"/>
          </a:xfrm>
          <a:prstGeom prst="rect">
            <a:avLst/>
          </a:prstGeom>
          <a:noFill/>
          <a:ln>
            <a:noFill/>
          </a:ln>
        </p:spPr>
        <p:txBody>
          <a:bodyPr wrap="square">
            <a:noAutofit/>
          </a:bodyPr>
          <a:lstStyle/>
          <a:p>
            <a:pPr algn="ctr"/>
            <a:r>
              <a:rPr sz="1300" b="1" i="0">
                <a:solidFill>
                  <a:srgbClr val="FFFFFF"/>
                </a:solidFill>
              </a:rPr>
              <a:t>07</a:t>
            </a:r>
          </a:p>
        </p:txBody>
      </p:sp>
      <p:sp>
        <p:nvSpPr>
          <p:cNvPr id="25" name="TextBox 24"/>
          <p:cNvSpPr txBox="1"/>
          <p:nvPr/>
        </p:nvSpPr>
        <p:spPr>
          <a:xfrm>
            <a:off x="7086600" y="1600200"/>
            <a:ext cx="5394960" cy="457200"/>
          </a:xfrm>
          <a:prstGeom prst="rect">
            <a:avLst/>
          </a:prstGeom>
          <a:noFill/>
          <a:ln>
            <a:noFill/>
          </a:ln>
        </p:spPr>
        <p:txBody>
          <a:bodyPr wrap="square">
            <a:noAutofit/>
          </a:bodyPr>
          <a:lstStyle/>
          <a:p>
            <a:pPr algn="l"/>
            <a:r>
              <a:rPr sz="1400" b="0" i="0">
                <a:solidFill>
                  <a:srgbClr val="1A1A1A"/>
                </a:solidFill>
              </a:rPr>
              <a:t>Curva de Kuznets y los 8 canales desigualdad-crecimiento</a:t>
            </a:r>
          </a:p>
        </p:txBody>
      </p:sp>
      <p:sp>
        <p:nvSpPr>
          <p:cNvPr id="26" name="Rectangle 25"/>
          <p:cNvSpPr/>
          <p:nvPr/>
        </p:nvSpPr>
        <p:spPr>
          <a:xfrm>
            <a:off x="6583680" y="2258568"/>
            <a:ext cx="411480" cy="502920"/>
          </a:xfrm>
          <a:prstGeom prst="rect">
            <a:avLst/>
          </a:prstGeom>
          <a:solidFill>
            <a:srgbClr val="2C5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56832" y="2331720"/>
            <a:ext cx="320040" cy="365760"/>
          </a:xfrm>
          <a:prstGeom prst="rect">
            <a:avLst/>
          </a:prstGeom>
          <a:noFill/>
          <a:ln>
            <a:noFill/>
          </a:ln>
        </p:spPr>
        <p:txBody>
          <a:bodyPr wrap="square">
            <a:noAutofit/>
          </a:bodyPr>
          <a:lstStyle/>
          <a:p>
            <a:pPr algn="ctr"/>
            <a:r>
              <a:rPr sz="1300" b="1" i="0">
                <a:solidFill>
                  <a:srgbClr val="FFFFFF"/>
                </a:solidFill>
              </a:rPr>
              <a:t>08</a:t>
            </a:r>
          </a:p>
        </p:txBody>
      </p:sp>
      <p:sp>
        <p:nvSpPr>
          <p:cNvPr id="28" name="TextBox 27"/>
          <p:cNvSpPr txBox="1"/>
          <p:nvPr/>
        </p:nvSpPr>
        <p:spPr>
          <a:xfrm>
            <a:off x="7086600" y="2350008"/>
            <a:ext cx="5394960" cy="457200"/>
          </a:xfrm>
          <a:prstGeom prst="rect">
            <a:avLst/>
          </a:prstGeom>
          <a:noFill/>
          <a:ln>
            <a:noFill/>
          </a:ln>
        </p:spPr>
        <p:txBody>
          <a:bodyPr wrap="square">
            <a:noAutofit/>
          </a:bodyPr>
          <a:lstStyle/>
          <a:p>
            <a:pPr algn="l"/>
            <a:r>
              <a:rPr sz="1400" b="0" i="0">
                <a:solidFill>
                  <a:srgbClr val="1A1A1A"/>
                </a:solidFill>
              </a:rPr>
              <a:t>América Latina y los 3 tipos de políticas</a:t>
            </a:r>
          </a:p>
        </p:txBody>
      </p:sp>
      <p:sp>
        <p:nvSpPr>
          <p:cNvPr id="29" name="Rectangle 28"/>
          <p:cNvSpPr/>
          <p:nvPr/>
        </p:nvSpPr>
        <p:spPr>
          <a:xfrm>
            <a:off x="6583680" y="3008376"/>
            <a:ext cx="411480" cy="502920"/>
          </a:xfrm>
          <a:prstGeom prst="rect">
            <a:avLst/>
          </a:prstGeom>
          <a:solidFill>
            <a:srgbClr val="2C5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656832" y="3081528"/>
            <a:ext cx="320040" cy="365760"/>
          </a:xfrm>
          <a:prstGeom prst="rect">
            <a:avLst/>
          </a:prstGeom>
          <a:noFill/>
          <a:ln>
            <a:noFill/>
          </a:ln>
        </p:spPr>
        <p:txBody>
          <a:bodyPr wrap="square">
            <a:noAutofit/>
          </a:bodyPr>
          <a:lstStyle/>
          <a:p>
            <a:pPr algn="ctr"/>
            <a:r>
              <a:rPr sz="1300" b="1" i="0">
                <a:solidFill>
                  <a:srgbClr val="FFFFFF"/>
                </a:solidFill>
              </a:rPr>
              <a:t>09</a:t>
            </a:r>
          </a:p>
        </p:txBody>
      </p:sp>
      <p:sp>
        <p:nvSpPr>
          <p:cNvPr id="31" name="TextBox 30"/>
          <p:cNvSpPr txBox="1"/>
          <p:nvPr/>
        </p:nvSpPr>
        <p:spPr>
          <a:xfrm>
            <a:off x="7086600" y="3099816"/>
            <a:ext cx="5394960" cy="457200"/>
          </a:xfrm>
          <a:prstGeom prst="rect">
            <a:avLst/>
          </a:prstGeom>
          <a:noFill/>
          <a:ln>
            <a:noFill/>
          </a:ln>
        </p:spPr>
        <p:txBody>
          <a:bodyPr wrap="square">
            <a:noAutofit/>
          </a:bodyPr>
          <a:lstStyle/>
          <a:p>
            <a:pPr algn="l"/>
            <a:r>
              <a:rPr sz="1400" b="0" i="0">
                <a:solidFill>
                  <a:srgbClr val="1A1A1A"/>
                </a:solidFill>
              </a:rPr>
              <a:t>Relaciones conceptuales clave</a:t>
            </a:r>
          </a:p>
        </p:txBody>
      </p:sp>
      <p:sp>
        <p:nvSpPr>
          <p:cNvPr id="32" name="Rectangle 31"/>
          <p:cNvSpPr/>
          <p:nvPr/>
        </p:nvSpPr>
        <p:spPr>
          <a:xfrm>
            <a:off x="6583680" y="3758184"/>
            <a:ext cx="411480" cy="502920"/>
          </a:xfrm>
          <a:prstGeom prst="rect">
            <a:avLst/>
          </a:prstGeom>
          <a:solidFill>
            <a:srgbClr val="2C5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656832" y="3831336"/>
            <a:ext cx="320040" cy="365760"/>
          </a:xfrm>
          <a:prstGeom prst="rect">
            <a:avLst/>
          </a:prstGeom>
          <a:noFill/>
          <a:ln>
            <a:noFill/>
          </a:ln>
        </p:spPr>
        <p:txBody>
          <a:bodyPr wrap="square">
            <a:noAutofit/>
          </a:bodyPr>
          <a:lstStyle/>
          <a:p>
            <a:pPr algn="ctr"/>
            <a:r>
              <a:rPr sz="1300" b="1" i="0">
                <a:solidFill>
                  <a:srgbClr val="FFFFFF"/>
                </a:solidFill>
              </a:rPr>
              <a:t>10</a:t>
            </a:r>
          </a:p>
        </p:txBody>
      </p:sp>
      <p:sp>
        <p:nvSpPr>
          <p:cNvPr id="34" name="TextBox 33"/>
          <p:cNvSpPr txBox="1"/>
          <p:nvPr/>
        </p:nvSpPr>
        <p:spPr>
          <a:xfrm>
            <a:off x="7086600" y="3849624"/>
            <a:ext cx="5394960" cy="457200"/>
          </a:xfrm>
          <a:prstGeom prst="rect">
            <a:avLst/>
          </a:prstGeom>
          <a:noFill/>
          <a:ln>
            <a:noFill/>
          </a:ln>
        </p:spPr>
        <p:txBody>
          <a:bodyPr wrap="square">
            <a:noAutofit/>
          </a:bodyPr>
          <a:lstStyle/>
          <a:p>
            <a:pPr algn="l"/>
            <a:r>
              <a:rPr sz="1400" b="0" i="0">
                <a:solidFill>
                  <a:srgbClr val="1A1A1A"/>
                </a:solidFill>
              </a:rPr>
              <a:t>Errores comunes, conceptos trampa y preguntas de examen</a:t>
            </a:r>
          </a:p>
        </p:txBody>
      </p:sp>
      <p:sp>
        <p:nvSpPr>
          <p:cNvPr id="35" name="Rectangle 34"/>
          <p:cNvSpPr/>
          <p:nvPr/>
        </p:nvSpPr>
        <p:spPr>
          <a:xfrm>
            <a:off x="6583680" y="4507992"/>
            <a:ext cx="411480" cy="502920"/>
          </a:xfrm>
          <a:prstGeom prst="rect">
            <a:avLst/>
          </a:prstGeom>
          <a:solidFill>
            <a:srgbClr val="2C5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656832" y="4581144"/>
            <a:ext cx="320040" cy="365760"/>
          </a:xfrm>
          <a:prstGeom prst="rect">
            <a:avLst/>
          </a:prstGeom>
          <a:noFill/>
          <a:ln>
            <a:noFill/>
          </a:ln>
        </p:spPr>
        <p:txBody>
          <a:bodyPr wrap="square">
            <a:noAutofit/>
          </a:bodyPr>
          <a:lstStyle/>
          <a:p>
            <a:pPr algn="ctr"/>
            <a:r>
              <a:rPr sz="1300" b="1" i="0">
                <a:solidFill>
                  <a:srgbClr val="FFFFFF"/>
                </a:solidFill>
              </a:rPr>
              <a:t>11</a:t>
            </a:r>
          </a:p>
        </p:txBody>
      </p:sp>
      <p:sp>
        <p:nvSpPr>
          <p:cNvPr id="37" name="TextBox 36"/>
          <p:cNvSpPr txBox="1"/>
          <p:nvPr/>
        </p:nvSpPr>
        <p:spPr>
          <a:xfrm>
            <a:off x="7086600" y="4599432"/>
            <a:ext cx="5394960" cy="457200"/>
          </a:xfrm>
          <a:prstGeom prst="rect">
            <a:avLst/>
          </a:prstGeom>
          <a:noFill/>
          <a:ln>
            <a:noFill/>
          </a:ln>
        </p:spPr>
        <p:txBody>
          <a:bodyPr wrap="square">
            <a:noAutofit/>
          </a:bodyPr>
          <a:lstStyle/>
          <a:p>
            <a:pPr algn="l"/>
            <a:r>
              <a:rPr sz="1400" b="0" i="0">
                <a:solidFill>
                  <a:srgbClr val="1A1A1A"/>
                </a:solidFill>
              </a:rPr>
              <a:t>Autores obligatorios, datos empíricos y resumen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CONTEXTO</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a:solidFill>
                  <a:srgbClr val="2C5F2D"/>
                </a:solidFill>
              </a:rPr>
              <a:t>¿Por qué estudiar pobreza y desigualdad juntos?</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508760"/>
            <a:ext cx="7772400" cy="2011680"/>
          </a:xfrm>
          <a:prstGeom prst="rect">
            <a:avLst/>
          </a:prstGeom>
          <a:noFill/>
          <a:ln>
            <a:noFill/>
          </a:ln>
        </p:spPr>
        <p:txBody>
          <a:bodyPr wrap="square">
            <a:noAutofit/>
          </a:bodyPr>
          <a:lstStyle/>
          <a:p>
            <a:pPr algn="l">
              <a:spcBef>
                <a:spcPts val="0"/>
              </a:spcBef>
            </a:pPr>
            <a:r>
              <a:rPr sz="1600" b="1">
                <a:solidFill>
                  <a:srgbClr val="2C5F2D"/>
                </a:solidFill>
              </a:rPr>
              <a:t>La relación es circular y bidireccional:</a:t>
            </a:r>
          </a:p>
          <a:p>
            <a:pPr algn="l">
              <a:spcBef>
                <a:spcPts val="700"/>
              </a:spcBef>
            </a:pPr>
            <a:r>
              <a:rPr sz="1500" b="0">
                <a:solidFill>
                  <a:srgbClr val="1A1A1A"/>
                </a:solidFill>
              </a:rPr>
              <a:t>• La pobreza y la desigualdad frenan el crecimiento económico.</a:t>
            </a:r>
          </a:p>
          <a:p>
            <a:pPr algn="l">
              <a:spcBef>
                <a:spcPts val="700"/>
              </a:spcBef>
            </a:pPr>
            <a:r>
              <a:rPr sz="1500" b="0">
                <a:solidFill>
                  <a:srgbClr val="1A1A1A"/>
                </a:solidFill>
              </a:rPr>
              <a:t>• El bajo crecimiento profundiza la pobreza y concentra la riqueza.</a:t>
            </a:r>
          </a:p>
          <a:p>
            <a:pPr algn="l">
              <a:spcBef>
                <a:spcPts val="700"/>
              </a:spcBef>
            </a:pPr>
            <a:r>
              <a:rPr sz="1500" b="0">
                <a:solidFill>
                  <a:srgbClr val="1A1A1A"/>
                </a:solidFill>
              </a:rPr>
              <a:t>• Diseñar políticas para reducir ambas es el objetivo central del desarrollo.</a:t>
            </a:r>
          </a:p>
        </p:txBody>
      </p:sp>
      <p:sp>
        <p:nvSpPr>
          <p:cNvPr id="6" name="TextBox 5"/>
          <p:cNvSpPr txBox="1"/>
          <p:nvPr/>
        </p:nvSpPr>
        <p:spPr>
          <a:xfrm>
            <a:off x="502920" y="3703320"/>
            <a:ext cx="7772400" cy="1280160"/>
          </a:xfrm>
          <a:prstGeom prst="rect">
            <a:avLst/>
          </a:prstGeom>
          <a:solidFill>
            <a:srgbClr val="E8F4D6"/>
          </a:solidFill>
          <a:ln>
            <a:noFill/>
          </a:ln>
        </p:spPr>
        <p:txBody>
          <a:bodyPr wrap="square">
            <a:spAutoFit/>
          </a:bodyPr>
          <a:lstStyle/>
          <a:p>
            <a:pPr algn="l"/>
            <a:r>
              <a:rPr sz="1500" b="0">
                <a:solidFill>
                  <a:srgbClr val="2C5F2D"/>
                </a:solidFill>
              </a:rPr>
              <a:t>América Latina: región rica en recursos, alta en desigualdad.
El 80% de la población percibe la distribución como injusta
y el 70% apoya la intervención redistributiva del Estado (CEPAL 2025).</a:t>
            </a:r>
          </a:p>
        </p:txBody>
      </p:sp>
      <p:sp>
        <p:nvSpPr>
          <p:cNvPr id="7" name="TextBox 6"/>
          <p:cNvSpPr txBox="1"/>
          <p:nvPr/>
        </p:nvSpPr>
        <p:spPr>
          <a:xfrm>
            <a:off x="502920" y="5257799"/>
            <a:ext cx="7772400" cy="1188720"/>
          </a:xfrm>
          <a:prstGeom prst="rect">
            <a:avLst/>
          </a:prstGeom>
          <a:noFill/>
          <a:ln>
            <a:noFill/>
          </a:ln>
        </p:spPr>
        <p:txBody>
          <a:bodyPr wrap="square">
            <a:noAutofit/>
          </a:bodyPr>
          <a:lstStyle/>
          <a:p>
            <a:pPr algn="l">
              <a:spcBef>
                <a:spcPts val="0"/>
              </a:spcBef>
            </a:pPr>
            <a:r>
              <a:rPr sz="1500" b="1">
                <a:solidFill>
                  <a:srgbClr val="2C5F2D"/>
                </a:solidFill>
              </a:rPr>
              <a:t>Concepto clave:</a:t>
            </a:r>
          </a:p>
          <a:p>
            <a:pPr algn="l">
              <a:spcBef>
                <a:spcPts val="500"/>
              </a:spcBef>
            </a:pPr>
            <a:r>
              <a:rPr sz="1400" b="0">
                <a:solidFill>
                  <a:srgbClr val="444444"/>
                </a:solidFill>
              </a:rPr>
              <a:t>La pobreza no es solo falta de dinero —implica exclusiones sociales,</a:t>
            </a:r>
          </a:p>
          <a:p>
            <a:pPr algn="l">
              <a:spcBef>
                <a:spcPts val="500"/>
              </a:spcBef>
            </a:pPr>
            <a:r>
              <a:rPr sz="1400" b="0">
                <a:solidFill>
                  <a:srgbClr val="444444"/>
                </a:solidFill>
              </a:rPr>
              <a:t>políticas y privaciones en múltiples dimensiones de la vida.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U4_1 — MEDICIÓN DE LA POBREZA</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a:solidFill>
                  <a:srgbClr val="2C5F2D"/>
                </a:solidFill>
              </a:rPr>
              <a:t>Definición de pobreza: más allá del ingreso</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508760"/>
            <a:ext cx="5760720" cy="3200400"/>
          </a:xfrm>
          <a:prstGeom prst="rect">
            <a:avLst/>
          </a:prstGeom>
          <a:noFill/>
          <a:ln>
            <a:noFill/>
          </a:ln>
        </p:spPr>
        <p:txBody>
          <a:bodyPr wrap="square">
            <a:noAutofit/>
          </a:bodyPr>
          <a:lstStyle/>
          <a:p>
            <a:pPr algn="l">
              <a:spcBef>
                <a:spcPts val="0"/>
              </a:spcBef>
            </a:pPr>
            <a:r>
              <a:rPr sz="1600" b="1">
                <a:solidFill>
                  <a:srgbClr val="2C5F2D"/>
                </a:solidFill>
              </a:rPr>
              <a:t>Definición amplia (Sen):</a:t>
            </a:r>
          </a:p>
          <a:p>
            <a:pPr algn="l">
              <a:spcBef>
                <a:spcPts val="600"/>
              </a:spcBef>
            </a:pPr>
            <a:r>
              <a:rPr sz="1500" b="0">
                <a:solidFill>
                  <a:srgbClr val="1A1A1A"/>
                </a:solidFill>
              </a:rPr>
              <a:t>La pobreza implica privaciones en múltiples dimensiones:</a:t>
            </a:r>
          </a:p>
          <a:p>
            <a:pPr algn="l">
              <a:spcBef>
                <a:spcPts val="600"/>
              </a:spcBef>
            </a:pPr>
            <a:r>
              <a:rPr sz="1400" b="0">
                <a:solidFill>
                  <a:srgbClr val="444444"/>
                </a:solidFill>
              </a:rPr>
              <a:t>• Falta de ingresos o consumo mínimo</a:t>
            </a:r>
          </a:p>
          <a:p>
            <a:pPr algn="l">
              <a:spcBef>
                <a:spcPts val="600"/>
              </a:spcBef>
            </a:pPr>
            <a:r>
              <a:rPr sz="1400" b="0">
                <a:solidFill>
                  <a:srgbClr val="444444"/>
                </a:solidFill>
              </a:rPr>
              <a:t>• Exclusiones sociales y políticas</a:t>
            </a:r>
          </a:p>
          <a:p>
            <a:pPr algn="l">
              <a:spcBef>
                <a:spcPts val="600"/>
              </a:spcBef>
            </a:pPr>
            <a:r>
              <a:rPr sz="1400" b="0">
                <a:solidFill>
                  <a:srgbClr val="444444"/>
                </a:solidFill>
              </a:rPr>
              <a:t>• Acceso deficiente a salud, educación, vivienda</a:t>
            </a:r>
          </a:p>
          <a:p>
            <a:pPr algn="l">
              <a:spcBef>
                <a:spcPts val="600"/>
              </a:spcBef>
            </a:pPr>
            <a:r>
              <a:rPr sz="1400" b="0">
                <a:solidFill>
                  <a:srgbClr val="444444"/>
                </a:solidFill>
              </a:rPr>
              <a:t>• Incapacidad de participar plenamente en la sociedad</a:t>
            </a:r>
          </a:p>
        </p:txBody>
      </p:sp>
      <p:sp>
        <p:nvSpPr>
          <p:cNvPr id="6" name="TextBox 5"/>
          <p:cNvSpPr txBox="1"/>
          <p:nvPr/>
        </p:nvSpPr>
        <p:spPr>
          <a:xfrm>
            <a:off x="6583680" y="1508760"/>
            <a:ext cx="5120640" cy="2286000"/>
          </a:xfrm>
          <a:prstGeom prst="rect">
            <a:avLst/>
          </a:prstGeom>
          <a:solidFill>
            <a:srgbClr val="E8F4D6"/>
          </a:solidFill>
          <a:ln>
            <a:noFill/>
          </a:ln>
        </p:spPr>
        <p:txBody>
          <a:bodyPr wrap="square">
            <a:spAutoFit/>
          </a:bodyPr>
          <a:lstStyle/>
          <a:p>
            <a:pPr algn="l"/>
            <a:r>
              <a:rPr sz="1600" b="0">
                <a:solidFill>
                  <a:srgbClr val="2C5F2D"/>
                </a:solidFill>
              </a:rPr>
              <a:t>El ingreso es un MEDIO.
Lo que importa es lo que las personas
pueden HACER Y SER con ese ingreso
(Enfoque de Capacidades — Sen).</a:t>
            </a:r>
          </a:p>
        </p:txBody>
      </p:sp>
      <p:sp>
        <p:nvSpPr>
          <p:cNvPr id="7" name="TextBox 6"/>
          <p:cNvSpPr txBox="1"/>
          <p:nvPr/>
        </p:nvSpPr>
        <p:spPr>
          <a:xfrm>
            <a:off x="502920" y="4892040"/>
            <a:ext cx="11185855" cy="1463040"/>
          </a:xfrm>
          <a:prstGeom prst="rect">
            <a:avLst/>
          </a:prstGeom>
          <a:noFill/>
          <a:ln>
            <a:noFill/>
          </a:ln>
        </p:spPr>
        <p:txBody>
          <a:bodyPr wrap="square">
            <a:noAutofit/>
          </a:bodyPr>
          <a:lstStyle/>
          <a:p>
            <a:pPr algn="l">
              <a:spcBef>
                <a:spcPts val="0"/>
              </a:spcBef>
            </a:pPr>
            <a:r>
              <a:rPr sz="1500" b="1">
                <a:solidFill>
                  <a:srgbClr val="C03B1F"/>
                </a:solidFill>
              </a:rPr>
              <a:t>Indigente vs. Pobre (¡distinción clave en el examen!):</a:t>
            </a:r>
          </a:p>
          <a:p>
            <a:pPr algn="l">
              <a:spcBef>
                <a:spcPts val="500"/>
              </a:spcBef>
            </a:pPr>
            <a:r>
              <a:rPr sz="1400" b="0">
                <a:solidFill>
                  <a:srgbClr val="1A1A1A"/>
                </a:solidFill>
              </a:rPr>
              <a:t>• Indigente: ingreso &lt; CBA (no cubre necesidades alimentarias mínimas)</a:t>
            </a:r>
          </a:p>
          <a:p>
            <a:pPr algn="l">
              <a:spcBef>
                <a:spcPts val="500"/>
              </a:spcBef>
            </a:pPr>
            <a:r>
              <a:rPr sz="1400" b="0">
                <a:solidFill>
                  <a:srgbClr val="1A1A1A"/>
                </a:solidFill>
              </a:rPr>
              <a:t>• Pobre: ingreso &lt; CBT (no cubre alimentos + bienes no alimentarios)</a:t>
            </a:r>
          </a:p>
          <a:p>
            <a:pPr algn="l">
              <a:spcBef>
                <a:spcPts val="500"/>
              </a:spcBef>
            </a:pPr>
            <a:r>
              <a:rPr sz="1400" b="1">
                <a:solidFill>
                  <a:srgbClr val="C03B1F"/>
                </a:solidFill>
              </a:rPr>
              <a:t>Todo indigente es pobre, pero no todo pobre es indigente.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U4_1 — MEDICIÓN DE LA POBREZA</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a:solidFill>
                  <a:srgbClr val="2C5F2D"/>
                </a:solidFill>
              </a:rPr>
              <a:t>Las 2 etapas de toda medición de pobreza</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508760"/>
            <a:ext cx="5212080" cy="4572000"/>
          </a:xfrm>
          <a:prstGeom prst="rect">
            <a:avLst/>
          </a:prstGeom>
          <a:solidFill>
            <a:srgbClr val="2C5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645920"/>
            <a:ext cx="457200" cy="548640"/>
          </a:xfrm>
          <a:prstGeom prst="rect">
            <a:avLst/>
          </a:prstGeom>
          <a:noFill/>
          <a:ln>
            <a:noFill/>
          </a:ln>
        </p:spPr>
        <p:txBody>
          <a:bodyPr wrap="square">
            <a:noAutofit/>
          </a:bodyPr>
          <a:lstStyle/>
          <a:p>
            <a:pPr algn="ctr"/>
            <a:r>
              <a:rPr sz="3600" b="1" i="0">
                <a:solidFill>
                  <a:srgbClr val="FFFFFF"/>
                </a:solidFill>
              </a:rPr>
              <a:t>1</a:t>
            </a:r>
          </a:p>
        </p:txBody>
      </p:sp>
      <p:sp>
        <p:nvSpPr>
          <p:cNvPr id="7" name="TextBox 6"/>
          <p:cNvSpPr txBox="1"/>
          <p:nvPr/>
        </p:nvSpPr>
        <p:spPr>
          <a:xfrm>
            <a:off x="1234440" y="1691640"/>
            <a:ext cx="4297680" cy="502920"/>
          </a:xfrm>
          <a:prstGeom prst="rect">
            <a:avLst/>
          </a:prstGeom>
          <a:noFill/>
          <a:ln>
            <a:noFill/>
          </a:ln>
        </p:spPr>
        <p:txBody>
          <a:bodyPr wrap="square">
            <a:noAutofit/>
          </a:bodyPr>
          <a:lstStyle/>
          <a:p>
            <a:pPr algn="l"/>
            <a:r>
              <a:rPr sz="2000" b="1" i="0">
                <a:solidFill>
                  <a:srgbClr val="FFFFFF"/>
                </a:solidFill>
              </a:rPr>
              <a:t>IDENTIFICACIÓN</a:t>
            </a:r>
          </a:p>
        </p:txBody>
      </p:sp>
      <p:sp>
        <p:nvSpPr>
          <p:cNvPr id="8" name="TextBox 7"/>
          <p:cNvSpPr txBox="1"/>
          <p:nvPr/>
        </p:nvSpPr>
        <p:spPr>
          <a:xfrm>
            <a:off x="685800" y="2377440"/>
            <a:ext cx="4754880" cy="411480"/>
          </a:xfrm>
          <a:prstGeom prst="rect">
            <a:avLst/>
          </a:prstGeom>
          <a:noFill/>
          <a:ln>
            <a:noFill/>
          </a:ln>
        </p:spPr>
        <p:txBody>
          <a:bodyPr wrap="square">
            <a:noAutofit/>
          </a:bodyPr>
          <a:lstStyle/>
          <a:p>
            <a:pPr algn="l"/>
            <a:r>
              <a:rPr sz="1400" b="0" i="0">
                <a:solidFill>
                  <a:srgbClr val="FFFFFF"/>
                </a:solidFill>
              </a:rPr>
              <a:t>¿Quién es pobre?</a:t>
            </a:r>
          </a:p>
        </p:txBody>
      </p:sp>
      <p:sp>
        <p:nvSpPr>
          <p:cNvPr id="9" name="TextBox 8"/>
          <p:cNvSpPr txBox="1"/>
          <p:nvPr/>
        </p:nvSpPr>
        <p:spPr>
          <a:xfrm>
            <a:off x="685800" y="2816352"/>
            <a:ext cx="4754880" cy="411480"/>
          </a:xfrm>
          <a:prstGeom prst="rect">
            <a:avLst/>
          </a:prstGeom>
          <a:noFill/>
          <a:ln>
            <a:noFill/>
          </a:ln>
        </p:spPr>
        <p:txBody>
          <a:bodyPr wrap="square">
            <a:noAutofit/>
          </a:bodyPr>
          <a:lstStyle/>
          <a:p>
            <a:pPr algn="l"/>
            <a:r>
              <a:rPr sz="1400" b="0" i="0">
                <a:solidFill>
                  <a:srgbClr val="FFFFFF"/>
                </a:solidFill>
              </a:rPr>
              <a:t>Se define un criterio o umbral</a:t>
            </a:r>
          </a:p>
        </p:txBody>
      </p:sp>
      <p:sp>
        <p:nvSpPr>
          <p:cNvPr id="10" name="TextBox 9"/>
          <p:cNvSpPr txBox="1"/>
          <p:nvPr/>
        </p:nvSpPr>
        <p:spPr>
          <a:xfrm>
            <a:off x="685800" y="3255264"/>
            <a:ext cx="4754880" cy="411480"/>
          </a:xfrm>
          <a:prstGeom prst="rect">
            <a:avLst/>
          </a:prstGeom>
          <a:noFill/>
          <a:ln>
            <a:noFill/>
          </a:ln>
        </p:spPr>
        <p:txBody>
          <a:bodyPr wrap="square">
            <a:noAutofit/>
          </a:bodyPr>
          <a:lstStyle/>
          <a:p>
            <a:pPr algn="l"/>
            <a:r>
              <a:rPr sz="1400" b="0" i="0">
                <a:solidFill>
                  <a:srgbClr val="FFFFFF"/>
                </a:solidFill>
              </a:rPr>
              <a:t>que permite distinguir a las</a:t>
            </a:r>
          </a:p>
        </p:txBody>
      </p:sp>
      <p:sp>
        <p:nvSpPr>
          <p:cNvPr id="11" name="TextBox 10"/>
          <p:cNvSpPr txBox="1"/>
          <p:nvPr/>
        </p:nvSpPr>
        <p:spPr>
          <a:xfrm>
            <a:off x="685800" y="3694176"/>
            <a:ext cx="4754880" cy="411480"/>
          </a:xfrm>
          <a:prstGeom prst="rect">
            <a:avLst/>
          </a:prstGeom>
          <a:noFill/>
          <a:ln>
            <a:noFill/>
          </a:ln>
        </p:spPr>
        <p:txBody>
          <a:bodyPr wrap="square">
            <a:noAutofit/>
          </a:bodyPr>
          <a:lstStyle/>
          <a:p>
            <a:pPr algn="l"/>
            <a:r>
              <a:rPr sz="1400" b="0" i="0">
                <a:solidFill>
                  <a:srgbClr val="FFFFFF"/>
                </a:solidFill>
              </a:rPr>
              <a:t>personas pobres de las no pobres.</a:t>
            </a:r>
          </a:p>
        </p:txBody>
      </p:sp>
      <p:sp>
        <p:nvSpPr>
          <p:cNvPr id="12" name="TextBox 11"/>
          <p:cNvSpPr txBox="1"/>
          <p:nvPr/>
        </p:nvSpPr>
        <p:spPr>
          <a:xfrm>
            <a:off x="685800" y="4133088"/>
            <a:ext cx="4754880" cy="411480"/>
          </a:xfrm>
          <a:prstGeom prst="rect">
            <a:avLst/>
          </a:prstGeom>
          <a:noFill/>
          <a:ln>
            <a:noFill/>
          </a:ln>
        </p:spPr>
        <p:txBody>
          <a:bodyPr wrap="square">
            <a:noAutofit/>
          </a:bodyPr>
          <a:lstStyle/>
          <a:p>
            <a:pPr algn="l"/>
            <a:endParaRPr/>
          </a:p>
        </p:txBody>
      </p:sp>
      <p:sp>
        <p:nvSpPr>
          <p:cNvPr id="13" name="TextBox 12"/>
          <p:cNvSpPr txBox="1"/>
          <p:nvPr/>
        </p:nvSpPr>
        <p:spPr>
          <a:xfrm>
            <a:off x="685800" y="4572000"/>
            <a:ext cx="4754880" cy="411480"/>
          </a:xfrm>
          <a:prstGeom prst="rect">
            <a:avLst/>
          </a:prstGeom>
          <a:noFill/>
          <a:ln>
            <a:noFill/>
          </a:ln>
        </p:spPr>
        <p:txBody>
          <a:bodyPr wrap="square">
            <a:noAutofit/>
          </a:bodyPr>
          <a:lstStyle/>
          <a:p>
            <a:pPr algn="l"/>
            <a:r>
              <a:rPr sz="1400" b="0" i="0">
                <a:solidFill>
                  <a:srgbClr val="FFFFFF"/>
                </a:solidFill>
              </a:rPr>
              <a:t>Ej: si ingreso &lt; CBA → indigente</a:t>
            </a:r>
          </a:p>
        </p:txBody>
      </p:sp>
      <p:sp>
        <p:nvSpPr>
          <p:cNvPr id="14" name="TextBox 13"/>
          <p:cNvSpPr txBox="1"/>
          <p:nvPr/>
        </p:nvSpPr>
        <p:spPr>
          <a:xfrm>
            <a:off x="685800" y="5010912"/>
            <a:ext cx="4754880" cy="411480"/>
          </a:xfrm>
          <a:prstGeom prst="rect">
            <a:avLst/>
          </a:prstGeom>
          <a:noFill/>
          <a:ln>
            <a:noFill/>
          </a:ln>
        </p:spPr>
        <p:txBody>
          <a:bodyPr wrap="square">
            <a:noAutofit/>
          </a:bodyPr>
          <a:lstStyle/>
          <a:p>
            <a:pPr algn="l"/>
            <a:r>
              <a:rPr sz="1400" b="0" i="0">
                <a:solidFill>
                  <a:srgbClr val="FFFFFF"/>
                </a:solidFill>
              </a:rPr>
              <a:t>    si ingreso &lt; CBT → pobre</a:t>
            </a:r>
          </a:p>
        </p:txBody>
      </p:sp>
      <p:sp>
        <p:nvSpPr>
          <p:cNvPr id="15" name="TextBox 14"/>
          <p:cNvSpPr txBox="1"/>
          <p:nvPr/>
        </p:nvSpPr>
        <p:spPr>
          <a:xfrm>
            <a:off x="685800" y="5449824"/>
            <a:ext cx="4754880" cy="411480"/>
          </a:xfrm>
          <a:prstGeom prst="rect">
            <a:avLst/>
          </a:prstGeom>
          <a:noFill/>
          <a:ln>
            <a:noFill/>
          </a:ln>
        </p:spPr>
        <p:txBody>
          <a:bodyPr wrap="square">
            <a:noAutofit/>
          </a:bodyPr>
          <a:lstStyle/>
          <a:p>
            <a:pPr algn="l"/>
            <a:r>
              <a:rPr sz="1400" b="0" i="0">
                <a:solidFill>
                  <a:srgbClr val="FFFFFF"/>
                </a:solidFill>
              </a:rPr>
              <a:t>    si tiene NBI → carencia directa</a:t>
            </a:r>
          </a:p>
        </p:txBody>
      </p:sp>
      <p:sp>
        <p:nvSpPr>
          <p:cNvPr id="16" name="Rectangle 15"/>
          <p:cNvSpPr/>
          <p:nvPr/>
        </p:nvSpPr>
        <p:spPr>
          <a:xfrm>
            <a:off x="6492240" y="1508760"/>
            <a:ext cx="5212080" cy="457200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0" y="1645920"/>
            <a:ext cx="457200" cy="548640"/>
          </a:xfrm>
          <a:prstGeom prst="rect">
            <a:avLst/>
          </a:prstGeom>
          <a:noFill/>
          <a:ln>
            <a:noFill/>
          </a:ln>
        </p:spPr>
        <p:txBody>
          <a:bodyPr wrap="square">
            <a:noAutofit/>
          </a:bodyPr>
          <a:lstStyle/>
          <a:p>
            <a:pPr algn="ctr"/>
            <a:r>
              <a:rPr sz="3600" b="1" i="0">
                <a:solidFill>
                  <a:srgbClr val="FFFFFF"/>
                </a:solidFill>
              </a:rPr>
              <a:t>2</a:t>
            </a:r>
          </a:p>
        </p:txBody>
      </p:sp>
      <p:sp>
        <p:nvSpPr>
          <p:cNvPr id="18" name="TextBox 17"/>
          <p:cNvSpPr txBox="1"/>
          <p:nvPr/>
        </p:nvSpPr>
        <p:spPr>
          <a:xfrm>
            <a:off x="7223760" y="1691640"/>
            <a:ext cx="4297680" cy="502920"/>
          </a:xfrm>
          <a:prstGeom prst="rect">
            <a:avLst/>
          </a:prstGeom>
          <a:noFill/>
          <a:ln>
            <a:noFill/>
          </a:ln>
        </p:spPr>
        <p:txBody>
          <a:bodyPr wrap="square">
            <a:noAutofit/>
          </a:bodyPr>
          <a:lstStyle/>
          <a:p>
            <a:pPr algn="l"/>
            <a:r>
              <a:rPr sz="2000" b="1" i="0">
                <a:solidFill>
                  <a:srgbClr val="FFFFFF"/>
                </a:solidFill>
              </a:rPr>
              <a:t>AGREGACIÓN</a:t>
            </a:r>
          </a:p>
        </p:txBody>
      </p:sp>
      <p:sp>
        <p:nvSpPr>
          <p:cNvPr id="19" name="TextBox 18"/>
          <p:cNvSpPr txBox="1"/>
          <p:nvPr/>
        </p:nvSpPr>
        <p:spPr>
          <a:xfrm>
            <a:off x="6675120" y="2377440"/>
            <a:ext cx="4754880" cy="411480"/>
          </a:xfrm>
          <a:prstGeom prst="rect">
            <a:avLst/>
          </a:prstGeom>
          <a:noFill/>
          <a:ln>
            <a:noFill/>
          </a:ln>
        </p:spPr>
        <p:txBody>
          <a:bodyPr wrap="square">
            <a:noAutofit/>
          </a:bodyPr>
          <a:lstStyle/>
          <a:p>
            <a:pPr algn="l"/>
            <a:r>
              <a:rPr sz="1400" b="0" i="0">
                <a:solidFill>
                  <a:srgbClr val="FFFFFF"/>
                </a:solidFill>
              </a:rPr>
              <a:t>¿Cuántos pobres hay y qué tan pobres son?</a:t>
            </a:r>
          </a:p>
        </p:txBody>
      </p:sp>
      <p:sp>
        <p:nvSpPr>
          <p:cNvPr id="20" name="TextBox 19"/>
          <p:cNvSpPr txBox="1"/>
          <p:nvPr/>
        </p:nvSpPr>
        <p:spPr>
          <a:xfrm>
            <a:off x="6675120" y="2816352"/>
            <a:ext cx="4754880" cy="411480"/>
          </a:xfrm>
          <a:prstGeom prst="rect">
            <a:avLst/>
          </a:prstGeom>
          <a:noFill/>
          <a:ln>
            <a:noFill/>
          </a:ln>
        </p:spPr>
        <p:txBody>
          <a:bodyPr wrap="square">
            <a:noAutofit/>
          </a:bodyPr>
          <a:lstStyle/>
          <a:p>
            <a:pPr algn="l"/>
            <a:r>
              <a:rPr sz="1400" b="0" i="0">
                <a:solidFill>
                  <a:srgbClr val="FFFFFF"/>
                </a:solidFill>
              </a:rPr>
              <a:t>Se construye un índice que resume</a:t>
            </a:r>
          </a:p>
        </p:txBody>
      </p:sp>
      <p:sp>
        <p:nvSpPr>
          <p:cNvPr id="21" name="TextBox 20"/>
          <p:cNvSpPr txBox="1"/>
          <p:nvPr/>
        </p:nvSpPr>
        <p:spPr>
          <a:xfrm>
            <a:off x="6675120" y="3255264"/>
            <a:ext cx="4754880" cy="411480"/>
          </a:xfrm>
          <a:prstGeom prst="rect">
            <a:avLst/>
          </a:prstGeom>
          <a:noFill/>
          <a:ln>
            <a:noFill/>
          </a:ln>
        </p:spPr>
        <p:txBody>
          <a:bodyPr wrap="square">
            <a:noAutofit/>
          </a:bodyPr>
          <a:lstStyle/>
          <a:p>
            <a:pPr algn="l"/>
            <a:r>
              <a:rPr sz="1400" b="0" i="0">
                <a:solidFill>
                  <a:srgbClr val="FFFFFF"/>
                </a:solidFill>
              </a:rPr>
              <a:t>la información del grupo pobre.</a:t>
            </a:r>
          </a:p>
        </p:txBody>
      </p:sp>
      <p:sp>
        <p:nvSpPr>
          <p:cNvPr id="22" name="TextBox 21"/>
          <p:cNvSpPr txBox="1"/>
          <p:nvPr/>
        </p:nvSpPr>
        <p:spPr>
          <a:xfrm>
            <a:off x="6675120" y="3694176"/>
            <a:ext cx="4754880" cy="411480"/>
          </a:xfrm>
          <a:prstGeom prst="rect">
            <a:avLst/>
          </a:prstGeom>
          <a:noFill/>
          <a:ln>
            <a:noFill/>
          </a:ln>
        </p:spPr>
        <p:txBody>
          <a:bodyPr wrap="square">
            <a:noAutofit/>
          </a:bodyPr>
          <a:lstStyle/>
          <a:p>
            <a:pPr algn="l"/>
            <a:endParaRPr/>
          </a:p>
        </p:txBody>
      </p:sp>
      <p:sp>
        <p:nvSpPr>
          <p:cNvPr id="23" name="TextBox 22"/>
          <p:cNvSpPr txBox="1"/>
          <p:nvPr/>
        </p:nvSpPr>
        <p:spPr>
          <a:xfrm>
            <a:off x="6675120" y="4133088"/>
            <a:ext cx="4754880" cy="411480"/>
          </a:xfrm>
          <a:prstGeom prst="rect">
            <a:avLst/>
          </a:prstGeom>
          <a:noFill/>
          <a:ln>
            <a:noFill/>
          </a:ln>
        </p:spPr>
        <p:txBody>
          <a:bodyPr wrap="square">
            <a:noAutofit/>
          </a:bodyPr>
          <a:lstStyle/>
          <a:p>
            <a:pPr algn="l"/>
            <a:r>
              <a:rPr sz="1400" b="0" i="0">
                <a:solidFill>
                  <a:srgbClr val="FFFFFF"/>
                </a:solidFill>
              </a:rPr>
              <a:t>Ej: FGT con α=0 (incidencia),</a:t>
            </a:r>
          </a:p>
        </p:txBody>
      </p:sp>
      <p:sp>
        <p:nvSpPr>
          <p:cNvPr id="24" name="TextBox 23"/>
          <p:cNvSpPr txBox="1"/>
          <p:nvPr/>
        </p:nvSpPr>
        <p:spPr>
          <a:xfrm>
            <a:off x="6675120" y="4572000"/>
            <a:ext cx="4754880" cy="411480"/>
          </a:xfrm>
          <a:prstGeom prst="rect">
            <a:avLst/>
          </a:prstGeom>
          <a:noFill/>
          <a:ln>
            <a:noFill/>
          </a:ln>
        </p:spPr>
        <p:txBody>
          <a:bodyPr wrap="square">
            <a:noAutofit/>
          </a:bodyPr>
          <a:lstStyle/>
          <a:p>
            <a:pPr algn="l"/>
            <a:r>
              <a:rPr sz="1400" b="0" i="0">
                <a:solidFill>
                  <a:srgbClr val="FFFFFF"/>
                </a:solidFill>
              </a:rPr>
              <a:t>         α=1 (brecha/profundidad),</a:t>
            </a:r>
          </a:p>
        </p:txBody>
      </p:sp>
      <p:sp>
        <p:nvSpPr>
          <p:cNvPr id="25" name="TextBox 24"/>
          <p:cNvSpPr txBox="1"/>
          <p:nvPr/>
        </p:nvSpPr>
        <p:spPr>
          <a:xfrm>
            <a:off x="6675120" y="5010912"/>
            <a:ext cx="4754880" cy="411480"/>
          </a:xfrm>
          <a:prstGeom prst="rect">
            <a:avLst/>
          </a:prstGeom>
          <a:noFill/>
          <a:ln>
            <a:noFill/>
          </a:ln>
        </p:spPr>
        <p:txBody>
          <a:bodyPr wrap="square">
            <a:noAutofit/>
          </a:bodyPr>
          <a:lstStyle/>
          <a:p>
            <a:pPr algn="l"/>
            <a:r>
              <a:rPr sz="1400" b="0" i="0">
                <a:solidFill>
                  <a:srgbClr val="FFFFFF"/>
                </a:solidFill>
              </a:rPr>
              <a:t>         α=2 (severidad/desigualdad</a:t>
            </a:r>
          </a:p>
        </p:txBody>
      </p:sp>
      <p:sp>
        <p:nvSpPr>
          <p:cNvPr id="26" name="TextBox 25"/>
          <p:cNvSpPr txBox="1"/>
          <p:nvPr/>
        </p:nvSpPr>
        <p:spPr>
          <a:xfrm>
            <a:off x="6675120" y="5449824"/>
            <a:ext cx="4754880" cy="411480"/>
          </a:xfrm>
          <a:prstGeom prst="rect">
            <a:avLst/>
          </a:prstGeom>
          <a:noFill/>
          <a:ln>
            <a:noFill/>
          </a:ln>
        </p:spPr>
        <p:txBody>
          <a:bodyPr wrap="square">
            <a:noAutofit/>
          </a:bodyPr>
          <a:lstStyle/>
          <a:p>
            <a:pPr algn="l"/>
            <a:r>
              <a:rPr sz="1400" b="0" i="0">
                <a:solidFill>
                  <a:srgbClr val="FFFFFF"/>
                </a:solidFill>
              </a:rPr>
              <a:t>              dentro de los pobres)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U4_1 — MEDICIÓN DE LA POBREZA</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a:solidFill>
                  <a:srgbClr val="2C5F2D"/>
                </a:solidFill>
              </a:rPr>
              <a:t>¿Qué hace buena a una medida de pobreza?</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508760"/>
            <a:ext cx="5486400" cy="96012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54480"/>
            <a:ext cx="5212080" cy="347472"/>
          </a:xfrm>
          <a:prstGeom prst="rect">
            <a:avLst/>
          </a:prstGeom>
          <a:noFill/>
          <a:ln>
            <a:noFill/>
          </a:ln>
        </p:spPr>
        <p:txBody>
          <a:bodyPr wrap="square">
            <a:noAutofit/>
          </a:bodyPr>
          <a:lstStyle/>
          <a:p>
            <a:pPr algn="l"/>
            <a:r>
              <a:rPr sz="1400" b="1" i="0">
                <a:solidFill>
                  <a:srgbClr val="2C5F2D"/>
                </a:solidFill>
              </a:rPr>
              <a:t>✓  Concepto de bienestar claro</a:t>
            </a:r>
          </a:p>
        </p:txBody>
      </p:sp>
      <p:sp>
        <p:nvSpPr>
          <p:cNvPr id="7" name="TextBox 6"/>
          <p:cNvSpPr txBox="1"/>
          <p:nvPr/>
        </p:nvSpPr>
        <p:spPr>
          <a:xfrm>
            <a:off x="822960" y="1947672"/>
            <a:ext cx="5029200" cy="411480"/>
          </a:xfrm>
          <a:prstGeom prst="rect">
            <a:avLst/>
          </a:prstGeom>
          <a:noFill/>
          <a:ln>
            <a:noFill/>
          </a:ln>
        </p:spPr>
        <p:txBody>
          <a:bodyPr wrap="square">
            <a:noAutofit/>
          </a:bodyPr>
          <a:lstStyle/>
          <a:p>
            <a:pPr algn="l"/>
            <a:r>
              <a:rPr sz="1300" b="0" i="0">
                <a:solidFill>
                  <a:srgbClr val="444444"/>
                </a:solidFill>
              </a:rPr>
              <a:t>Debe tener un marco teórico bien definido.</a:t>
            </a:r>
          </a:p>
        </p:txBody>
      </p:sp>
      <p:sp>
        <p:nvSpPr>
          <p:cNvPr id="8" name="Rectangle 7"/>
          <p:cNvSpPr/>
          <p:nvPr/>
        </p:nvSpPr>
        <p:spPr>
          <a:xfrm>
            <a:off x="6400800" y="1508760"/>
            <a:ext cx="5486400" cy="96012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37960" y="1554480"/>
            <a:ext cx="5212080" cy="347472"/>
          </a:xfrm>
          <a:prstGeom prst="rect">
            <a:avLst/>
          </a:prstGeom>
          <a:noFill/>
          <a:ln>
            <a:noFill/>
          </a:ln>
        </p:spPr>
        <p:txBody>
          <a:bodyPr wrap="square">
            <a:noAutofit/>
          </a:bodyPr>
          <a:lstStyle/>
          <a:p>
            <a:pPr algn="l"/>
            <a:r>
              <a:rPr sz="1400" b="1" i="0">
                <a:solidFill>
                  <a:srgbClr val="2C5F2D"/>
                </a:solidFill>
              </a:rPr>
              <a:t>✓  Relevante para políticas</a:t>
            </a:r>
          </a:p>
        </p:txBody>
      </p:sp>
      <p:sp>
        <p:nvSpPr>
          <p:cNvPr id="10" name="TextBox 9"/>
          <p:cNvSpPr txBox="1"/>
          <p:nvPr/>
        </p:nvSpPr>
        <p:spPr>
          <a:xfrm>
            <a:off x="6720840" y="1947672"/>
            <a:ext cx="5029200" cy="411480"/>
          </a:xfrm>
          <a:prstGeom prst="rect">
            <a:avLst/>
          </a:prstGeom>
          <a:noFill/>
          <a:ln>
            <a:noFill/>
          </a:ln>
        </p:spPr>
        <p:txBody>
          <a:bodyPr wrap="square">
            <a:noAutofit/>
          </a:bodyPr>
          <a:lstStyle/>
          <a:p>
            <a:pPr algn="l"/>
            <a:r>
              <a:rPr sz="1300" b="0" i="0">
                <a:solidFill>
                  <a:srgbClr val="444444"/>
                </a:solidFill>
              </a:rPr>
              <a:t>Útil para diseñar y evaluar intervenciones.</a:t>
            </a:r>
          </a:p>
        </p:txBody>
      </p:sp>
      <p:sp>
        <p:nvSpPr>
          <p:cNvPr id="11" name="Rectangle 10"/>
          <p:cNvSpPr/>
          <p:nvPr/>
        </p:nvSpPr>
        <p:spPr>
          <a:xfrm>
            <a:off x="502920" y="2606040"/>
            <a:ext cx="5486400" cy="96012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651760"/>
            <a:ext cx="5212080" cy="347472"/>
          </a:xfrm>
          <a:prstGeom prst="rect">
            <a:avLst/>
          </a:prstGeom>
          <a:noFill/>
          <a:ln>
            <a:noFill/>
          </a:ln>
        </p:spPr>
        <p:txBody>
          <a:bodyPr wrap="square">
            <a:noAutofit/>
          </a:bodyPr>
          <a:lstStyle/>
          <a:p>
            <a:pPr algn="l"/>
            <a:r>
              <a:rPr sz="1400" b="1" i="0">
                <a:solidFill>
                  <a:srgbClr val="2C5F2D"/>
                </a:solidFill>
              </a:rPr>
              <a:t>✓  Directa y no ambigua</a:t>
            </a:r>
          </a:p>
        </p:txBody>
      </p:sp>
      <p:sp>
        <p:nvSpPr>
          <p:cNvPr id="13" name="TextBox 12"/>
          <p:cNvSpPr txBox="1"/>
          <p:nvPr/>
        </p:nvSpPr>
        <p:spPr>
          <a:xfrm>
            <a:off x="822960" y="3044952"/>
            <a:ext cx="5029200" cy="411480"/>
          </a:xfrm>
          <a:prstGeom prst="rect">
            <a:avLst/>
          </a:prstGeom>
          <a:noFill/>
          <a:ln>
            <a:noFill/>
          </a:ln>
        </p:spPr>
        <p:txBody>
          <a:bodyPr wrap="square">
            <a:noAutofit/>
          </a:bodyPr>
          <a:lstStyle/>
          <a:p>
            <a:pPr algn="l"/>
            <a:r>
              <a:rPr sz="1300" b="0" i="0">
                <a:solidFill>
                  <a:srgbClr val="444444"/>
                </a:solidFill>
              </a:rPr>
              <a:t>Mide progreso en desarrollo humano sin vaguedad.</a:t>
            </a:r>
          </a:p>
        </p:txBody>
      </p:sp>
      <p:sp>
        <p:nvSpPr>
          <p:cNvPr id="14" name="Rectangle 13"/>
          <p:cNvSpPr/>
          <p:nvPr/>
        </p:nvSpPr>
        <p:spPr>
          <a:xfrm>
            <a:off x="6400800" y="2606040"/>
            <a:ext cx="5486400" cy="96012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37960" y="2651760"/>
            <a:ext cx="5212080" cy="347472"/>
          </a:xfrm>
          <a:prstGeom prst="rect">
            <a:avLst/>
          </a:prstGeom>
          <a:noFill/>
          <a:ln>
            <a:noFill/>
          </a:ln>
        </p:spPr>
        <p:txBody>
          <a:bodyPr wrap="square">
            <a:noAutofit/>
          </a:bodyPr>
          <a:lstStyle/>
          <a:p>
            <a:pPr algn="l"/>
            <a:r>
              <a:rPr sz="1400" b="1" i="0">
                <a:solidFill>
                  <a:srgbClr val="2C5F2D"/>
                </a:solidFill>
              </a:rPr>
              <a:t>✓  Específica del fenómeno</a:t>
            </a:r>
          </a:p>
        </p:txBody>
      </p:sp>
      <p:sp>
        <p:nvSpPr>
          <p:cNvPr id="16" name="TextBox 15"/>
          <p:cNvSpPr txBox="1"/>
          <p:nvPr/>
        </p:nvSpPr>
        <p:spPr>
          <a:xfrm>
            <a:off x="6720840" y="3044952"/>
            <a:ext cx="5029200" cy="411480"/>
          </a:xfrm>
          <a:prstGeom prst="rect">
            <a:avLst/>
          </a:prstGeom>
          <a:noFill/>
          <a:ln>
            <a:noFill/>
          </a:ln>
        </p:spPr>
        <p:txBody>
          <a:bodyPr wrap="square">
            <a:noAutofit/>
          </a:bodyPr>
          <a:lstStyle/>
          <a:p>
            <a:pPr algn="l"/>
            <a:r>
              <a:rPr sz="1300" b="0" i="0">
                <a:solidFill>
                  <a:srgbClr val="444444"/>
                </a:solidFill>
              </a:rPr>
              <a:t>Mide pobreza, no otro concepto social.</a:t>
            </a:r>
          </a:p>
        </p:txBody>
      </p:sp>
      <p:sp>
        <p:nvSpPr>
          <p:cNvPr id="17" name="Rectangle 16"/>
          <p:cNvSpPr/>
          <p:nvPr/>
        </p:nvSpPr>
        <p:spPr>
          <a:xfrm>
            <a:off x="502920" y="3703320"/>
            <a:ext cx="5486400" cy="96012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3749040"/>
            <a:ext cx="5212080" cy="347472"/>
          </a:xfrm>
          <a:prstGeom prst="rect">
            <a:avLst/>
          </a:prstGeom>
          <a:noFill/>
          <a:ln>
            <a:noFill/>
          </a:ln>
        </p:spPr>
        <p:txBody>
          <a:bodyPr wrap="square">
            <a:noAutofit/>
          </a:bodyPr>
          <a:lstStyle/>
          <a:p>
            <a:pPr algn="l"/>
            <a:r>
              <a:rPr sz="1400" b="1" i="0">
                <a:solidFill>
                  <a:srgbClr val="2C5F2D"/>
                </a:solidFill>
              </a:rPr>
              <a:t>✓  Entendible para el público</a:t>
            </a:r>
          </a:p>
        </p:txBody>
      </p:sp>
      <p:sp>
        <p:nvSpPr>
          <p:cNvPr id="19" name="TextBox 18"/>
          <p:cNvSpPr txBox="1"/>
          <p:nvPr/>
        </p:nvSpPr>
        <p:spPr>
          <a:xfrm>
            <a:off x="822960" y="4142232"/>
            <a:ext cx="5029200" cy="411480"/>
          </a:xfrm>
          <a:prstGeom prst="rect">
            <a:avLst/>
          </a:prstGeom>
          <a:noFill/>
          <a:ln>
            <a:noFill/>
          </a:ln>
        </p:spPr>
        <p:txBody>
          <a:bodyPr wrap="square">
            <a:noAutofit/>
          </a:bodyPr>
          <a:lstStyle/>
          <a:p>
            <a:pPr algn="l"/>
            <a:r>
              <a:rPr sz="1300" b="0" i="0">
                <a:solidFill>
                  <a:srgbClr val="444444"/>
                </a:solidFill>
              </a:rPr>
              <a:t>Comunicable en el debate democrático.</a:t>
            </a:r>
          </a:p>
        </p:txBody>
      </p:sp>
      <p:sp>
        <p:nvSpPr>
          <p:cNvPr id="20" name="Rectangle 19"/>
          <p:cNvSpPr/>
          <p:nvPr/>
        </p:nvSpPr>
        <p:spPr>
          <a:xfrm>
            <a:off x="6400800" y="3703320"/>
            <a:ext cx="5486400" cy="96012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37960" y="3749040"/>
            <a:ext cx="5212080" cy="347472"/>
          </a:xfrm>
          <a:prstGeom prst="rect">
            <a:avLst/>
          </a:prstGeom>
          <a:noFill/>
          <a:ln>
            <a:noFill/>
          </a:ln>
        </p:spPr>
        <p:txBody>
          <a:bodyPr wrap="square">
            <a:noAutofit/>
          </a:bodyPr>
          <a:lstStyle/>
          <a:p>
            <a:pPr algn="l"/>
            <a:r>
              <a:rPr sz="1400" b="1" i="0">
                <a:solidFill>
                  <a:srgbClr val="2C5F2D"/>
                </a:solidFill>
              </a:rPr>
              <a:t>✓  Técnicamente robusta</a:t>
            </a:r>
          </a:p>
        </p:txBody>
      </p:sp>
      <p:sp>
        <p:nvSpPr>
          <p:cNvPr id="22" name="TextBox 21"/>
          <p:cNvSpPr txBox="1"/>
          <p:nvPr/>
        </p:nvSpPr>
        <p:spPr>
          <a:xfrm>
            <a:off x="6720840" y="4142232"/>
            <a:ext cx="5029200" cy="411480"/>
          </a:xfrm>
          <a:prstGeom prst="rect">
            <a:avLst/>
          </a:prstGeom>
          <a:noFill/>
          <a:ln>
            <a:noFill/>
          </a:ln>
        </p:spPr>
        <p:txBody>
          <a:bodyPr wrap="square">
            <a:noAutofit/>
          </a:bodyPr>
          <a:lstStyle/>
          <a:p>
            <a:pPr algn="l"/>
            <a:r>
              <a:rPr sz="1300" b="0" i="0">
                <a:solidFill>
                  <a:srgbClr val="444444"/>
                </a:solidFill>
              </a:rPr>
              <a:t>Sólida con los datos disponibles y replicable.</a:t>
            </a:r>
          </a:p>
        </p:txBody>
      </p:sp>
      <p:sp>
        <p:nvSpPr>
          <p:cNvPr id="23" name="Rectangle 22"/>
          <p:cNvSpPr/>
          <p:nvPr/>
        </p:nvSpPr>
        <p:spPr>
          <a:xfrm>
            <a:off x="502920" y="4800600"/>
            <a:ext cx="5486400" cy="96012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4846320"/>
            <a:ext cx="5212080" cy="347472"/>
          </a:xfrm>
          <a:prstGeom prst="rect">
            <a:avLst/>
          </a:prstGeom>
          <a:noFill/>
          <a:ln>
            <a:noFill/>
          </a:ln>
        </p:spPr>
        <p:txBody>
          <a:bodyPr wrap="square">
            <a:noAutofit/>
          </a:bodyPr>
          <a:lstStyle/>
          <a:p>
            <a:pPr algn="l"/>
            <a:r>
              <a:rPr sz="1400" b="1" i="0">
                <a:solidFill>
                  <a:srgbClr val="2C5F2D"/>
                </a:solidFill>
              </a:rPr>
              <a:t>✓  Difícilmente manipulable</a:t>
            </a:r>
          </a:p>
        </p:txBody>
      </p:sp>
      <p:sp>
        <p:nvSpPr>
          <p:cNvPr id="25" name="TextBox 24"/>
          <p:cNvSpPr txBox="1"/>
          <p:nvPr/>
        </p:nvSpPr>
        <p:spPr>
          <a:xfrm>
            <a:off x="822960" y="5239512"/>
            <a:ext cx="5029200" cy="411480"/>
          </a:xfrm>
          <a:prstGeom prst="rect">
            <a:avLst/>
          </a:prstGeom>
          <a:noFill/>
          <a:ln>
            <a:noFill/>
          </a:ln>
        </p:spPr>
        <p:txBody>
          <a:bodyPr wrap="square">
            <a:noAutofit/>
          </a:bodyPr>
          <a:lstStyle/>
          <a:p>
            <a:pPr algn="l"/>
            <a:r>
              <a:rPr sz="1300" b="0" i="0">
                <a:solidFill>
                  <a:srgbClr val="444444"/>
                </a:solidFill>
              </a:rPr>
              <a:t>Clave en contextos como Argentina.</a:t>
            </a:r>
          </a:p>
        </p:txBody>
      </p:sp>
      <p:sp>
        <p:nvSpPr>
          <p:cNvPr id="26" name="Rectangle 25"/>
          <p:cNvSpPr/>
          <p:nvPr/>
        </p:nvSpPr>
        <p:spPr>
          <a:xfrm>
            <a:off x="6400800" y="4800600"/>
            <a:ext cx="5486400" cy="96012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37960" y="4846320"/>
            <a:ext cx="5212080" cy="347472"/>
          </a:xfrm>
          <a:prstGeom prst="rect">
            <a:avLst/>
          </a:prstGeom>
          <a:noFill/>
          <a:ln>
            <a:noFill/>
          </a:ln>
        </p:spPr>
        <p:txBody>
          <a:bodyPr wrap="square">
            <a:noAutofit/>
          </a:bodyPr>
          <a:lstStyle/>
          <a:p>
            <a:pPr algn="l"/>
            <a:r>
              <a:rPr sz="1400" b="1" i="0">
                <a:solidFill>
                  <a:srgbClr val="2C5F2D"/>
                </a:solidFill>
              </a:rPr>
              <a:t>✓  Flexible</a:t>
            </a:r>
          </a:p>
        </p:txBody>
      </p:sp>
      <p:sp>
        <p:nvSpPr>
          <p:cNvPr id="28" name="TextBox 27"/>
          <p:cNvSpPr txBox="1"/>
          <p:nvPr/>
        </p:nvSpPr>
        <p:spPr>
          <a:xfrm>
            <a:off x="6720840" y="5239512"/>
            <a:ext cx="5029200" cy="411480"/>
          </a:xfrm>
          <a:prstGeom prst="rect">
            <a:avLst/>
          </a:prstGeom>
          <a:noFill/>
          <a:ln>
            <a:noFill/>
          </a:ln>
        </p:spPr>
        <p:txBody>
          <a:bodyPr wrap="square">
            <a:noAutofit/>
          </a:bodyPr>
          <a:lstStyle/>
          <a:p>
            <a:pPr algn="l"/>
            <a:r>
              <a:rPr sz="1300" b="0" i="0">
                <a:solidFill>
                  <a:srgbClr val="444444"/>
                </a:solidFill>
              </a:rPr>
              <a:t>Adaptable a distintos propósitos y escalas.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U4_1 — MEDICIÓN DE LA POBREZA</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a:solidFill>
                  <a:srgbClr val="2C5F2D"/>
                </a:solidFill>
              </a:rPr>
              <a:t>Enfoques: Absoluto vs. Relativo</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02920" y="1508760"/>
          <a:ext cx="11185855" cy="4518660"/>
        </p:xfrm>
        <a:graphic>
          <a:graphicData uri="http://schemas.openxmlformats.org/drawingml/2006/table">
            <a:tbl>
              <a:tblPr firstRow="1" bandRow="1">
                <a:tableStyleId>{5C22544A-7EE6-4342-B048-85BDC9FD1C3A}</a:tableStyleId>
              </a:tblPr>
              <a:tblGrid>
                <a:gridCol w="3728618">
                  <a:extLst>
                    <a:ext uri="{9D8B030D-6E8A-4147-A177-3AD203B41FA5}">
                      <a16:colId xmlns:a16="http://schemas.microsoft.com/office/drawing/2014/main" val="20000"/>
                    </a:ext>
                  </a:extLst>
                </a:gridCol>
                <a:gridCol w="3728618">
                  <a:extLst>
                    <a:ext uri="{9D8B030D-6E8A-4147-A177-3AD203B41FA5}">
                      <a16:colId xmlns:a16="http://schemas.microsoft.com/office/drawing/2014/main" val="20001"/>
                    </a:ext>
                  </a:extLst>
                </a:gridCol>
                <a:gridCol w="3728619">
                  <a:extLst>
                    <a:ext uri="{9D8B030D-6E8A-4147-A177-3AD203B41FA5}">
                      <a16:colId xmlns:a16="http://schemas.microsoft.com/office/drawing/2014/main" val="20002"/>
                    </a:ext>
                  </a:extLst>
                </a:gridCol>
              </a:tblGrid>
              <a:tr h="739140">
                <a:tc>
                  <a:txBody>
                    <a:bodyPr/>
                    <a:lstStyle/>
                    <a:p>
                      <a:pPr algn="ctr"/>
                      <a:endParaRPr/>
                    </a:p>
                  </a:txBody>
                  <a:tcPr>
                    <a:solidFill>
                      <a:srgbClr val="2C5F2D"/>
                    </a:solidFill>
                  </a:tcPr>
                </a:tc>
                <a:tc>
                  <a:txBody>
                    <a:bodyPr/>
                    <a:lstStyle/>
                    <a:p>
                      <a:pPr algn="ctr"/>
                      <a:r>
                        <a:rPr sz="1300" b="1">
                          <a:solidFill>
                            <a:srgbClr val="FFFFFF"/>
                          </a:solidFill>
                        </a:rPr>
                        <a:t>ENFOQUE ABSOLUTO</a:t>
                      </a:r>
                    </a:p>
                  </a:txBody>
                  <a:tcPr>
                    <a:solidFill>
                      <a:srgbClr val="2C5F2D"/>
                    </a:solidFill>
                  </a:tcPr>
                </a:tc>
                <a:tc>
                  <a:txBody>
                    <a:bodyPr/>
                    <a:lstStyle/>
                    <a:p>
                      <a:pPr algn="ctr"/>
                      <a:r>
                        <a:rPr sz="1300" b="1">
                          <a:solidFill>
                            <a:srgbClr val="FFFFFF"/>
                          </a:solidFill>
                        </a:rPr>
                        <a:t>ENFOQUE RELATIVO</a:t>
                      </a:r>
                    </a:p>
                  </a:txBody>
                  <a:tcPr>
                    <a:solidFill>
                      <a:srgbClr val="2C5F2D"/>
                    </a:solidFill>
                  </a:tcPr>
                </a:tc>
                <a:extLst>
                  <a:ext uri="{0D108BD9-81ED-4DB2-BD59-A6C34878D82A}">
                    <a16:rowId xmlns:a16="http://schemas.microsoft.com/office/drawing/2014/main" val="10000"/>
                  </a:ext>
                </a:extLst>
              </a:tr>
              <a:tr h="739140">
                <a:tc>
                  <a:txBody>
                    <a:bodyPr/>
                    <a:lstStyle/>
                    <a:p>
                      <a:r>
                        <a:rPr sz="1200">
                          <a:solidFill>
                            <a:srgbClr val="1A1A1A"/>
                          </a:solidFill>
                        </a:rPr>
                        <a:t>Premisa</a:t>
                      </a:r>
                    </a:p>
                  </a:txBody>
                  <a:tcPr>
                    <a:solidFill>
                      <a:srgbClr val="E8F4D6"/>
                    </a:solidFill>
                  </a:tcPr>
                </a:tc>
                <a:tc>
                  <a:txBody>
                    <a:bodyPr/>
                    <a:lstStyle/>
                    <a:p>
                      <a:r>
                        <a:rPr sz="1200">
                          <a:solidFill>
                            <a:srgbClr val="1A1A1A"/>
                          </a:solidFill>
                        </a:rPr>
                        <a:t>Las necesidades son universales e</a:t>
                      </a:r>
                    </a:p>
                    <a:p>
                      <a:r>
                        <a:t>independientes del nivel de riqueza</a:t>
                      </a:r>
                    </a:p>
                    <a:p>
                      <a:r>
                        <a:t>de los demás.</a:t>
                      </a:r>
                    </a:p>
                  </a:txBody>
                  <a:tcPr>
                    <a:solidFill>
                      <a:srgbClr val="E8F4D6"/>
                    </a:solidFill>
                  </a:tcPr>
                </a:tc>
                <a:tc>
                  <a:txBody>
                    <a:bodyPr/>
                    <a:lstStyle/>
                    <a:p>
                      <a:r>
                        <a:rPr sz="1200">
                          <a:solidFill>
                            <a:srgbClr val="1A1A1A"/>
                          </a:solidFill>
                        </a:rPr>
                        <a:t>Las necesidades surgen de la</a:t>
                      </a:r>
                    </a:p>
                    <a:p>
                      <a:r>
                        <a:t>comparación con el grupo social.</a:t>
                      </a:r>
                    </a:p>
                  </a:txBody>
                  <a:tcPr>
                    <a:solidFill>
                      <a:srgbClr val="E8F4D6"/>
                    </a:solidFill>
                  </a:tcPr>
                </a:tc>
                <a:extLst>
                  <a:ext uri="{0D108BD9-81ED-4DB2-BD59-A6C34878D82A}">
                    <a16:rowId xmlns:a16="http://schemas.microsoft.com/office/drawing/2014/main" val="10001"/>
                  </a:ext>
                </a:extLst>
              </a:tr>
              <a:tr h="739140">
                <a:tc>
                  <a:txBody>
                    <a:bodyPr/>
                    <a:lstStyle/>
                    <a:p>
                      <a:r>
                        <a:rPr sz="1200">
                          <a:solidFill>
                            <a:srgbClr val="1A1A1A"/>
                          </a:solidFill>
                        </a:rPr>
                        <a:t>Autores</a:t>
                      </a:r>
                    </a:p>
                  </a:txBody>
                  <a:tcPr>
                    <a:solidFill>
                      <a:srgbClr val="FFFFFF"/>
                    </a:solidFill>
                  </a:tcPr>
                </a:tc>
                <a:tc>
                  <a:txBody>
                    <a:bodyPr/>
                    <a:lstStyle/>
                    <a:p>
                      <a:r>
                        <a:rPr sz="1200">
                          <a:solidFill>
                            <a:srgbClr val="1A1A1A"/>
                          </a:solidFill>
                        </a:rPr>
                        <a:t>Sen, Rowntree</a:t>
                      </a:r>
                    </a:p>
                  </a:txBody>
                  <a:tcPr>
                    <a:solidFill>
                      <a:srgbClr val="FFFFFF"/>
                    </a:solidFill>
                  </a:tcPr>
                </a:tc>
                <a:tc>
                  <a:txBody>
                    <a:bodyPr/>
                    <a:lstStyle/>
                    <a:p>
                      <a:r>
                        <a:rPr sz="1200">
                          <a:solidFill>
                            <a:srgbClr val="1A1A1A"/>
                          </a:solidFill>
                        </a:rPr>
                        <a:t>Townsend (1979) — privación relativa</a:t>
                      </a:r>
                    </a:p>
                  </a:txBody>
                  <a:tcPr>
                    <a:solidFill>
                      <a:srgbClr val="FFFFFF"/>
                    </a:solidFill>
                  </a:tcPr>
                </a:tc>
                <a:extLst>
                  <a:ext uri="{0D108BD9-81ED-4DB2-BD59-A6C34878D82A}">
                    <a16:rowId xmlns:a16="http://schemas.microsoft.com/office/drawing/2014/main" val="10002"/>
                  </a:ext>
                </a:extLst>
              </a:tr>
              <a:tr h="739140">
                <a:tc>
                  <a:txBody>
                    <a:bodyPr/>
                    <a:lstStyle/>
                    <a:p>
                      <a:r>
                        <a:rPr sz="1200">
                          <a:solidFill>
                            <a:srgbClr val="1A1A1A"/>
                          </a:solidFill>
                        </a:rPr>
                        <a:t>Umbral</a:t>
                      </a:r>
                    </a:p>
                  </a:txBody>
                  <a:tcPr>
                    <a:solidFill>
                      <a:srgbClr val="E8F4D6"/>
                    </a:solidFill>
                  </a:tcPr>
                </a:tc>
                <a:tc>
                  <a:txBody>
                    <a:bodyPr/>
                    <a:lstStyle/>
                    <a:p>
                      <a:r>
                        <a:rPr sz="1200">
                          <a:solidFill>
                            <a:srgbClr val="1A1A1A"/>
                          </a:solidFill>
                        </a:rPr>
                        <a:t>Fijo: canasta de supervivencia</a:t>
                      </a:r>
                    </a:p>
                    <a:p>
                      <a:r>
                        <a:t>(ej.: 2.100 kcal/día mínimas)</a:t>
                      </a:r>
                    </a:p>
                  </a:txBody>
                  <a:tcPr>
                    <a:solidFill>
                      <a:srgbClr val="E8F4D6"/>
                    </a:solidFill>
                  </a:tcPr>
                </a:tc>
                <a:tc>
                  <a:txBody>
                    <a:bodyPr/>
                    <a:lstStyle/>
                    <a:p>
                      <a:r>
                        <a:rPr sz="1200">
                          <a:solidFill>
                            <a:srgbClr val="1A1A1A"/>
                          </a:solidFill>
                        </a:rPr>
                        <a:t>Variable: % del ingreso mediano</a:t>
                      </a:r>
                    </a:p>
                    <a:p>
                      <a:r>
                        <a:t>(ej.: &lt; 50% de la mediana)</a:t>
                      </a:r>
                    </a:p>
                  </a:txBody>
                  <a:tcPr>
                    <a:solidFill>
                      <a:srgbClr val="E8F4D6"/>
                    </a:solidFill>
                  </a:tcPr>
                </a:tc>
                <a:extLst>
                  <a:ext uri="{0D108BD9-81ED-4DB2-BD59-A6C34878D82A}">
                    <a16:rowId xmlns:a16="http://schemas.microsoft.com/office/drawing/2014/main" val="10003"/>
                  </a:ext>
                </a:extLst>
              </a:tr>
              <a:tr h="739140">
                <a:tc>
                  <a:txBody>
                    <a:bodyPr/>
                    <a:lstStyle/>
                    <a:p>
                      <a:r>
                        <a:rPr sz="1200">
                          <a:solidFill>
                            <a:srgbClr val="1A1A1A"/>
                          </a:solidFill>
                        </a:rPr>
                        <a:t>Contexto</a:t>
                      </a:r>
                    </a:p>
                  </a:txBody>
                  <a:tcPr>
                    <a:solidFill>
                      <a:srgbClr val="FFFFFF"/>
                    </a:solidFill>
                  </a:tcPr>
                </a:tc>
                <a:tc>
                  <a:txBody>
                    <a:bodyPr/>
                    <a:lstStyle/>
                    <a:p>
                      <a:r>
                        <a:rPr sz="1200">
                          <a:solidFill>
                            <a:srgbClr val="1A1A1A"/>
                          </a:solidFill>
                        </a:rPr>
                        <a:t>Países en desarrollo ✓</a:t>
                      </a:r>
                    </a:p>
                  </a:txBody>
                  <a:tcPr>
                    <a:solidFill>
                      <a:srgbClr val="FFFFFF"/>
                    </a:solidFill>
                  </a:tcPr>
                </a:tc>
                <a:tc>
                  <a:txBody>
                    <a:bodyPr/>
                    <a:lstStyle/>
                    <a:p>
                      <a:r>
                        <a:rPr sz="1200">
                          <a:solidFill>
                            <a:srgbClr val="1A1A1A"/>
                          </a:solidFill>
                        </a:rPr>
                        <a:t>Países desarrollados ✓</a:t>
                      </a:r>
                    </a:p>
                  </a:txBody>
                  <a:tcPr>
                    <a:solidFill>
                      <a:srgbClr val="FFFFFF"/>
                    </a:solidFill>
                  </a:tcPr>
                </a:tc>
                <a:extLst>
                  <a:ext uri="{0D108BD9-81ED-4DB2-BD59-A6C34878D82A}">
                    <a16:rowId xmlns:a16="http://schemas.microsoft.com/office/drawing/2014/main" val="10004"/>
                  </a:ext>
                </a:extLst>
              </a:tr>
              <a:tr h="739140">
                <a:tc>
                  <a:txBody>
                    <a:bodyPr/>
                    <a:lstStyle/>
                    <a:p>
                      <a:r>
                        <a:rPr sz="1200">
                          <a:solidFill>
                            <a:srgbClr val="1A1A1A"/>
                          </a:solidFill>
                        </a:rPr>
                        <a:t>Crítica</a:t>
                      </a:r>
                    </a:p>
                  </a:txBody>
                  <a:tcPr>
                    <a:solidFill>
                      <a:srgbClr val="E8F4D6"/>
                    </a:solidFill>
                  </a:tcPr>
                </a:tc>
                <a:tc>
                  <a:txBody>
                    <a:bodyPr/>
                    <a:lstStyle/>
                    <a:p>
                      <a:r>
                        <a:rPr sz="1200">
                          <a:solidFill>
                            <a:srgbClr val="1A1A1A"/>
                          </a:solidFill>
                        </a:rPr>
                        <a:t>No capta exclusión social</a:t>
                      </a:r>
                    </a:p>
                    <a:p>
                      <a:r>
                        <a:t>en países ricos.</a:t>
                      </a:r>
                    </a:p>
                  </a:txBody>
                  <a:tcPr>
                    <a:solidFill>
                      <a:srgbClr val="E8F4D6"/>
                    </a:solidFill>
                  </a:tcPr>
                </a:tc>
                <a:tc>
                  <a:txBody>
                    <a:bodyPr/>
                    <a:lstStyle/>
                    <a:p>
                      <a:r>
                        <a:rPr sz="1200">
                          <a:solidFill>
                            <a:srgbClr val="1A1A1A"/>
                          </a:solidFill>
                        </a:rPr>
                        <a:t>Subestima la pobreza si</a:t>
                      </a:r>
                    </a:p>
                    <a:p>
                      <a:r>
                        <a:t>toda la sociedad es pobre.</a:t>
                      </a:r>
                    </a:p>
                  </a:txBody>
                  <a:tcPr>
                    <a:solidFill>
                      <a:srgbClr val="E8F4D6"/>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U4_1 — MÉTODO MONETARIO</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a:solidFill>
                  <a:srgbClr val="2C5F2D"/>
                </a:solidFill>
              </a:rPr>
              <a:t>CBA: Canasta Básica Alimentaria y Línea de Indigencia</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508760"/>
            <a:ext cx="6858000" cy="4114800"/>
          </a:xfrm>
          <a:prstGeom prst="rect">
            <a:avLst/>
          </a:prstGeom>
          <a:noFill/>
          <a:ln>
            <a:noFill/>
          </a:ln>
        </p:spPr>
        <p:txBody>
          <a:bodyPr wrap="square">
            <a:noAutofit/>
          </a:bodyPr>
          <a:lstStyle/>
          <a:p>
            <a:pPr algn="l">
              <a:spcBef>
                <a:spcPts val="0"/>
              </a:spcBef>
            </a:pPr>
            <a:r>
              <a:rPr sz="1600" b="1">
                <a:solidFill>
                  <a:srgbClr val="2C5F2D"/>
                </a:solidFill>
              </a:rPr>
              <a:t>¿Qué es la CBA?</a:t>
            </a:r>
          </a:p>
          <a:p>
            <a:pPr algn="l">
              <a:spcBef>
                <a:spcPts val="500"/>
              </a:spcBef>
            </a:pPr>
            <a:r>
              <a:rPr sz="1400" b="0">
                <a:solidFill>
                  <a:srgbClr val="1A1A1A"/>
                </a:solidFill>
              </a:rPr>
              <a:t>Identifica el ingreso mínimo necesario para cubrir los requerimientos</a:t>
            </a:r>
          </a:p>
          <a:p>
            <a:pPr algn="l">
              <a:spcBef>
                <a:spcPts val="500"/>
              </a:spcBef>
            </a:pPr>
            <a:r>
              <a:rPr sz="1400" b="0">
                <a:solidFill>
                  <a:srgbClr val="1A1A1A"/>
                </a:solidFill>
              </a:rPr>
              <a:t>calóricos esenciales (≈ 2.100 kcal/día por adulto equivalente).</a:t>
            </a:r>
          </a:p>
          <a:p>
            <a:pPr algn="l">
              <a:spcBef>
                <a:spcPts val="500"/>
              </a:spcBef>
            </a:pPr>
            <a:endParaRPr sz="1400" b="0">
              <a:solidFill>
                <a:srgbClr val="1A1A1A"/>
              </a:solidFill>
            </a:endParaRPr>
          </a:p>
          <a:p>
            <a:pPr algn="l">
              <a:spcBef>
                <a:spcPts val="500"/>
              </a:spcBef>
            </a:pPr>
            <a:r>
              <a:rPr sz="1500" b="1">
                <a:solidFill>
                  <a:srgbClr val="2C5F2D"/>
                </a:solidFill>
              </a:rPr>
              <a:t>Cálculo para cada hogar:</a:t>
            </a:r>
          </a:p>
          <a:p>
            <a:pPr algn="l">
              <a:spcBef>
                <a:spcPts val="500"/>
              </a:spcBef>
            </a:pPr>
            <a:r>
              <a:rPr sz="1400" b="0">
                <a:solidFill>
                  <a:srgbClr val="5A822A"/>
                </a:solidFill>
              </a:rPr>
              <a:t>CBA del hogar = Valor CBA (adulto equiv.) × N° adultos equivalentes</a:t>
            </a:r>
          </a:p>
          <a:p>
            <a:pPr algn="l">
              <a:spcBef>
                <a:spcPts val="500"/>
              </a:spcBef>
            </a:pPr>
            <a:endParaRPr sz="1400" b="0">
              <a:solidFill>
                <a:srgbClr val="5A822A"/>
              </a:solidFill>
            </a:endParaRPr>
          </a:p>
          <a:p>
            <a:pPr algn="l">
              <a:spcBef>
                <a:spcPts val="500"/>
              </a:spcBef>
            </a:pPr>
            <a:r>
              <a:rPr sz="1500" b="1">
                <a:solidFill>
                  <a:srgbClr val="2C5F2D"/>
                </a:solidFill>
              </a:rPr>
              <a:t>Línea de indigencia:</a:t>
            </a:r>
          </a:p>
          <a:p>
            <a:pPr algn="l">
              <a:spcBef>
                <a:spcPts val="500"/>
              </a:spcBef>
            </a:pPr>
            <a:r>
              <a:rPr sz="1500" b="1">
                <a:solidFill>
                  <a:srgbClr val="C03B1F"/>
                </a:solidFill>
              </a:rPr>
              <a:t>Si  ingreso real del hogar  &lt;  CBA del hogar  →  INDIGENTE</a:t>
            </a:r>
          </a:p>
        </p:txBody>
      </p:sp>
      <p:sp>
        <p:nvSpPr>
          <p:cNvPr id="6" name="TextBox 5"/>
          <p:cNvSpPr txBox="1"/>
          <p:nvPr/>
        </p:nvSpPr>
        <p:spPr>
          <a:xfrm>
            <a:off x="7406640" y="1508760"/>
            <a:ext cx="4297680" cy="1645920"/>
          </a:xfrm>
          <a:prstGeom prst="rect">
            <a:avLst/>
          </a:prstGeom>
          <a:solidFill>
            <a:srgbClr val="E8F4D6"/>
          </a:solidFill>
          <a:ln>
            <a:noFill/>
          </a:ln>
        </p:spPr>
        <p:txBody>
          <a:bodyPr wrap="square">
            <a:spAutoFit/>
          </a:bodyPr>
          <a:lstStyle/>
          <a:p>
            <a:pPr algn="l"/>
            <a:r>
              <a:rPr sz="1400" b="0">
                <a:solidFill>
                  <a:srgbClr val="2C5F2D"/>
                </a:solidFill>
              </a:rPr>
              <a:t>Método: Indirecto (mide recursos, no resultados)
Enfoque: Absoluto
Dimensión: Unidimensional (ingreso)</a:t>
            </a:r>
          </a:p>
        </p:txBody>
      </p:sp>
      <p:sp>
        <p:nvSpPr>
          <p:cNvPr id="7" name="TextBox 6"/>
          <p:cNvSpPr txBox="1"/>
          <p:nvPr/>
        </p:nvSpPr>
        <p:spPr>
          <a:xfrm>
            <a:off x="7406640" y="3337560"/>
            <a:ext cx="4297680" cy="1371600"/>
          </a:xfrm>
          <a:prstGeom prst="rect">
            <a:avLst/>
          </a:prstGeom>
          <a:solidFill>
            <a:srgbClr val="FFFFFF"/>
          </a:solidFill>
          <a:ln>
            <a:noFill/>
          </a:ln>
        </p:spPr>
        <p:txBody>
          <a:bodyPr wrap="square">
            <a:spAutoFit/>
          </a:bodyPr>
          <a:lstStyle/>
          <a:p>
            <a:pPr algn="l"/>
            <a:r>
              <a:rPr sz="1300" b="0">
                <a:solidFill>
                  <a:srgbClr val="444444"/>
                </a:solidFill>
              </a:rPr>
              <a:t>El adulto equivalente es la unidad de referencia.
Niños y adultos mayores tienen factores &lt; 1
para ajustar el consumo calórico.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U4_1 — MÉTODO MONETARIO</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a:solidFill>
                  <a:srgbClr val="2C5F2D"/>
                </a:solidFill>
              </a:rPr>
              <a:t>Del CBA al CBT: el Coeficiente de Engel</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508760"/>
            <a:ext cx="6858000" cy="4389120"/>
          </a:xfrm>
          <a:prstGeom prst="rect">
            <a:avLst/>
          </a:prstGeom>
          <a:noFill/>
          <a:ln>
            <a:noFill/>
          </a:ln>
        </p:spPr>
        <p:txBody>
          <a:bodyPr wrap="square">
            <a:noAutofit/>
          </a:bodyPr>
          <a:lstStyle/>
          <a:p>
            <a:pPr algn="l">
              <a:spcBef>
                <a:spcPts val="0"/>
              </a:spcBef>
            </a:pPr>
            <a:r>
              <a:rPr sz="1600" b="1">
                <a:solidFill>
                  <a:srgbClr val="2C5F2D"/>
                </a:solidFill>
              </a:rPr>
              <a:t>Coeficiente de Engel (CE):</a:t>
            </a:r>
          </a:p>
          <a:p>
            <a:pPr algn="l">
              <a:spcBef>
                <a:spcPts val="500"/>
              </a:spcBef>
            </a:pPr>
            <a:r>
              <a:rPr sz="1400" b="0">
                <a:solidFill>
                  <a:srgbClr val="1A1A1A"/>
                </a:solidFill>
              </a:rPr>
              <a:t>Proporción del gasto total que una población destina a alimentación.</a:t>
            </a:r>
          </a:p>
          <a:p>
            <a:pPr algn="l">
              <a:spcBef>
                <a:spcPts val="500"/>
              </a:spcBef>
            </a:pPr>
            <a:endParaRPr sz="1400" b="0">
              <a:solidFill>
                <a:srgbClr val="1A1A1A"/>
              </a:solidFill>
            </a:endParaRPr>
          </a:p>
          <a:p>
            <a:pPr algn="l">
              <a:spcBef>
                <a:spcPts val="500"/>
              </a:spcBef>
            </a:pPr>
            <a:r>
              <a:rPr sz="1600" b="1">
                <a:solidFill>
                  <a:srgbClr val="5A822A"/>
                </a:solidFill>
              </a:rPr>
              <a:t>CE  =  Gasto alimentario / Gasto total</a:t>
            </a:r>
          </a:p>
          <a:p>
            <a:pPr algn="l">
              <a:spcBef>
                <a:spcPts val="500"/>
              </a:spcBef>
            </a:pPr>
            <a:endParaRPr sz="1600" b="1">
              <a:solidFill>
                <a:srgbClr val="5A822A"/>
              </a:solidFill>
            </a:endParaRPr>
          </a:p>
          <a:p>
            <a:pPr algn="l">
              <a:spcBef>
                <a:spcPts val="500"/>
              </a:spcBef>
            </a:pPr>
            <a:r>
              <a:rPr sz="1600" b="1">
                <a:solidFill>
                  <a:srgbClr val="2C5F2D"/>
                </a:solidFill>
              </a:rPr>
              <a:t>Canasta Básica Total (CBT):</a:t>
            </a:r>
          </a:p>
          <a:p>
            <a:pPr algn="l">
              <a:spcBef>
                <a:spcPts val="500"/>
              </a:spcBef>
            </a:pPr>
            <a:r>
              <a:rPr sz="1400" b="0">
                <a:solidFill>
                  <a:srgbClr val="1A1A1A"/>
                </a:solidFill>
              </a:rPr>
              <a:t>Incluye CBA + bienes no alimentarios (ropa, transporte, salud, etc.)</a:t>
            </a:r>
          </a:p>
          <a:p>
            <a:pPr algn="l">
              <a:spcBef>
                <a:spcPts val="500"/>
              </a:spcBef>
            </a:pPr>
            <a:endParaRPr sz="1400" b="0">
              <a:solidFill>
                <a:srgbClr val="1A1A1A"/>
              </a:solidFill>
            </a:endParaRPr>
          </a:p>
          <a:p>
            <a:pPr algn="l">
              <a:spcBef>
                <a:spcPts val="500"/>
              </a:spcBef>
            </a:pPr>
            <a:r>
              <a:rPr sz="1600" b="1">
                <a:solidFill>
                  <a:srgbClr val="5A822A"/>
                </a:solidFill>
              </a:rPr>
              <a:t>CBT  =  CBA  ×  (1 / CE)  →  Línea de Pobreza</a:t>
            </a:r>
          </a:p>
          <a:p>
            <a:pPr algn="l">
              <a:spcBef>
                <a:spcPts val="500"/>
              </a:spcBef>
            </a:pPr>
            <a:endParaRPr sz="1600" b="1">
              <a:solidFill>
                <a:srgbClr val="5A822A"/>
              </a:solidFill>
            </a:endParaRPr>
          </a:p>
          <a:p>
            <a:pPr algn="l">
              <a:spcBef>
                <a:spcPts val="500"/>
              </a:spcBef>
            </a:pPr>
            <a:r>
              <a:rPr sz="1500" b="1">
                <a:solidFill>
                  <a:srgbClr val="C03B1F"/>
                </a:solidFill>
              </a:rPr>
              <a:t>Si  ingreso real del hogar  &lt;  CBT del hogar  →  POBRE</a:t>
            </a:r>
          </a:p>
        </p:txBody>
      </p:sp>
      <p:sp>
        <p:nvSpPr>
          <p:cNvPr id="6" name="TextBox 5"/>
          <p:cNvSpPr txBox="1"/>
          <p:nvPr/>
        </p:nvSpPr>
        <p:spPr>
          <a:xfrm>
            <a:off x="7406640" y="1508760"/>
            <a:ext cx="4297680" cy="3200400"/>
          </a:xfrm>
          <a:prstGeom prst="rect">
            <a:avLst/>
          </a:prstGeom>
          <a:solidFill>
            <a:srgbClr val="E8F4D6"/>
          </a:solidFill>
          <a:ln>
            <a:noFill/>
          </a:ln>
        </p:spPr>
        <p:txBody>
          <a:bodyPr wrap="square">
            <a:spAutoFit/>
          </a:bodyPr>
          <a:lstStyle/>
          <a:p>
            <a:pPr algn="l"/>
            <a:r>
              <a:rPr sz="1400" b="0">
                <a:solidFill>
                  <a:srgbClr val="2C5F2D"/>
                </a:solidFill>
              </a:rPr>
              <a:t>Ley de Engel: A mayor ingreso,
menor % se gasta en alimentos.
CE alto → bajo desarrollo
CE bajo → mayor desarrollo
(Indicador indirecto del nivel de desarrollo)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U4_1 — MÉTODO MONETARIO</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a:solidFill>
                  <a:srgbClr val="2C5F2D"/>
                </a:solidFill>
              </a:rPr>
              <a:t>El caso especial de CABA</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508760"/>
            <a:ext cx="6858000" cy="1097280"/>
          </a:xfrm>
          <a:prstGeom prst="rect">
            <a:avLst/>
          </a:prstGeom>
          <a:noFill/>
          <a:ln>
            <a:noFill/>
          </a:ln>
        </p:spPr>
        <p:txBody>
          <a:bodyPr wrap="square">
            <a:noAutofit/>
          </a:bodyPr>
          <a:lstStyle/>
          <a:p>
            <a:pPr algn="l">
              <a:spcBef>
                <a:spcPts val="0"/>
              </a:spcBef>
            </a:pPr>
            <a:r>
              <a:rPr sz="1500" b="1">
                <a:solidFill>
                  <a:srgbClr val="2C5F2D"/>
                </a:solidFill>
              </a:rPr>
              <a:t>INDEC (método estándar):</a:t>
            </a:r>
          </a:p>
          <a:p>
            <a:pPr algn="l">
              <a:spcBef>
                <a:spcPts val="500"/>
              </a:spcBef>
            </a:pPr>
            <a:r>
              <a:rPr sz="1400" b="0">
                <a:solidFill>
                  <a:srgbClr val="1A1A1A"/>
                </a:solidFill>
              </a:rPr>
              <a:t>Usa la inversa del Coeficiente de Engel como multiplicador fijo.</a:t>
            </a:r>
          </a:p>
          <a:p>
            <a:pPr algn="l">
              <a:spcBef>
                <a:spcPts val="500"/>
              </a:spcBef>
            </a:pPr>
            <a:r>
              <a:rPr sz="1400" b="0">
                <a:solidFill>
                  <a:srgbClr val="5A822A"/>
                </a:solidFill>
              </a:rPr>
              <a:t>CBT = CBA × (1/CE)</a:t>
            </a:r>
          </a:p>
        </p:txBody>
      </p:sp>
      <p:sp>
        <p:nvSpPr>
          <p:cNvPr id="6" name="TextBox 5"/>
          <p:cNvSpPr txBox="1"/>
          <p:nvPr/>
        </p:nvSpPr>
        <p:spPr>
          <a:xfrm>
            <a:off x="7406640" y="1508760"/>
            <a:ext cx="4297680" cy="1828800"/>
          </a:xfrm>
          <a:prstGeom prst="rect">
            <a:avLst/>
          </a:prstGeom>
          <a:solidFill>
            <a:srgbClr val="E8F4D6"/>
          </a:solidFill>
          <a:ln>
            <a:noFill/>
          </a:ln>
        </p:spPr>
        <p:txBody>
          <a:bodyPr wrap="square">
            <a:spAutoFit/>
          </a:bodyPr>
          <a:lstStyle/>
          <a:p>
            <a:pPr algn="l"/>
            <a:r>
              <a:rPr sz="1500" b="0">
                <a:solidFill>
                  <a:srgbClr val="2C5F2D"/>
                </a:solidFill>
              </a:rPr>
              <a:t>CABA usa un método más detallado:
En lugar de multiplicar por 1/CE,
define componente a componente el
contenido de la canasta no alimentaria.</a:t>
            </a:r>
          </a:p>
        </p:txBody>
      </p:sp>
      <p:sp>
        <p:nvSpPr>
          <p:cNvPr id="7" name="TextBox 6"/>
          <p:cNvSpPr txBox="1"/>
          <p:nvPr/>
        </p:nvSpPr>
        <p:spPr>
          <a:xfrm>
            <a:off x="502920" y="2788920"/>
            <a:ext cx="11185855" cy="365760"/>
          </a:xfrm>
          <a:prstGeom prst="rect">
            <a:avLst/>
          </a:prstGeom>
          <a:noFill/>
          <a:ln>
            <a:noFill/>
          </a:ln>
        </p:spPr>
        <p:txBody>
          <a:bodyPr wrap="square">
            <a:noAutofit/>
          </a:bodyPr>
          <a:lstStyle/>
          <a:p>
            <a:pPr algn="l">
              <a:spcBef>
                <a:spcPts val="0"/>
              </a:spcBef>
            </a:pPr>
            <a:r>
              <a:rPr sz="1500" b="1">
                <a:solidFill>
                  <a:srgbClr val="2C5F2D"/>
                </a:solidFill>
              </a:rPr>
              <a:t>Componentes de la CBT de CABA:</a:t>
            </a:r>
          </a:p>
        </p:txBody>
      </p:sp>
      <p:sp>
        <p:nvSpPr>
          <p:cNvPr id="8" name="TextBox 7"/>
          <p:cNvSpPr txBox="1"/>
          <p:nvPr/>
        </p:nvSpPr>
        <p:spPr>
          <a:xfrm>
            <a:off x="502920" y="3291840"/>
            <a:ext cx="5303520" cy="457200"/>
          </a:xfrm>
          <a:prstGeom prst="rect">
            <a:avLst/>
          </a:prstGeom>
          <a:noFill/>
          <a:ln>
            <a:noFill/>
          </a:ln>
        </p:spPr>
        <p:txBody>
          <a:bodyPr wrap="square">
            <a:noAutofit/>
          </a:bodyPr>
          <a:lstStyle/>
          <a:p>
            <a:pPr algn="l"/>
            <a:r>
              <a:rPr sz="1400" b="0" i="0">
                <a:solidFill>
                  <a:srgbClr val="1A1A1A"/>
                </a:solidFill>
              </a:rPr>
              <a:t>• Alquiler y expensas</a:t>
            </a:r>
          </a:p>
        </p:txBody>
      </p:sp>
      <p:sp>
        <p:nvSpPr>
          <p:cNvPr id="9" name="TextBox 8"/>
          <p:cNvSpPr txBox="1"/>
          <p:nvPr/>
        </p:nvSpPr>
        <p:spPr>
          <a:xfrm>
            <a:off x="502920" y="3794760"/>
            <a:ext cx="5303520" cy="457200"/>
          </a:xfrm>
          <a:prstGeom prst="rect">
            <a:avLst/>
          </a:prstGeom>
          <a:noFill/>
          <a:ln>
            <a:noFill/>
          </a:ln>
        </p:spPr>
        <p:txBody>
          <a:bodyPr wrap="square">
            <a:noAutofit/>
          </a:bodyPr>
          <a:lstStyle/>
          <a:p>
            <a:pPr algn="l"/>
            <a:r>
              <a:rPr sz="1400" b="0" i="0">
                <a:solidFill>
                  <a:srgbClr val="1A1A1A"/>
                </a:solidFill>
              </a:rPr>
              <a:t>• Luz, gas y agua</a:t>
            </a:r>
          </a:p>
        </p:txBody>
      </p:sp>
      <p:sp>
        <p:nvSpPr>
          <p:cNvPr id="10" name="TextBox 9"/>
          <p:cNvSpPr txBox="1"/>
          <p:nvPr/>
        </p:nvSpPr>
        <p:spPr>
          <a:xfrm>
            <a:off x="502920" y="4297680"/>
            <a:ext cx="5303520" cy="457200"/>
          </a:xfrm>
          <a:prstGeom prst="rect">
            <a:avLst/>
          </a:prstGeom>
          <a:noFill/>
          <a:ln>
            <a:noFill/>
          </a:ln>
        </p:spPr>
        <p:txBody>
          <a:bodyPr wrap="square">
            <a:noAutofit/>
          </a:bodyPr>
          <a:lstStyle/>
          <a:p>
            <a:pPr algn="l"/>
            <a:r>
              <a:rPr sz="1400" b="0" i="0">
                <a:solidFill>
                  <a:srgbClr val="1A1A1A"/>
                </a:solidFill>
              </a:rPr>
              <a:t>• Educación</a:t>
            </a:r>
          </a:p>
        </p:txBody>
      </p:sp>
      <p:sp>
        <p:nvSpPr>
          <p:cNvPr id="11" name="TextBox 10"/>
          <p:cNvSpPr txBox="1"/>
          <p:nvPr/>
        </p:nvSpPr>
        <p:spPr>
          <a:xfrm>
            <a:off x="502920" y="4800600"/>
            <a:ext cx="5303520" cy="457200"/>
          </a:xfrm>
          <a:prstGeom prst="rect">
            <a:avLst/>
          </a:prstGeom>
          <a:noFill/>
          <a:ln>
            <a:noFill/>
          </a:ln>
        </p:spPr>
        <p:txBody>
          <a:bodyPr wrap="square">
            <a:noAutofit/>
          </a:bodyPr>
          <a:lstStyle/>
          <a:p>
            <a:pPr algn="l"/>
            <a:r>
              <a:rPr sz="1400" b="0" i="0">
                <a:solidFill>
                  <a:srgbClr val="1A1A1A"/>
                </a:solidFill>
              </a:rPr>
              <a:t>• Transporte público</a:t>
            </a:r>
          </a:p>
        </p:txBody>
      </p:sp>
      <p:sp>
        <p:nvSpPr>
          <p:cNvPr id="12" name="TextBox 11"/>
          <p:cNvSpPr txBox="1"/>
          <p:nvPr/>
        </p:nvSpPr>
        <p:spPr>
          <a:xfrm>
            <a:off x="502920" y="5303520"/>
            <a:ext cx="5303520" cy="457200"/>
          </a:xfrm>
          <a:prstGeom prst="rect">
            <a:avLst/>
          </a:prstGeom>
          <a:noFill/>
          <a:ln>
            <a:noFill/>
          </a:ln>
        </p:spPr>
        <p:txBody>
          <a:bodyPr wrap="square">
            <a:noAutofit/>
          </a:bodyPr>
          <a:lstStyle/>
          <a:p>
            <a:pPr algn="l"/>
            <a:r>
              <a:rPr sz="1400" b="0" i="0">
                <a:solidFill>
                  <a:srgbClr val="1A1A1A"/>
                </a:solidFill>
              </a:rPr>
              <a:t>• Comunicaciones</a:t>
            </a:r>
          </a:p>
        </p:txBody>
      </p:sp>
      <p:sp>
        <p:nvSpPr>
          <p:cNvPr id="13" name="TextBox 12"/>
          <p:cNvSpPr txBox="1"/>
          <p:nvPr/>
        </p:nvSpPr>
        <p:spPr>
          <a:xfrm>
            <a:off x="5989320" y="3291840"/>
            <a:ext cx="5303520" cy="457200"/>
          </a:xfrm>
          <a:prstGeom prst="rect">
            <a:avLst/>
          </a:prstGeom>
          <a:noFill/>
          <a:ln>
            <a:noFill/>
          </a:ln>
        </p:spPr>
        <p:txBody>
          <a:bodyPr wrap="square">
            <a:noAutofit/>
          </a:bodyPr>
          <a:lstStyle/>
          <a:p>
            <a:pPr algn="l"/>
            <a:r>
              <a:rPr sz="1400" b="0" i="0">
                <a:solidFill>
                  <a:srgbClr val="1A1A1A"/>
                </a:solidFill>
              </a:rPr>
              <a:t>• Artículos de limpieza</a:t>
            </a:r>
          </a:p>
        </p:txBody>
      </p:sp>
      <p:sp>
        <p:nvSpPr>
          <p:cNvPr id="14" name="TextBox 13"/>
          <p:cNvSpPr txBox="1"/>
          <p:nvPr/>
        </p:nvSpPr>
        <p:spPr>
          <a:xfrm>
            <a:off x="5989320" y="3794760"/>
            <a:ext cx="5303520" cy="457200"/>
          </a:xfrm>
          <a:prstGeom prst="rect">
            <a:avLst/>
          </a:prstGeom>
          <a:noFill/>
          <a:ln>
            <a:noFill/>
          </a:ln>
        </p:spPr>
        <p:txBody>
          <a:bodyPr wrap="square">
            <a:noAutofit/>
          </a:bodyPr>
          <a:lstStyle/>
          <a:p>
            <a:pPr algn="l"/>
            <a:r>
              <a:rPr sz="1400" b="0" i="0">
                <a:solidFill>
                  <a:srgbClr val="1A1A1A"/>
                </a:solidFill>
              </a:rPr>
              <a:t>• Esparcimiento</a:t>
            </a:r>
          </a:p>
        </p:txBody>
      </p:sp>
      <p:sp>
        <p:nvSpPr>
          <p:cNvPr id="15" name="TextBox 14"/>
          <p:cNvSpPr txBox="1"/>
          <p:nvPr/>
        </p:nvSpPr>
        <p:spPr>
          <a:xfrm>
            <a:off x="5989320" y="4297680"/>
            <a:ext cx="5303520" cy="457200"/>
          </a:xfrm>
          <a:prstGeom prst="rect">
            <a:avLst/>
          </a:prstGeom>
          <a:noFill/>
          <a:ln>
            <a:noFill/>
          </a:ln>
        </p:spPr>
        <p:txBody>
          <a:bodyPr wrap="square">
            <a:noAutofit/>
          </a:bodyPr>
          <a:lstStyle/>
          <a:p>
            <a:pPr algn="l"/>
            <a:r>
              <a:rPr sz="1400" b="0" i="0">
                <a:solidFill>
                  <a:srgbClr val="1A1A1A"/>
                </a:solidFill>
              </a:rPr>
              <a:t>• Indumentaria</a:t>
            </a:r>
          </a:p>
        </p:txBody>
      </p:sp>
      <p:sp>
        <p:nvSpPr>
          <p:cNvPr id="16" name="TextBox 15"/>
          <p:cNvSpPr txBox="1"/>
          <p:nvPr/>
        </p:nvSpPr>
        <p:spPr>
          <a:xfrm>
            <a:off x="5989320" y="4800600"/>
            <a:ext cx="5303520" cy="457200"/>
          </a:xfrm>
          <a:prstGeom prst="rect">
            <a:avLst/>
          </a:prstGeom>
          <a:noFill/>
          <a:ln>
            <a:noFill/>
          </a:ln>
        </p:spPr>
        <p:txBody>
          <a:bodyPr wrap="square">
            <a:noAutofit/>
          </a:bodyPr>
          <a:lstStyle/>
          <a:p>
            <a:pPr algn="l"/>
            <a:r>
              <a:rPr sz="1400" b="0" i="0">
                <a:solidFill>
                  <a:srgbClr val="1A1A1A"/>
                </a:solidFill>
              </a:rPr>
              <a:t>• Salud</a:t>
            </a:r>
          </a:p>
        </p:txBody>
      </p:sp>
      <p:sp>
        <p:nvSpPr>
          <p:cNvPr id="17" name="TextBox 16"/>
          <p:cNvSpPr txBox="1"/>
          <p:nvPr/>
        </p:nvSpPr>
        <p:spPr>
          <a:xfrm>
            <a:off x="5989320" y="5303520"/>
            <a:ext cx="5303520" cy="457200"/>
          </a:xfrm>
          <a:prstGeom prst="rect">
            <a:avLst/>
          </a:prstGeom>
          <a:noFill/>
          <a:ln>
            <a:noFill/>
          </a:ln>
        </p:spPr>
        <p:txBody>
          <a:bodyPr wrap="square">
            <a:noAutofit/>
          </a:bodyPr>
          <a:lstStyle/>
          <a:p>
            <a:pPr algn="l"/>
            <a:r>
              <a:rPr sz="1400" b="0" i="0">
                <a:solidFill>
                  <a:srgbClr val="1A1A1A"/>
                </a:solidFill>
              </a:rPr>
              <a:t>• Equipamiento del hogar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U4_1 — AGREGACIÓN / ÍNDICES FGT</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a:solidFill>
                  <a:srgbClr val="2C5F2D"/>
                </a:solidFill>
              </a:rPr>
              <a:t>Índices FGT: Incidencia (α=0) y Brecha (α=1)</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508760"/>
            <a:ext cx="11185855" cy="365760"/>
          </a:xfrm>
          <a:prstGeom prst="rect">
            <a:avLst/>
          </a:prstGeom>
          <a:noFill/>
          <a:ln>
            <a:noFill/>
          </a:ln>
        </p:spPr>
        <p:txBody>
          <a:bodyPr wrap="square">
            <a:noAutofit/>
          </a:bodyPr>
          <a:lstStyle/>
          <a:p>
            <a:pPr algn="l"/>
            <a:r>
              <a:rPr sz="1400" b="0" i="0">
                <a:solidFill>
                  <a:srgbClr val="444444"/>
                </a:solidFill>
              </a:rPr>
              <a:t>Foster, Greer y Thorbecke (1983) — miden distintos aspectos de la pobreza</a:t>
            </a:r>
          </a:p>
        </p:txBody>
      </p:sp>
      <p:sp>
        <p:nvSpPr>
          <p:cNvPr id="6" name="Rectangle 5"/>
          <p:cNvSpPr/>
          <p:nvPr/>
        </p:nvSpPr>
        <p:spPr>
          <a:xfrm>
            <a:off x="502920" y="1965960"/>
            <a:ext cx="5120640" cy="4114800"/>
          </a:xfrm>
          <a:prstGeom prst="rect">
            <a:avLst/>
          </a:prstGeom>
          <a:solidFill>
            <a:srgbClr val="2C5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103120"/>
            <a:ext cx="1097280" cy="502920"/>
          </a:xfrm>
          <a:prstGeom prst="rect">
            <a:avLst/>
          </a:prstGeom>
          <a:noFill/>
          <a:ln>
            <a:noFill/>
          </a:ln>
        </p:spPr>
        <p:txBody>
          <a:bodyPr wrap="square">
            <a:noAutofit/>
          </a:bodyPr>
          <a:lstStyle/>
          <a:p>
            <a:pPr algn="l"/>
            <a:r>
              <a:rPr sz="2800" b="1" i="0">
                <a:solidFill>
                  <a:srgbClr val="FFFFFF"/>
                </a:solidFill>
              </a:rPr>
              <a:t>α = 0</a:t>
            </a:r>
          </a:p>
        </p:txBody>
      </p:sp>
      <p:sp>
        <p:nvSpPr>
          <p:cNvPr id="8" name="TextBox 7"/>
          <p:cNvSpPr txBox="1"/>
          <p:nvPr/>
        </p:nvSpPr>
        <p:spPr>
          <a:xfrm>
            <a:off x="1874520" y="2148840"/>
            <a:ext cx="3474720" cy="457200"/>
          </a:xfrm>
          <a:prstGeom prst="rect">
            <a:avLst/>
          </a:prstGeom>
          <a:noFill/>
          <a:ln>
            <a:noFill/>
          </a:ln>
        </p:spPr>
        <p:txBody>
          <a:bodyPr wrap="square">
            <a:noAutofit/>
          </a:bodyPr>
          <a:lstStyle/>
          <a:p>
            <a:pPr algn="l"/>
            <a:r>
              <a:rPr sz="2000" b="1" i="0">
                <a:solidFill>
                  <a:srgbClr val="FFFFFF"/>
                </a:solidFill>
              </a:rPr>
              <a:t>Incidencia</a:t>
            </a:r>
          </a:p>
        </p:txBody>
      </p:sp>
      <p:sp>
        <p:nvSpPr>
          <p:cNvPr id="9" name="TextBox 8"/>
          <p:cNvSpPr txBox="1"/>
          <p:nvPr/>
        </p:nvSpPr>
        <p:spPr>
          <a:xfrm>
            <a:off x="685800" y="2743200"/>
            <a:ext cx="4663440" cy="640080"/>
          </a:xfrm>
          <a:prstGeom prst="rect">
            <a:avLst/>
          </a:prstGeom>
          <a:noFill/>
          <a:ln>
            <a:noFill/>
          </a:ln>
        </p:spPr>
        <p:txBody>
          <a:bodyPr wrap="square">
            <a:noAutofit/>
          </a:bodyPr>
          <a:lstStyle/>
          <a:p>
            <a:pPr algn="l"/>
            <a:r>
              <a:rPr sz="1500" b="1" i="0">
                <a:solidFill>
                  <a:srgbClr val="FFFFFF"/>
                </a:solidFill>
              </a:rPr>
              <a:t>H  =  Nº pobres / Población total</a:t>
            </a:r>
          </a:p>
        </p:txBody>
      </p:sp>
      <p:sp>
        <p:nvSpPr>
          <p:cNvPr id="10" name="TextBox 9"/>
          <p:cNvSpPr txBox="1"/>
          <p:nvPr/>
        </p:nvSpPr>
        <p:spPr>
          <a:xfrm>
            <a:off x="685800" y="3474720"/>
            <a:ext cx="4663440" cy="2286000"/>
          </a:xfrm>
          <a:prstGeom prst="rect">
            <a:avLst/>
          </a:prstGeom>
          <a:noFill/>
          <a:ln>
            <a:noFill/>
          </a:ln>
        </p:spPr>
        <p:txBody>
          <a:bodyPr wrap="square">
            <a:noAutofit/>
          </a:bodyPr>
          <a:lstStyle/>
          <a:p>
            <a:pPr algn="l"/>
            <a:r>
              <a:rPr sz="1400" b="0" i="0">
                <a:solidFill>
                  <a:srgbClr val="FFFFFF"/>
                </a:solidFill>
              </a:rPr>
              <a:t>El porcentaje de la población que
cae por debajo de la línea de pobreza.
No dice nada sobre cuán pobres son.</a:t>
            </a:r>
          </a:p>
        </p:txBody>
      </p:sp>
      <p:sp>
        <p:nvSpPr>
          <p:cNvPr id="11" name="Rectangle 10"/>
          <p:cNvSpPr/>
          <p:nvPr/>
        </p:nvSpPr>
        <p:spPr>
          <a:xfrm>
            <a:off x="6492240" y="1965960"/>
            <a:ext cx="5120640" cy="411480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0" y="2103120"/>
            <a:ext cx="1097280" cy="502920"/>
          </a:xfrm>
          <a:prstGeom prst="rect">
            <a:avLst/>
          </a:prstGeom>
          <a:noFill/>
          <a:ln>
            <a:noFill/>
          </a:ln>
        </p:spPr>
        <p:txBody>
          <a:bodyPr wrap="square">
            <a:noAutofit/>
          </a:bodyPr>
          <a:lstStyle/>
          <a:p>
            <a:pPr algn="l"/>
            <a:r>
              <a:rPr sz="2800" b="1" i="0">
                <a:solidFill>
                  <a:srgbClr val="FFFFFF"/>
                </a:solidFill>
              </a:rPr>
              <a:t>α = 1</a:t>
            </a:r>
          </a:p>
        </p:txBody>
      </p:sp>
      <p:sp>
        <p:nvSpPr>
          <p:cNvPr id="13" name="TextBox 12"/>
          <p:cNvSpPr txBox="1"/>
          <p:nvPr/>
        </p:nvSpPr>
        <p:spPr>
          <a:xfrm>
            <a:off x="7863840" y="2148840"/>
            <a:ext cx="3474720" cy="457200"/>
          </a:xfrm>
          <a:prstGeom prst="rect">
            <a:avLst/>
          </a:prstGeom>
          <a:noFill/>
          <a:ln>
            <a:noFill/>
          </a:ln>
        </p:spPr>
        <p:txBody>
          <a:bodyPr wrap="square">
            <a:noAutofit/>
          </a:bodyPr>
          <a:lstStyle/>
          <a:p>
            <a:pPr algn="l"/>
            <a:r>
              <a:rPr sz="2000" b="1" i="0">
                <a:solidFill>
                  <a:srgbClr val="FFFFFF"/>
                </a:solidFill>
              </a:rPr>
              <a:t>Brecha (Profundidad)</a:t>
            </a:r>
          </a:p>
        </p:txBody>
      </p:sp>
      <p:sp>
        <p:nvSpPr>
          <p:cNvPr id="14" name="TextBox 13"/>
          <p:cNvSpPr txBox="1"/>
          <p:nvPr/>
        </p:nvSpPr>
        <p:spPr>
          <a:xfrm>
            <a:off x="6675120" y="2743200"/>
            <a:ext cx="4663440" cy="640080"/>
          </a:xfrm>
          <a:prstGeom prst="rect">
            <a:avLst/>
          </a:prstGeom>
          <a:noFill/>
          <a:ln>
            <a:noFill/>
          </a:ln>
        </p:spPr>
        <p:txBody>
          <a:bodyPr wrap="square">
            <a:noAutofit/>
          </a:bodyPr>
          <a:lstStyle/>
          <a:p>
            <a:pPr algn="l"/>
            <a:r>
              <a:rPr sz="1500" b="1" i="0">
                <a:solidFill>
                  <a:srgbClr val="FFFFFF"/>
                </a:solidFill>
              </a:rPr>
              <a:t>Promedio de (LP − yi) / LP
para todos los pobres</a:t>
            </a:r>
          </a:p>
        </p:txBody>
      </p:sp>
      <p:sp>
        <p:nvSpPr>
          <p:cNvPr id="15" name="TextBox 14"/>
          <p:cNvSpPr txBox="1"/>
          <p:nvPr/>
        </p:nvSpPr>
        <p:spPr>
          <a:xfrm>
            <a:off x="6675120" y="3474720"/>
            <a:ext cx="4663440" cy="2286000"/>
          </a:xfrm>
          <a:prstGeom prst="rect">
            <a:avLst/>
          </a:prstGeom>
          <a:noFill/>
          <a:ln>
            <a:noFill/>
          </a:ln>
        </p:spPr>
        <p:txBody>
          <a:bodyPr wrap="square">
            <a:noAutofit/>
          </a:bodyPr>
          <a:lstStyle/>
          <a:p>
            <a:pPr algn="l"/>
            <a:r>
              <a:rPr sz="1400" b="0" i="0">
                <a:solidFill>
                  <a:srgbClr val="FFFFFF"/>
                </a:solidFill>
              </a:rPr>
              <a:t>Mide cuán lejos están los ingresos
de los pobres respecto a la línea.
Sensible a la distancia, no a la
desigualdad entre los pobres.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U4_1 — AGREGACIÓN / ÍNDICES FGT</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a:solidFill>
                  <a:srgbClr val="2C5F2D"/>
                </a:solidFill>
              </a:rPr>
              <a:t>Índice FGT α=2: Severidad — desigualdad dentro de los pobres</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508760"/>
            <a:ext cx="5120640" cy="4572000"/>
          </a:xfrm>
          <a:prstGeom prst="rect">
            <a:avLst/>
          </a:prstGeom>
          <a:solidFill>
            <a:srgbClr val="2C5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691640"/>
            <a:ext cx="4663440" cy="4114800"/>
          </a:xfrm>
          <a:prstGeom prst="rect">
            <a:avLst/>
          </a:prstGeom>
          <a:noFill/>
          <a:ln>
            <a:noFill/>
          </a:ln>
        </p:spPr>
        <p:txBody>
          <a:bodyPr wrap="square">
            <a:noAutofit/>
          </a:bodyPr>
          <a:lstStyle/>
          <a:p>
            <a:pPr algn="l">
              <a:spcBef>
                <a:spcPts val="0"/>
              </a:spcBef>
            </a:pPr>
            <a:r>
              <a:rPr sz="2600" b="1">
                <a:solidFill>
                  <a:srgbClr val="FFFFFF"/>
                </a:solidFill>
              </a:rPr>
              <a:t>α = 2  —  SEVERIDAD</a:t>
            </a:r>
          </a:p>
          <a:p>
            <a:pPr algn="l">
              <a:spcBef>
                <a:spcPts val="500"/>
              </a:spcBef>
            </a:pPr>
            <a:r>
              <a:rPr sz="1600" b="1">
                <a:solidFill>
                  <a:srgbClr val="FFFFFF"/>
                </a:solidFill>
              </a:rPr>
              <a:t>Fórmula: Σ [(LP − yi)/LP]² / N</a:t>
            </a:r>
          </a:p>
          <a:p>
            <a:pPr algn="l">
              <a:spcBef>
                <a:spcPts val="500"/>
              </a:spcBef>
            </a:pPr>
            <a:endParaRPr sz="1600" b="1">
              <a:solidFill>
                <a:srgbClr val="FFFFFF"/>
              </a:solidFill>
            </a:endParaRPr>
          </a:p>
          <a:p>
            <a:pPr algn="l">
              <a:spcBef>
                <a:spcPts val="500"/>
              </a:spcBef>
            </a:pPr>
            <a:r>
              <a:rPr sz="1400" b="0">
                <a:solidFill>
                  <a:srgbClr val="FFFFFF"/>
                </a:solidFill>
              </a:rPr>
              <a:t>Eleva al cuadrado la brecha de cada pobre.</a:t>
            </a:r>
          </a:p>
          <a:p>
            <a:pPr algn="l">
              <a:spcBef>
                <a:spcPts val="500"/>
              </a:spcBef>
            </a:pPr>
            <a:r>
              <a:rPr sz="1400" b="0">
                <a:solidFill>
                  <a:srgbClr val="FFFFFF"/>
                </a:solidFill>
              </a:rPr>
              <a:t>→ Penaliza matemáticamente más a los más</a:t>
            </a:r>
          </a:p>
          <a:p>
            <a:pPr algn="l">
              <a:spcBef>
                <a:spcPts val="500"/>
              </a:spcBef>
            </a:pPr>
            <a:r>
              <a:rPr sz="1400" b="0">
                <a:solidFill>
                  <a:srgbClr val="FFFFFF"/>
                </a:solidFill>
              </a:rPr>
              <a:t>   alejados de la línea de pobreza.</a:t>
            </a:r>
          </a:p>
          <a:p>
            <a:pPr algn="l">
              <a:spcBef>
                <a:spcPts val="500"/>
              </a:spcBef>
            </a:pPr>
            <a:endParaRPr sz="1400" b="0">
              <a:solidFill>
                <a:srgbClr val="FFFFFF"/>
              </a:solidFill>
            </a:endParaRPr>
          </a:p>
          <a:p>
            <a:pPr algn="l">
              <a:spcBef>
                <a:spcPts val="500"/>
              </a:spcBef>
            </a:pPr>
            <a:r>
              <a:rPr sz="1500" b="1">
                <a:solidFill>
                  <a:srgbClr val="CCE899"/>
                </a:solidFill>
              </a:rPr>
              <a:t>Mide la desigualdad DENTRO del grupo de pobres.</a:t>
            </a:r>
          </a:p>
          <a:p>
            <a:pPr algn="l">
              <a:spcBef>
                <a:spcPts val="500"/>
              </a:spcBef>
            </a:pPr>
            <a:endParaRPr sz="1500" b="1">
              <a:solidFill>
                <a:srgbClr val="CCE899"/>
              </a:solidFill>
            </a:endParaRPr>
          </a:p>
          <a:p>
            <a:pPr algn="l">
              <a:spcBef>
                <a:spcPts val="500"/>
              </a:spcBef>
            </a:pPr>
            <a:r>
              <a:rPr sz="1400" b="0">
                <a:solidFill>
                  <a:srgbClr val="FFFFFF"/>
                </a:solidFill>
              </a:rPr>
              <a:t>Ejemplo: dos países con igual H (α=0) e</a:t>
            </a:r>
          </a:p>
          <a:p>
            <a:pPr algn="l">
              <a:spcBef>
                <a:spcPts val="500"/>
              </a:spcBef>
            </a:pPr>
            <a:r>
              <a:rPr sz="1400" b="0">
                <a:solidFill>
                  <a:srgbClr val="FFFFFF"/>
                </a:solidFill>
              </a:rPr>
              <a:t>igual brecha (α=1) pueden tener distinto α=2</a:t>
            </a:r>
          </a:p>
          <a:p>
            <a:pPr algn="l">
              <a:spcBef>
                <a:spcPts val="500"/>
              </a:spcBef>
            </a:pPr>
            <a:r>
              <a:rPr sz="1400" b="0">
                <a:solidFill>
                  <a:srgbClr val="FFFFFF"/>
                </a:solidFill>
              </a:rPr>
              <a:t>si un país concentra más pobreza extrema.</a:t>
            </a:r>
          </a:p>
        </p:txBody>
      </p:sp>
      <p:sp>
        <p:nvSpPr>
          <p:cNvPr id="7" name="TextBox 6"/>
          <p:cNvSpPr txBox="1"/>
          <p:nvPr/>
        </p:nvSpPr>
        <p:spPr>
          <a:xfrm>
            <a:off x="6217920" y="1508760"/>
            <a:ext cx="5486400" cy="4114800"/>
          </a:xfrm>
          <a:prstGeom prst="rect">
            <a:avLst/>
          </a:prstGeom>
          <a:noFill/>
          <a:ln>
            <a:noFill/>
          </a:ln>
        </p:spPr>
        <p:txBody>
          <a:bodyPr wrap="square">
            <a:noAutofit/>
          </a:bodyPr>
          <a:lstStyle/>
          <a:p>
            <a:pPr algn="l">
              <a:spcBef>
                <a:spcPts val="0"/>
              </a:spcBef>
            </a:pPr>
            <a:r>
              <a:rPr sz="1600" b="1">
                <a:solidFill>
                  <a:srgbClr val="C03B1F"/>
                </a:solidFill>
              </a:rPr>
              <a:t>⚠  Trampa de examen: FGT α=2 ≠ Gini</a:t>
            </a:r>
          </a:p>
          <a:p>
            <a:pPr algn="l">
              <a:spcBef>
                <a:spcPts val="500"/>
              </a:spcBef>
            </a:pPr>
            <a:endParaRPr sz="1600" b="1">
              <a:solidFill>
                <a:srgbClr val="C03B1F"/>
              </a:solidFill>
            </a:endParaRPr>
          </a:p>
          <a:p>
            <a:pPr algn="l">
              <a:spcBef>
                <a:spcPts val="500"/>
              </a:spcBef>
            </a:pPr>
            <a:r>
              <a:rPr sz="1400" b="0">
                <a:solidFill>
                  <a:srgbClr val="1A1A1A"/>
                </a:solidFill>
              </a:rPr>
              <a:t>El Gini mide desigualdad de TODA la distribución.</a:t>
            </a:r>
          </a:p>
          <a:p>
            <a:pPr algn="l">
              <a:spcBef>
                <a:spcPts val="500"/>
              </a:spcBef>
            </a:pPr>
            <a:r>
              <a:rPr sz="1400" b="0">
                <a:solidFill>
                  <a:srgbClr val="1A1A1A"/>
                </a:solidFill>
              </a:rPr>
              <a:t>FGT α=2 mide desigualdad solo DENTRO del grupo pobre.</a:t>
            </a:r>
          </a:p>
          <a:p>
            <a:pPr algn="l">
              <a:spcBef>
                <a:spcPts val="500"/>
              </a:spcBef>
            </a:pPr>
            <a:endParaRPr sz="1400" b="0">
              <a:solidFill>
                <a:srgbClr val="1A1A1A"/>
              </a:solidFill>
            </a:endParaRPr>
          </a:p>
          <a:p>
            <a:pPr algn="l">
              <a:spcBef>
                <a:spcPts val="500"/>
              </a:spcBef>
            </a:pPr>
            <a:r>
              <a:rPr sz="1500" b="1">
                <a:solidFill>
                  <a:srgbClr val="2C5F2D"/>
                </a:solidFill>
              </a:rPr>
              <a:t>Resumen FGT:</a:t>
            </a:r>
          </a:p>
          <a:p>
            <a:pPr algn="l">
              <a:spcBef>
                <a:spcPts val="500"/>
              </a:spcBef>
            </a:pPr>
            <a:r>
              <a:rPr sz="1400" b="0">
                <a:solidFill>
                  <a:srgbClr val="1A1A1A"/>
                </a:solidFill>
              </a:rPr>
              <a:t>α=0  →  ¿Cuántos son pobres?  (Incidencia)</a:t>
            </a:r>
          </a:p>
          <a:p>
            <a:pPr algn="l">
              <a:spcBef>
                <a:spcPts val="500"/>
              </a:spcBef>
            </a:pPr>
            <a:r>
              <a:rPr sz="1400" b="0">
                <a:solidFill>
                  <a:srgbClr val="1A1A1A"/>
                </a:solidFill>
              </a:rPr>
              <a:t>α=1  →  ¿Cuán pobres son?  (Profundidad)</a:t>
            </a:r>
          </a:p>
          <a:p>
            <a:pPr algn="l">
              <a:spcBef>
                <a:spcPts val="500"/>
              </a:spcBef>
            </a:pPr>
            <a:r>
              <a:rPr sz="1400" b="0">
                <a:solidFill>
                  <a:srgbClr val="1A1A1A"/>
                </a:solidFill>
              </a:rPr>
              <a:t>α=2  →  ¿Qué tan desiguales son entre sí?  (Severidad)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U4_1 — MÉTODOS ALTERNATIVOS</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a:solidFill>
                  <a:srgbClr val="2C5F2D"/>
                </a:solidFill>
              </a:rPr>
              <a:t>NBI: Necesidades Básicas Insatisfechas</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508760"/>
            <a:ext cx="11185855" cy="1828800"/>
          </a:xfrm>
          <a:prstGeom prst="rect">
            <a:avLst/>
          </a:prstGeom>
          <a:noFill/>
          <a:ln>
            <a:noFill/>
          </a:ln>
        </p:spPr>
        <p:txBody>
          <a:bodyPr wrap="square">
            <a:noAutofit/>
          </a:bodyPr>
          <a:lstStyle/>
          <a:p>
            <a:pPr algn="l">
              <a:spcBef>
                <a:spcPts val="0"/>
              </a:spcBef>
            </a:pPr>
            <a:r>
              <a:rPr sz="1500" b="1">
                <a:solidFill>
                  <a:srgbClr val="2C5F2D"/>
                </a:solidFill>
              </a:rPr>
              <a:t>Método DIRECTO (el más usado en América Latina):</a:t>
            </a:r>
          </a:p>
          <a:p>
            <a:pPr algn="l">
              <a:spcBef>
                <a:spcPts val="500"/>
              </a:spcBef>
            </a:pPr>
            <a:r>
              <a:rPr sz="1400" b="0">
                <a:solidFill>
                  <a:srgbClr val="1A1A1A"/>
                </a:solidFill>
              </a:rPr>
              <a:t>Evalúa si el hogar efectivamente consumió / accedió al bien (resultado concreto),</a:t>
            </a:r>
          </a:p>
          <a:p>
            <a:pPr algn="l">
              <a:spcBef>
                <a:spcPts val="500"/>
              </a:spcBef>
            </a:pPr>
            <a:r>
              <a:rPr sz="1400" b="0">
                <a:solidFill>
                  <a:srgbClr val="1A1A1A"/>
                </a:solidFill>
              </a:rPr>
              <a:t>a diferencia del monetario que solo mide si tiene el ingreso para hacerlo.</a:t>
            </a:r>
          </a:p>
          <a:p>
            <a:pPr algn="l">
              <a:spcBef>
                <a:spcPts val="500"/>
              </a:spcBef>
            </a:pPr>
            <a:endParaRPr sz="1400" b="0">
              <a:solidFill>
                <a:srgbClr val="1A1A1A"/>
              </a:solidFill>
            </a:endParaRPr>
          </a:p>
          <a:p>
            <a:pPr algn="l">
              <a:spcBef>
                <a:spcPts val="500"/>
              </a:spcBef>
            </a:pPr>
            <a:r>
              <a:rPr sz="1500" b="1">
                <a:solidFill>
                  <a:srgbClr val="2C5F2D"/>
                </a:solidFill>
              </a:rPr>
              <a:t>Un hogar es pobre NBI si presenta AL MENOS UNA de estas 6 privaciones:</a:t>
            </a:r>
          </a:p>
        </p:txBody>
      </p:sp>
      <p:sp>
        <p:nvSpPr>
          <p:cNvPr id="6" name="Rectangle 5"/>
          <p:cNvSpPr/>
          <p:nvPr/>
        </p:nvSpPr>
        <p:spPr>
          <a:xfrm>
            <a:off x="502920" y="3429000"/>
            <a:ext cx="5486400" cy="77724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3520440"/>
            <a:ext cx="320040" cy="548640"/>
          </a:xfrm>
          <a:prstGeom prst="rect">
            <a:avLst/>
          </a:prstGeom>
          <a:noFill/>
          <a:ln>
            <a:noFill/>
          </a:ln>
        </p:spPr>
        <p:txBody>
          <a:bodyPr wrap="square">
            <a:noAutofit/>
          </a:bodyPr>
          <a:lstStyle/>
          <a:p>
            <a:pPr algn="ctr"/>
            <a:r>
              <a:rPr sz="1800" b="1" i="0">
                <a:solidFill>
                  <a:srgbClr val="2C5F2D"/>
                </a:solidFill>
              </a:rPr>
              <a:t>1</a:t>
            </a:r>
          </a:p>
        </p:txBody>
      </p:sp>
      <p:sp>
        <p:nvSpPr>
          <p:cNvPr id="8" name="TextBox 7"/>
          <p:cNvSpPr txBox="1"/>
          <p:nvPr/>
        </p:nvSpPr>
        <p:spPr>
          <a:xfrm>
            <a:off x="1005840" y="3474720"/>
            <a:ext cx="4754880" cy="320040"/>
          </a:xfrm>
          <a:prstGeom prst="rect">
            <a:avLst/>
          </a:prstGeom>
          <a:noFill/>
          <a:ln>
            <a:noFill/>
          </a:ln>
        </p:spPr>
        <p:txBody>
          <a:bodyPr wrap="square">
            <a:noAutofit/>
          </a:bodyPr>
          <a:lstStyle/>
          <a:p>
            <a:pPr algn="l"/>
            <a:r>
              <a:rPr sz="1400" b="1" i="0">
                <a:solidFill>
                  <a:srgbClr val="2C5F2D"/>
                </a:solidFill>
              </a:rPr>
              <a:t>Hacinamiento</a:t>
            </a:r>
          </a:p>
        </p:txBody>
      </p:sp>
      <p:sp>
        <p:nvSpPr>
          <p:cNvPr id="9" name="TextBox 8"/>
          <p:cNvSpPr txBox="1"/>
          <p:nvPr/>
        </p:nvSpPr>
        <p:spPr>
          <a:xfrm>
            <a:off x="1005840" y="3840480"/>
            <a:ext cx="4754880" cy="320040"/>
          </a:xfrm>
          <a:prstGeom prst="rect">
            <a:avLst/>
          </a:prstGeom>
          <a:noFill/>
          <a:ln>
            <a:noFill/>
          </a:ln>
        </p:spPr>
        <p:txBody>
          <a:bodyPr wrap="square">
            <a:noAutofit/>
          </a:bodyPr>
          <a:lstStyle/>
          <a:p>
            <a:pPr algn="l"/>
            <a:r>
              <a:rPr sz="1200" b="0" i="0">
                <a:solidFill>
                  <a:srgbClr val="444444"/>
                </a:solidFill>
              </a:rPr>
              <a:t>Más de 3 personas por cuarto habitable.</a:t>
            </a:r>
          </a:p>
        </p:txBody>
      </p:sp>
      <p:sp>
        <p:nvSpPr>
          <p:cNvPr id="10" name="Rectangle 9"/>
          <p:cNvSpPr/>
          <p:nvPr/>
        </p:nvSpPr>
        <p:spPr>
          <a:xfrm>
            <a:off x="6400800" y="3429000"/>
            <a:ext cx="5486400" cy="77724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0" y="3520440"/>
            <a:ext cx="320040" cy="548640"/>
          </a:xfrm>
          <a:prstGeom prst="rect">
            <a:avLst/>
          </a:prstGeom>
          <a:noFill/>
          <a:ln>
            <a:noFill/>
          </a:ln>
        </p:spPr>
        <p:txBody>
          <a:bodyPr wrap="square">
            <a:noAutofit/>
          </a:bodyPr>
          <a:lstStyle/>
          <a:p>
            <a:pPr algn="ctr"/>
            <a:r>
              <a:rPr sz="1800" b="1" i="0">
                <a:solidFill>
                  <a:srgbClr val="2C5F2D"/>
                </a:solidFill>
              </a:rPr>
              <a:t>2</a:t>
            </a:r>
          </a:p>
        </p:txBody>
      </p:sp>
      <p:sp>
        <p:nvSpPr>
          <p:cNvPr id="12" name="TextBox 11"/>
          <p:cNvSpPr txBox="1"/>
          <p:nvPr/>
        </p:nvSpPr>
        <p:spPr>
          <a:xfrm>
            <a:off x="6903720" y="3474720"/>
            <a:ext cx="4754880" cy="320040"/>
          </a:xfrm>
          <a:prstGeom prst="rect">
            <a:avLst/>
          </a:prstGeom>
          <a:noFill/>
          <a:ln>
            <a:noFill/>
          </a:ln>
        </p:spPr>
        <p:txBody>
          <a:bodyPr wrap="square">
            <a:noAutofit/>
          </a:bodyPr>
          <a:lstStyle/>
          <a:p>
            <a:pPr algn="l"/>
            <a:r>
              <a:rPr sz="1400" b="1" i="0">
                <a:solidFill>
                  <a:srgbClr val="2C5F2D"/>
                </a:solidFill>
              </a:rPr>
              <a:t>Vivienda inadecuada</a:t>
            </a:r>
          </a:p>
        </p:txBody>
      </p:sp>
      <p:sp>
        <p:nvSpPr>
          <p:cNvPr id="13" name="TextBox 12"/>
          <p:cNvSpPr txBox="1"/>
          <p:nvPr/>
        </p:nvSpPr>
        <p:spPr>
          <a:xfrm>
            <a:off x="6903720" y="3840480"/>
            <a:ext cx="4754880" cy="320040"/>
          </a:xfrm>
          <a:prstGeom prst="rect">
            <a:avLst/>
          </a:prstGeom>
          <a:noFill/>
          <a:ln>
            <a:noFill/>
          </a:ln>
        </p:spPr>
        <p:txBody>
          <a:bodyPr wrap="square">
            <a:noAutofit/>
          </a:bodyPr>
          <a:lstStyle/>
          <a:p>
            <a:pPr algn="l"/>
            <a:r>
              <a:rPr sz="1200" b="0" i="0">
                <a:solidFill>
                  <a:srgbClr val="444444"/>
                </a:solidFill>
              </a:rPr>
              <a:t>Materiales precarios en paredes, pisos o techo.</a:t>
            </a:r>
          </a:p>
        </p:txBody>
      </p:sp>
      <p:sp>
        <p:nvSpPr>
          <p:cNvPr id="14" name="Rectangle 13"/>
          <p:cNvSpPr/>
          <p:nvPr/>
        </p:nvSpPr>
        <p:spPr>
          <a:xfrm>
            <a:off x="502920" y="4343400"/>
            <a:ext cx="5486400" cy="77724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4360" y="4434840"/>
            <a:ext cx="320040" cy="548640"/>
          </a:xfrm>
          <a:prstGeom prst="rect">
            <a:avLst/>
          </a:prstGeom>
          <a:noFill/>
          <a:ln>
            <a:noFill/>
          </a:ln>
        </p:spPr>
        <p:txBody>
          <a:bodyPr wrap="square">
            <a:noAutofit/>
          </a:bodyPr>
          <a:lstStyle/>
          <a:p>
            <a:pPr algn="ctr"/>
            <a:r>
              <a:rPr sz="1800" b="1" i="0">
                <a:solidFill>
                  <a:srgbClr val="2C5F2D"/>
                </a:solidFill>
              </a:rPr>
              <a:t>3</a:t>
            </a:r>
          </a:p>
        </p:txBody>
      </p:sp>
      <p:sp>
        <p:nvSpPr>
          <p:cNvPr id="16" name="TextBox 15"/>
          <p:cNvSpPr txBox="1"/>
          <p:nvPr/>
        </p:nvSpPr>
        <p:spPr>
          <a:xfrm>
            <a:off x="1005840" y="4389120"/>
            <a:ext cx="4754880" cy="320040"/>
          </a:xfrm>
          <a:prstGeom prst="rect">
            <a:avLst/>
          </a:prstGeom>
          <a:noFill/>
          <a:ln>
            <a:noFill/>
          </a:ln>
        </p:spPr>
        <p:txBody>
          <a:bodyPr wrap="square">
            <a:noAutofit/>
          </a:bodyPr>
          <a:lstStyle/>
          <a:p>
            <a:pPr algn="l"/>
            <a:r>
              <a:rPr sz="1400" b="1" i="0">
                <a:solidFill>
                  <a:srgbClr val="2C5F2D"/>
                </a:solidFill>
              </a:rPr>
              <a:t>Sin agua potable</a:t>
            </a:r>
          </a:p>
        </p:txBody>
      </p:sp>
      <p:sp>
        <p:nvSpPr>
          <p:cNvPr id="17" name="TextBox 16"/>
          <p:cNvSpPr txBox="1"/>
          <p:nvPr/>
        </p:nvSpPr>
        <p:spPr>
          <a:xfrm>
            <a:off x="1005840" y="4754880"/>
            <a:ext cx="4754880" cy="320040"/>
          </a:xfrm>
          <a:prstGeom prst="rect">
            <a:avLst/>
          </a:prstGeom>
          <a:noFill/>
          <a:ln>
            <a:noFill/>
          </a:ln>
        </p:spPr>
        <p:txBody>
          <a:bodyPr wrap="square">
            <a:noAutofit/>
          </a:bodyPr>
          <a:lstStyle/>
          <a:p>
            <a:pPr algn="l"/>
            <a:r>
              <a:rPr sz="1200" b="0" i="0">
                <a:solidFill>
                  <a:srgbClr val="444444"/>
                </a:solidFill>
              </a:rPr>
              <a:t>Abastecimiento inadecuado de agua.</a:t>
            </a:r>
          </a:p>
        </p:txBody>
      </p:sp>
      <p:sp>
        <p:nvSpPr>
          <p:cNvPr id="18" name="Rectangle 17"/>
          <p:cNvSpPr/>
          <p:nvPr/>
        </p:nvSpPr>
        <p:spPr>
          <a:xfrm>
            <a:off x="6400800" y="4343400"/>
            <a:ext cx="5486400" cy="77724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92240" y="4434840"/>
            <a:ext cx="320040" cy="548640"/>
          </a:xfrm>
          <a:prstGeom prst="rect">
            <a:avLst/>
          </a:prstGeom>
          <a:noFill/>
          <a:ln>
            <a:noFill/>
          </a:ln>
        </p:spPr>
        <p:txBody>
          <a:bodyPr wrap="square">
            <a:noAutofit/>
          </a:bodyPr>
          <a:lstStyle/>
          <a:p>
            <a:pPr algn="ctr"/>
            <a:r>
              <a:rPr sz="1800" b="1" i="0">
                <a:solidFill>
                  <a:srgbClr val="2C5F2D"/>
                </a:solidFill>
              </a:rPr>
              <a:t>4</a:t>
            </a:r>
          </a:p>
        </p:txBody>
      </p:sp>
      <p:sp>
        <p:nvSpPr>
          <p:cNvPr id="20" name="TextBox 19"/>
          <p:cNvSpPr txBox="1"/>
          <p:nvPr/>
        </p:nvSpPr>
        <p:spPr>
          <a:xfrm>
            <a:off x="6903720" y="4389120"/>
            <a:ext cx="4754880" cy="320040"/>
          </a:xfrm>
          <a:prstGeom prst="rect">
            <a:avLst/>
          </a:prstGeom>
          <a:noFill/>
          <a:ln>
            <a:noFill/>
          </a:ln>
        </p:spPr>
        <p:txBody>
          <a:bodyPr wrap="square">
            <a:noAutofit/>
          </a:bodyPr>
          <a:lstStyle/>
          <a:p>
            <a:pPr algn="l"/>
            <a:r>
              <a:rPr sz="1400" b="1" i="0">
                <a:solidFill>
                  <a:srgbClr val="2C5F2D"/>
                </a:solidFill>
              </a:rPr>
              <a:t>Sin servicios sanitarios</a:t>
            </a:r>
          </a:p>
        </p:txBody>
      </p:sp>
      <p:sp>
        <p:nvSpPr>
          <p:cNvPr id="21" name="TextBox 20"/>
          <p:cNvSpPr txBox="1"/>
          <p:nvPr/>
        </p:nvSpPr>
        <p:spPr>
          <a:xfrm>
            <a:off x="6903720" y="4754880"/>
            <a:ext cx="4754880" cy="320040"/>
          </a:xfrm>
          <a:prstGeom prst="rect">
            <a:avLst/>
          </a:prstGeom>
          <a:noFill/>
          <a:ln>
            <a:noFill/>
          </a:ln>
        </p:spPr>
        <p:txBody>
          <a:bodyPr wrap="square">
            <a:noAutofit/>
          </a:bodyPr>
          <a:lstStyle/>
          <a:p>
            <a:pPr algn="l"/>
            <a:r>
              <a:rPr sz="1200" b="0" i="0">
                <a:solidFill>
                  <a:srgbClr val="444444"/>
                </a:solidFill>
              </a:rPr>
              <a:t>Carencia de baño o retrete.</a:t>
            </a:r>
          </a:p>
        </p:txBody>
      </p:sp>
      <p:sp>
        <p:nvSpPr>
          <p:cNvPr id="22" name="Rectangle 21"/>
          <p:cNvSpPr/>
          <p:nvPr/>
        </p:nvSpPr>
        <p:spPr>
          <a:xfrm>
            <a:off x="502920" y="5257800"/>
            <a:ext cx="5486400" cy="77724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4360" y="5349240"/>
            <a:ext cx="320040" cy="548640"/>
          </a:xfrm>
          <a:prstGeom prst="rect">
            <a:avLst/>
          </a:prstGeom>
          <a:noFill/>
          <a:ln>
            <a:noFill/>
          </a:ln>
        </p:spPr>
        <p:txBody>
          <a:bodyPr wrap="square">
            <a:noAutofit/>
          </a:bodyPr>
          <a:lstStyle/>
          <a:p>
            <a:pPr algn="ctr"/>
            <a:r>
              <a:rPr sz="1800" b="1" i="0">
                <a:solidFill>
                  <a:srgbClr val="2C5F2D"/>
                </a:solidFill>
              </a:rPr>
              <a:t>5</a:t>
            </a:r>
          </a:p>
        </p:txBody>
      </p:sp>
      <p:sp>
        <p:nvSpPr>
          <p:cNvPr id="24" name="TextBox 23"/>
          <p:cNvSpPr txBox="1"/>
          <p:nvPr/>
        </p:nvSpPr>
        <p:spPr>
          <a:xfrm>
            <a:off x="1005840" y="5303520"/>
            <a:ext cx="4754880" cy="320040"/>
          </a:xfrm>
          <a:prstGeom prst="rect">
            <a:avLst/>
          </a:prstGeom>
          <a:noFill/>
          <a:ln>
            <a:noFill/>
          </a:ln>
        </p:spPr>
        <p:txBody>
          <a:bodyPr wrap="square">
            <a:noAutofit/>
          </a:bodyPr>
          <a:lstStyle/>
          <a:p>
            <a:pPr algn="l"/>
            <a:r>
              <a:rPr sz="1400" b="1" i="0">
                <a:solidFill>
                  <a:srgbClr val="2C5F2D"/>
                </a:solidFill>
              </a:rPr>
              <a:t>Inasistencia escolar</a:t>
            </a:r>
          </a:p>
        </p:txBody>
      </p:sp>
      <p:sp>
        <p:nvSpPr>
          <p:cNvPr id="25" name="TextBox 24"/>
          <p:cNvSpPr txBox="1"/>
          <p:nvPr/>
        </p:nvSpPr>
        <p:spPr>
          <a:xfrm>
            <a:off x="1005840" y="5669280"/>
            <a:ext cx="4754880" cy="320040"/>
          </a:xfrm>
          <a:prstGeom prst="rect">
            <a:avLst/>
          </a:prstGeom>
          <a:noFill/>
          <a:ln>
            <a:noFill/>
          </a:ln>
        </p:spPr>
        <p:txBody>
          <a:bodyPr wrap="square">
            <a:noAutofit/>
          </a:bodyPr>
          <a:lstStyle/>
          <a:p>
            <a:pPr algn="l"/>
            <a:r>
              <a:rPr sz="1200" b="0" i="0">
                <a:solidFill>
                  <a:srgbClr val="444444"/>
                </a:solidFill>
              </a:rPr>
              <a:t>Niños en edad escolar que no concurren a la escuela.</a:t>
            </a:r>
          </a:p>
        </p:txBody>
      </p:sp>
      <p:sp>
        <p:nvSpPr>
          <p:cNvPr id="26" name="Rectangle 25"/>
          <p:cNvSpPr/>
          <p:nvPr/>
        </p:nvSpPr>
        <p:spPr>
          <a:xfrm>
            <a:off x="6400800" y="5257800"/>
            <a:ext cx="5486400" cy="77724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92240" y="5349240"/>
            <a:ext cx="320040" cy="548640"/>
          </a:xfrm>
          <a:prstGeom prst="rect">
            <a:avLst/>
          </a:prstGeom>
          <a:noFill/>
          <a:ln>
            <a:noFill/>
          </a:ln>
        </p:spPr>
        <p:txBody>
          <a:bodyPr wrap="square">
            <a:noAutofit/>
          </a:bodyPr>
          <a:lstStyle/>
          <a:p>
            <a:pPr algn="ctr"/>
            <a:r>
              <a:rPr sz="1800" b="1" i="0">
                <a:solidFill>
                  <a:srgbClr val="2C5F2D"/>
                </a:solidFill>
              </a:rPr>
              <a:t>6</a:t>
            </a:r>
          </a:p>
        </p:txBody>
      </p:sp>
      <p:sp>
        <p:nvSpPr>
          <p:cNvPr id="28" name="TextBox 27"/>
          <p:cNvSpPr txBox="1"/>
          <p:nvPr/>
        </p:nvSpPr>
        <p:spPr>
          <a:xfrm>
            <a:off x="6903720" y="5303520"/>
            <a:ext cx="4754880" cy="320040"/>
          </a:xfrm>
          <a:prstGeom prst="rect">
            <a:avLst/>
          </a:prstGeom>
          <a:noFill/>
          <a:ln>
            <a:noFill/>
          </a:ln>
        </p:spPr>
        <p:txBody>
          <a:bodyPr wrap="square">
            <a:noAutofit/>
          </a:bodyPr>
          <a:lstStyle/>
          <a:p>
            <a:pPr algn="l"/>
            <a:r>
              <a:rPr sz="1400" b="1" i="0">
                <a:solidFill>
                  <a:srgbClr val="2C5F2D"/>
                </a:solidFill>
              </a:rPr>
              <a:t>Cap. económica baja</a:t>
            </a:r>
          </a:p>
        </p:txBody>
      </p:sp>
      <p:sp>
        <p:nvSpPr>
          <p:cNvPr id="29" name="TextBox 28"/>
          <p:cNvSpPr txBox="1"/>
          <p:nvPr/>
        </p:nvSpPr>
        <p:spPr>
          <a:xfrm>
            <a:off x="6903720" y="5669280"/>
            <a:ext cx="4754880" cy="320040"/>
          </a:xfrm>
          <a:prstGeom prst="rect">
            <a:avLst/>
          </a:prstGeom>
          <a:noFill/>
          <a:ln>
            <a:noFill/>
          </a:ln>
        </p:spPr>
        <p:txBody>
          <a:bodyPr wrap="square">
            <a:noAutofit/>
          </a:bodyPr>
          <a:lstStyle/>
          <a:p>
            <a:pPr algn="l"/>
            <a:r>
              <a:rPr sz="1200" b="0" i="0">
                <a:solidFill>
                  <a:srgbClr val="444444"/>
                </a:solidFill>
              </a:rPr>
              <a:t>Indicador indirecto: bajo nivel educativo y ocupacional del jefe.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U4_1 — MÉTODOS ALTERNATIVOS</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a:solidFill>
                  <a:srgbClr val="2C5F2D"/>
                </a:solidFill>
              </a:rPr>
              <a:t>Alkire &amp; Foster: Índice de Pobreza Multidimensional (IPM)</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508760"/>
            <a:ext cx="11185855" cy="320040"/>
          </a:xfrm>
          <a:prstGeom prst="rect">
            <a:avLst/>
          </a:prstGeom>
          <a:noFill/>
          <a:ln>
            <a:noFill/>
          </a:ln>
        </p:spPr>
        <p:txBody>
          <a:bodyPr wrap="square">
            <a:noAutofit/>
          </a:bodyPr>
          <a:lstStyle/>
          <a:p>
            <a:pPr algn="l">
              <a:spcBef>
                <a:spcPts val="0"/>
              </a:spcBef>
            </a:pPr>
            <a:r>
              <a:rPr sz="1500" b="1">
                <a:solidFill>
                  <a:srgbClr val="2C5F2D"/>
                </a:solidFill>
              </a:rPr>
              <a:t>Método: Absoluto + Multidimensional</a:t>
            </a:r>
          </a:p>
        </p:txBody>
      </p:sp>
      <p:sp>
        <p:nvSpPr>
          <p:cNvPr id="6" name="Rectangle 5"/>
          <p:cNvSpPr/>
          <p:nvPr/>
        </p:nvSpPr>
        <p:spPr>
          <a:xfrm>
            <a:off x="502920" y="1920240"/>
            <a:ext cx="3657600" cy="2011680"/>
          </a:xfrm>
          <a:prstGeom prst="rect">
            <a:avLst/>
          </a:prstGeom>
          <a:solidFill>
            <a:srgbClr val="2C5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2011680"/>
            <a:ext cx="3383280" cy="594360"/>
          </a:xfrm>
          <a:prstGeom prst="rect">
            <a:avLst/>
          </a:prstGeom>
          <a:noFill/>
          <a:ln>
            <a:noFill/>
          </a:ln>
        </p:spPr>
        <p:txBody>
          <a:bodyPr wrap="square">
            <a:noAutofit/>
          </a:bodyPr>
          <a:lstStyle/>
          <a:p>
            <a:pPr algn="l"/>
            <a:r>
              <a:rPr sz="1400" b="1" i="0">
                <a:solidFill>
                  <a:srgbClr val="FFFFFF"/>
                </a:solidFill>
              </a:rPr>
              <a:t>PASO 1
Dimensiones</a:t>
            </a:r>
          </a:p>
        </p:txBody>
      </p:sp>
      <p:sp>
        <p:nvSpPr>
          <p:cNvPr id="8" name="TextBox 7"/>
          <p:cNvSpPr txBox="1"/>
          <p:nvPr/>
        </p:nvSpPr>
        <p:spPr>
          <a:xfrm>
            <a:off x="640080" y="2651760"/>
            <a:ext cx="3383280" cy="1188720"/>
          </a:xfrm>
          <a:prstGeom prst="rect">
            <a:avLst/>
          </a:prstGeom>
          <a:noFill/>
          <a:ln>
            <a:noFill/>
          </a:ln>
        </p:spPr>
        <p:txBody>
          <a:bodyPr wrap="square">
            <a:noAutofit/>
          </a:bodyPr>
          <a:lstStyle/>
          <a:p>
            <a:pPr algn="l"/>
            <a:r>
              <a:rPr sz="1300" b="0" i="0">
                <a:solidFill>
                  <a:srgbClr val="FFFFFF"/>
                </a:solidFill>
              </a:rPr>
              <a:t>Elegir dimensiones (salud, educación, vivienda)
usando criterios teóricos, empíricos y participativos.</a:t>
            </a:r>
          </a:p>
        </p:txBody>
      </p:sp>
      <p:sp>
        <p:nvSpPr>
          <p:cNvPr id="9" name="Rectangle 8"/>
          <p:cNvSpPr/>
          <p:nvPr/>
        </p:nvSpPr>
        <p:spPr>
          <a:xfrm>
            <a:off x="4389120" y="1920240"/>
            <a:ext cx="3657600" cy="2011680"/>
          </a:xfrm>
          <a:prstGeom prst="rect">
            <a:avLst/>
          </a:prstGeom>
          <a:solidFill>
            <a:srgbClr val="2C5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26280" y="2011680"/>
            <a:ext cx="3383280" cy="594360"/>
          </a:xfrm>
          <a:prstGeom prst="rect">
            <a:avLst/>
          </a:prstGeom>
          <a:noFill/>
          <a:ln>
            <a:noFill/>
          </a:ln>
        </p:spPr>
        <p:txBody>
          <a:bodyPr wrap="square">
            <a:noAutofit/>
          </a:bodyPr>
          <a:lstStyle/>
          <a:p>
            <a:pPr algn="l"/>
            <a:r>
              <a:rPr sz="1400" b="1" i="0">
                <a:solidFill>
                  <a:srgbClr val="FFFFFF"/>
                </a:solidFill>
              </a:rPr>
              <a:t>PASO 2
Indicadores</a:t>
            </a:r>
          </a:p>
        </p:txBody>
      </p:sp>
      <p:sp>
        <p:nvSpPr>
          <p:cNvPr id="11" name="TextBox 10"/>
          <p:cNvSpPr txBox="1"/>
          <p:nvPr/>
        </p:nvSpPr>
        <p:spPr>
          <a:xfrm>
            <a:off x="4526280" y="2651760"/>
            <a:ext cx="3383280" cy="1188720"/>
          </a:xfrm>
          <a:prstGeom prst="rect">
            <a:avLst/>
          </a:prstGeom>
          <a:noFill/>
          <a:ln>
            <a:noFill/>
          </a:ln>
        </p:spPr>
        <p:txBody>
          <a:bodyPr wrap="square">
            <a:noAutofit/>
          </a:bodyPr>
          <a:lstStyle/>
          <a:p>
            <a:pPr algn="l"/>
            <a:r>
              <a:rPr sz="1300" b="0" i="0">
                <a:solidFill>
                  <a:srgbClr val="FFFFFF"/>
                </a:solidFill>
              </a:rPr>
              <a:t>Definir indicadores concretos y umbrales de privación
para cada dimensión (no alcanzarlo = privación).</a:t>
            </a:r>
          </a:p>
        </p:txBody>
      </p:sp>
      <p:sp>
        <p:nvSpPr>
          <p:cNvPr id="12" name="Rectangle 11"/>
          <p:cNvSpPr/>
          <p:nvPr/>
        </p:nvSpPr>
        <p:spPr>
          <a:xfrm>
            <a:off x="8275320" y="1920240"/>
            <a:ext cx="3657600" cy="2011680"/>
          </a:xfrm>
          <a:prstGeom prst="rect">
            <a:avLst/>
          </a:prstGeom>
          <a:solidFill>
            <a:srgbClr val="2C5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12480" y="2011680"/>
            <a:ext cx="3383280" cy="594360"/>
          </a:xfrm>
          <a:prstGeom prst="rect">
            <a:avLst/>
          </a:prstGeom>
          <a:noFill/>
          <a:ln>
            <a:noFill/>
          </a:ln>
        </p:spPr>
        <p:txBody>
          <a:bodyPr wrap="square">
            <a:noAutofit/>
          </a:bodyPr>
          <a:lstStyle/>
          <a:p>
            <a:pPr algn="l"/>
            <a:r>
              <a:rPr sz="1400" b="1" i="0">
                <a:solidFill>
                  <a:srgbClr val="FFFFFF"/>
                </a:solidFill>
              </a:rPr>
              <a:t>PASO 3
Ponderaciones</a:t>
            </a:r>
          </a:p>
        </p:txBody>
      </p:sp>
      <p:sp>
        <p:nvSpPr>
          <p:cNvPr id="14" name="TextBox 13"/>
          <p:cNvSpPr txBox="1"/>
          <p:nvPr/>
        </p:nvSpPr>
        <p:spPr>
          <a:xfrm>
            <a:off x="8412480" y="2651760"/>
            <a:ext cx="3383280" cy="1188720"/>
          </a:xfrm>
          <a:prstGeom prst="rect">
            <a:avLst/>
          </a:prstGeom>
          <a:noFill/>
          <a:ln>
            <a:noFill/>
          </a:ln>
        </p:spPr>
        <p:txBody>
          <a:bodyPr wrap="square">
            <a:noAutofit/>
          </a:bodyPr>
          <a:lstStyle/>
          <a:p>
            <a:pPr algn="l"/>
            <a:r>
              <a:rPr sz="1300" b="0" i="0">
                <a:solidFill>
                  <a:srgbClr val="FFFFFF"/>
                </a:solidFill>
              </a:rPr>
              <a:t>Asignar peso (ponderación) a cada indicador.</a:t>
            </a:r>
          </a:p>
        </p:txBody>
      </p:sp>
      <p:sp>
        <p:nvSpPr>
          <p:cNvPr id="15" name="Rectangle 14"/>
          <p:cNvSpPr/>
          <p:nvPr/>
        </p:nvSpPr>
        <p:spPr>
          <a:xfrm>
            <a:off x="502920" y="4114800"/>
            <a:ext cx="3657600" cy="201168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4206240"/>
            <a:ext cx="3383280" cy="594360"/>
          </a:xfrm>
          <a:prstGeom prst="rect">
            <a:avLst/>
          </a:prstGeom>
          <a:noFill/>
          <a:ln>
            <a:noFill/>
          </a:ln>
        </p:spPr>
        <p:txBody>
          <a:bodyPr wrap="square">
            <a:noAutofit/>
          </a:bodyPr>
          <a:lstStyle/>
          <a:p>
            <a:pPr algn="l"/>
            <a:r>
              <a:rPr sz="1400" b="1" i="0">
                <a:solidFill>
                  <a:srgbClr val="FFFFFF"/>
                </a:solidFill>
              </a:rPr>
              <a:t>PASO 4
Identificación</a:t>
            </a:r>
          </a:p>
        </p:txBody>
      </p:sp>
      <p:sp>
        <p:nvSpPr>
          <p:cNvPr id="17" name="TextBox 16"/>
          <p:cNvSpPr txBox="1"/>
          <p:nvPr/>
        </p:nvSpPr>
        <p:spPr>
          <a:xfrm>
            <a:off x="640080" y="4846320"/>
            <a:ext cx="3383280" cy="1188720"/>
          </a:xfrm>
          <a:prstGeom prst="rect">
            <a:avLst/>
          </a:prstGeom>
          <a:noFill/>
          <a:ln>
            <a:noFill/>
          </a:ln>
        </p:spPr>
        <p:txBody>
          <a:bodyPr wrap="square">
            <a:noAutofit/>
          </a:bodyPr>
          <a:lstStyle/>
          <a:p>
            <a:pPr algn="l"/>
            <a:r>
              <a:rPr sz="1300" b="0" i="0">
                <a:solidFill>
                  <a:srgbClr val="FFFFFF"/>
                </a:solidFill>
              </a:rPr>
              <a:t>Un hogar es pobre si supera el umbral de privaciones
múltiples k (generalmente ≥ 30-40% de los indicadores).</a:t>
            </a:r>
          </a:p>
        </p:txBody>
      </p:sp>
      <p:sp>
        <p:nvSpPr>
          <p:cNvPr id="18" name="Rectangle 17"/>
          <p:cNvSpPr/>
          <p:nvPr/>
        </p:nvSpPr>
        <p:spPr>
          <a:xfrm>
            <a:off x="4389120" y="4114800"/>
            <a:ext cx="3657600" cy="201168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26280" y="4206240"/>
            <a:ext cx="3383280" cy="594360"/>
          </a:xfrm>
          <a:prstGeom prst="rect">
            <a:avLst/>
          </a:prstGeom>
          <a:noFill/>
          <a:ln>
            <a:noFill/>
          </a:ln>
        </p:spPr>
        <p:txBody>
          <a:bodyPr wrap="square">
            <a:noAutofit/>
          </a:bodyPr>
          <a:lstStyle/>
          <a:p>
            <a:pPr algn="l"/>
            <a:r>
              <a:rPr sz="1400" b="1" i="0">
                <a:solidFill>
                  <a:srgbClr val="FFFFFF"/>
                </a:solidFill>
              </a:rPr>
              <a:t>PASO 5
Agregación</a:t>
            </a:r>
          </a:p>
        </p:txBody>
      </p:sp>
      <p:sp>
        <p:nvSpPr>
          <p:cNvPr id="20" name="TextBox 19"/>
          <p:cNvSpPr txBox="1"/>
          <p:nvPr/>
        </p:nvSpPr>
        <p:spPr>
          <a:xfrm>
            <a:off x="4526280" y="4846320"/>
            <a:ext cx="3383280" cy="1188720"/>
          </a:xfrm>
          <a:prstGeom prst="rect">
            <a:avLst/>
          </a:prstGeom>
          <a:noFill/>
          <a:ln>
            <a:noFill/>
          </a:ln>
        </p:spPr>
        <p:txBody>
          <a:bodyPr wrap="square">
            <a:noAutofit/>
          </a:bodyPr>
          <a:lstStyle/>
          <a:p>
            <a:pPr algn="l"/>
            <a:r>
              <a:rPr sz="1300" b="0" i="0">
                <a:solidFill>
                  <a:srgbClr val="FFFFFF"/>
                </a:solidFill>
              </a:rPr>
              <a:t>H = incidencia (% hogares pobres MPI)
A = intensidad (% promedio de privaciones de los pobres)
M₀ = H × A  (índice síntesis)</a:t>
            </a:r>
          </a:p>
        </p:txBody>
      </p:sp>
      <p:sp>
        <p:nvSpPr>
          <p:cNvPr id="21" name="TextBox 20"/>
          <p:cNvSpPr txBox="1"/>
          <p:nvPr/>
        </p:nvSpPr>
        <p:spPr>
          <a:xfrm>
            <a:off x="8229600" y="3794760"/>
            <a:ext cx="3474720" cy="1645920"/>
          </a:xfrm>
          <a:prstGeom prst="rect">
            <a:avLst/>
          </a:prstGeom>
          <a:solidFill>
            <a:srgbClr val="E8F4D6"/>
          </a:solidFill>
          <a:ln>
            <a:noFill/>
          </a:ln>
        </p:spPr>
        <p:txBody>
          <a:bodyPr wrap="square">
            <a:spAutoFit/>
          </a:bodyPr>
          <a:lstStyle/>
          <a:p>
            <a:pPr algn="l"/>
            <a:r>
              <a:rPr sz="1400" b="0">
                <a:solidFill>
                  <a:srgbClr val="2C5F2D"/>
                </a:solidFill>
              </a:rPr>
              <a:t>M₀ = H × A combina incidencia e intensidad.
No solo cuenta cuántos son pobres,
sino cuán privados están.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U4_1 — MÉTODOS ALTERNATIVOS</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a:solidFill>
                  <a:srgbClr val="2C5F2D"/>
                </a:solidFill>
              </a:rPr>
              <a:t>Método Consensual: la sociedad define qué es necesario</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508760"/>
            <a:ext cx="7772400" cy="1097280"/>
          </a:xfrm>
          <a:prstGeom prst="rect">
            <a:avLst/>
          </a:prstGeom>
          <a:noFill/>
          <a:ln>
            <a:noFill/>
          </a:ln>
        </p:spPr>
        <p:txBody>
          <a:bodyPr wrap="square">
            <a:noAutofit/>
          </a:bodyPr>
          <a:lstStyle/>
          <a:p>
            <a:pPr algn="l">
              <a:spcBef>
                <a:spcPts val="0"/>
              </a:spcBef>
            </a:pPr>
            <a:r>
              <a:rPr sz="1400" b="1">
                <a:solidFill>
                  <a:srgbClr val="2C5F2D"/>
                </a:solidFill>
              </a:rPr>
              <a:t>Desarrollado en Univ. de Bristol. Referente: Townsend (1979).</a:t>
            </a:r>
          </a:p>
          <a:p>
            <a:pPr algn="l">
              <a:spcBef>
                <a:spcPts val="500"/>
              </a:spcBef>
            </a:pPr>
            <a:r>
              <a:rPr sz="1400" b="0">
                <a:solidFill>
                  <a:srgbClr val="1A1A1A"/>
                </a:solidFill>
              </a:rPr>
              <a:t>Es la propia sociedad —no los expertos— quien define las necesidades.</a:t>
            </a:r>
          </a:p>
          <a:p>
            <a:pPr algn="l">
              <a:spcBef>
                <a:spcPts val="500"/>
              </a:spcBef>
            </a:pPr>
            <a:r>
              <a:rPr sz="1400" b="1">
                <a:solidFill>
                  <a:srgbClr val="2C5F2D"/>
                </a:solidFill>
              </a:rPr>
              <a:t>Método: Relativo + Multidimensional</a:t>
            </a:r>
          </a:p>
        </p:txBody>
      </p:sp>
      <p:sp>
        <p:nvSpPr>
          <p:cNvPr id="6" name="Rectangle 5"/>
          <p:cNvSpPr/>
          <p:nvPr/>
        </p:nvSpPr>
        <p:spPr>
          <a:xfrm>
            <a:off x="502920" y="2743200"/>
            <a:ext cx="11185855" cy="54864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2788920"/>
            <a:ext cx="10911535" cy="530352"/>
          </a:xfrm>
          <a:prstGeom prst="rect">
            <a:avLst/>
          </a:prstGeom>
          <a:noFill/>
          <a:ln>
            <a:noFill/>
          </a:ln>
        </p:spPr>
        <p:txBody>
          <a:bodyPr wrap="square">
            <a:noAutofit/>
          </a:bodyPr>
          <a:lstStyle/>
          <a:p>
            <a:pPr algn="l"/>
            <a:r>
              <a:rPr sz="1300" b="0" i="0">
                <a:solidFill>
                  <a:srgbClr val="1A1A1A"/>
                </a:solidFill>
              </a:rPr>
              <a:t>1. Se testean múltiples ítems sobre estándares de vida mediante encuestas.</a:t>
            </a:r>
          </a:p>
        </p:txBody>
      </p:sp>
      <p:sp>
        <p:nvSpPr>
          <p:cNvPr id="8" name="Rectangle 7"/>
          <p:cNvSpPr/>
          <p:nvPr/>
        </p:nvSpPr>
        <p:spPr>
          <a:xfrm>
            <a:off x="502920" y="3364992"/>
            <a:ext cx="11185855"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3410712"/>
            <a:ext cx="10911535" cy="530352"/>
          </a:xfrm>
          <a:prstGeom prst="rect">
            <a:avLst/>
          </a:prstGeom>
          <a:noFill/>
          <a:ln>
            <a:noFill/>
          </a:ln>
        </p:spPr>
        <p:txBody>
          <a:bodyPr wrap="square">
            <a:noAutofit/>
          </a:bodyPr>
          <a:lstStyle/>
          <a:p>
            <a:pPr algn="l"/>
            <a:r>
              <a:rPr sz="1300" b="0" i="0">
                <a:solidFill>
                  <a:srgbClr val="1A1A1A"/>
                </a:solidFill>
              </a:rPr>
              <a:t>2. Los ítems considerados necesarios por &gt;50% de la población definen el estándar (consenso).</a:t>
            </a:r>
          </a:p>
        </p:txBody>
      </p:sp>
      <p:sp>
        <p:nvSpPr>
          <p:cNvPr id="10" name="Rectangle 9"/>
          <p:cNvSpPr/>
          <p:nvPr/>
        </p:nvSpPr>
        <p:spPr>
          <a:xfrm>
            <a:off x="502920" y="3986784"/>
            <a:ext cx="11185855" cy="54864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4032504"/>
            <a:ext cx="10911535" cy="530352"/>
          </a:xfrm>
          <a:prstGeom prst="rect">
            <a:avLst/>
          </a:prstGeom>
          <a:noFill/>
          <a:ln>
            <a:noFill/>
          </a:ln>
        </p:spPr>
        <p:txBody>
          <a:bodyPr wrap="square">
            <a:noAutofit/>
          </a:bodyPr>
          <a:lstStyle/>
          <a:p>
            <a:pPr algn="l"/>
            <a:r>
              <a:rPr sz="1300" b="0" i="0">
                <a:solidFill>
                  <a:srgbClr val="1A1A1A"/>
                </a:solidFill>
              </a:rPr>
              <a:t>3. Segunda encuesta: ¿El hogar carece de ese bien por elección o por falta de recursos?
   Solo cuenta la privación económica.</a:t>
            </a:r>
          </a:p>
        </p:txBody>
      </p:sp>
      <p:sp>
        <p:nvSpPr>
          <p:cNvPr id="12" name="Rectangle 11"/>
          <p:cNvSpPr/>
          <p:nvPr/>
        </p:nvSpPr>
        <p:spPr>
          <a:xfrm>
            <a:off x="502920" y="4608576"/>
            <a:ext cx="11185855"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4654296"/>
            <a:ext cx="10911535" cy="530352"/>
          </a:xfrm>
          <a:prstGeom prst="rect">
            <a:avLst/>
          </a:prstGeom>
          <a:noFill/>
          <a:ln>
            <a:noFill/>
          </a:ln>
        </p:spPr>
        <p:txBody>
          <a:bodyPr wrap="square">
            <a:noAutofit/>
          </a:bodyPr>
          <a:lstStyle/>
          <a:p>
            <a:pPr algn="l"/>
            <a:r>
              <a:rPr sz="1300" b="0" i="0">
                <a:solidFill>
                  <a:srgbClr val="1A1A1A"/>
                </a:solidFill>
              </a:rPr>
              <a:t>4. Métodos estadísticos vinculan N° de privaciones con ingreso para hallar
   el umbral que maximiza diferencia entre pobres y no pobres.</a:t>
            </a:r>
          </a:p>
        </p:txBody>
      </p:sp>
      <p:sp>
        <p:nvSpPr>
          <p:cNvPr id="14" name="Rectangle 13"/>
          <p:cNvSpPr/>
          <p:nvPr/>
        </p:nvSpPr>
        <p:spPr>
          <a:xfrm>
            <a:off x="502920" y="5230368"/>
            <a:ext cx="11185855" cy="54864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5276088"/>
            <a:ext cx="10911535" cy="530352"/>
          </a:xfrm>
          <a:prstGeom prst="rect">
            <a:avLst/>
          </a:prstGeom>
          <a:noFill/>
          <a:ln>
            <a:noFill/>
          </a:ln>
        </p:spPr>
        <p:txBody>
          <a:bodyPr wrap="square">
            <a:noAutofit/>
          </a:bodyPr>
          <a:lstStyle/>
          <a:p>
            <a:pPr algn="l"/>
            <a:r>
              <a:rPr sz="1300" b="0" i="0">
                <a:solidFill>
                  <a:srgbClr val="1A1A1A"/>
                </a:solidFill>
              </a:rPr>
              <a:t>5. Townsend (1979): el umbral suele estar entre 2 y 4 privaciones múltiples.</a:t>
            </a:r>
          </a:p>
        </p:txBody>
      </p:sp>
      <p:sp>
        <p:nvSpPr>
          <p:cNvPr id="16" name="Rectangle 15"/>
          <p:cNvSpPr/>
          <p:nvPr/>
        </p:nvSpPr>
        <p:spPr>
          <a:xfrm>
            <a:off x="502920" y="5852160"/>
            <a:ext cx="11185855"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5897880"/>
            <a:ext cx="10911535" cy="530352"/>
          </a:xfrm>
          <a:prstGeom prst="rect">
            <a:avLst/>
          </a:prstGeom>
          <a:noFill/>
          <a:ln>
            <a:noFill/>
          </a:ln>
        </p:spPr>
        <p:txBody>
          <a:bodyPr wrap="square">
            <a:noAutofit/>
          </a:bodyPr>
          <a:lstStyle/>
          <a:p>
            <a:pPr algn="l"/>
            <a:r>
              <a:rPr sz="1300" b="0" i="0">
                <a:solidFill>
                  <a:srgbClr val="1A1A1A"/>
                </a:solidFill>
              </a:rPr>
              <a:t>6. Se calcula la tasa de incidencia final.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U4_1 — COMPARACIÓN DE MÉTODOS</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a:solidFill>
                  <a:srgbClr val="2C5F2D"/>
                </a:solidFill>
              </a:rPr>
              <a:t>Los 4 métodos: comparación</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02920" y="1508760"/>
          <a:ext cx="11185855" cy="4572000"/>
        </p:xfrm>
        <a:graphic>
          <a:graphicData uri="http://schemas.openxmlformats.org/drawingml/2006/table">
            <a:tbl>
              <a:tblPr firstRow="1" bandRow="1">
                <a:tableStyleId>{5C22544A-7EE6-4342-B048-85BDC9FD1C3A}</a:tableStyleId>
              </a:tblPr>
              <a:tblGrid>
                <a:gridCol w="2237171">
                  <a:extLst>
                    <a:ext uri="{9D8B030D-6E8A-4147-A177-3AD203B41FA5}">
                      <a16:colId xmlns:a16="http://schemas.microsoft.com/office/drawing/2014/main" val="20000"/>
                    </a:ext>
                  </a:extLst>
                </a:gridCol>
                <a:gridCol w="2237171">
                  <a:extLst>
                    <a:ext uri="{9D8B030D-6E8A-4147-A177-3AD203B41FA5}">
                      <a16:colId xmlns:a16="http://schemas.microsoft.com/office/drawing/2014/main" val="20001"/>
                    </a:ext>
                  </a:extLst>
                </a:gridCol>
                <a:gridCol w="2237171">
                  <a:extLst>
                    <a:ext uri="{9D8B030D-6E8A-4147-A177-3AD203B41FA5}">
                      <a16:colId xmlns:a16="http://schemas.microsoft.com/office/drawing/2014/main" val="20002"/>
                    </a:ext>
                  </a:extLst>
                </a:gridCol>
                <a:gridCol w="2237171">
                  <a:extLst>
                    <a:ext uri="{9D8B030D-6E8A-4147-A177-3AD203B41FA5}">
                      <a16:colId xmlns:a16="http://schemas.microsoft.com/office/drawing/2014/main" val="20003"/>
                    </a:ext>
                  </a:extLst>
                </a:gridCol>
                <a:gridCol w="2237171">
                  <a:extLst>
                    <a:ext uri="{9D8B030D-6E8A-4147-A177-3AD203B41FA5}">
                      <a16:colId xmlns:a16="http://schemas.microsoft.com/office/drawing/2014/main" val="20004"/>
                    </a:ext>
                  </a:extLst>
                </a:gridCol>
              </a:tblGrid>
              <a:tr h="914400">
                <a:tc>
                  <a:txBody>
                    <a:bodyPr/>
                    <a:lstStyle/>
                    <a:p>
                      <a:pPr algn="ctr"/>
                      <a:r>
                        <a:rPr sz="1300" b="1">
                          <a:solidFill>
                            <a:srgbClr val="FFFFFF"/>
                          </a:solidFill>
                        </a:rPr>
                        <a:t>Método</a:t>
                      </a:r>
                    </a:p>
                  </a:txBody>
                  <a:tcPr>
                    <a:solidFill>
                      <a:srgbClr val="2C5F2D"/>
                    </a:solidFill>
                  </a:tcPr>
                </a:tc>
                <a:tc>
                  <a:txBody>
                    <a:bodyPr/>
                    <a:lstStyle/>
                    <a:p>
                      <a:pPr algn="ctr"/>
                      <a:r>
                        <a:rPr sz="1300" b="1">
                          <a:solidFill>
                            <a:srgbClr val="FFFFFF"/>
                          </a:solidFill>
                        </a:rPr>
                        <a:t>Enfoque</a:t>
                      </a:r>
                    </a:p>
                  </a:txBody>
                  <a:tcPr>
                    <a:solidFill>
                      <a:srgbClr val="2C5F2D"/>
                    </a:solidFill>
                  </a:tcPr>
                </a:tc>
                <a:tc>
                  <a:txBody>
                    <a:bodyPr/>
                    <a:lstStyle/>
                    <a:p>
                      <a:pPr algn="ctr"/>
                      <a:r>
                        <a:rPr sz="1300" b="1">
                          <a:solidFill>
                            <a:srgbClr val="FFFFFF"/>
                          </a:solidFill>
                        </a:rPr>
                        <a:t>Dimensión</a:t>
                      </a:r>
                    </a:p>
                  </a:txBody>
                  <a:tcPr>
                    <a:solidFill>
                      <a:srgbClr val="2C5F2D"/>
                    </a:solidFill>
                  </a:tcPr>
                </a:tc>
                <a:tc>
                  <a:txBody>
                    <a:bodyPr/>
                    <a:lstStyle/>
                    <a:p>
                      <a:pPr algn="ctr"/>
                      <a:r>
                        <a:rPr sz="1300" b="1">
                          <a:solidFill>
                            <a:srgbClr val="FFFFFF"/>
                          </a:solidFill>
                        </a:rPr>
                        <a:t>Tipo</a:t>
                      </a:r>
                    </a:p>
                  </a:txBody>
                  <a:tcPr>
                    <a:solidFill>
                      <a:srgbClr val="2C5F2D"/>
                    </a:solidFill>
                  </a:tcPr>
                </a:tc>
                <a:tc>
                  <a:txBody>
                    <a:bodyPr/>
                    <a:lstStyle/>
                    <a:p>
                      <a:pPr algn="ctr"/>
                      <a:r>
                        <a:rPr sz="1300" b="1">
                          <a:solidFill>
                            <a:srgbClr val="FFFFFF"/>
                          </a:solidFill>
                        </a:rPr>
                        <a:t>Crítica principal</a:t>
                      </a:r>
                    </a:p>
                  </a:txBody>
                  <a:tcPr>
                    <a:solidFill>
                      <a:srgbClr val="2C5F2D"/>
                    </a:solidFill>
                  </a:tcPr>
                </a:tc>
                <a:extLst>
                  <a:ext uri="{0D108BD9-81ED-4DB2-BD59-A6C34878D82A}">
                    <a16:rowId xmlns:a16="http://schemas.microsoft.com/office/drawing/2014/main" val="10000"/>
                  </a:ext>
                </a:extLst>
              </a:tr>
              <a:tr h="914400">
                <a:tc>
                  <a:txBody>
                    <a:bodyPr/>
                    <a:lstStyle/>
                    <a:p>
                      <a:r>
                        <a:rPr sz="1200">
                          <a:solidFill>
                            <a:srgbClr val="1A1A1A"/>
                          </a:solidFill>
                        </a:rPr>
                        <a:t>Monetario (CBA/CBT)</a:t>
                      </a:r>
                    </a:p>
                  </a:txBody>
                  <a:tcPr>
                    <a:solidFill>
                      <a:srgbClr val="E8F4D6"/>
                    </a:solidFill>
                  </a:tcPr>
                </a:tc>
                <a:tc>
                  <a:txBody>
                    <a:bodyPr/>
                    <a:lstStyle/>
                    <a:p>
                      <a:r>
                        <a:rPr sz="1200">
                          <a:solidFill>
                            <a:srgbClr val="1A1A1A"/>
                          </a:solidFill>
                        </a:rPr>
                        <a:t>Absoluto</a:t>
                      </a:r>
                    </a:p>
                  </a:txBody>
                  <a:tcPr>
                    <a:solidFill>
                      <a:srgbClr val="E8F4D6"/>
                    </a:solidFill>
                  </a:tcPr>
                </a:tc>
                <a:tc>
                  <a:txBody>
                    <a:bodyPr/>
                    <a:lstStyle/>
                    <a:p>
                      <a:r>
                        <a:rPr sz="1200">
                          <a:solidFill>
                            <a:srgbClr val="1A1A1A"/>
                          </a:solidFill>
                        </a:rPr>
                        <a:t>Uni</a:t>
                      </a:r>
                    </a:p>
                    <a:p>
                      <a:r>
                        <a:t>(ingreso)</a:t>
                      </a:r>
                    </a:p>
                  </a:txBody>
                  <a:tcPr>
                    <a:solidFill>
                      <a:srgbClr val="E8F4D6"/>
                    </a:solidFill>
                  </a:tcPr>
                </a:tc>
                <a:tc>
                  <a:txBody>
                    <a:bodyPr/>
                    <a:lstStyle/>
                    <a:p>
                      <a:r>
                        <a:rPr sz="1200">
                          <a:solidFill>
                            <a:srgbClr val="1A1A1A"/>
                          </a:solidFill>
                        </a:rPr>
                        <a:t>Indirecto</a:t>
                      </a:r>
                    </a:p>
                  </a:txBody>
                  <a:tcPr>
                    <a:solidFill>
                      <a:srgbClr val="E8F4D6"/>
                    </a:solidFill>
                  </a:tcPr>
                </a:tc>
                <a:tc>
                  <a:txBody>
                    <a:bodyPr/>
                    <a:lstStyle/>
                    <a:p>
                      <a:r>
                        <a:rPr sz="1200">
                          <a:solidFill>
                            <a:srgbClr val="1A1A1A"/>
                          </a:solidFill>
                        </a:rPr>
                        <a:t>El ingreso no garantiza bienestar real;</a:t>
                      </a:r>
                    </a:p>
                    <a:p>
                      <a:r>
                        <a:t>ignora factores de conversión (Sen).</a:t>
                      </a:r>
                    </a:p>
                  </a:txBody>
                  <a:tcPr>
                    <a:solidFill>
                      <a:srgbClr val="E8F4D6"/>
                    </a:solidFill>
                  </a:tcPr>
                </a:tc>
                <a:extLst>
                  <a:ext uri="{0D108BD9-81ED-4DB2-BD59-A6C34878D82A}">
                    <a16:rowId xmlns:a16="http://schemas.microsoft.com/office/drawing/2014/main" val="10001"/>
                  </a:ext>
                </a:extLst>
              </a:tr>
              <a:tr h="914400">
                <a:tc>
                  <a:txBody>
                    <a:bodyPr/>
                    <a:lstStyle/>
                    <a:p>
                      <a:r>
                        <a:rPr sz="1200">
                          <a:solidFill>
                            <a:srgbClr val="1A1A1A"/>
                          </a:solidFill>
                        </a:rPr>
                        <a:t>NBI</a:t>
                      </a:r>
                    </a:p>
                  </a:txBody>
                  <a:tcPr>
                    <a:solidFill>
                      <a:srgbClr val="FFFFFF"/>
                    </a:solidFill>
                  </a:tcPr>
                </a:tc>
                <a:tc>
                  <a:txBody>
                    <a:bodyPr/>
                    <a:lstStyle/>
                    <a:p>
                      <a:r>
                        <a:rPr sz="1200">
                          <a:solidFill>
                            <a:srgbClr val="1A1A1A"/>
                          </a:solidFill>
                        </a:rPr>
                        <a:t>Absoluto</a:t>
                      </a:r>
                    </a:p>
                  </a:txBody>
                  <a:tcPr>
                    <a:solidFill>
                      <a:srgbClr val="FFFFFF"/>
                    </a:solidFill>
                  </a:tcPr>
                </a:tc>
                <a:tc>
                  <a:txBody>
                    <a:bodyPr/>
                    <a:lstStyle/>
                    <a:p>
                      <a:r>
                        <a:rPr sz="1200">
                          <a:solidFill>
                            <a:srgbClr val="1A1A1A"/>
                          </a:solidFill>
                        </a:rPr>
                        <a:t>Multi</a:t>
                      </a:r>
                    </a:p>
                    <a:p>
                      <a:r>
                        <a:t>(6 indicadores)</a:t>
                      </a:r>
                    </a:p>
                  </a:txBody>
                  <a:tcPr>
                    <a:solidFill>
                      <a:srgbClr val="FFFFFF"/>
                    </a:solidFill>
                  </a:tcPr>
                </a:tc>
                <a:tc>
                  <a:txBody>
                    <a:bodyPr/>
                    <a:lstStyle/>
                    <a:p>
                      <a:r>
                        <a:rPr sz="1200">
                          <a:solidFill>
                            <a:srgbClr val="1A1A1A"/>
                          </a:solidFill>
                        </a:rPr>
                        <a:t>Directo</a:t>
                      </a:r>
                    </a:p>
                  </a:txBody>
                  <a:tcPr>
                    <a:solidFill>
                      <a:srgbClr val="FFFFFF"/>
                    </a:solidFill>
                  </a:tcPr>
                </a:tc>
                <a:tc>
                  <a:txBody>
                    <a:bodyPr/>
                    <a:lstStyle/>
                    <a:p>
                      <a:r>
                        <a:rPr sz="1200">
                          <a:solidFill>
                            <a:srgbClr val="1A1A1A"/>
                          </a:solidFill>
                        </a:rPr>
                        <a:t>Basta UNA privación → muy amplio;</a:t>
                      </a:r>
                    </a:p>
                    <a:p>
                      <a:r>
                        <a:t>no capta vulnerabilidad por ingreso.</a:t>
                      </a:r>
                    </a:p>
                  </a:txBody>
                  <a:tcPr>
                    <a:solidFill>
                      <a:srgbClr val="FFFFFF"/>
                    </a:solidFill>
                  </a:tcPr>
                </a:tc>
                <a:extLst>
                  <a:ext uri="{0D108BD9-81ED-4DB2-BD59-A6C34878D82A}">
                    <a16:rowId xmlns:a16="http://schemas.microsoft.com/office/drawing/2014/main" val="10002"/>
                  </a:ext>
                </a:extLst>
              </a:tr>
              <a:tr h="914400">
                <a:tc>
                  <a:txBody>
                    <a:bodyPr/>
                    <a:lstStyle/>
                    <a:p>
                      <a:r>
                        <a:rPr sz="1200">
                          <a:solidFill>
                            <a:srgbClr val="1A1A1A"/>
                          </a:solidFill>
                        </a:rPr>
                        <a:t>Alkire-Foster (IPM)</a:t>
                      </a:r>
                    </a:p>
                  </a:txBody>
                  <a:tcPr>
                    <a:solidFill>
                      <a:srgbClr val="E8F4D6"/>
                    </a:solidFill>
                  </a:tcPr>
                </a:tc>
                <a:tc>
                  <a:txBody>
                    <a:bodyPr/>
                    <a:lstStyle/>
                    <a:p>
                      <a:r>
                        <a:rPr sz="1200">
                          <a:solidFill>
                            <a:srgbClr val="1A1A1A"/>
                          </a:solidFill>
                        </a:rPr>
                        <a:t>Absoluto</a:t>
                      </a:r>
                    </a:p>
                  </a:txBody>
                  <a:tcPr>
                    <a:solidFill>
                      <a:srgbClr val="E8F4D6"/>
                    </a:solidFill>
                  </a:tcPr>
                </a:tc>
                <a:tc>
                  <a:txBody>
                    <a:bodyPr/>
                    <a:lstStyle/>
                    <a:p>
                      <a:r>
                        <a:rPr sz="1200">
                          <a:solidFill>
                            <a:srgbClr val="1A1A1A"/>
                          </a:solidFill>
                        </a:rPr>
                        <a:t>Multi</a:t>
                      </a:r>
                    </a:p>
                    <a:p>
                      <a:r>
                        <a:t>(flexible)</a:t>
                      </a:r>
                    </a:p>
                  </a:txBody>
                  <a:tcPr>
                    <a:solidFill>
                      <a:srgbClr val="E8F4D6"/>
                    </a:solidFill>
                  </a:tcPr>
                </a:tc>
                <a:tc>
                  <a:txBody>
                    <a:bodyPr/>
                    <a:lstStyle/>
                    <a:p>
                      <a:r>
                        <a:rPr sz="1200">
                          <a:solidFill>
                            <a:srgbClr val="1A1A1A"/>
                          </a:solidFill>
                        </a:rPr>
                        <a:t>Directo</a:t>
                      </a:r>
                    </a:p>
                  </a:txBody>
                  <a:tcPr>
                    <a:solidFill>
                      <a:srgbClr val="E8F4D6"/>
                    </a:solidFill>
                  </a:tcPr>
                </a:tc>
                <a:tc>
                  <a:txBody>
                    <a:bodyPr/>
                    <a:lstStyle/>
                    <a:p>
                      <a:r>
                        <a:rPr sz="1200">
                          <a:solidFill>
                            <a:srgbClr val="1A1A1A"/>
                          </a:solidFill>
                        </a:rPr>
                        <a:t>Arbitrariedad en elección de</a:t>
                      </a:r>
                    </a:p>
                    <a:p>
                      <a:r>
                        <a:t>dimensiones y ponderaciones.</a:t>
                      </a:r>
                    </a:p>
                  </a:txBody>
                  <a:tcPr>
                    <a:solidFill>
                      <a:srgbClr val="E8F4D6"/>
                    </a:solidFill>
                  </a:tcPr>
                </a:tc>
                <a:extLst>
                  <a:ext uri="{0D108BD9-81ED-4DB2-BD59-A6C34878D82A}">
                    <a16:rowId xmlns:a16="http://schemas.microsoft.com/office/drawing/2014/main" val="10003"/>
                  </a:ext>
                </a:extLst>
              </a:tr>
              <a:tr h="914400">
                <a:tc>
                  <a:txBody>
                    <a:bodyPr/>
                    <a:lstStyle/>
                    <a:p>
                      <a:r>
                        <a:rPr sz="1200">
                          <a:solidFill>
                            <a:srgbClr val="1A1A1A"/>
                          </a:solidFill>
                        </a:rPr>
                        <a:t>Consensual</a:t>
                      </a:r>
                    </a:p>
                  </a:txBody>
                  <a:tcPr>
                    <a:solidFill>
                      <a:srgbClr val="FFFFFF"/>
                    </a:solidFill>
                  </a:tcPr>
                </a:tc>
                <a:tc>
                  <a:txBody>
                    <a:bodyPr/>
                    <a:lstStyle/>
                    <a:p>
                      <a:r>
                        <a:rPr sz="1200">
                          <a:solidFill>
                            <a:srgbClr val="1A1A1A"/>
                          </a:solidFill>
                        </a:rPr>
                        <a:t>Relativo</a:t>
                      </a:r>
                    </a:p>
                  </a:txBody>
                  <a:tcPr>
                    <a:solidFill>
                      <a:srgbClr val="FFFFFF"/>
                    </a:solidFill>
                  </a:tcPr>
                </a:tc>
                <a:tc>
                  <a:txBody>
                    <a:bodyPr/>
                    <a:lstStyle/>
                    <a:p>
                      <a:r>
                        <a:rPr sz="1200">
                          <a:solidFill>
                            <a:srgbClr val="1A1A1A"/>
                          </a:solidFill>
                        </a:rPr>
                        <a:t>Multi</a:t>
                      </a:r>
                    </a:p>
                    <a:p>
                      <a:r>
                        <a:t>(social)</a:t>
                      </a:r>
                    </a:p>
                  </a:txBody>
                  <a:tcPr>
                    <a:solidFill>
                      <a:srgbClr val="FFFFFF"/>
                    </a:solidFill>
                  </a:tcPr>
                </a:tc>
                <a:tc>
                  <a:txBody>
                    <a:bodyPr/>
                    <a:lstStyle/>
                    <a:p>
                      <a:r>
                        <a:rPr sz="1200">
                          <a:solidFill>
                            <a:srgbClr val="1A1A1A"/>
                          </a:solidFill>
                        </a:rPr>
                        <a:t>Mixto</a:t>
                      </a:r>
                    </a:p>
                  </a:txBody>
                  <a:tcPr>
                    <a:solidFill>
                      <a:srgbClr val="FFFFFF"/>
                    </a:solidFill>
                  </a:tcPr>
                </a:tc>
                <a:tc>
                  <a:txBody>
                    <a:bodyPr/>
                    <a:lstStyle/>
                    <a:p>
                      <a:r>
                        <a:rPr sz="1200">
                          <a:solidFill>
                            <a:srgbClr val="1A1A1A"/>
                          </a:solidFill>
                        </a:rPr>
                        <a:t>Regla del 50% es arbitraria;</a:t>
                      </a:r>
                    </a:p>
                    <a:p>
                      <a:r>
                        <a:t>voces pobres pueden quedar subrepresentadas.</a:t>
                      </a:r>
                    </a:p>
                  </a:txBody>
                  <a:tcP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A381B"/>
        </a:solidFill>
        <a:effectLst/>
      </p:bgPr>
    </p:bg>
    <p:spTree>
      <p:nvGrpSpPr>
        <p:cNvPr id="1" name=""/>
        <p:cNvGrpSpPr/>
        <p:nvPr/>
      </p:nvGrpSpPr>
      <p:grpSpPr>
        <a:xfrm>
          <a:off x="0" y="0"/>
          <a:ext cx="0" cy="0"/>
          <a:chOff x="0" y="0"/>
          <a:chExt cx="0" cy="0"/>
        </a:xfrm>
      </p:grpSpPr>
      <p:sp>
        <p:nvSpPr>
          <p:cNvPr id="2" name="Rectangle 1"/>
          <p:cNvSpPr/>
          <p:nvPr/>
        </p:nvSpPr>
        <p:spPr>
          <a:xfrm>
            <a:off x="0" y="2926080"/>
            <a:ext cx="12191695" cy="73152"/>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828800"/>
            <a:ext cx="11185855" cy="457200"/>
          </a:xfrm>
          <a:prstGeom prst="rect">
            <a:avLst/>
          </a:prstGeom>
          <a:noFill/>
          <a:ln>
            <a:noFill/>
          </a:ln>
        </p:spPr>
        <p:txBody>
          <a:bodyPr wrap="square">
            <a:noAutofit/>
          </a:bodyPr>
          <a:lstStyle/>
          <a:p>
            <a:pPr algn="l"/>
            <a:r>
              <a:rPr sz="1600" b="1" i="0">
                <a:solidFill>
                  <a:srgbClr val="CCE899"/>
                </a:solidFill>
              </a:rPr>
              <a:t>UNIDAD 4 — PARTE 2</a:t>
            </a:r>
          </a:p>
        </p:txBody>
      </p:sp>
      <p:sp>
        <p:nvSpPr>
          <p:cNvPr id="4" name="TextBox 3"/>
          <p:cNvSpPr txBox="1"/>
          <p:nvPr/>
        </p:nvSpPr>
        <p:spPr>
          <a:xfrm>
            <a:off x="502920" y="2377440"/>
            <a:ext cx="11185855" cy="822960"/>
          </a:xfrm>
          <a:prstGeom prst="rect">
            <a:avLst/>
          </a:prstGeom>
          <a:noFill/>
          <a:ln>
            <a:noFill/>
          </a:ln>
        </p:spPr>
        <p:txBody>
          <a:bodyPr wrap="square">
            <a:noAutofit/>
          </a:bodyPr>
          <a:lstStyle/>
          <a:p>
            <a:pPr algn="l"/>
            <a:r>
              <a:rPr sz="4400" b="1" i="0">
                <a:solidFill>
                  <a:srgbClr val="FFFFFF"/>
                </a:solidFill>
              </a:rPr>
              <a:t>Desigualdad y Crecimiento</a:t>
            </a:r>
          </a:p>
        </p:txBody>
      </p:sp>
      <p:sp>
        <p:nvSpPr>
          <p:cNvPr id="5" name="TextBox 4"/>
          <p:cNvSpPr txBox="1"/>
          <p:nvPr/>
        </p:nvSpPr>
        <p:spPr>
          <a:xfrm>
            <a:off x="502920" y="3383280"/>
            <a:ext cx="11185855" cy="1371600"/>
          </a:xfrm>
          <a:prstGeom prst="rect">
            <a:avLst/>
          </a:prstGeom>
          <a:noFill/>
          <a:ln>
            <a:noFill/>
          </a:ln>
        </p:spPr>
        <p:txBody>
          <a:bodyPr wrap="square">
            <a:noAutofit/>
          </a:bodyPr>
          <a:lstStyle/>
          <a:p>
            <a:pPr algn="l">
              <a:spcBef>
                <a:spcPts val="0"/>
              </a:spcBef>
            </a:pPr>
            <a:r>
              <a:rPr sz="1800" b="0">
                <a:solidFill>
                  <a:srgbClr val="CCE899"/>
                </a:solidFill>
              </a:rPr>
              <a:t>Teorías de justicia social  ·  Tipos de desigualdad</a:t>
            </a:r>
          </a:p>
          <a:p>
            <a:pPr algn="l">
              <a:spcBef>
                <a:spcPts val="1000"/>
              </a:spcBef>
            </a:pPr>
            <a:r>
              <a:rPr sz="1800" b="0">
                <a:solidFill>
                  <a:srgbClr val="CCE899"/>
                </a:solidFill>
              </a:rPr>
              <a:t>Curva de Kuznets  ·  8 canales desigualdad→crecimiento</a:t>
            </a:r>
          </a:p>
          <a:p>
            <a:pPr algn="l">
              <a:spcBef>
                <a:spcPts val="1000"/>
              </a:spcBef>
            </a:pPr>
            <a:r>
              <a:rPr sz="1800" b="0">
                <a:solidFill>
                  <a:srgbClr val="CCE899"/>
                </a:solidFill>
              </a:rPr>
              <a:t>América Latina  ·  Políticas  ·  Debate eficiencia-equidad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U4_5 — DESIGUALDAD Y CRECIMIENTO</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a:solidFill>
                  <a:srgbClr val="2C5F2D"/>
                </a:solidFill>
              </a:rPr>
              <a:t>Justicia social: ¿qué evalúan estas teorías?</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508760"/>
            <a:ext cx="11185855" cy="1188720"/>
          </a:xfrm>
          <a:prstGeom prst="rect">
            <a:avLst/>
          </a:prstGeom>
          <a:solidFill>
            <a:srgbClr val="E8F4D6"/>
          </a:solidFill>
          <a:ln>
            <a:noFill/>
          </a:ln>
        </p:spPr>
        <p:txBody>
          <a:bodyPr wrap="square">
            <a:spAutoFit/>
          </a:bodyPr>
          <a:lstStyle/>
          <a:p>
            <a:pPr algn="l"/>
            <a:r>
              <a:rPr sz="1600" b="0">
                <a:solidFill>
                  <a:srgbClr val="2C5F2D"/>
                </a:solidFill>
              </a:rPr>
              <a:t>Estas teorías no evalúan casos individuales,
sino cómo se organizan las INSTITUCIONES de una sociedad
para repartir costos y beneficios entre sus miembros.</a:t>
            </a:r>
          </a:p>
        </p:txBody>
      </p:sp>
      <p:graphicFrame>
        <p:nvGraphicFramePr>
          <p:cNvPr id="6" name="Table 5"/>
          <p:cNvGraphicFramePr>
            <a:graphicFrameLocks noGrp="1"/>
          </p:cNvGraphicFramePr>
          <p:nvPr/>
        </p:nvGraphicFramePr>
        <p:xfrm>
          <a:off x="502920" y="2880360"/>
          <a:ext cx="11185855" cy="3730752"/>
        </p:xfrm>
        <a:graphic>
          <a:graphicData uri="http://schemas.openxmlformats.org/drawingml/2006/table">
            <a:tbl>
              <a:tblPr firstRow="1" bandRow="1">
                <a:tableStyleId>{5C22544A-7EE6-4342-B048-85BDC9FD1C3A}</a:tableStyleId>
              </a:tblPr>
              <a:tblGrid>
                <a:gridCol w="3728618">
                  <a:extLst>
                    <a:ext uri="{9D8B030D-6E8A-4147-A177-3AD203B41FA5}">
                      <a16:colId xmlns:a16="http://schemas.microsoft.com/office/drawing/2014/main" val="20000"/>
                    </a:ext>
                  </a:extLst>
                </a:gridCol>
                <a:gridCol w="3728618">
                  <a:extLst>
                    <a:ext uri="{9D8B030D-6E8A-4147-A177-3AD203B41FA5}">
                      <a16:colId xmlns:a16="http://schemas.microsoft.com/office/drawing/2014/main" val="20001"/>
                    </a:ext>
                  </a:extLst>
                </a:gridCol>
                <a:gridCol w="3728619">
                  <a:extLst>
                    <a:ext uri="{9D8B030D-6E8A-4147-A177-3AD203B41FA5}">
                      <a16:colId xmlns:a16="http://schemas.microsoft.com/office/drawing/2014/main" val="20002"/>
                    </a:ext>
                  </a:extLst>
                </a:gridCol>
              </a:tblGrid>
              <a:tr h="694944">
                <a:tc>
                  <a:txBody>
                    <a:bodyPr/>
                    <a:lstStyle/>
                    <a:p>
                      <a:pPr algn="ctr"/>
                      <a:r>
                        <a:rPr sz="1300" b="1">
                          <a:solidFill>
                            <a:srgbClr val="FFFFFF"/>
                          </a:solidFill>
                        </a:rPr>
                        <a:t>TEORÍA</a:t>
                      </a:r>
                    </a:p>
                  </a:txBody>
                  <a:tcPr>
                    <a:solidFill>
                      <a:srgbClr val="2C5F2D"/>
                    </a:solidFill>
                  </a:tcPr>
                </a:tc>
                <a:tc>
                  <a:txBody>
                    <a:bodyPr/>
                    <a:lstStyle/>
                    <a:p>
                      <a:pPr algn="ctr"/>
                      <a:r>
                        <a:rPr sz="1300" b="1">
                          <a:solidFill>
                            <a:srgbClr val="FFFFFF"/>
                          </a:solidFill>
                        </a:rPr>
                        <a:t>POSTULADO</a:t>
                      </a:r>
                    </a:p>
                  </a:txBody>
                  <a:tcPr>
                    <a:solidFill>
                      <a:srgbClr val="2C5F2D"/>
                    </a:solidFill>
                  </a:tcPr>
                </a:tc>
                <a:tc>
                  <a:txBody>
                    <a:bodyPr/>
                    <a:lstStyle/>
                    <a:p>
                      <a:pPr algn="ctr"/>
                      <a:r>
                        <a:rPr sz="1300" b="1">
                          <a:solidFill>
                            <a:srgbClr val="FFFFFF"/>
                          </a:solidFill>
                        </a:rPr>
                        <a:t>CRÍTICA</a:t>
                      </a:r>
                    </a:p>
                  </a:txBody>
                  <a:tcPr>
                    <a:solidFill>
                      <a:srgbClr val="2C5F2D"/>
                    </a:solidFill>
                  </a:tcPr>
                </a:tc>
                <a:extLst>
                  <a:ext uri="{0D108BD9-81ED-4DB2-BD59-A6C34878D82A}">
                    <a16:rowId xmlns:a16="http://schemas.microsoft.com/office/drawing/2014/main" val="10000"/>
                  </a:ext>
                </a:extLst>
              </a:tr>
              <a:tr h="694944">
                <a:tc>
                  <a:txBody>
                    <a:bodyPr/>
                    <a:lstStyle/>
                    <a:p>
                      <a:r>
                        <a:rPr sz="1200">
                          <a:solidFill>
                            <a:srgbClr val="1A1A1A"/>
                          </a:solidFill>
                        </a:rPr>
                        <a:t>Convencionalismo</a:t>
                      </a:r>
                    </a:p>
                  </a:txBody>
                  <a:tcPr>
                    <a:solidFill>
                      <a:srgbClr val="E8F4D6"/>
                    </a:solidFill>
                  </a:tcPr>
                </a:tc>
                <a:tc>
                  <a:txBody>
                    <a:bodyPr/>
                    <a:lstStyle/>
                    <a:p>
                      <a:r>
                        <a:rPr sz="1200">
                          <a:solidFill>
                            <a:srgbClr val="1A1A1A"/>
                          </a:solidFill>
                        </a:rPr>
                        <a:t>La justicia es lo que la sociedad</a:t>
                      </a:r>
                    </a:p>
                    <a:p>
                      <a:r>
                        <a:t>acuerda según sus tradiciones.</a:t>
                      </a:r>
                    </a:p>
                  </a:txBody>
                  <a:tcPr>
                    <a:solidFill>
                      <a:srgbClr val="E8F4D6"/>
                    </a:solidFill>
                  </a:tcPr>
                </a:tc>
                <a:tc>
                  <a:txBody>
                    <a:bodyPr/>
                    <a:lstStyle/>
                    <a:p>
                      <a:r>
                        <a:rPr sz="1200">
                          <a:solidFill>
                            <a:srgbClr val="1A1A1A"/>
                          </a:solidFill>
                        </a:rPr>
                        <a:t>Puede justificar prácticas</a:t>
                      </a:r>
                    </a:p>
                    <a:p>
                      <a:r>
                        <a:t>injustas (ej. esclavitud).</a:t>
                      </a:r>
                    </a:p>
                  </a:txBody>
                  <a:tcPr>
                    <a:solidFill>
                      <a:srgbClr val="E8F4D6"/>
                    </a:solidFill>
                  </a:tcPr>
                </a:tc>
                <a:extLst>
                  <a:ext uri="{0D108BD9-81ED-4DB2-BD59-A6C34878D82A}">
                    <a16:rowId xmlns:a16="http://schemas.microsoft.com/office/drawing/2014/main" val="10001"/>
                  </a:ext>
                </a:extLst>
              </a:tr>
              <a:tr h="694944">
                <a:tc>
                  <a:txBody>
                    <a:bodyPr/>
                    <a:lstStyle/>
                    <a:p>
                      <a:r>
                        <a:rPr sz="1200">
                          <a:solidFill>
                            <a:srgbClr val="1A1A1A"/>
                          </a:solidFill>
                        </a:rPr>
                        <a:t>Teleología / Utilitarismo</a:t>
                      </a:r>
                    </a:p>
                  </a:txBody>
                  <a:tcPr>
                    <a:solidFill>
                      <a:srgbClr val="FFFFFF"/>
                    </a:solidFill>
                  </a:tcPr>
                </a:tc>
                <a:tc>
                  <a:txBody>
                    <a:bodyPr/>
                    <a:lstStyle/>
                    <a:p>
                      <a:r>
                        <a:rPr sz="1200">
                          <a:solidFill>
                            <a:srgbClr val="1A1A1A"/>
                          </a:solidFill>
                        </a:rPr>
                        <a:t>Maximizar la utilidad o</a:t>
                      </a:r>
                    </a:p>
                    <a:p>
                      <a:r>
                        <a:t>felicidad total (el bien supremo).</a:t>
                      </a:r>
                    </a:p>
                  </a:txBody>
                  <a:tcPr>
                    <a:solidFill>
                      <a:srgbClr val="FFFFFF"/>
                    </a:solidFill>
                  </a:tcPr>
                </a:tc>
                <a:tc>
                  <a:txBody>
                    <a:bodyPr/>
                    <a:lstStyle/>
                    <a:p>
                      <a:r>
                        <a:rPr sz="1200">
                          <a:solidFill>
                            <a:srgbClr val="1A1A1A"/>
                          </a:solidFill>
                        </a:rPr>
                        <a:t>Puede sacrificar a una minoría.</a:t>
                      </a:r>
                    </a:p>
                    <a:p>
                      <a:r>
                        <a:t>No funciona en sociedades plurales.</a:t>
                      </a:r>
                    </a:p>
                  </a:txBody>
                  <a:tcPr>
                    <a:solidFill>
                      <a:srgbClr val="FFFFFF"/>
                    </a:solidFill>
                  </a:tcPr>
                </a:tc>
                <a:extLst>
                  <a:ext uri="{0D108BD9-81ED-4DB2-BD59-A6C34878D82A}">
                    <a16:rowId xmlns:a16="http://schemas.microsoft.com/office/drawing/2014/main" val="10002"/>
                  </a:ext>
                </a:extLst>
              </a:tr>
              <a:tr h="694944">
                <a:tc>
                  <a:txBody>
                    <a:bodyPr/>
                    <a:lstStyle/>
                    <a:p>
                      <a:r>
                        <a:rPr sz="1200">
                          <a:solidFill>
                            <a:srgbClr val="1A1A1A"/>
                          </a:solidFill>
                        </a:rPr>
                        <a:t>Rawls — Maximin</a:t>
                      </a:r>
                    </a:p>
                  </a:txBody>
                  <a:tcPr>
                    <a:solidFill>
                      <a:srgbClr val="E8F4D6"/>
                    </a:solidFill>
                  </a:tcPr>
                </a:tc>
                <a:tc>
                  <a:txBody>
                    <a:bodyPr/>
                    <a:lstStyle/>
                    <a:p>
                      <a:r>
                        <a:rPr sz="1200">
                          <a:solidFill>
                            <a:srgbClr val="1A1A1A"/>
                          </a:solidFill>
                        </a:rPr>
                        <a:t>Solo son justas las desigualdades</a:t>
                      </a:r>
                    </a:p>
                    <a:p>
                      <a:r>
                        <a:t>que benefician al más desaventajado</a:t>
                      </a:r>
                    </a:p>
                    <a:p>
                      <a:r>
                        <a:t>(Velo de ignorancia).</a:t>
                      </a:r>
                    </a:p>
                  </a:txBody>
                  <a:tcPr>
                    <a:solidFill>
                      <a:srgbClr val="E8F4D6"/>
                    </a:solidFill>
                  </a:tcPr>
                </a:tc>
                <a:tc>
                  <a:txBody>
                    <a:bodyPr/>
                    <a:lstStyle/>
                    <a:p>
                      <a:r>
                        <a:rPr sz="1200">
                          <a:solidFill>
                            <a:srgbClr val="1A1A1A"/>
                          </a:solidFill>
                        </a:rPr>
                        <a:t>Mide en 'bienes primarios'</a:t>
                      </a:r>
                    </a:p>
                    <a:p>
                      <a:r>
                        <a:t>ignorando la diversidad</a:t>
                      </a:r>
                    </a:p>
                    <a:p>
                      <a:r>
                        <a:t>human (Sen).</a:t>
                      </a:r>
                    </a:p>
                  </a:txBody>
                  <a:tcPr>
                    <a:solidFill>
                      <a:srgbClr val="E8F4D6"/>
                    </a:solidFill>
                  </a:tcPr>
                </a:tc>
                <a:extLst>
                  <a:ext uri="{0D108BD9-81ED-4DB2-BD59-A6C34878D82A}">
                    <a16:rowId xmlns:a16="http://schemas.microsoft.com/office/drawing/2014/main" val="10003"/>
                  </a:ext>
                </a:extLst>
              </a:tr>
              <a:tr h="694944">
                <a:tc>
                  <a:txBody>
                    <a:bodyPr/>
                    <a:lstStyle/>
                    <a:p>
                      <a:r>
                        <a:rPr sz="1200">
                          <a:solidFill>
                            <a:srgbClr val="1A1A1A"/>
                          </a:solidFill>
                        </a:rPr>
                        <a:t>Sen (1979)</a:t>
                      </a:r>
                    </a:p>
                  </a:txBody>
                  <a:tcPr>
                    <a:solidFill>
                      <a:srgbClr val="FFFFFF"/>
                    </a:solidFill>
                  </a:tcPr>
                </a:tc>
                <a:tc>
                  <a:txBody>
                    <a:bodyPr/>
                    <a:lstStyle/>
                    <a:p>
                      <a:r>
                        <a:rPr sz="1200">
                          <a:solidFill>
                            <a:srgbClr val="1A1A1A"/>
                          </a:solidFill>
                        </a:rPr>
                        <a:t>¿Igualdad de qué? → capacidades.</a:t>
                      </a:r>
                    </a:p>
                    <a:p>
                      <a:r>
                        <a:t>Lo que importa es lo que la persona</a:t>
                      </a:r>
                    </a:p>
                    <a:p>
                      <a:r>
                        <a:t>puede hacer y ser con sus recursos.</a:t>
                      </a:r>
                    </a:p>
                  </a:txBody>
                  <a:tcPr>
                    <a:solidFill>
                      <a:srgbClr val="FFFFFF"/>
                    </a:solidFill>
                  </a:tcPr>
                </a:tc>
                <a:tc>
                  <a:txBody>
                    <a:bodyPr/>
                    <a:lstStyle/>
                    <a:p>
                      <a:r>
                        <a:rPr sz="1200">
                          <a:solidFill>
                            <a:srgbClr val="1A1A1A"/>
                          </a:solidFill>
                        </a:rPr>
                        <a:t>Deja abierta la lista de</a:t>
                      </a:r>
                    </a:p>
                    <a:p>
                      <a:r>
                        <a:t>capacidades (intencional</a:t>
                      </a:r>
                    </a:p>
                    <a:p>
                      <a:r>
                        <a:t>pero debatible).</a:t>
                      </a:r>
                    </a:p>
                  </a:txBody>
                  <a:tcP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U4_5 — DESIGUALDAD Y CRECIMIENTO</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a:solidFill>
                  <a:srgbClr val="2C5F2D"/>
                </a:solidFill>
              </a:rPr>
              <a:t>Tipos de desigualdad</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508760"/>
            <a:ext cx="5486400" cy="2286000"/>
          </a:xfrm>
          <a:prstGeom prst="rect">
            <a:avLst/>
          </a:prstGeom>
          <a:solidFill>
            <a:srgbClr val="2C5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600200"/>
            <a:ext cx="5120640" cy="411480"/>
          </a:xfrm>
          <a:prstGeom prst="rect">
            <a:avLst/>
          </a:prstGeom>
          <a:noFill/>
          <a:ln>
            <a:noFill/>
          </a:ln>
        </p:spPr>
        <p:txBody>
          <a:bodyPr wrap="square">
            <a:noAutofit/>
          </a:bodyPr>
          <a:lstStyle/>
          <a:p>
            <a:pPr algn="l"/>
            <a:r>
              <a:rPr sz="1800" b="1" i="0">
                <a:solidFill>
                  <a:srgbClr val="FFFFFF"/>
                </a:solidFill>
              </a:rPr>
              <a:t>VERTICAL</a:t>
            </a:r>
          </a:p>
        </p:txBody>
      </p:sp>
      <p:sp>
        <p:nvSpPr>
          <p:cNvPr id="7" name="TextBox 6"/>
          <p:cNvSpPr txBox="1"/>
          <p:nvPr/>
        </p:nvSpPr>
        <p:spPr>
          <a:xfrm>
            <a:off x="685800" y="2011680"/>
            <a:ext cx="5120640" cy="320040"/>
          </a:xfrm>
          <a:prstGeom prst="rect">
            <a:avLst/>
          </a:prstGeom>
          <a:noFill/>
          <a:ln>
            <a:noFill/>
          </a:ln>
        </p:spPr>
        <p:txBody>
          <a:bodyPr wrap="square">
            <a:noAutofit/>
          </a:bodyPr>
          <a:lstStyle/>
          <a:p>
            <a:pPr algn="l"/>
            <a:r>
              <a:rPr sz="1300" b="0" i="0">
                <a:solidFill>
                  <a:srgbClr val="CCE899"/>
                </a:solidFill>
              </a:rPr>
              <a:t>Jerarquía de ingresos</a:t>
            </a:r>
          </a:p>
        </p:txBody>
      </p:sp>
      <p:sp>
        <p:nvSpPr>
          <p:cNvPr id="8" name="TextBox 7"/>
          <p:cNvSpPr txBox="1"/>
          <p:nvPr/>
        </p:nvSpPr>
        <p:spPr>
          <a:xfrm>
            <a:off x="685800" y="2377440"/>
            <a:ext cx="5120640" cy="1325880"/>
          </a:xfrm>
          <a:prstGeom prst="rect">
            <a:avLst/>
          </a:prstGeom>
          <a:noFill/>
          <a:ln>
            <a:noFill/>
          </a:ln>
        </p:spPr>
        <p:txBody>
          <a:bodyPr wrap="square">
            <a:noAutofit/>
          </a:bodyPr>
          <a:lstStyle/>
          <a:p>
            <a:pPr algn="l"/>
            <a:r>
              <a:rPr sz="1300" b="0" i="0">
                <a:solidFill>
                  <a:srgbClr val="FFFFFF"/>
                </a:solidFill>
              </a:rPr>
              <a:t>Mide la distancia entre los que están arriba
y los que están abajo en la distribución de ingresos,
sin importar quiénes son ni por qué razón.
Ej: Brecha entre el CEO y el trabajador de limpieza
de la misma empresa.</a:t>
            </a:r>
          </a:p>
        </p:txBody>
      </p:sp>
      <p:sp>
        <p:nvSpPr>
          <p:cNvPr id="9" name="Rectangle 8"/>
          <p:cNvSpPr/>
          <p:nvPr/>
        </p:nvSpPr>
        <p:spPr>
          <a:xfrm>
            <a:off x="6400800" y="1508760"/>
            <a:ext cx="5486400" cy="228600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0" y="1600200"/>
            <a:ext cx="5120640" cy="411480"/>
          </a:xfrm>
          <a:prstGeom prst="rect">
            <a:avLst/>
          </a:prstGeom>
          <a:noFill/>
          <a:ln>
            <a:noFill/>
          </a:ln>
        </p:spPr>
        <p:txBody>
          <a:bodyPr wrap="square">
            <a:noAutofit/>
          </a:bodyPr>
          <a:lstStyle/>
          <a:p>
            <a:pPr algn="l"/>
            <a:r>
              <a:rPr sz="1800" b="1" i="0">
                <a:solidFill>
                  <a:srgbClr val="FFFFFF"/>
                </a:solidFill>
              </a:rPr>
              <a:t>HORIZONTAL</a:t>
            </a:r>
          </a:p>
        </p:txBody>
      </p:sp>
      <p:sp>
        <p:nvSpPr>
          <p:cNvPr id="11" name="TextBox 10"/>
          <p:cNvSpPr txBox="1"/>
          <p:nvPr/>
        </p:nvSpPr>
        <p:spPr>
          <a:xfrm>
            <a:off x="6583680" y="2011680"/>
            <a:ext cx="5120640" cy="320040"/>
          </a:xfrm>
          <a:prstGeom prst="rect">
            <a:avLst/>
          </a:prstGeom>
          <a:noFill/>
          <a:ln>
            <a:noFill/>
          </a:ln>
        </p:spPr>
        <p:txBody>
          <a:bodyPr wrap="square">
            <a:noAutofit/>
          </a:bodyPr>
          <a:lstStyle/>
          <a:p>
            <a:pPr algn="l"/>
            <a:r>
              <a:rPr sz="1300" b="0" i="0">
                <a:solidFill>
                  <a:srgbClr val="CCE899"/>
                </a:solidFill>
              </a:rPr>
              <a:t>Grupos sistemáticamente desventajados</a:t>
            </a:r>
          </a:p>
        </p:txBody>
      </p:sp>
      <p:sp>
        <p:nvSpPr>
          <p:cNvPr id="12" name="TextBox 11"/>
          <p:cNvSpPr txBox="1"/>
          <p:nvPr/>
        </p:nvSpPr>
        <p:spPr>
          <a:xfrm>
            <a:off x="6583680" y="2377440"/>
            <a:ext cx="5120640" cy="1325880"/>
          </a:xfrm>
          <a:prstGeom prst="rect">
            <a:avLst/>
          </a:prstGeom>
          <a:noFill/>
          <a:ln>
            <a:noFill/>
          </a:ln>
        </p:spPr>
        <p:txBody>
          <a:bodyPr wrap="square">
            <a:noAutofit/>
          </a:bodyPr>
          <a:lstStyle/>
          <a:p>
            <a:pPr algn="l"/>
            <a:r>
              <a:rPr sz="1300" b="0" i="0">
                <a:solidFill>
                  <a:srgbClr val="FFFFFF"/>
                </a:solidFill>
              </a:rPr>
              <a:t>Mide diferencias entre grupos que comparten
características: etnia, género, religión, región.
Ej: Pueblos indígenas o afrodescendientes con mayor
pobreza estructural por su sola pertenencia grupal.</a:t>
            </a:r>
          </a:p>
        </p:txBody>
      </p:sp>
      <p:sp>
        <p:nvSpPr>
          <p:cNvPr id="13" name="Rectangle 12"/>
          <p:cNvSpPr/>
          <p:nvPr/>
        </p:nvSpPr>
        <p:spPr>
          <a:xfrm>
            <a:off x="502920" y="3931920"/>
            <a:ext cx="5486400" cy="2286000"/>
          </a:xfrm>
          <a:prstGeom prst="rect">
            <a:avLst/>
          </a:prstGeom>
          <a:solidFill>
            <a:srgbClr val="2C5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4023360"/>
            <a:ext cx="5120640" cy="411480"/>
          </a:xfrm>
          <a:prstGeom prst="rect">
            <a:avLst/>
          </a:prstGeom>
          <a:noFill/>
          <a:ln>
            <a:noFill/>
          </a:ln>
        </p:spPr>
        <p:txBody>
          <a:bodyPr wrap="square">
            <a:noAutofit/>
          </a:bodyPr>
          <a:lstStyle/>
          <a:p>
            <a:pPr algn="l"/>
            <a:r>
              <a:rPr sz="1800" b="1" i="0">
                <a:solidFill>
                  <a:srgbClr val="FFFFFF"/>
                </a:solidFill>
              </a:rPr>
              <a:t>DISTRIBUTIVA</a:t>
            </a:r>
          </a:p>
        </p:txBody>
      </p:sp>
      <p:sp>
        <p:nvSpPr>
          <p:cNvPr id="15" name="TextBox 14"/>
          <p:cNvSpPr txBox="1"/>
          <p:nvPr/>
        </p:nvSpPr>
        <p:spPr>
          <a:xfrm>
            <a:off x="685800" y="4434840"/>
            <a:ext cx="5120640" cy="320040"/>
          </a:xfrm>
          <a:prstGeom prst="rect">
            <a:avLst/>
          </a:prstGeom>
          <a:noFill/>
          <a:ln>
            <a:noFill/>
          </a:ln>
        </p:spPr>
        <p:txBody>
          <a:bodyPr wrap="square">
            <a:noAutofit/>
          </a:bodyPr>
          <a:lstStyle/>
          <a:p>
            <a:pPr algn="l"/>
            <a:r>
              <a:rPr sz="1300" b="0" i="0">
                <a:solidFill>
                  <a:srgbClr val="CCE899"/>
                </a:solidFill>
              </a:rPr>
              <a:t>¿Quién tiene qué?</a:t>
            </a:r>
          </a:p>
        </p:txBody>
      </p:sp>
      <p:sp>
        <p:nvSpPr>
          <p:cNvPr id="16" name="TextBox 15"/>
          <p:cNvSpPr txBox="1"/>
          <p:nvPr/>
        </p:nvSpPr>
        <p:spPr>
          <a:xfrm>
            <a:off x="685800" y="4800600"/>
            <a:ext cx="5120640" cy="1325880"/>
          </a:xfrm>
          <a:prstGeom prst="rect">
            <a:avLst/>
          </a:prstGeom>
          <a:noFill/>
          <a:ln>
            <a:noFill/>
          </a:ln>
        </p:spPr>
        <p:txBody>
          <a:bodyPr wrap="square">
            <a:noAutofit/>
          </a:bodyPr>
          <a:lstStyle/>
          <a:p>
            <a:pPr algn="l"/>
            <a:r>
              <a:rPr sz="1300" b="0" i="0">
                <a:solidFill>
                  <a:srgbClr val="FFFFFF"/>
                </a:solidFill>
              </a:rPr>
              <a:t>Enfoque puramente material: cómo se reparten
los recursos y oportunidades en la sociedad.
Ej: Participación del ingreso del decil más rico
vs. el decil más pobre.</a:t>
            </a:r>
          </a:p>
        </p:txBody>
      </p:sp>
      <p:sp>
        <p:nvSpPr>
          <p:cNvPr id="17" name="Rectangle 16"/>
          <p:cNvSpPr/>
          <p:nvPr/>
        </p:nvSpPr>
        <p:spPr>
          <a:xfrm>
            <a:off x="6400800" y="3931920"/>
            <a:ext cx="5486400" cy="228600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83680" y="4023360"/>
            <a:ext cx="5120640" cy="411480"/>
          </a:xfrm>
          <a:prstGeom prst="rect">
            <a:avLst/>
          </a:prstGeom>
          <a:noFill/>
          <a:ln>
            <a:noFill/>
          </a:ln>
        </p:spPr>
        <p:txBody>
          <a:bodyPr wrap="square">
            <a:noAutofit/>
          </a:bodyPr>
          <a:lstStyle/>
          <a:p>
            <a:pPr algn="l"/>
            <a:r>
              <a:rPr sz="1800" b="1" i="0">
                <a:solidFill>
                  <a:srgbClr val="FFFFFF"/>
                </a:solidFill>
              </a:rPr>
              <a:t>RELACIONAL</a:t>
            </a:r>
          </a:p>
        </p:txBody>
      </p:sp>
      <p:sp>
        <p:nvSpPr>
          <p:cNvPr id="19" name="TextBox 18"/>
          <p:cNvSpPr txBox="1"/>
          <p:nvPr/>
        </p:nvSpPr>
        <p:spPr>
          <a:xfrm>
            <a:off x="6583680" y="4434840"/>
            <a:ext cx="5120640" cy="320040"/>
          </a:xfrm>
          <a:prstGeom prst="rect">
            <a:avLst/>
          </a:prstGeom>
          <a:noFill/>
          <a:ln>
            <a:noFill/>
          </a:ln>
        </p:spPr>
        <p:txBody>
          <a:bodyPr wrap="square">
            <a:noAutofit/>
          </a:bodyPr>
          <a:lstStyle/>
          <a:p>
            <a:pPr algn="l"/>
            <a:r>
              <a:rPr sz="1300" b="0" i="0">
                <a:solidFill>
                  <a:srgbClr val="CCE899"/>
                </a:solidFill>
              </a:rPr>
              <a:t>¿Cómo se tratan entre sí?</a:t>
            </a:r>
          </a:p>
        </p:txBody>
      </p:sp>
      <p:sp>
        <p:nvSpPr>
          <p:cNvPr id="20" name="TextBox 19"/>
          <p:cNvSpPr txBox="1"/>
          <p:nvPr/>
        </p:nvSpPr>
        <p:spPr>
          <a:xfrm>
            <a:off x="6583680" y="4800600"/>
            <a:ext cx="5120640" cy="1325880"/>
          </a:xfrm>
          <a:prstGeom prst="rect">
            <a:avLst/>
          </a:prstGeom>
          <a:noFill/>
          <a:ln>
            <a:noFill/>
          </a:ln>
        </p:spPr>
        <p:txBody>
          <a:bodyPr wrap="square">
            <a:noAutofit/>
          </a:bodyPr>
          <a:lstStyle/>
          <a:p>
            <a:pPr algn="l"/>
            <a:r>
              <a:rPr sz="1300" b="0" i="0">
                <a:solidFill>
                  <a:srgbClr val="FFFFFF"/>
                </a:solidFill>
              </a:rPr>
              <a:t>Mide dominación, discriminación y falta
de reconocimiento del igual valor moral.
Ej: Poeta tzotzil tratada como sospechosa
por su apariencia — injusticia de trato,
independiente del ingreso.</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U4_5 — DESIGUALDAD Y CRECIMIENTO</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a:solidFill>
                  <a:srgbClr val="2C5F2D"/>
                </a:solidFill>
              </a:rPr>
              <a:t>Distribución personal vs. funcional del ingreso</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508760"/>
            <a:ext cx="5212080" cy="457200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600200"/>
            <a:ext cx="4754880" cy="457200"/>
          </a:xfrm>
          <a:prstGeom prst="rect">
            <a:avLst/>
          </a:prstGeom>
          <a:noFill/>
          <a:ln>
            <a:noFill/>
          </a:ln>
        </p:spPr>
        <p:txBody>
          <a:bodyPr wrap="square">
            <a:noAutofit/>
          </a:bodyPr>
          <a:lstStyle/>
          <a:p>
            <a:pPr algn="l"/>
            <a:r>
              <a:rPr sz="2200" b="1" i="0">
                <a:solidFill>
                  <a:srgbClr val="2C5F2D"/>
                </a:solidFill>
              </a:rPr>
              <a:t>PERSONAL</a:t>
            </a:r>
          </a:p>
        </p:txBody>
      </p:sp>
      <p:sp>
        <p:nvSpPr>
          <p:cNvPr id="7" name="TextBox 6"/>
          <p:cNvSpPr txBox="1"/>
          <p:nvPr/>
        </p:nvSpPr>
        <p:spPr>
          <a:xfrm>
            <a:off x="685800" y="2103120"/>
            <a:ext cx="4754880" cy="365760"/>
          </a:xfrm>
          <a:prstGeom prst="rect">
            <a:avLst/>
          </a:prstGeom>
          <a:noFill/>
          <a:ln>
            <a:noFill/>
          </a:ln>
        </p:spPr>
        <p:txBody>
          <a:bodyPr wrap="square">
            <a:noAutofit/>
          </a:bodyPr>
          <a:lstStyle/>
          <a:p>
            <a:pPr algn="l"/>
            <a:r>
              <a:rPr sz="1400" b="0" i="0">
                <a:solidFill>
                  <a:srgbClr val="444444"/>
                </a:solidFill>
              </a:rPr>
              <a:t>¿Cuánto llega a cada hogar?</a:t>
            </a:r>
          </a:p>
        </p:txBody>
      </p:sp>
      <p:sp>
        <p:nvSpPr>
          <p:cNvPr id="8" name="Rectangle 7"/>
          <p:cNvSpPr/>
          <p:nvPr/>
        </p:nvSpPr>
        <p:spPr>
          <a:xfrm>
            <a:off x="685800" y="2560320"/>
            <a:ext cx="4846320" cy="7498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606040"/>
            <a:ext cx="4572000" cy="713232"/>
          </a:xfrm>
          <a:prstGeom prst="rect">
            <a:avLst/>
          </a:prstGeom>
          <a:noFill/>
          <a:ln>
            <a:noFill/>
          </a:ln>
        </p:spPr>
        <p:txBody>
          <a:bodyPr wrap="square">
            <a:noAutofit/>
          </a:bodyPr>
          <a:lstStyle/>
          <a:p>
            <a:pPr algn="l"/>
            <a:r>
              <a:rPr sz="1300" b="0" i="0">
                <a:solidFill>
                  <a:srgbClr val="1A1A1A"/>
                </a:solidFill>
              </a:rPr>
              <a:t>• Mide cuánto ingreso total percibe cada
individuo o familia, sin importar la fuente
(salario, renta, transferencia).</a:t>
            </a:r>
          </a:p>
        </p:txBody>
      </p:sp>
      <p:sp>
        <p:nvSpPr>
          <p:cNvPr id="10" name="Rectangle 9"/>
          <p:cNvSpPr/>
          <p:nvPr/>
        </p:nvSpPr>
        <p:spPr>
          <a:xfrm>
            <a:off x="685800" y="3383280"/>
            <a:ext cx="4846320" cy="7498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3429000"/>
            <a:ext cx="4572000" cy="713232"/>
          </a:xfrm>
          <a:prstGeom prst="rect">
            <a:avLst/>
          </a:prstGeom>
          <a:noFill/>
          <a:ln>
            <a:noFill/>
          </a:ln>
        </p:spPr>
        <p:txBody>
          <a:bodyPr wrap="square">
            <a:noAutofit/>
          </a:bodyPr>
          <a:lstStyle/>
          <a:p>
            <a:pPr algn="l"/>
            <a:r>
              <a:rPr sz="1300" b="0" i="0">
                <a:solidFill>
                  <a:srgbClr val="1A1A1A"/>
                </a:solidFill>
              </a:rPr>
              <a:t>• Es la que se usa para calcular el Coeficiente de Gini.</a:t>
            </a:r>
          </a:p>
        </p:txBody>
      </p:sp>
      <p:sp>
        <p:nvSpPr>
          <p:cNvPr id="12" name="Rectangle 11"/>
          <p:cNvSpPr/>
          <p:nvPr/>
        </p:nvSpPr>
        <p:spPr>
          <a:xfrm>
            <a:off x="685800" y="4206240"/>
            <a:ext cx="4846320" cy="7498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 y="4251960"/>
            <a:ext cx="4572000" cy="713232"/>
          </a:xfrm>
          <a:prstGeom prst="rect">
            <a:avLst/>
          </a:prstGeom>
          <a:noFill/>
          <a:ln>
            <a:noFill/>
          </a:ln>
        </p:spPr>
        <p:txBody>
          <a:bodyPr wrap="square">
            <a:noAutofit/>
          </a:bodyPr>
          <a:lstStyle/>
          <a:p>
            <a:pPr algn="l"/>
            <a:r>
              <a:rPr sz="1300" b="0" i="0">
                <a:solidFill>
                  <a:srgbClr val="1A1A1A"/>
                </a:solidFill>
              </a:rPr>
              <a:t>• Foco: distribución entre personas/hogares.</a:t>
            </a:r>
          </a:p>
        </p:txBody>
      </p:sp>
      <p:sp>
        <p:nvSpPr>
          <p:cNvPr id="14" name="Rectangle 13"/>
          <p:cNvSpPr/>
          <p:nvPr/>
        </p:nvSpPr>
        <p:spPr>
          <a:xfrm>
            <a:off x="685800" y="5029200"/>
            <a:ext cx="4846320" cy="7498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5074920"/>
            <a:ext cx="4572000" cy="713232"/>
          </a:xfrm>
          <a:prstGeom prst="rect">
            <a:avLst/>
          </a:prstGeom>
          <a:noFill/>
          <a:ln>
            <a:noFill/>
          </a:ln>
        </p:spPr>
        <p:txBody>
          <a:bodyPr wrap="square">
            <a:noAutofit/>
          </a:bodyPr>
          <a:lstStyle/>
          <a:p>
            <a:pPr algn="l"/>
            <a:r>
              <a:rPr sz="1300" b="0" i="0">
                <a:solidFill>
                  <a:srgbClr val="1A1A1A"/>
                </a:solidFill>
              </a:rPr>
              <a:t>• Ej: El 10% más rico concentra el 40% del
ingreso nacional.</a:t>
            </a:r>
          </a:p>
        </p:txBody>
      </p:sp>
      <p:sp>
        <p:nvSpPr>
          <p:cNvPr id="16" name="Rectangle 15"/>
          <p:cNvSpPr/>
          <p:nvPr/>
        </p:nvSpPr>
        <p:spPr>
          <a:xfrm>
            <a:off x="6492240" y="1508760"/>
            <a:ext cx="5212080" cy="457200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0" y="1600200"/>
            <a:ext cx="4754880" cy="457200"/>
          </a:xfrm>
          <a:prstGeom prst="rect">
            <a:avLst/>
          </a:prstGeom>
          <a:noFill/>
          <a:ln>
            <a:noFill/>
          </a:ln>
        </p:spPr>
        <p:txBody>
          <a:bodyPr wrap="square">
            <a:noAutofit/>
          </a:bodyPr>
          <a:lstStyle/>
          <a:p>
            <a:pPr algn="l"/>
            <a:r>
              <a:rPr sz="2200" b="1" i="0">
                <a:solidFill>
                  <a:srgbClr val="97BC62"/>
                </a:solidFill>
              </a:rPr>
              <a:t>FUNCIONAL</a:t>
            </a:r>
          </a:p>
        </p:txBody>
      </p:sp>
      <p:sp>
        <p:nvSpPr>
          <p:cNvPr id="18" name="TextBox 17"/>
          <p:cNvSpPr txBox="1"/>
          <p:nvPr/>
        </p:nvSpPr>
        <p:spPr>
          <a:xfrm>
            <a:off x="6675120" y="2103120"/>
            <a:ext cx="4754880" cy="365760"/>
          </a:xfrm>
          <a:prstGeom prst="rect">
            <a:avLst/>
          </a:prstGeom>
          <a:noFill/>
          <a:ln>
            <a:noFill/>
          </a:ln>
        </p:spPr>
        <p:txBody>
          <a:bodyPr wrap="square">
            <a:noAutofit/>
          </a:bodyPr>
          <a:lstStyle/>
          <a:p>
            <a:pPr algn="l"/>
            <a:r>
              <a:rPr sz="1400" b="0" i="0">
                <a:solidFill>
                  <a:srgbClr val="444444"/>
                </a:solidFill>
              </a:rPr>
              <a:t>¿Qué porción va al trabajo vs. al capital?</a:t>
            </a:r>
          </a:p>
        </p:txBody>
      </p:sp>
      <p:sp>
        <p:nvSpPr>
          <p:cNvPr id="19" name="Rectangle 18"/>
          <p:cNvSpPr/>
          <p:nvPr/>
        </p:nvSpPr>
        <p:spPr>
          <a:xfrm>
            <a:off x="6675120" y="2560320"/>
            <a:ext cx="4846320" cy="7498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12280" y="2606040"/>
            <a:ext cx="4572000" cy="713232"/>
          </a:xfrm>
          <a:prstGeom prst="rect">
            <a:avLst/>
          </a:prstGeom>
          <a:noFill/>
          <a:ln>
            <a:noFill/>
          </a:ln>
        </p:spPr>
        <p:txBody>
          <a:bodyPr wrap="square">
            <a:noAutofit/>
          </a:bodyPr>
          <a:lstStyle/>
          <a:p>
            <a:pPr algn="l"/>
            <a:r>
              <a:rPr sz="1300" b="0" i="0">
                <a:solidFill>
                  <a:srgbClr val="1A1A1A"/>
                </a:solidFill>
              </a:rPr>
              <a:t>• Mide cómo se reparte el PBI entre los factores
de producción: trabajo, capital, tierra.</a:t>
            </a:r>
          </a:p>
        </p:txBody>
      </p:sp>
      <p:sp>
        <p:nvSpPr>
          <p:cNvPr id="21" name="Rectangle 20"/>
          <p:cNvSpPr/>
          <p:nvPr/>
        </p:nvSpPr>
        <p:spPr>
          <a:xfrm>
            <a:off x="6675120" y="3383280"/>
            <a:ext cx="4846320" cy="7498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812280" y="3429000"/>
            <a:ext cx="4572000" cy="713232"/>
          </a:xfrm>
          <a:prstGeom prst="rect">
            <a:avLst/>
          </a:prstGeom>
          <a:noFill/>
          <a:ln>
            <a:noFill/>
          </a:ln>
        </p:spPr>
        <p:txBody>
          <a:bodyPr wrap="square">
            <a:noAutofit/>
          </a:bodyPr>
          <a:lstStyle/>
          <a:p>
            <a:pPr algn="l"/>
            <a:r>
              <a:rPr sz="1300" b="0" i="0">
                <a:solidFill>
                  <a:srgbClr val="1A1A1A"/>
                </a:solidFill>
              </a:rPr>
              <a:t>• Muestra qué % del PBI va a salarios y
qué % va a ganancias y rentas.</a:t>
            </a:r>
          </a:p>
        </p:txBody>
      </p:sp>
      <p:sp>
        <p:nvSpPr>
          <p:cNvPr id="23" name="Rectangle 22"/>
          <p:cNvSpPr/>
          <p:nvPr/>
        </p:nvSpPr>
        <p:spPr>
          <a:xfrm>
            <a:off x="6675120" y="4206240"/>
            <a:ext cx="4846320" cy="7498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12280" y="4251960"/>
            <a:ext cx="4572000" cy="713232"/>
          </a:xfrm>
          <a:prstGeom prst="rect">
            <a:avLst/>
          </a:prstGeom>
          <a:noFill/>
          <a:ln>
            <a:noFill/>
          </a:ln>
        </p:spPr>
        <p:txBody>
          <a:bodyPr wrap="square">
            <a:noAutofit/>
          </a:bodyPr>
          <a:lstStyle/>
          <a:p>
            <a:pPr algn="l"/>
            <a:r>
              <a:rPr sz="1300" b="0" i="0">
                <a:solidFill>
                  <a:srgbClr val="1A1A1A"/>
                </a:solidFill>
              </a:rPr>
              <a:t>• Clave para entender la estructura productiva.</a:t>
            </a:r>
          </a:p>
        </p:txBody>
      </p:sp>
      <p:sp>
        <p:nvSpPr>
          <p:cNvPr id="25" name="Rectangle 24"/>
          <p:cNvSpPr/>
          <p:nvPr/>
        </p:nvSpPr>
        <p:spPr>
          <a:xfrm>
            <a:off x="6675120" y="5029200"/>
            <a:ext cx="4846320" cy="7498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812280" y="5074920"/>
            <a:ext cx="4572000" cy="713232"/>
          </a:xfrm>
          <a:prstGeom prst="rect">
            <a:avLst/>
          </a:prstGeom>
          <a:noFill/>
          <a:ln>
            <a:noFill/>
          </a:ln>
        </p:spPr>
        <p:txBody>
          <a:bodyPr wrap="square">
            <a:noAutofit/>
          </a:bodyPr>
          <a:lstStyle/>
          <a:p>
            <a:pPr algn="l"/>
            <a:r>
              <a:rPr sz="1300" b="0" i="0">
                <a:solidFill>
                  <a:srgbClr val="1A1A1A"/>
                </a:solidFill>
              </a:rPr>
              <a:t>• Ej: Si el capital concentra más PBI, empeora la
distribución personal (los ricos tienen más capital).</a:t>
            </a:r>
          </a:p>
        </p:txBody>
      </p:sp>
      <p:sp>
        <p:nvSpPr>
          <p:cNvPr id="27" name="TextBox 26"/>
          <p:cNvSpPr txBox="1"/>
          <p:nvPr/>
        </p:nvSpPr>
        <p:spPr>
          <a:xfrm>
            <a:off x="502920" y="6172200"/>
            <a:ext cx="11185855" cy="492443"/>
          </a:xfrm>
          <a:prstGeom prst="rect">
            <a:avLst/>
          </a:prstGeom>
          <a:solidFill>
            <a:srgbClr val="E8F4D6"/>
          </a:solidFill>
          <a:ln>
            <a:noFill/>
          </a:ln>
        </p:spPr>
        <p:txBody>
          <a:bodyPr wrap="square">
            <a:spAutoFit/>
          </a:bodyPr>
          <a:lstStyle/>
          <a:p>
            <a:pPr algn="l"/>
            <a:r>
              <a:rPr sz="1300" b="0" dirty="0" err="1">
                <a:solidFill>
                  <a:srgbClr val="2C5F2D"/>
                </a:solidFill>
              </a:rPr>
              <a:t>Conexión</a:t>
            </a:r>
            <a:r>
              <a:rPr sz="1300" b="0" dirty="0">
                <a:solidFill>
                  <a:srgbClr val="2C5F2D"/>
                </a:solidFill>
              </a:rPr>
              <a:t>: La </a:t>
            </a:r>
            <a:r>
              <a:rPr sz="1300" b="0" dirty="0" err="1">
                <a:solidFill>
                  <a:srgbClr val="2C5F2D"/>
                </a:solidFill>
              </a:rPr>
              <a:t>distribución</a:t>
            </a:r>
            <a:r>
              <a:rPr sz="1300" b="0" dirty="0">
                <a:solidFill>
                  <a:srgbClr val="2C5F2D"/>
                </a:solidFill>
              </a:rPr>
              <a:t> </a:t>
            </a:r>
            <a:r>
              <a:rPr sz="1300" b="0" dirty="0" err="1">
                <a:solidFill>
                  <a:srgbClr val="2C5F2D"/>
                </a:solidFill>
              </a:rPr>
              <a:t>funcional</a:t>
            </a:r>
            <a:r>
              <a:rPr sz="1300" b="0" dirty="0">
                <a:solidFill>
                  <a:srgbClr val="2C5F2D"/>
                </a:solidFill>
              </a:rPr>
              <a:t> </a:t>
            </a:r>
            <a:r>
              <a:rPr sz="1300" b="0" dirty="0" err="1">
                <a:solidFill>
                  <a:srgbClr val="2C5F2D"/>
                </a:solidFill>
              </a:rPr>
              <a:t>alimenta</a:t>
            </a:r>
            <a:r>
              <a:rPr sz="1300" b="0" dirty="0">
                <a:solidFill>
                  <a:srgbClr val="2C5F2D"/>
                </a:solidFill>
              </a:rPr>
              <a:t> la personal.
Si </a:t>
            </a:r>
            <a:r>
              <a:rPr sz="1300" b="0" dirty="0" err="1">
                <a:solidFill>
                  <a:srgbClr val="2C5F2D"/>
                </a:solidFill>
              </a:rPr>
              <a:t>el</a:t>
            </a:r>
            <a:r>
              <a:rPr sz="1300" b="0" dirty="0">
                <a:solidFill>
                  <a:srgbClr val="2C5F2D"/>
                </a:solidFill>
              </a:rPr>
              <a:t> capital (</a:t>
            </a:r>
            <a:r>
              <a:rPr sz="1300" b="0" dirty="0" err="1">
                <a:solidFill>
                  <a:srgbClr val="2C5F2D"/>
                </a:solidFill>
              </a:rPr>
              <a:t>concentrado</a:t>
            </a:r>
            <a:r>
              <a:rPr sz="1300" b="0" dirty="0">
                <a:solidFill>
                  <a:srgbClr val="2C5F2D"/>
                </a:solidFill>
              </a:rPr>
              <a:t>) </a:t>
            </a:r>
            <a:r>
              <a:rPr sz="1300" b="0" dirty="0" err="1">
                <a:solidFill>
                  <a:srgbClr val="2C5F2D"/>
                </a:solidFill>
              </a:rPr>
              <a:t>gana</a:t>
            </a:r>
            <a:r>
              <a:rPr sz="1300" b="0" dirty="0">
                <a:solidFill>
                  <a:srgbClr val="2C5F2D"/>
                </a:solidFill>
              </a:rPr>
              <a:t> </a:t>
            </a:r>
            <a:r>
              <a:rPr sz="1300" b="0" dirty="0" err="1">
                <a:solidFill>
                  <a:srgbClr val="2C5F2D"/>
                </a:solidFill>
              </a:rPr>
              <a:t>más</a:t>
            </a:r>
            <a:r>
              <a:rPr sz="1300" b="0" dirty="0">
                <a:solidFill>
                  <a:srgbClr val="2C5F2D"/>
                </a:solidFill>
              </a:rPr>
              <a:t> del PBI, la </a:t>
            </a:r>
            <a:r>
              <a:rPr sz="1300" b="0" dirty="0" err="1">
                <a:solidFill>
                  <a:srgbClr val="2C5F2D"/>
                </a:solidFill>
              </a:rPr>
              <a:t>distribución</a:t>
            </a:r>
            <a:r>
              <a:rPr lang="es-US" sz="1300" dirty="0">
                <a:solidFill>
                  <a:srgbClr val="2C5F2D"/>
                </a:solidFill>
              </a:rPr>
              <a:t> </a:t>
            </a:r>
            <a:r>
              <a:rPr sz="1300" b="0" dirty="0">
                <a:solidFill>
                  <a:srgbClr val="2C5F2D"/>
                </a:solidFill>
              </a:rPr>
              <a:t>personal </a:t>
            </a:r>
            <a:r>
              <a:rPr sz="1300" b="0" dirty="0" err="1">
                <a:solidFill>
                  <a:srgbClr val="2C5F2D"/>
                </a:solidFill>
              </a:rPr>
              <a:t>empeora</a:t>
            </a:r>
            <a:r>
              <a:rPr sz="1300" b="0" dirty="0">
                <a:solidFill>
                  <a:srgbClr val="2C5F2D"/>
                </a:solidFill>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U4_5 — DESIGUALDAD Y CRECIMIENTO</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a:solidFill>
                  <a:srgbClr val="2C5F2D"/>
                </a:solidFill>
              </a:rPr>
              <a:t>Curva de Kuznets: la hipótesis de la U invertida</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508760"/>
            <a:ext cx="6858000" cy="1097280"/>
          </a:xfrm>
          <a:prstGeom prst="rect">
            <a:avLst/>
          </a:prstGeom>
          <a:noFill/>
          <a:ln>
            <a:noFill/>
          </a:ln>
        </p:spPr>
        <p:txBody>
          <a:bodyPr wrap="square">
            <a:noAutofit/>
          </a:bodyPr>
          <a:lstStyle/>
          <a:p>
            <a:pPr algn="l">
              <a:spcBef>
                <a:spcPts val="0"/>
              </a:spcBef>
            </a:pPr>
            <a:r>
              <a:rPr sz="1600" b="1">
                <a:solidFill>
                  <a:srgbClr val="2C5F2D"/>
                </a:solidFill>
              </a:rPr>
              <a:t>Hipótesis (Simon Kuznets, 1955):</a:t>
            </a:r>
          </a:p>
          <a:p>
            <a:pPr algn="l">
              <a:spcBef>
                <a:spcPts val="500"/>
              </a:spcBef>
            </a:pPr>
            <a:r>
              <a:rPr sz="1400" b="0">
                <a:solidFill>
                  <a:srgbClr val="1A1A1A"/>
                </a:solidFill>
              </a:rPr>
              <a:t>A medida que un país se desarrolla, la desigualdad describe una U invertida:</a:t>
            </a:r>
          </a:p>
          <a:p>
            <a:pPr algn="l">
              <a:spcBef>
                <a:spcPts val="500"/>
              </a:spcBef>
            </a:pPr>
            <a:r>
              <a:rPr sz="1400" b="0">
                <a:solidFill>
                  <a:srgbClr val="1A1A1A"/>
                </a:solidFill>
              </a:rPr>
              <a:t>primero AUMENTA bruscamente, luego DISMINUYE en etapas avanzadas.</a:t>
            </a:r>
          </a:p>
        </p:txBody>
      </p:sp>
      <p:sp>
        <p:nvSpPr>
          <p:cNvPr id="6" name="TextBox 5"/>
          <p:cNvSpPr txBox="1"/>
          <p:nvPr/>
        </p:nvSpPr>
        <p:spPr>
          <a:xfrm>
            <a:off x="502920" y="2743200"/>
            <a:ext cx="6858000" cy="2560320"/>
          </a:xfrm>
          <a:prstGeom prst="rect">
            <a:avLst/>
          </a:prstGeom>
          <a:noFill/>
          <a:ln>
            <a:noFill/>
          </a:ln>
        </p:spPr>
        <p:txBody>
          <a:bodyPr wrap="square">
            <a:noAutofit/>
          </a:bodyPr>
          <a:lstStyle/>
          <a:p>
            <a:pPr algn="l">
              <a:spcBef>
                <a:spcPts val="0"/>
              </a:spcBef>
            </a:pPr>
            <a:r>
              <a:rPr sz="1500" b="1">
                <a:solidFill>
                  <a:srgbClr val="2C5F2D"/>
                </a:solidFill>
              </a:rPr>
              <a:t>Mecanismo:</a:t>
            </a:r>
          </a:p>
          <a:p>
            <a:pPr algn="l">
              <a:spcBef>
                <a:spcPts val="500"/>
              </a:spcBef>
            </a:pPr>
            <a:r>
              <a:rPr sz="1400" b="0">
                <a:solidFill>
                  <a:srgbClr val="1A1A1A"/>
                </a:solidFill>
              </a:rPr>
              <a:t>1. El sector moderno (industrial) atrae trabajadores del sector tradicional (agrícola)</a:t>
            </a:r>
          </a:p>
          <a:p>
            <a:pPr algn="l">
              <a:spcBef>
                <a:spcPts val="500"/>
              </a:spcBef>
            </a:pPr>
            <a:r>
              <a:rPr sz="1400" b="0">
                <a:solidFill>
                  <a:srgbClr val="1A1A1A"/>
                </a:solidFill>
              </a:rPr>
              <a:t>   y les paga más → brecha salarial grande entre sectores (CAMBIOS DESIGUALES).</a:t>
            </a:r>
          </a:p>
          <a:p>
            <a:pPr algn="l">
              <a:spcBef>
                <a:spcPts val="500"/>
              </a:spcBef>
            </a:pPr>
            <a:r>
              <a:rPr sz="1400" b="0">
                <a:solidFill>
                  <a:srgbClr val="1A1A1A"/>
                </a:solidFill>
              </a:rPr>
              <a:t>2. Con el tiempo, el sector tradicional se achica, los salarios rurales suben por</a:t>
            </a:r>
          </a:p>
          <a:p>
            <a:pPr algn="l">
              <a:spcBef>
                <a:spcPts val="500"/>
              </a:spcBef>
            </a:pPr>
            <a:r>
              <a:rPr sz="1400" b="0">
                <a:solidFill>
                  <a:srgbClr val="1A1A1A"/>
                </a:solidFill>
              </a:rPr>
              <a:t>   escasez de mano de obra → 'efecto derrame' hacia toda la economía.</a:t>
            </a:r>
          </a:p>
          <a:p>
            <a:pPr algn="l">
              <a:spcBef>
                <a:spcPts val="500"/>
              </a:spcBef>
            </a:pPr>
            <a:r>
              <a:rPr sz="1400" b="0">
                <a:solidFill>
                  <a:srgbClr val="1A1A1A"/>
                </a:solidFill>
              </a:rPr>
              <a:t>3. Los salarios se equilibran → desigualdad cae (CAMBIOS COMPENSATORIOS).</a:t>
            </a:r>
          </a:p>
        </p:txBody>
      </p:sp>
      <p:sp>
        <p:nvSpPr>
          <p:cNvPr id="7" name="TextBox 6"/>
          <p:cNvSpPr txBox="1"/>
          <p:nvPr/>
        </p:nvSpPr>
        <p:spPr>
          <a:xfrm>
            <a:off x="502920" y="5440680"/>
            <a:ext cx="11185855" cy="1005840"/>
          </a:xfrm>
          <a:prstGeom prst="rect">
            <a:avLst/>
          </a:prstGeom>
          <a:solidFill>
            <a:srgbClr val="FDF2E8"/>
          </a:solidFill>
          <a:ln>
            <a:noFill/>
          </a:ln>
        </p:spPr>
        <p:txBody>
          <a:bodyPr wrap="square">
            <a:spAutoFit/>
          </a:bodyPr>
          <a:lstStyle/>
          <a:p>
            <a:pPr algn="l"/>
            <a:r>
              <a:rPr sz="1400" b="0">
                <a:solidFill>
                  <a:srgbClr val="C03B1F"/>
                </a:solidFill>
              </a:rPr>
              <a:t>⚠ Evidencia empírica: La hipótesis NO se cumple automáticamente.
En la práctica, el sector moderno requiere capital o trabajo calificado
que los trabajadores rurales no poseen.
→ La dualidad económica es ESTRUCTURAL y se perpetúa.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dirty="0">
                <a:solidFill>
                  <a:srgbClr val="97BC62"/>
                </a:solidFill>
              </a:rPr>
              <a:t>U4_5 — DESIGUALDAD Y CRECIMIENTO</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dirty="0">
                <a:solidFill>
                  <a:srgbClr val="2C5F2D"/>
                </a:solidFill>
              </a:rPr>
              <a:t>8 canales: </a:t>
            </a:r>
            <a:r>
              <a:rPr lang="es-US" sz="3800" b="1" i="0" dirty="0">
                <a:solidFill>
                  <a:srgbClr val="2C5F2D"/>
                </a:solidFill>
              </a:rPr>
              <a:t>vinculación entre </a:t>
            </a:r>
            <a:r>
              <a:rPr sz="3800" b="1" i="0" dirty="0" err="1">
                <a:solidFill>
                  <a:srgbClr val="2C5F2D"/>
                </a:solidFill>
              </a:rPr>
              <a:t>desigualdad</a:t>
            </a:r>
            <a:r>
              <a:rPr sz="3800" b="1" i="0" dirty="0">
                <a:solidFill>
                  <a:srgbClr val="2C5F2D"/>
                </a:solidFill>
              </a:rPr>
              <a:t> </a:t>
            </a:r>
            <a:r>
              <a:rPr lang="es-US" sz="3800" b="1" i="0" dirty="0">
                <a:solidFill>
                  <a:srgbClr val="2C5F2D"/>
                </a:solidFill>
              </a:rPr>
              <a:t>y </a:t>
            </a:r>
            <a:r>
              <a:rPr sz="3800" b="1" i="0" dirty="0" err="1">
                <a:solidFill>
                  <a:srgbClr val="2C5F2D"/>
                </a:solidFill>
              </a:rPr>
              <a:t>crecimiento</a:t>
            </a:r>
            <a:r>
              <a:rPr sz="3800" b="1" i="0" dirty="0">
                <a:solidFill>
                  <a:srgbClr val="2C5F2D"/>
                </a:solidFill>
              </a:rPr>
              <a:t> </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508760"/>
            <a:ext cx="5486400" cy="228600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81912"/>
            <a:ext cx="1188720" cy="365760"/>
          </a:xfrm>
          <a:prstGeom prst="rect">
            <a:avLst/>
          </a:prstGeom>
          <a:noFill/>
          <a:ln>
            <a:noFill/>
          </a:ln>
        </p:spPr>
        <p:txBody>
          <a:bodyPr wrap="square">
            <a:noAutofit/>
          </a:bodyPr>
          <a:lstStyle/>
          <a:p>
            <a:pPr algn="l"/>
            <a:r>
              <a:rPr sz="1300" b="1" i="0">
                <a:solidFill>
                  <a:srgbClr val="97BC62"/>
                </a:solidFill>
              </a:rPr>
              <a:t>Canal 1</a:t>
            </a:r>
          </a:p>
        </p:txBody>
      </p:sp>
      <p:sp>
        <p:nvSpPr>
          <p:cNvPr id="7" name="TextBox 6"/>
          <p:cNvSpPr txBox="1"/>
          <p:nvPr/>
        </p:nvSpPr>
        <p:spPr>
          <a:xfrm>
            <a:off x="640080" y="1965960"/>
            <a:ext cx="5212080" cy="594360"/>
          </a:xfrm>
          <a:prstGeom prst="rect">
            <a:avLst/>
          </a:prstGeom>
          <a:noFill/>
          <a:ln>
            <a:noFill/>
          </a:ln>
        </p:spPr>
        <p:txBody>
          <a:bodyPr wrap="square">
            <a:noAutofit/>
          </a:bodyPr>
          <a:lstStyle/>
          <a:p>
            <a:pPr algn="l"/>
            <a:r>
              <a:rPr sz="1500" b="1" i="0">
                <a:solidFill>
                  <a:srgbClr val="2C5F2D"/>
                </a:solidFill>
              </a:rPr>
              <a:t>Nivel de desarrollo económico
(Kuznets)</a:t>
            </a:r>
          </a:p>
        </p:txBody>
      </p:sp>
      <p:sp>
        <p:nvSpPr>
          <p:cNvPr id="8" name="TextBox 7"/>
          <p:cNvSpPr txBox="1"/>
          <p:nvPr/>
        </p:nvSpPr>
        <p:spPr>
          <a:xfrm>
            <a:off x="640080" y="2651760"/>
            <a:ext cx="5212080" cy="1078992"/>
          </a:xfrm>
          <a:prstGeom prst="rect">
            <a:avLst/>
          </a:prstGeom>
          <a:noFill/>
          <a:ln>
            <a:noFill/>
          </a:ln>
        </p:spPr>
        <p:txBody>
          <a:bodyPr wrap="square">
            <a:noAutofit/>
          </a:bodyPr>
          <a:lstStyle/>
          <a:p>
            <a:pPr algn="l"/>
            <a:r>
              <a:rPr sz="1300" b="0" i="0">
                <a:solidFill>
                  <a:srgbClr val="444444"/>
                </a:solidFill>
              </a:rPr>
              <a:t>La modernización productiva genera desigualdad
transitoria (U invertida): trabajadores se trasladan
a sectores más productivos pero la convergencia
no es automática en países en desarrollo.</a:t>
            </a:r>
          </a:p>
        </p:txBody>
      </p:sp>
      <p:sp>
        <p:nvSpPr>
          <p:cNvPr id="9" name="Rectangle 8"/>
          <p:cNvSpPr/>
          <p:nvPr/>
        </p:nvSpPr>
        <p:spPr>
          <a:xfrm>
            <a:off x="6400800" y="1508760"/>
            <a:ext cx="5486400" cy="228600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37960" y="1581912"/>
            <a:ext cx="1188720" cy="365760"/>
          </a:xfrm>
          <a:prstGeom prst="rect">
            <a:avLst/>
          </a:prstGeom>
          <a:noFill/>
          <a:ln>
            <a:noFill/>
          </a:ln>
        </p:spPr>
        <p:txBody>
          <a:bodyPr wrap="square">
            <a:noAutofit/>
          </a:bodyPr>
          <a:lstStyle/>
          <a:p>
            <a:pPr algn="l"/>
            <a:r>
              <a:rPr sz="1300" b="1" i="0">
                <a:solidFill>
                  <a:srgbClr val="97BC62"/>
                </a:solidFill>
              </a:rPr>
              <a:t>Canal 2</a:t>
            </a:r>
          </a:p>
        </p:txBody>
      </p:sp>
      <p:sp>
        <p:nvSpPr>
          <p:cNvPr id="11" name="TextBox 10"/>
          <p:cNvSpPr txBox="1"/>
          <p:nvPr/>
        </p:nvSpPr>
        <p:spPr>
          <a:xfrm>
            <a:off x="6537960" y="1965960"/>
            <a:ext cx="5212080" cy="594360"/>
          </a:xfrm>
          <a:prstGeom prst="rect">
            <a:avLst/>
          </a:prstGeom>
          <a:noFill/>
          <a:ln>
            <a:noFill/>
          </a:ln>
        </p:spPr>
        <p:txBody>
          <a:bodyPr wrap="square">
            <a:noAutofit/>
          </a:bodyPr>
          <a:lstStyle/>
          <a:p>
            <a:pPr algn="l"/>
            <a:r>
              <a:rPr sz="1500" b="1" i="0">
                <a:solidFill>
                  <a:srgbClr val="2C5F2D"/>
                </a:solidFill>
              </a:rPr>
              <a:t>Sesgo tecnológico</a:t>
            </a:r>
          </a:p>
        </p:txBody>
      </p:sp>
      <p:sp>
        <p:nvSpPr>
          <p:cNvPr id="12" name="TextBox 11"/>
          <p:cNvSpPr txBox="1"/>
          <p:nvPr/>
        </p:nvSpPr>
        <p:spPr>
          <a:xfrm>
            <a:off x="6537960" y="2651760"/>
            <a:ext cx="5212080" cy="1078992"/>
          </a:xfrm>
          <a:prstGeom prst="rect">
            <a:avLst/>
          </a:prstGeom>
          <a:noFill/>
          <a:ln>
            <a:noFill/>
          </a:ln>
        </p:spPr>
        <p:txBody>
          <a:bodyPr wrap="square">
            <a:noAutofit/>
          </a:bodyPr>
          <a:lstStyle/>
          <a:p>
            <a:pPr algn="l"/>
            <a:r>
              <a:rPr sz="1300" b="0" i="0">
                <a:solidFill>
                  <a:srgbClr val="444444"/>
                </a:solidFill>
              </a:rPr>
              <a:t>La tecnología favorece al trabajo calificado.
Al introducirse innovaciones, sube la demanda
de calificados y cae la de no calificados
→ amplia la brecha salarial estructuralmente.</a:t>
            </a:r>
          </a:p>
        </p:txBody>
      </p:sp>
      <p:sp>
        <p:nvSpPr>
          <p:cNvPr id="13" name="Rectangle 12"/>
          <p:cNvSpPr/>
          <p:nvPr/>
        </p:nvSpPr>
        <p:spPr>
          <a:xfrm>
            <a:off x="502920" y="3931920"/>
            <a:ext cx="5486400" cy="228600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4005072"/>
            <a:ext cx="1188720" cy="365760"/>
          </a:xfrm>
          <a:prstGeom prst="rect">
            <a:avLst/>
          </a:prstGeom>
          <a:noFill/>
          <a:ln>
            <a:noFill/>
          </a:ln>
        </p:spPr>
        <p:txBody>
          <a:bodyPr wrap="square">
            <a:noAutofit/>
          </a:bodyPr>
          <a:lstStyle/>
          <a:p>
            <a:pPr algn="l"/>
            <a:r>
              <a:rPr sz="1300" b="1" i="0">
                <a:solidFill>
                  <a:srgbClr val="97BC62"/>
                </a:solidFill>
              </a:rPr>
              <a:t>Canal 3</a:t>
            </a:r>
          </a:p>
        </p:txBody>
      </p:sp>
      <p:sp>
        <p:nvSpPr>
          <p:cNvPr id="15" name="TextBox 14"/>
          <p:cNvSpPr txBox="1"/>
          <p:nvPr/>
        </p:nvSpPr>
        <p:spPr>
          <a:xfrm>
            <a:off x="640080" y="4389120"/>
            <a:ext cx="5212080" cy="594360"/>
          </a:xfrm>
          <a:prstGeom prst="rect">
            <a:avLst/>
          </a:prstGeom>
          <a:noFill/>
          <a:ln>
            <a:noFill/>
          </a:ln>
        </p:spPr>
        <p:txBody>
          <a:bodyPr wrap="square">
            <a:noAutofit/>
          </a:bodyPr>
          <a:lstStyle/>
          <a:p>
            <a:pPr algn="l"/>
            <a:r>
              <a:rPr sz="1500" b="1" i="0">
                <a:solidFill>
                  <a:srgbClr val="2C5F2D"/>
                </a:solidFill>
              </a:rPr>
              <a:t>Inestabilidad social y política</a:t>
            </a:r>
          </a:p>
        </p:txBody>
      </p:sp>
      <p:sp>
        <p:nvSpPr>
          <p:cNvPr id="16" name="TextBox 15"/>
          <p:cNvSpPr txBox="1"/>
          <p:nvPr/>
        </p:nvSpPr>
        <p:spPr>
          <a:xfrm>
            <a:off x="640080" y="5074920"/>
            <a:ext cx="5212080" cy="1078992"/>
          </a:xfrm>
          <a:prstGeom prst="rect">
            <a:avLst/>
          </a:prstGeom>
          <a:noFill/>
          <a:ln>
            <a:noFill/>
          </a:ln>
        </p:spPr>
        <p:txBody>
          <a:bodyPr wrap="square">
            <a:noAutofit/>
          </a:bodyPr>
          <a:lstStyle/>
          <a:p>
            <a:pPr algn="l"/>
            <a:r>
              <a:rPr sz="1300" b="0" i="0">
                <a:solidFill>
                  <a:srgbClr val="444444"/>
                </a:solidFill>
              </a:rPr>
              <a:t>Alta desigualdad → conflictos sociales (huelgas,
inseguridad) → mayor incertidumbre → desalienta
la inversión privada → reduce el crecimiento.
Paradójicamente, puede forzar redistribución.</a:t>
            </a:r>
          </a:p>
        </p:txBody>
      </p:sp>
      <p:sp>
        <p:nvSpPr>
          <p:cNvPr id="17" name="Rectangle 16"/>
          <p:cNvSpPr/>
          <p:nvPr/>
        </p:nvSpPr>
        <p:spPr>
          <a:xfrm>
            <a:off x="6400800" y="3931920"/>
            <a:ext cx="5486400" cy="228600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37960" y="4005072"/>
            <a:ext cx="1188720" cy="365760"/>
          </a:xfrm>
          <a:prstGeom prst="rect">
            <a:avLst/>
          </a:prstGeom>
          <a:noFill/>
          <a:ln>
            <a:noFill/>
          </a:ln>
        </p:spPr>
        <p:txBody>
          <a:bodyPr wrap="square">
            <a:noAutofit/>
          </a:bodyPr>
          <a:lstStyle/>
          <a:p>
            <a:pPr algn="l"/>
            <a:r>
              <a:rPr sz="1300" b="1" i="0">
                <a:solidFill>
                  <a:srgbClr val="97BC62"/>
                </a:solidFill>
              </a:rPr>
              <a:t>Canal 4</a:t>
            </a:r>
          </a:p>
        </p:txBody>
      </p:sp>
      <p:sp>
        <p:nvSpPr>
          <p:cNvPr id="19" name="TextBox 18"/>
          <p:cNvSpPr txBox="1"/>
          <p:nvPr/>
        </p:nvSpPr>
        <p:spPr>
          <a:xfrm>
            <a:off x="6537960" y="4389120"/>
            <a:ext cx="5212080" cy="594360"/>
          </a:xfrm>
          <a:prstGeom prst="rect">
            <a:avLst/>
          </a:prstGeom>
          <a:noFill/>
          <a:ln>
            <a:noFill/>
          </a:ln>
        </p:spPr>
        <p:txBody>
          <a:bodyPr wrap="square">
            <a:noAutofit/>
          </a:bodyPr>
          <a:lstStyle/>
          <a:p>
            <a:pPr algn="l"/>
            <a:r>
              <a:rPr sz="1500" b="1" i="0">
                <a:solidFill>
                  <a:srgbClr val="2C5F2D"/>
                </a:solidFill>
              </a:rPr>
              <a:t>Economía política</a:t>
            </a:r>
          </a:p>
        </p:txBody>
      </p:sp>
      <p:sp>
        <p:nvSpPr>
          <p:cNvPr id="20" name="TextBox 19"/>
          <p:cNvSpPr txBox="1"/>
          <p:nvPr/>
        </p:nvSpPr>
        <p:spPr>
          <a:xfrm>
            <a:off x="6537960" y="5074920"/>
            <a:ext cx="5212080" cy="1078992"/>
          </a:xfrm>
          <a:prstGeom prst="rect">
            <a:avLst/>
          </a:prstGeom>
          <a:noFill/>
          <a:ln>
            <a:noFill/>
          </a:ln>
        </p:spPr>
        <p:txBody>
          <a:bodyPr wrap="square">
            <a:noAutofit/>
          </a:bodyPr>
          <a:lstStyle/>
          <a:p>
            <a:pPr algn="l"/>
            <a:r>
              <a:rPr sz="1300" b="0" i="0">
                <a:solidFill>
                  <a:srgbClr val="444444"/>
                </a:solidFill>
              </a:rPr>
              <a:t>El 'votante mediano' presiona por redistribución.
Gobiernos aplican impuestos al capital que
desincentivan inversión e innovación.
Élites usan lobby para bloquear reformas.</a:t>
            </a:r>
          </a:p>
        </p:txBody>
      </p:sp>
      <p:sp>
        <p:nvSpPr>
          <p:cNvPr id="21" name="CuadroTexto 20">
            <a:extLst>
              <a:ext uri="{FF2B5EF4-FFF2-40B4-BE49-F238E27FC236}">
                <a16:creationId xmlns:a16="http://schemas.microsoft.com/office/drawing/2014/main" id="{A35B3BC1-1E19-0DC6-75D2-5E08A2663E22}"/>
              </a:ext>
            </a:extLst>
          </p:cNvPr>
          <p:cNvSpPr txBox="1"/>
          <p:nvPr/>
        </p:nvSpPr>
        <p:spPr>
          <a:xfrm>
            <a:off x="447886" y="6309380"/>
            <a:ext cx="11082867" cy="523220"/>
          </a:xfrm>
          <a:prstGeom prst="rect">
            <a:avLst/>
          </a:prstGeom>
          <a:noFill/>
        </p:spPr>
        <p:txBody>
          <a:bodyPr wrap="square" rtlCol="0">
            <a:spAutoFit/>
          </a:bodyPr>
          <a:lstStyle/>
          <a:p>
            <a:r>
              <a:rPr lang="es-MX" sz="1400" dirty="0"/>
              <a:t>El canal de vinculación es el mecanismo causal que explica cómo y por qué la </a:t>
            </a:r>
            <a:r>
              <a:rPr lang="es-MX" sz="1400" b="1" dirty="0"/>
              <a:t>desigualdad afecta al crecimiento (o viceversa). </a:t>
            </a:r>
            <a:r>
              <a:rPr lang="es-MX" sz="1400" dirty="0"/>
              <a:t>Es decir, no es solo decir que "hay relación", sino explicar el camino por el que una cosa lleva a la otra.</a:t>
            </a:r>
            <a:endParaRPr lang="es-AR"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D563F7CD-E1EE-C974-EF51-35BE36CC4CFC}"/>
              </a:ext>
            </a:extLst>
          </p:cNvPr>
          <p:cNvGraphicFramePr>
            <a:graphicFrameLocks noGrp="1"/>
          </p:cNvGraphicFramePr>
          <p:nvPr>
            <p:extLst>
              <p:ext uri="{D42A27DB-BD31-4B8C-83A1-F6EECF244321}">
                <p14:modId xmlns:p14="http://schemas.microsoft.com/office/powerpoint/2010/main" val="148743296"/>
              </p:ext>
            </p:extLst>
          </p:nvPr>
        </p:nvGraphicFramePr>
        <p:xfrm>
          <a:off x="262467" y="1104741"/>
          <a:ext cx="11260666" cy="4650836"/>
        </p:xfrm>
        <a:graphic>
          <a:graphicData uri="http://schemas.openxmlformats.org/drawingml/2006/table">
            <a:tbl>
              <a:tblPr>
                <a:tableStyleId>{616DA210-FB5B-4158-B5E0-FEB733F419BA}</a:tableStyleId>
              </a:tblPr>
              <a:tblGrid>
                <a:gridCol w="3090183">
                  <a:extLst>
                    <a:ext uri="{9D8B030D-6E8A-4147-A177-3AD203B41FA5}">
                      <a16:colId xmlns:a16="http://schemas.microsoft.com/office/drawing/2014/main" val="2774543408"/>
                    </a:ext>
                  </a:extLst>
                </a:gridCol>
                <a:gridCol w="8170483">
                  <a:extLst>
                    <a:ext uri="{9D8B030D-6E8A-4147-A177-3AD203B41FA5}">
                      <a16:colId xmlns:a16="http://schemas.microsoft.com/office/drawing/2014/main" val="2906723032"/>
                    </a:ext>
                  </a:extLst>
                </a:gridCol>
              </a:tblGrid>
              <a:tr h="378374">
                <a:tc>
                  <a:txBody>
                    <a:bodyPr/>
                    <a:lstStyle/>
                    <a:p>
                      <a:pPr>
                        <a:buNone/>
                      </a:pPr>
                      <a:r>
                        <a:rPr lang="es-AR"/>
                        <a:t>Canal</a:t>
                      </a:r>
                    </a:p>
                  </a:txBody>
                  <a:tcPr anchor="ctr"/>
                </a:tc>
                <a:tc>
                  <a:txBody>
                    <a:bodyPr/>
                    <a:lstStyle/>
                    <a:p>
                      <a:pPr>
                        <a:buNone/>
                      </a:pPr>
                      <a:r>
                        <a:rPr lang="es-MX" dirty="0"/>
                        <a:t>El "camino" que conecta desigualdad y crecimiento</a:t>
                      </a:r>
                    </a:p>
                  </a:txBody>
                  <a:tcPr anchor="ctr"/>
                </a:tc>
                <a:extLst>
                  <a:ext uri="{0D108BD9-81ED-4DB2-BD59-A6C34878D82A}">
                    <a16:rowId xmlns:a16="http://schemas.microsoft.com/office/drawing/2014/main" val="2622779462"/>
                  </a:ext>
                </a:extLst>
              </a:tr>
              <a:tr h="662154">
                <a:tc>
                  <a:txBody>
                    <a:bodyPr/>
                    <a:lstStyle/>
                    <a:p>
                      <a:pPr fontAlgn="t">
                        <a:lnSpc>
                          <a:spcPts val="1500"/>
                        </a:lnSpc>
                        <a:buNone/>
                      </a:pPr>
                      <a:r>
                        <a:rPr lang="es-MX" b="0" i="0" dirty="0">
                          <a:effectLst/>
                          <a:latin typeface="Segoe UI" panose="020B0502040204020203" pitchFamily="34" charset="0"/>
                        </a:rPr>
                        <a:t>Kuznets </a:t>
                      </a:r>
                    </a:p>
                    <a:p>
                      <a:pPr fontAlgn="t">
                        <a:lnSpc>
                          <a:spcPts val="1500"/>
                        </a:lnSpc>
                        <a:buNone/>
                      </a:pPr>
                      <a:endParaRPr lang="es-MX" sz="1200" b="0" i="0" dirty="0">
                        <a:effectLst/>
                        <a:latin typeface="Segoe UI" panose="020B0502040204020203" pitchFamily="34" charset="0"/>
                      </a:endParaRPr>
                    </a:p>
                    <a:p>
                      <a:pPr fontAlgn="t">
                        <a:lnSpc>
                          <a:spcPts val="1500"/>
                        </a:lnSpc>
                        <a:buNone/>
                      </a:pPr>
                      <a:r>
                        <a:rPr lang="es-MX" sz="1200" b="0" i="0" dirty="0">
                          <a:effectLst/>
                          <a:latin typeface="Segoe UI" panose="020B0502040204020203" pitchFamily="34" charset="0"/>
                        </a:rPr>
                        <a:t>decía que, cuando un país empieza a desarrollarse:</a:t>
                      </a:r>
                    </a:p>
                    <a:p>
                      <a:pPr fontAlgn="t">
                        <a:lnSpc>
                          <a:spcPts val="1500"/>
                        </a:lnSpc>
                        <a:buFont typeface="+mj-lt"/>
                        <a:buAutoNum type="arabicPeriod"/>
                      </a:pPr>
                      <a:r>
                        <a:rPr lang="es-MX" sz="1200" b="1" i="0" dirty="0">
                          <a:effectLst/>
                          <a:latin typeface="Segoe UI" panose="020B0502040204020203" pitchFamily="34" charset="0"/>
                        </a:rPr>
                        <a:t>Primero la desigualdad aumenta</a:t>
                      </a:r>
                      <a:endParaRPr lang="es-MX" sz="1200" b="0" i="0" dirty="0">
                        <a:effectLst/>
                        <a:latin typeface="Segoe UI" panose="020B0502040204020203" pitchFamily="34" charset="0"/>
                      </a:endParaRPr>
                    </a:p>
                    <a:p>
                      <a:pPr fontAlgn="t">
                        <a:lnSpc>
                          <a:spcPts val="1500"/>
                        </a:lnSpc>
                        <a:buFont typeface="+mj-lt"/>
                        <a:buAutoNum type="arabicPeriod"/>
                      </a:pPr>
                      <a:r>
                        <a:rPr lang="es-MX" sz="1200" b="1" i="0" dirty="0">
                          <a:effectLst/>
                          <a:latin typeface="Segoe UI" panose="020B0502040204020203" pitchFamily="34" charset="0"/>
                        </a:rPr>
                        <a:t>Después la desigualdad disminuye</a:t>
                      </a:r>
                      <a:endParaRPr lang="es-MX" sz="1200" b="0" i="0" dirty="0">
                        <a:effectLst/>
                        <a:latin typeface="Segoe UI" panose="020B0502040204020203" pitchFamily="34" charset="0"/>
                      </a:endParaRPr>
                    </a:p>
                    <a:p>
                      <a:pPr fontAlgn="t">
                        <a:lnSpc>
                          <a:spcPts val="1500"/>
                        </a:lnSpc>
                        <a:buNone/>
                      </a:pPr>
                      <a:r>
                        <a:rPr lang="es-MX" sz="1200" b="0" i="0" dirty="0">
                          <a:effectLst/>
                          <a:latin typeface="Segoe UI" panose="020B0502040204020203" pitchFamily="34" charset="0"/>
                        </a:rPr>
                        <a:t>Por eso se la dibuja como una U invertida.</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Modernización → trabajadores migran a sectores productivos → desigualdad transitoria → </a:t>
                      </a:r>
                      <a:r>
                        <a:rPr lang="es-MX" b="1" dirty="0"/>
                        <a:t>¿converge sola?  </a:t>
                      </a:r>
                      <a:r>
                        <a:rPr lang="es-MX" b="0" dirty="0"/>
                        <a:t>(En el contexto de Kuznets, "converge sola" significa que la desigualdad se reduciría automáticamente a medida que el país se desarrolla, sin necesidad de políticas redistributivas. Kuznets predijo que el mercado solo corregiría la desigualdad con el tiempo. La crítica es que eso no sucede automáticamente, especialmente en países en desarrollo, y por eso se necesitan políticas activas.)</a:t>
                      </a:r>
                    </a:p>
                    <a:p>
                      <a:pPr>
                        <a:buNone/>
                      </a:pPr>
                      <a:endParaRPr lang="es-MX" b="1" dirty="0"/>
                    </a:p>
                  </a:txBody>
                  <a:tcPr anchor="ctr"/>
                </a:tc>
                <a:extLst>
                  <a:ext uri="{0D108BD9-81ED-4DB2-BD59-A6C34878D82A}">
                    <a16:rowId xmlns:a16="http://schemas.microsoft.com/office/drawing/2014/main" val="457343398"/>
                  </a:ext>
                </a:extLst>
              </a:tr>
              <a:tr h="662154">
                <a:tc>
                  <a:txBody>
                    <a:bodyPr/>
                    <a:lstStyle/>
                    <a:p>
                      <a:r>
                        <a:rPr lang="es-AR" b="1" dirty="0"/>
                        <a:t>Sesgo tecnológico</a:t>
                      </a:r>
                    </a:p>
                  </a:txBody>
                  <a:tcPr/>
                </a:tc>
                <a:tc>
                  <a:txBody>
                    <a:bodyPr/>
                    <a:lstStyle/>
                    <a:p>
                      <a:pPr>
                        <a:buNone/>
                      </a:pPr>
                      <a:r>
                        <a:rPr lang="es-AR" dirty="0"/>
                        <a:t>Innovación → sube demanda de calificados → baja demanda de no calificados → </a:t>
                      </a:r>
                      <a:r>
                        <a:rPr lang="es-AR" b="1" dirty="0"/>
                        <a:t>brecha salarial</a:t>
                      </a:r>
                    </a:p>
                  </a:txBody>
                  <a:tcPr anchor="ctr"/>
                </a:tc>
                <a:extLst>
                  <a:ext uri="{0D108BD9-81ED-4DB2-BD59-A6C34878D82A}">
                    <a16:rowId xmlns:a16="http://schemas.microsoft.com/office/drawing/2014/main" val="2393671068"/>
                  </a:ext>
                </a:extLst>
              </a:tr>
              <a:tr h="662154">
                <a:tc>
                  <a:txBody>
                    <a:bodyPr/>
                    <a:lstStyle/>
                    <a:p>
                      <a:pPr>
                        <a:buNone/>
                      </a:pPr>
                      <a:r>
                        <a:rPr lang="es-AR" b="1"/>
                        <a:t>Inestabilidad social</a:t>
                      </a:r>
                      <a:endParaRPr lang="es-AR"/>
                    </a:p>
                  </a:txBody>
                  <a:tcPr anchor="ctr"/>
                </a:tc>
                <a:tc>
                  <a:txBody>
                    <a:bodyPr/>
                    <a:lstStyle/>
                    <a:p>
                      <a:pPr>
                        <a:buNone/>
                      </a:pPr>
                      <a:r>
                        <a:rPr lang="es-MX"/>
                        <a:t>Alta desigualdad → conflictos/huelgas → incertidumbre → menos inversión → menos crecimiento</a:t>
                      </a:r>
                    </a:p>
                  </a:txBody>
                  <a:tcPr anchor="ctr"/>
                </a:tc>
                <a:extLst>
                  <a:ext uri="{0D108BD9-81ED-4DB2-BD59-A6C34878D82A}">
                    <a16:rowId xmlns:a16="http://schemas.microsoft.com/office/drawing/2014/main" val="3236025406"/>
                  </a:ext>
                </a:extLst>
              </a:tr>
              <a:tr h="662154">
                <a:tc>
                  <a:txBody>
                    <a:bodyPr/>
                    <a:lstStyle/>
                    <a:p>
                      <a:pPr>
                        <a:buNone/>
                      </a:pPr>
                      <a:r>
                        <a:rPr lang="es-AR" b="1"/>
                        <a:t>Economía política</a:t>
                      </a:r>
                      <a:endParaRPr lang="es-AR"/>
                    </a:p>
                  </a:txBody>
                  <a:tcPr anchor="ctr"/>
                </a:tc>
                <a:tc>
                  <a:txBody>
                    <a:bodyPr/>
                    <a:lstStyle/>
                    <a:p>
                      <a:pPr>
                        <a:buNone/>
                      </a:pPr>
                      <a:r>
                        <a:rPr lang="es-MX" dirty="0"/>
                        <a:t>Desigualdad → presión electoral por redistribución → impuestos al capital → desincentivo a invertir</a:t>
                      </a:r>
                    </a:p>
                  </a:txBody>
                  <a:tcPr anchor="ctr"/>
                </a:tc>
                <a:extLst>
                  <a:ext uri="{0D108BD9-81ED-4DB2-BD59-A6C34878D82A}">
                    <a16:rowId xmlns:a16="http://schemas.microsoft.com/office/drawing/2014/main" val="3479967260"/>
                  </a:ext>
                </a:extLst>
              </a:tr>
            </a:tbl>
          </a:graphicData>
        </a:graphic>
      </p:graphicFrame>
    </p:spTree>
    <p:extLst>
      <p:ext uri="{BB962C8B-B14F-4D97-AF65-F5344CB8AC3E}">
        <p14:creationId xmlns:p14="http://schemas.microsoft.com/office/powerpoint/2010/main" val="14588446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U4_5 — DESIGUALDAD Y CRECIMIENTO</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a:solidFill>
                  <a:srgbClr val="2C5F2D"/>
                </a:solidFill>
              </a:rPr>
              <a:t>8 canales: desigualdad → crecimiento  (Canales 5–8)</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508760"/>
            <a:ext cx="5486400" cy="228600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81912"/>
            <a:ext cx="1188720" cy="365760"/>
          </a:xfrm>
          <a:prstGeom prst="rect">
            <a:avLst/>
          </a:prstGeom>
          <a:noFill/>
          <a:ln>
            <a:noFill/>
          </a:ln>
        </p:spPr>
        <p:txBody>
          <a:bodyPr wrap="square">
            <a:noAutofit/>
          </a:bodyPr>
          <a:lstStyle/>
          <a:p>
            <a:pPr algn="l"/>
            <a:r>
              <a:rPr sz="1300" b="1" i="0">
                <a:solidFill>
                  <a:srgbClr val="97BC62"/>
                </a:solidFill>
              </a:rPr>
              <a:t>Canal 5</a:t>
            </a:r>
          </a:p>
        </p:txBody>
      </p:sp>
      <p:sp>
        <p:nvSpPr>
          <p:cNvPr id="7" name="TextBox 6"/>
          <p:cNvSpPr txBox="1"/>
          <p:nvPr/>
        </p:nvSpPr>
        <p:spPr>
          <a:xfrm>
            <a:off x="640080" y="1965960"/>
            <a:ext cx="5212080" cy="594360"/>
          </a:xfrm>
          <a:prstGeom prst="rect">
            <a:avLst/>
          </a:prstGeom>
          <a:noFill/>
          <a:ln>
            <a:noFill/>
          </a:ln>
        </p:spPr>
        <p:txBody>
          <a:bodyPr wrap="square">
            <a:noAutofit/>
          </a:bodyPr>
          <a:lstStyle/>
          <a:p>
            <a:pPr algn="l"/>
            <a:r>
              <a:rPr sz="1500" b="1" i="0">
                <a:solidFill>
                  <a:srgbClr val="2C5F2D"/>
                </a:solidFill>
              </a:rPr>
              <a:t>Mercados de crédito imperfectos</a:t>
            </a:r>
          </a:p>
        </p:txBody>
      </p:sp>
      <p:sp>
        <p:nvSpPr>
          <p:cNvPr id="8" name="TextBox 7"/>
          <p:cNvSpPr txBox="1"/>
          <p:nvPr/>
        </p:nvSpPr>
        <p:spPr>
          <a:xfrm>
            <a:off x="640080" y="2651760"/>
            <a:ext cx="5212080" cy="1078992"/>
          </a:xfrm>
          <a:prstGeom prst="rect">
            <a:avLst/>
          </a:prstGeom>
          <a:noFill/>
          <a:ln>
            <a:noFill/>
          </a:ln>
        </p:spPr>
        <p:txBody>
          <a:bodyPr wrap="square">
            <a:noAutofit/>
          </a:bodyPr>
          <a:lstStyle/>
          <a:p>
            <a:pPr algn="l"/>
            <a:r>
              <a:rPr sz="1300" b="0" i="0">
                <a:solidFill>
                  <a:srgbClr val="444444"/>
                </a:solidFill>
              </a:rPr>
              <a:t>Información asimétrica + falta de garantías → bancos
no prestan a los pobres → no pueden invertir en
educación ni emprendimientos rentables
→ frena la productividad agregada.</a:t>
            </a:r>
          </a:p>
        </p:txBody>
      </p:sp>
      <p:sp>
        <p:nvSpPr>
          <p:cNvPr id="9" name="Rectangle 8"/>
          <p:cNvSpPr/>
          <p:nvPr/>
        </p:nvSpPr>
        <p:spPr>
          <a:xfrm>
            <a:off x="6400800" y="1508760"/>
            <a:ext cx="5486400" cy="228600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37960" y="1581912"/>
            <a:ext cx="1188720" cy="365760"/>
          </a:xfrm>
          <a:prstGeom prst="rect">
            <a:avLst/>
          </a:prstGeom>
          <a:noFill/>
          <a:ln>
            <a:noFill/>
          </a:ln>
        </p:spPr>
        <p:txBody>
          <a:bodyPr wrap="square">
            <a:noAutofit/>
          </a:bodyPr>
          <a:lstStyle/>
          <a:p>
            <a:pPr algn="l"/>
            <a:r>
              <a:rPr sz="1300" b="1" i="0">
                <a:solidFill>
                  <a:srgbClr val="97BC62"/>
                </a:solidFill>
              </a:rPr>
              <a:t>Canal 6</a:t>
            </a:r>
          </a:p>
        </p:txBody>
      </p:sp>
      <p:sp>
        <p:nvSpPr>
          <p:cNvPr id="11" name="TextBox 10"/>
          <p:cNvSpPr txBox="1"/>
          <p:nvPr/>
        </p:nvSpPr>
        <p:spPr>
          <a:xfrm>
            <a:off x="6537960" y="1965960"/>
            <a:ext cx="5212080" cy="594360"/>
          </a:xfrm>
          <a:prstGeom prst="rect">
            <a:avLst/>
          </a:prstGeom>
          <a:noFill/>
          <a:ln>
            <a:noFill/>
          </a:ln>
        </p:spPr>
        <p:txBody>
          <a:bodyPr wrap="square">
            <a:noAutofit/>
          </a:bodyPr>
          <a:lstStyle/>
          <a:p>
            <a:pPr algn="l"/>
            <a:r>
              <a:rPr sz="1500" b="1" i="0">
                <a:solidFill>
                  <a:srgbClr val="2C5F2D"/>
                </a:solidFill>
              </a:rPr>
              <a:t>Ahorros</a:t>
            </a:r>
          </a:p>
        </p:txBody>
      </p:sp>
      <p:sp>
        <p:nvSpPr>
          <p:cNvPr id="12" name="TextBox 11"/>
          <p:cNvSpPr txBox="1"/>
          <p:nvPr/>
        </p:nvSpPr>
        <p:spPr>
          <a:xfrm>
            <a:off x="6537960" y="2651760"/>
            <a:ext cx="5212080" cy="1078992"/>
          </a:xfrm>
          <a:prstGeom prst="rect">
            <a:avLst/>
          </a:prstGeom>
          <a:noFill/>
          <a:ln>
            <a:noFill/>
          </a:ln>
        </p:spPr>
        <p:txBody>
          <a:bodyPr wrap="square">
            <a:noAutofit/>
          </a:bodyPr>
          <a:lstStyle/>
          <a:p>
            <a:pPr algn="l"/>
            <a:r>
              <a:rPr sz="1300" b="0" i="0">
                <a:solidFill>
                  <a:srgbClr val="444444"/>
                </a:solidFill>
              </a:rPr>
              <a:t>Los ricos ahorran más. Redistribuir a los pobres
(que gastan todo en subsistencia) baja el ahorro
nacional → baja inversión → frena crecimiento.
(En países de ingreso medio el efecto se invierte.)</a:t>
            </a:r>
          </a:p>
        </p:txBody>
      </p:sp>
      <p:sp>
        <p:nvSpPr>
          <p:cNvPr id="13" name="Rectangle 12"/>
          <p:cNvSpPr/>
          <p:nvPr/>
        </p:nvSpPr>
        <p:spPr>
          <a:xfrm>
            <a:off x="502920" y="3931920"/>
            <a:ext cx="5486400" cy="228600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4005072"/>
            <a:ext cx="1188720" cy="365760"/>
          </a:xfrm>
          <a:prstGeom prst="rect">
            <a:avLst/>
          </a:prstGeom>
          <a:noFill/>
          <a:ln>
            <a:noFill/>
          </a:ln>
        </p:spPr>
        <p:txBody>
          <a:bodyPr wrap="square">
            <a:noAutofit/>
          </a:bodyPr>
          <a:lstStyle/>
          <a:p>
            <a:pPr algn="l"/>
            <a:r>
              <a:rPr sz="1300" b="1" i="0">
                <a:solidFill>
                  <a:srgbClr val="97BC62"/>
                </a:solidFill>
              </a:rPr>
              <a:t>Canal 7</a:t>
            </a:r>
          </a:p>
        </p:txBody>
      </p:sp>
      <p:sp>
        <p:nvSpPr>
          <p:cNvPr id="15" name="TextBox 14"/>
          <p:cNvSpPr txBox="1"/>
          <p:nvPr/>
        </p:nvSpPr>
        <p:spPr>
          <a:xfrm>
            <a:off x="640080" y="4389120"/>
            <a:ext cx="5212080" cy="594360"/>
          </a:xfrm>
          <a:prstGeom prst="rect">
            <a:avLst/>
          </a:prstGeom>
          <a:noFill/>
          <a:ln>
            <a:noFill/>
          </a:ln>
        </p:spPr>
        <p:txBody>
          <a:bodyPr wrap="square">
            <a:noAutofit/>
          </a:bodyPr>
          <a:lstStyle/>
          <a:p>
            <a:pPr algn="l"/>
            <a:r>
              <a:rPr sz="1500" b="1" i="0">
                <a:solidFill>
                  <a:srgbClr val="2C5F2D"/>
                </a:solidFill>
              </a:rPr>
              <a:t>Instituciones</a:t>
            </a:r>
          </a:p>
        </p:txBody>
      </p:sp>
      <p:sp>
        <p:nvSpPr>
          <p:cNvPr id="16" name="TextBox 15"/>
          <p:cNvSpPr txBox="1"/>
          <p:nvPr/>
        </p:nvSpPr>
        <p:spPr>
          <a:xfrm>
            <a:off x="640080" y="5074920"/>
            <a:ext cx="5212080" cy="1078992"/>
          </a:xfrm>
          <a:prstGeom prst="rect">
            <a:avLst/>
          </a:prstGeom>
          <a:noFill/>
          <a:ln>
            <a:noFill/>
          </a:ln>
        </p:spPr>
        <p:txBody>
          <a:bodyPr wrap="square">
            <a:noAutofit/>
          </a:bodyPr>
          <a:lstStyle/>
          <a:p>
            <a:pPr algn="l"/>
            <a:r>
              <a:rPr sz="1300" b="0" i="0">
                <a:solidFill>
                  <a:srgbClr val="444444"/>
                </a:solidFill>
              </a:rPr>
              <a:t>Concentración económica → 'captura del Estado'
por élites → políticas ineficientes (subsidios
para ricos, corrupción) → mala calidad institucional
→ perpetúa el bajo crecimiento.</a:t>
            </a:r>
          </a:p>
        </p:txBody>
      </p:sp>
      <p:sp>
        <p:nvSpPr>
          <p:cNvPr id="17" name="Rectangle 16"/>
          <p:cNvSpPr/>
          <p:nvPr/>
        </p:nvSpPr>
        <p:spPr>
          <a:xfrm>
            <a:off x="6400800" y="3931920"/>
            <a:ext cx="5486400" cy="228600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37960" y="4005072"/>
            <a:ext cx="1188720" cy="365760"/>
          </a:xfrm>
          <a:prstGeom prst="rect">
            <a:avLst/>
          </a:prstGeom>
          <a:noFill/>
          <a:ln>
            <a:noFill/>
          </a:ln>
        </p:spPr>
        <p:txBody>
          <a:bodyPr wrap="square">
            <a:noAutofit/>
          </a:bodyPr>
          <a:lstStyle/>
          <a:p>
            <a:pPr algn="l"/>
            <a:r>
              <a:rPr sz="1300" b="1" i="0">
                <a:solidFill>
                  <a:srgbClr val="97BC62"/>
                </a:solidFill>
              </a:rPr>
              <a:t>Canal 8</a:t>
            </a:r>
          </a:p>
        </p:txBody>
      </p:sp>
      <p:sp>
        <p:nvSpPr>
          <p:cNvPr id="19" name="TextBox 18"/>
          <p:cNvSpPr txBox="1"/>
          <p:nvPr/>
        </p:nvSpPr>
        <p:spPr>
          <a:xfrm>
            <a:off x="6537960" y="4389120"/>
            <a:ext cx="5212080" cy="594360"/>
          </a:xfrm>
          <a:prstGeom prst="rect">
            <a:avLst/>
          </a:prstGeom>
          <a:noFill/>
          <a:ln>
            <a:noFill/>
          </a:ln>
        </p:spPr>
        <p:txBody>
          <a:bodyPr wrap="square">
            <a:noAutofit/>
          </a:bodyPr>
          <a:lstStyle/>
          <a:p>
            <a:pPr algn="l"/>
            <a:r>
              <a:rPr sz="1500" b="1" i="0">
                <a:solidFill>
                  <a:srgbClr val="2C5F2D"/>
                </a:solidFill>
              </a:rPr>
              <a:t>Tasa de fertilidad</a:t>
            </a:r>
          </a:p>
        </p:txBody>
      </p:sp>
      <p:sp>
        <p:nvSpPr>
          <p:cNvPr id="20" name="TextBox 19"/>
          <p:cNvSpPr txBox="1"/>
          <p:nvPr/>
        </p:nvSpPr>
        <p:spPr>
          <a:xfrm>
            <a:off x="6537960" y="5074920"/>
            <a:ext cx="5212080" cy="1078992"/>
          </a:xfrm>
          <a:prstGeom prst="rect">
            <a:avLst/>
          </a:prstGeom>
          <a:noFill/>
          <a:ln>
            <a:noFill/>
          </a:ln>
        </p:spPr>
        <p:txBody>
          <a:bodyPr wrap="square">
            <a:noAutofit/>
          </a:bodyPr>
          <a:lstStyle/>
          <a:p>
            <a:pPr algn="l"/>
            <a:r>
              <a:rPr sz="1300" b="0" i="0">
                <a:solidFill>
                  <a:srgbClr val="444444"/>
                </a:solidFill>
              </a:rPr>
              <a:t>Hogares pobres tienen más hijos pero invierten
menos en cada uno. Sociedad desigual → fuerza
laboral mayoritariamente de bajo capital humano
→ limita productividad estructural.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7595C90F-5945-A6CC-CE72-00A355454D45}"/>
              </a:ext>
            </a:extLst>
          </p:cNvPr>
          <p:cNvGraphicFramePr>
            <a:graphicFrameLocks noGrp="1"/>
          </p:cNvGraphicFramePr>
          <p:nvPr>
            <p:extLst>
              <p:ext uri="{D42A27DB-BD31-4B8C-83A1-F6EECF244321}">
                <p14:modId xmlns:p14="http://schemas.microsoft.com/office/powerpoint/2010/main" val="3783544442"/>
              </p:ext>
            </p:extLst>
          </p:nvPr>
        </p:nvGraphicFramePr>
        <p:xfrm>
          <a:off x="1837167" y="694096"/>
          <a:ext cx="7679366" cy="4504438"/>
        </p:xfrm>
        <a:graphic>
          <a:graphicData uri="http://schemas.openxmlformats.org/drawingml/2006/table">
            <a:tbl>
              <a:tblPr>
                <a:tableStyleId>{616DA210-FB5B-4158-B5E0-FEB733F419BA}</a:tableStyleId>
              </a:tblPr>
              <a:tblGrid>
                <a:gridCol w="2681369">
                  <a:extLst>
                    <a:ext uri="{9D8B030D-6E8A-4147-A177-3AD203B41FA5}">
                      <a16:colId xmlns:a16="http://schemas.microsoft.com/office/drawing/2014/main" val="707592200"/>
                    </a:ext>
                  </a:extLst>
                </a:gridCol>
                <a:gridCol w="4997997">
                  <a:extLst>
                    <a:ext uri="{9D8B030D-6E8A-4147-A177-3AD203B41FA5}">
                      <a16:colId xmlns:a16="http://schemas.microsoft.com/office/drawing/2014/main" val="4218696174"/>
                    </a:ext>
                  </a:extLst>
                </a:gridCol>
              </a:tblGrid>
              <a:tr h="484354">
                <a:tc>
                  <a:txBody>
                    <a:bodyPr/>
                    <a:lstStyle/>
                    <a:p>
                      <a:pPr>
                        <a:buNone/>
                      </a:pPr>
                      <a:r>
                        <a:rPr lang="es-AR" sz="1400" dirty="0"/>
                        <a:t>Canal</a:t>
                      </a:r>
                    </a:p>
                  </a:txBody>
                  <a:tcPr marL="39701" marR="39701" marT="19851" marB="19851" anchor="ctr"/>
                </a:tc>
                <a:tc>
                  <a:txBody>
                    <a:bodyPr/>
                    <a:lstStyle/>
                    <a:p>
                      <a:pPr>
                        <a:buNone/>
                      </a:pPr>
                      <a:r>
                        <a:rPr lang="es-MX" sz="1400"/>
                        <a:t>El "camino" que conecta desigualdad y crecimiento</a:t>
                      </a:r>
                    </a:p>
                  </a:txBody>
                  <a:tcPr marL="39701" marR="39701" marT="19851" marB="19851" anchor="ctr"/>
                </a:tc>
                <a:extLst>
                  <a:ext uri="{0D108BD9-81ED-4DB2-BD59-A6C34878D82A}">
                    <a16:rowId xmlns:a16="http://schemas.microsoft.com/office/drawing/2014/main" val="2584438820"/>
                  </a:ext>
                </a:extLst>
              </a:tr>
              <a:tr h="1109154">
                <a:tc>
                  <a:txBody>
                    <a:bodyPr/>
                    <a:lstStyle/>
                    <a:p>
                      <a:pPr>
                        <a:buNone/>
                      </a:pPr>
                      <a:r>
                        <a:rPr lang="es-AR" sz="1400" b="1" dirty="0"/>
                        <a:t>5. Mercados de crédito imperfectos</a:t>
                      </a:r>
                      <a:endParaRPr lang="es-AR" sz="1400" dirty="0"/>
                    </a:p>
                  </a:txBody>
                  <a:tcPr marL="39701" marR="39701" marT="19851" marB="19851" anchor="ctr"/>
                </a:tc>
                <a:tc>
                  <a:txBody>
                    <a:bodyPr/>
                    <a:lstStyle/>
                    <a:p>
                      <a:pPr>
                        <a:buNone/>
                      </a:pPr>
                      <a:r>
                        <a:rPr lang="es-MX" sz="1400" dirty="0"/>
                        <a:t>Información asimétrica + falta de garantías → bancos no prestan a pobres → no invierten en educación ni emprendimientos → frena productividad agregada</a:t>
                      </a:r>
                    </a:p>
                  </a:txBody>
                  <a:tcPr marL="39701" marR="39701" marT="19851" marB="19851" anchor="ctr"/>
                </a:tc>
                <a:extLst>
                  <a:ext uri="{0D108BD9-81ED-4DB2-BD59-A6C34878D82A}">
                    <a16:rowId xmlns:a16="http://schemas.microsoft.com/office/drawing/2014/main" val="138073593"/>
                  </a:ext>
                </a:extLst>
              </a:tr>
              <a:tr h="900888">
                <a:tc>
                  <a:txBody>
                    <a:bodyPr/>
                    <a:lstStyle/>
                    <a:p>
                      <a:pPr>
                        <a:buNone/>
                      </a:pPr>
                      <a:r>
                        <a:rPr lang="es-AR" sz="1400" b="1"/>
                        <a:t>6. Ahorros</a:t>
                      </a:r>
                      <a:endParaRPr lang="es-AR" sz="1400"/>
                    </a:p>
                  </a:txBody>
                  <a:tcPr marL="39701" marR="39701" marT="19851" marB="19851" anchor="ctr"/>
                </a:tc>
                <a:tc>
                  <a:txBody>
                    <a:bodyPr/>
                    <a:lstStyle/>
                    <a:p>
                      <a:pPr>
                        <a:buNone/>
                      </a:pPr>
                      <a:r>
                        <a:rPr lang="es-MX" sz="1400"/>
                        <a:t>Ricos ahorran más → redistribuir a pobres (que gastan todo en subsistencia) → baja ahorro nacional → baja inversión → frena crecimiento</a:t>
                      </a:r>
                    </a:p>
                  </a:txBody>
                  <a:tcPr marL="39701" marR="39701" marT="19851" marB="19851" anchor="ctr"/>
                </a:tc>
                <a:extLst>
                  <a:ext uri="{0D108BD9-81ED-4DB2-BD59-A6C34878D82A}">
                    <a16:rowId xmlns:a16="http://schemas.microsoft.com/office/drawing/2014/main" val="1920675394"/>
                  </a:ext>
                </a:extLst>
              </a:tr>
              <a:tr h="1109154">
                <a:tc>
                  <a:txBody>
                    <a:bodyPr/>
                    <a:lstStyle/>
                    <a:p>
                      <a:pPr>
                        <a:buNone/>
                      </a:pPr>
                      <a:r>
                        <a:rPr lang="es-AR" sz="1400" b="1"/>
                        <a:t>7. Instituciones</a:t>
                      </a:r>
                      <a:endParaRPr lang="es-AR" sz="1400"/>
                    </a:p>
                  </a:txBody>
                  <a:tcPr marL="39701" marR="39701" marT="19851" marB="19851" anchor="ctr"/>
                </a:tc>
                <a:tc>
                  <a:txBody>
                    <a:bodyPr/>
                    <a:lstStyle/>
                    <a:p>
                      <a:pPr>
                        <a:buNone/>
                      </a:pPr>
                      <a:r>
                        <a:rPr lang="es-MX" sz="1400"/>
                        <a:t>Concentración económica → captura del Estado por élites → políticas ineficientes/corrupción → mala calidad institucional → perpetúa bajo crecimiento</a:t>
                      </a:r>
                    </a:p>
                  </a:txBody>
                  <a:tcPr marL="39701" marR="39701" marT="19851" marB="19851" anchor="ctr"/>
                </a:tc>
                <a:extLst>
                  <a:ext uri="{0D108BD9-81ED-4DB2-BD59-A6C34878D82A}">
                    <a16:rowId xmlns:a16="http://schemas.microsoft.com/office/drawing/2014/main" val="3230223040"/>
                  </a:ext>
                </a:extLst>
              </a:tr>
              <a:tr h="900888">
                <a:tc>
                  <a:txBody>
                    <a:bodyPr/>
                    <a:lstStyle/>
                    <a:p>
                      <a:pPr>
                        <a:buNone/>
                      </a:pPr>
                      <a:r>
                        <a:rPr lang="es-AR" sz="1400" b="1"/>
                        <a:t>8. Tasa de fertilidad</a:t>
                      </a:r>
                      <a:endParaRPr lang="es-AR" sz="1400"/>
                    </a:p>
                  </a:txBody>
                  <a:tcPr marL="39701" marR="39701" marT="19851" marB="19851" anchor="ctr"/>
                </a:tc>
                <a:tc>
                  <a:txBody>
                    <a:bodyPr/>
                    <a:lstStyle/>
                    <a:p>
                      <a:pPr>
                        <a:buNone/>
                      </a:pPr>
                      <a:r>
                        <a:rPr lang="es-MX" sz="1400" dirty="0"/>
                        <a:t>Hogares pobres tienen más hijos pero invierten menos en cada uno → fuerza laboral de bajo capital humano → limita productividad estructural</a:t>
                      </a:r>
                    </a:p>
                  </a:txBody>
                  <a:tcPr marL="39701" marR="39701" marT="19851" marB="19851" anchor="ctr"/>
                </a:tc>
                <a:extLst>
                  <a:ext uri="{0D108BD9-81ED-4DB2-BD59-A6C34878D82A}">
                    <a16:rowId xmlns:a16="http://schemas.microsoft.com/office/drawing/2014/main" val="3622890819"/>
                  </a:ext>
                </a:extLst>
              </a:tr>
            </a:tbl>
          </a:graphicData>
        </a:graphic>
      </p:graphicFrame>
    </p:spTree>
    <p:extLst>
      <p:ext uri="{BB962C8B-B14F-4D97-AF65-F5344CB8AC3E}">
        <p14:creationId xmlns:p14="http://schemas.microsoft.com/office/powerpoint/2010/main" val="3955644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U4_5 — AMÉRICA LATINA</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a:solidFill>
                  <a:srgbClr val="2C5F2D"/>
                </a:solidFill>
              </a:rPr>
              <a:t>América Latina: la región más desigual del mundo</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508760"/>
            <a:ext cx="11185855" cy="822960"/>
          </a:xfrm>
          <a:prstGeom prst="rect">
            <a:avLst/>
          </a:prstGeom>
          <a:solidFill>
            <a:srgbClr val="FDF2E8"/>
          </a:solidFill>
          <a:ln>
            <a:noFill/>
          </a:ln>
        </p:spPr>
        <p:txBody>
          <a:bodyPr wrap="square">
            <a:spAutoFit/>
          </a:bodyPr>
          <a:lstStyle/>
          <a:p>
            <a:pPr algn="l"/>
            <a:r>
              <a:rPr sz="1500" b="0">
                <a:solidFill>
                  <a:srgbClr val="C03B1F"/>
                </a:solidFill>
              </a:rPr>
              <a:t>Su problema NO es tener poca clase media, sino una ACUMULACIÓN EXCESIVA
en la cúspide. El problema es netamente distributivo.</a:t>
            </a:r>
          </a:p>
        </p:txBody>
      </p:sp>
      <p:sp>
        <p:nvSpPr>
          <p:cNvPr id="6" name="Rectangle 5"/>
          <p:cNvSpPr/>
          <p:nvPr/>
        </p:nvSpPr>
        <p:spPr>
          <a:xfrm>
            <a:off x="502920" y="2468880"/>
            <a:ext cx="5486400" cy="173736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2560320"/>
            <a:ext cx="2011680" cy="640080"/>
          </a:xfrm>
          <a:prstGeom prst="rect">
            <a:avLst/>
          </a:prstGeom>
          <a:noFill/>
          <a:ln>
            <a:noFill/>
          </a:ln>
        </p:spPr>
        <p:txBody>
          <a:bodyPr wrap="square">
            <a:noAutofit/>
          </a:bodyPr>
          <a:lstStyle/>
          <a:p>
            <a:pPr algn="l"/>
            <a:r>
              <a:rPr sz="1500" b="1" i="0">
                <a:solidFill>
                  <a:srgbClr val="2C5F2D"/>
                </a:solidFill>
              </a:rPr>
              <a:t>Los 2000
(Mejora)</a:t>
            </a:r>
          </a:p>
        </p:txBody>
      </p:sp>
      <p:sp>
        <p:nvSpPr>
          <p:cNvPr id="8" name="TextBox 7"/>
          <p:cNvSpPr txBox="1"/>
          <p:nvPr/>
        </p:nvSpPr>
        <p:spPr>
          <a:xfrm>
            <a:off x="640080" y="3246120"/>
            <a:ext cx="5212080" cy="914400"/>
          </a:xfrm>
          <a:prstGeom prst="rect">
            <a:avLst/>
          </a:prstGeom>
          <a:noFill/>
          <a:ln>
            <a:noFill/>
          </a:ln>
        </p:spPr>
        <p:txBody>
          <a:bodyPr wrap="square">
            <a:noAutofit/>
          </a:bodyPr>
          <a:lstStyle/>
          <a:p>
            <a:pPr algn="l"/>
            <a:r>
              <a:rPr sz="1300" b="0" i="0">
                <a:solidFill>
                  <a:srgbClr val="1A1A1A"/>
                </a:solidFill>
              </a:rPr>
              <a:t>Reducción del Gini por boom de commodities,
creación de empleo formal, sindicalización,
subas del salario mínimo y reducción de la
brecha calificado/no calificado (Beccaria, 2018).</a:t>
            </a:r>
          </a:p>
        </p:txBody>
      </p:sp>
      <p:sp>
        <p:nvSpPr>
          <p:cNvPr id="9" name="Rectangle 8"/>
          <p:cNvSpPr/>
          <p:nvPr/>
        </p:nvSpPr>
        <p:spPr>
          <a:xfrm>
            <a:off x="6400800" y="2468880"/>
            <a:ext cx="548640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37960" y="2560320"/>
            <a:ext cx="2011680" cy="640080"/>
          </a:xfrm>
          <a:prstGeom prst="rect">
            <a:avLst/>
          </a:prstGeom>
          <a:noFill/>
          <a:ln>
            <a:noFill/>
          </a:ln>
        </p:spPr>
        <p:txBody>
          <a:bodyPr wrap="square">
            <a:noAutofit/>
          </a:bodyPr>
          <a:lstStyle/>
          <a:p>
            <a:pPr algn="l"/>
            <a:r>
              <a:rPr sz="1500" b="1" i="0">
                <a:solidFill>
                  <a:srgbClr val="2C5F2D"/>
                </a:solidFill>
              </a:rPr>
              <a:t>2008
(Freno)</a:t>
            </a:r>
          </a:p>
        </p:txBody>
      </p:sp>
      <p:sp>
        <p:nvSpPr>
          <p:cNvPr id="11" name="TextBox 10"/>
          <p:cNvSpPr txBox="1"/>
          <p:nvPr/>
        </p:nvSpPr>
        <p:spPr>
          <a:xfrm>
            <a:off x="6537960" y="3246120"/>
            <a:ext cx="5212080" cy="914400"/>
          </a:xfrm>
          <a:prstGeom prst="rect">
            <a:avLst/>
          </a:prstGeom>
          <a:noFill/>
          <a:ln>
            <a:noFill/>
          </a:ln>
        </p:spPr>
        <p:txBody>
          <a:bodyPr wrap="square">
            <a:noAutofit/>
          </a:bodyPr>
          <a:lstStyle/>
          <a:p>
            <a:pPr algn="l"/>
            <a:r>
              <a:rPr sz="1300" b="0" i="0">
                <a:solidFill>
                  <a:srgbClr val="1A1A1A"/>
                </a:solidFill>
              </a:rPr>
              <a:t>Caída de precios internacionales de materias
primas. Baja dinámica laboral. Los avances
distributivos se frenan sin haber resuelto
las causas estructurales.</a:t>
            </a:r>
          </a:p>
        </p:txBody>
      </p:sp>
      <p:sp>
        <p:nvSpPr>
          <p:cNvPr id="12" name="Rectangle 11"/>
          <p:cNvSpPr/>
          <p:nvPr/>
        </p:nvSpPr>
        <p:spPr>
          <a:xfrm>
            <a:off x="502920" y="4343399"/>
            <a:ext cx="5486400" cy="173736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4434839"/>
            <a:ext cx="2011680" cy="640080"/>
          </a:xfrm>
          <a:prstGeom prst="rect">
            <a:avLst/>
          </a:prstGeom>
          <a:noFill/>
          <a:ln>
            <a:noFill/>
          </a:ln>
        </p:spPr>
        <p:txBody>
          <a:bodyPr wrap="square">
            <a:noAutofit/>
          </a:bodyPr>
          <a:lstStyle/>
          <a:p>
            <a:pPr algn="l"/>
            <a:r>
              <a:rPr sz="1500" b="1" i="0">
                <a:solidFill>
                  <a:srgbClr val="2C5F2D"/>
                </a:solidFill>
              </a:rPr>
              <a:t>Desde 2014
(Reversión)</a:t>
            </a:r>
          </a:p>
        </p:txBody>
      </p:sp>
      <p:sp>
        <p:nvSpPr>
          <p:cNvPr id="14" name="TextBox 13"/>
          <p:cNvSpPr txBox="1"/>
          <p:nvPr/>
        </p:nvSpPr>
        <p:spPr>
          <a:xfrm>
            <a:off x="640080" y="5120639"/>
            <a:ext cx="5212080" cy="914400"/>
          </a:xfrm>
          <a:prstGeom prst="rect">
            <a:avLst/>
          </a:prstGeom>
          <a:noFill/>
          <a:ln>
            <a:noFill/>
          </a:ln>
        </p:spPr>
        <p:txBody>
          <a:bodyPr wrap="square">
            <a:noAutofit/>
          </a:bodyPr>
          <a:lstStyle/>
          <a:p>
            <a:pPr algn="l"/>
            <a:r>
              <a:rPr sz="1300" b="0" i="0">
                <a:solidFill>
                  <a:srgbClr val="1A1A1A"/>
                </a:solidFill>
              </a:rPr>
              <a:t>Se evidencia que la mejora fue COYUNTURAL.
La dualidad económica estructural persiste.
El 'efecto derrame' de Kuznets no operó.</a:t>
            </a:r>
          </a:p>
        </p:txBody>
      </p:sp>
      <p:sp>
        <p:nvSpPr>
          <p:cNvPr id="15" name="Rectangle 14"/>
          <p:cNvSpPr/>
          <p:nvPr/>
        </p:nvSpPr>
        <p:spPr>
          <a:xfrm>
            <a:off x="6400800" y="4343399"/>
            <a:ext cx="548640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37960" y="4434839"/>
            <a:ext cx="2011680" cy="640080"/>
          </a:xfrm>
          <a:prstGeom prst="rect">
            <a:avLst/>
          </a:prstGeom>
          <a:noFill/>
          <a:ln>
            <a:noFill/>
          </a:ln>
        </p:spPr>
        <p:txBody>
          <a:bodyPr wrap="square">
            <a:noAutofit/>
          </a:bodyPr>
          <a:lstStyle/>
          <a:p>
            <a:pPr algn="l"/>
            <a:r>
              <a:rPr sz="1500" b="1" i="0">
                <a:solidFill>
                  <a:srgbClr val="2C5F2D"/>
                </a:solidFill>
              </a:rPr>
              <a:t>CEPAL 2025
(Actualidad)</a:t>
            </a:r>
          </a:p>
        </p:txBody>
      </p:sp>
      <p:sp>
        <p:nvSpPr>
          <p:cNvPr id="17" name="TextBox 16"/>
          <p:cNvSpPr txBox="1"/>
          <p:nvPr/>
        </p:nvSpPr>
        <p:spPr>
          <a:xfrm>
            <a:off x="6537960" y="5120639"/>
            <a:ext cx="5212080" cy="914400"/>
          </a:xfrm>
          <a:prstGeom prst="rect">
            <a:avLst/>
          </a:prstGeom>
          <a:noFill/>
          <a:ln>
            <a:noFill/>
          </a:ln>
        </p:spPr>
        <p:txBody>
          <a:bodyPr wrap="square">
            <a:noAutofit/>
          </a:bodyPr>
          <a:lstStyle/>
          <a:p>
            <a:pPr algn="l"/>
            <a:r>
              <a:rPr sz="1300" b="0" i="0">
                <a:solidFill>
                  <a:srgbClr val="1A1A1A"/>
                </a:solidFill>
              </a:rPr>
              <a:t>Pobreza de ingresos en mínimo histórico desde 1990.
Pero la desigualdad sigue estancada.
80% percibe la distribución como injusta.
70% apoya redistribución estatal.</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U4_5 — POLÍTICAS FRENTE A LA DESIGUALDAD</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a:solidFill>
                  <a:srgbClr val="2C5F2D"/>
                </a:solidFill>
              </a:rPr>
              <a:t>Los 3 tipos de políticas</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508760"/>
            <a:ext cx="3566160" cy="4754880"/>
          </a:xfrm>
          <a:prstGeom prst="rect">
            <a:avLst/>
          </a:prstGeom>
          <a:solidFill>
            <a:srgbClr val="2C5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600200"/>
            <a:ext cx="457200" cy="502920"/>
          </a:xfrm>
          <a:prstGeom prst="rect">
            <a:avLst/>
          </a:prstGeom>
          <a:noFill/>
          <a:ln>
            <a:noFill/>
          </a:ln>
        </p:spPr>
        <p:txBody>
          <a:bodyPr wrap="square">
            <a:noAutofit/>
          </a:bodyPr>
          <a:lstStyle/>
          <a:p>
            <a:pPr algn="l"/>
            <a:r>
              <a:rPr sz="2800" b="1" i="0">
                <a:solidFill>
                  <a:srgbClr val="FFFFFF"/>
                </a:solidFill>
              </a:rPr>
              <a:t>1</a:t>
            </a:r>
          </a:p>
        </p:txBody>
      </p:sp>
      <p:sp>
        <p:nvSpPr>
          <p:cNvPr id="7" name="TextBox 6"/>
          <p:cNvSpPr txBox="1"/>
          <p:nvPr/>
        </p:nvSpPr>
        <p:spPr>
          <a:xfrm>
            <a:off x="685800" y="2148840"/>
            <a:ext cx="3200400" cy="548640"/>
          </a:xfrm>
          <a:prstGeom prst="rect">
            <a:avLst/>
          </a:prstGeom>
          <a:noFill/>
          <a:ln>
            <a:noFill/>
          </a:ln>
        </p:spPr>
        <p:txBody>
          <a:bodyPr wrap="square">
            <a:noAutofit/>
          </a:bodyPr>
          <a:lstStyle/>
          <a:p>
            <a:pPr algn="l"/>
            <a:r>
              <a:rPr sz="1700" b="1" i="0">
                <a:solidFill>
                  <a:srgbClr val="FFFFFF"/>
                </a:solidFill>
              </a:rPr>
              <a:t>Pre-distributivas</a:t>
            </a:r>
          </a:p>
        </p:txBody>
      </p:sp>
      <p:sp>
        <p:nvSpPr>
          <p:cNvPr id="8" name="TextBox 7"/>
          <p:cNvSpPr txBox="1"/>
          <p:nvPr/>
        </p:nvSpPr>
        <p:spPr>
          <a:xfrm>
            <a:off x="685800" y="2743200"/>
            <a:ext cx="3200400" cy="365760"/>
          </a:xfrm>
          <a:prstGeom prst="rect">
            <a:avLst/>
          </a:prstGeom>
          <a:noFill/>
          <a:ln>
            <a:noFill/>
          </a:ln>
        </p:spPr>
        <p:txBody>
          <a:bodyPr wrap="square">
            <a:noAutofit/>
          </a:bodyPr>
          <a:lstStyle/>
          <a:p>
            <a:pPr algn="l"/>
            <a:r>
              <a:rPr sz="1300" b="0" i="0">
                <a:solidFill>
                  <a:srgbClr val="CCE899"/>
                </a:solidFill>
              </a:rPr>
              <a:t>Antes del mercado</a:t>
            </a:r>
          </a:p>
        </p:txBody>
      </p:sp>
      <p:sp>
        <p:nvSpPr>
          <p:cNvPr id="9" name="TextBox 8"/>
          <p:cNvSpPr txBox="1"/>
          <p:nvPr/>
        </p:nvSpPr>
        <p:spPr>
          <a:xfrm>
            <a:off x="685800" y="3246120"/>
            <a:ext cx="3200400" cy="548640"/>
          </a:xfrm>
          <a:prstGeom prst="rect">
            <a:avLst/>
          </a:prstGeom>
          <a:noFill/>
          <a:ln>
            <a:noFill/>
          </a:ln>
        </p:spPr>
        <p:txBody>
          <a:bodyPr wrap="square">
            <a:noAutofit/>
          </a:bodyPr>
          <a:lstStyle/>
          <a:p>
            <a:pPr algn="l"/>
            <a:r>
              <a:rPr sz="1300" b="0" i="0">
                <a:solidFill>
                  <a:srgbClr val="FFFFFF"/>
                </a:solidFill>
              </a:rPr>
              <a:t>→ Inversión en educación temprana</a:t>
            </a:r>
          </a:p>
        </p:txBody>
      </p:sp>
      <p:sp>
        <p:nvSpPr>
          <p:cNvPr id="10" name="TextBox 9"/>
          <p:cNvSpPr txBox="1"/>
          <p:nvPr/>
        </p:nvSpPr>
        <p:spPr>
          <a:xfrm>
            <a:off x="685800" y="3840480"/>
            <a:ext cx="3200400" cy="548640"/>
          </a:xfrm>
          <a:prstGeom prst="rect">
            <a:avLst/>
          </a:prstGeom>
          <a:noFill/>
          <a:ln>
            <a:noFill/>
          </a:ln>
        </p:spPr>
        <p:txBody>
          <a:bodyPr wrap="square">
            <a:noAutofit/>
          </a:bodyPr>
          <a:lstStyle/>
          <a:p>
            <a:pPr algn="l"/>
            <a:r>
              <a:rPr sz="1300" b="0" i="0">
                <a:solidFill>
                  <a:srgbClr val="FFFFFF"/>
                </a:solidFill>
              </a:rPr>
              <a:t>→ Salud materno-infantil</a:t>
            </a:r>
          </a:p>
        </p:txBody>
      </p:sp>
      <p:sp>
        <p:nvSpPr>
          <p:cNvPr id="11" name="TextBox 10"/>
          <p:cNvSpPr txBox="1"/>
          <p:nvPr/>
        </p:nvSpPr>
        <p:spPr>
          <a:xfrm>
            <a:off x="685800" y="4434840"/>
            <a:ext cx="3200400" cy="548640"/>
          </a:xfrm>
          <a:prstGeom prst="rect">
            <a:avLst/>
          </a:prstGeom>
          <a:noFill/>
          <a:ln>
            <a:noFill/>
          </a:ln>
        </p:spPr>
        <p:txBody>
          <a:bodyPr wrap="square">
            <a:noAutofit/>
          </a:bodyPr>
          <a:lstStyle/>
          <a:p>
            <a:pPr algn="l"/>
            <a:r>
              <a:rPr sz="1300" b="0" i="0">
                <a:solidFill>
                  <a:srgbClr val="FFFFFF"/>
                </a:solidFill>
              </a:rPr>
              <a:t>→ Estimulación en primera infancia</a:t>
            </a:r>
          </a:p>
        </p:txBody>
      </p:sp>
      <p:sp>
        <p:nvSpPr>
          <p:cNvPr id="12" name="TextBox 11"/>
          <p:cNvSpPr txBox="1"/>
          <p:nvPr/>
        </p:nvSpPr>
        <p:spPr>
          <a:xfrm>
            <a:off x="685800" y="5029200"/>
            <a:ext cx="3200400" cy="548640"/>
          </a:xfrm>
          <a:prstGeom prst="rect">
            <a:avLst/>
          </a:prstGeom>
          <a:noFill/>
          <a:ln>
            <a:noFill/>
          </a:ln>
        </p:spPr>
        <p:txBody>
          <a:bodyPr wrap="square">
            <a:noAutofit/>
          </a:bodyPr>
          <a:lstStyle/>
          <a:p>
            <a:pPr algn="l"/>
            <a:r>
              <a:rPr sz="1300" b="0" i="0">
                <a:solidFill>
                  <a:srgbClr val="FFFFFF"/>
                </a:solidFill>
              </a:rPr>
              <a:t>→ Iguala el 'punto de partida'</a:t>
            </a:r>
          </a:p>
        </p:txBody>
      </p:sp>
      <p:sp>
        <p:nvSpPr>
          <p:cNvPr id="13" name="Rectangle 12"/>
          <p:cNvSpPr/>
          <p:nvPr/>
        </p:nvSpPr>
        <p:spPr>
          <a:xfrm>
            <a:off x="4480560" y="1508760"/>
            <a:ext cx="3566160" cy="475488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1600200"/>
            <a:ext cx="457200" cy="502920"/>
          </a:xfrm>
          <a:prstGeom prst="rect">
            <a:avLst/>
          </a:prstGeom>
          <a:noFill/>
          <a:ln>
            <a:noFill/>
          </a:ln>
        </p:spPr>
        <p:txBody>
          <a:bodyPr wrap="square">
            <a:noAutofit/>
          </a:bodyPr>
          <a:lstStyle/>
          <a:p>
            <a:pPr algn="l"/>
            <a:r>
              <a:rPr sz="2800" b="1" i="0">
                <a:solidFill>
                  <a:srgbClr val="FFFFFF"/>
                </a:solidFill>
              </a:rPr>
              <a:t>2</a:t>
            </a:r>
          </a:p>
        </p:txBody>
      </p:sp>
      <p:sp>
        <p:nvSpPr>
          <p:cNvPr id="15" name="TextBox 14"/>
          <p:cNvSpPr txBox="1"/>
          <p:nvPr/>
        </p:nvSpPr>
        <p:spPr>
          <a:xfrm>
            <a:off x="4663440" y="2148840"/>
            <a:ext cx="3200400" cy="548640"/>
          </a:xfrm>
          <a:prstGeom prst="rect">
            <a:avLst/>
          </a:prstGeom>
          <a:noFill/>
          <a:ln>
            <a:noFill/>
          </a:ln>
        </p:spPr>
        <p:txBody>
          <a:bodyPr wrap="square">
            <a:noAutofit/>
          </a:bodyPr>
          <a:lstStyle/>
          <a:p>
            <a:pPr algn="l"/>
            <a:r>
              <a:rPr sz="1700" b="1" i="0">
                <a:solidFill>
                  <a:srgbClr val="FFFFFF"/>
                </a:solidFill>
              </a:rPr>
              <a:t>Intervención en mercados</a:t>
            </a:r>
          </a:p>
        </p:txBody>
      </p:sp>
      <p:sp>
        <p:nvSpPr>
          <p:cNvPr id="16" name="TextBox 15"/>
          <p:cNvSpPr txBox="1"/>
          <p:nvPr/>
        </p:nvSpPr>
        <p:spPr>
          <a:xfrm>
            <a:off x="4663440" y="2743200"/>
            <a:ext cx="3200400" cy="365760"/>
          </a:xfrm>
          <a:prstGeom prst="rect">
            <a:avLst/>
          </a:prstGeom>
          <a:noFill/>
          <a:ln>
            <a:noFill/>
          </a:ln>
        </p:spPr>
        <p:txBody>
          <a:bodyPr wrap="square">
            <a:noAutofit/>
          </a:bodyPr>
          <a:lstStyle/>
          <a:p>
            <a:pPr algn="l"/>
            <a:r>
              <a:rPr sz="1300" b="0" i="0">
                <a:solidFill>
                  <a:srgbClr val="CCE899"/>
                </a:solidFill>
              </a:rPr>
              <a:t>Durante el mercado</a:t>
            </a:r>
          </a:p>
        </p:txBody>
      </p:sp>
      <p:sp>
        <p:nvSpPr>
          <p:cNvPr id="17" name="TextBox 16"/>
          <p:cNvSpPr txBox="1"/>
          <p:nvPr/>
        </p:nvSpPr>
        <p:spPr>
          <a:xfrm>
            <a:off x="4663440" y="3246120"/>
            <a:ext cx="3200400" cy="548640"/>
          </a:xfrm>
          <a:prstGeom prst="rect">
            <a:avLst/>
          </a:prstGeom>
          <a:noFill/>
          <a:ln>
            <a:noFill/>
          </a:ln>
        </p:spPr>
        <p:txBody>
          <a:bodyPr wrap="square">
            <a:noAutofit/>
          </a:bodyPr>
          <a:lstStyle/>
          <a:p>
            <a:pPr algn="l"/>
            <a:r>
              <a:rPr sz="1300" b="0" i="0">
                <a:solidFill>
                  <a:srgbClr val="FFFFFF"/>
                </a:solidFill>
              </a:rPr>
              <a:t>→ Salario mínimo y convenios</a:t>
            </a:r>
          </a:p>
        </p:txBody>
      </p:sp>
      <p:sp>
        <p:nvSpPr>
          <p:cNvPr id="18" name="TextBox 17"/>
          <p:cNvSpPr txBox="1"/>
          <p:nvPr/>
        </p:nvSpPr>
        <p:spPr>
          <a:xfrm>
            <a:off x="4663440" y="3840480"/>
            <a:ext cx="3200400" cy="548640"/>
          </a:xfrm>
          <a:prstGeom prst="rect">
            <a:avLst/>
          </a:prstGeom>
          <a:noFill/>
          <a:ln>
            <a:noFill/>
          </a:ln>
        </p:spPr>
        <p:txBody>
          <a:bodyPr wrap="square">
            <a:noAutofit/>
          </a:bodyPr>
          <a:lstStyle/>
          <a:p>
            <a:pPr algn="l"/>
            <a:r>
              <a:rPr sz="1300" b="0" i="0">
                <a:solidFill>
                  <a:srgbClr val="FFFFFF"/>
                </a:solidFill>
              </a:rPr>
              <a:t>→ Fomento de sindicatos</a:t>
            </a:r>
          </a:p>
        </p:txBody>
      </p:sp>
      <p:sp>
        <p:nvSpPr>
          <p:cNvPr id="19" name="TextBox 18"/>
          <p:cNvSpPr txBox="1"/>
          <p:nvPr/>
        </p:nvSpPr>
        <p:spPr>
          <a:xfrm>
            <a:off x="4663440" y="4434840"/>
            <a:ext cx="3200400" cy="548640"/>
          </a:xfrm>
          <a:prstGeom prst="rect">
            <a:avLst/>
          </a:prstGeom>
          <a:noFill/>
          <a:ln>
            <a:noFill/>
          </a:ln>
        </p:spPr>
        <p:txBody>
          <a:bodyPr wrap="square">
            <a:noAutofit/>
          </a:bodyPr>
          <a:lstStyle/>
          <a:p>
            <a:pPr algn="l"/>
            <a:r>
              <a:rPr sz="1300" b="0" i="0">
                <a:solidFill>
                  <a:srgbClr val="FFFFFF"/>
                </a:solidFill>
              </a:rPr>
              <a:t>→ Leyes antimonopolio</a:t>
            </a:r>
          </a:p>
        </p:txBody>
      </p:sp>
      <p:sp>
        <p:nvSpPr>
          <p:cNvPr id="20" name="TextBox 19"/>
          <p:cNvSpPr txBox="1"/>
          <p:nvPr/>
        </p:nvSpPr>
        <p:spPr>
          <a:xfrm>
            <a:off x="4663440" y="5029200"/>
            <a:ext cx="3200400" cy="548640"/>
          </a:xfrm>
          <a:prstGeom prst="rect">
            <a:avLst/>
          </a:prstGeom>
          <a:noFill/>
          <a:ln>
            <a:noFill/>
          </a:ln>
        </p:spPr>
        <p:txBody>
          <a:bodyPr wrap="square">
            <a:noAutofit/>
          </a:bodyPr>
          <a:lstStyle/>
          <a:p>
            <a:pPr algn="l"/>
            <a:r>
              <a:rPr sz="1300" b="0" i="0">
                <a:solidFill>
                  <a:srgbClr val="FFFFFF"/>
                </a:solidFill>
              </a:rPr>
              <a:t>→ Subsidios al transporte / rural</a:t>
            </a:r>
          </a:p>
        </p:txBody>
      </p:sp>
      <p:sp>
        <p:nvSpPr>
          <p:cNvPr id="21" name="Rectangle 20"/>
          <p:cNvSpPr/>
          <p:nvPr/>
        </p:nvSpPr>
        <p:spPr>
          <a:xfrm>
            <a:off x="8503920" y="1508760"/>
            <a:ext cx="3566160" cy="4754880"/>
          </a:xfrm>
          <a:prstGeom prst="rect">
            <a:avLst/>
          </a:prstGeom>
          <a:solidFill>
            <a:srgbClr val="4A7C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41080" y="1600200"/>
            <a:ext cx="457200" cy="502920"/>
          </a:xfrm>
          <a:prstGeom prst="rect">
            <a:avLst/>
          </a:prstGeom>
          <a:noFill/>
          <a:ln>
            <a:noFill/>
          </a:ln>
        </p:spPr>
        <p:txBody>
          <a:bodyPr wrap="square">
            <a:noAutofit/>
          </a:bodyPr>
          <a:lstStyle/>
          <a:p>
            <a:pPr algn="l"/>
            <a:r>
              <a:rPr sz="2800" b="1" i="0">
                <a:solidFill>
                  <a:srgbClr val="FFFFFF"/>
                </a:solidFill>
              </a:rPr>
              <a:t>3</a:t>
            </a:r>
          </a:p>
        </p:txBody>
      </p:sp>
      <p:sp>
        <p:nvSpPr>
          <p:cNvPr id="23" name="TextBox 22"/>
          <p:cNvSpPr txBox="1"/>
          <p:nvPr/>
        </p:nvSpPr>
        <p:spPr>
          <a:xfrm>
            <a:off x="8686800" y="2148840"/>
            <a:ext cx="3200400" cy="548640"/>
          </a:xfrm>
          <a:prstGeom prst="rect">
            <a:avLst/>
          </a:prstGeom>
          <a:noFill/>
          <a:ln>
            <a:noFill/>
          </a:ln>
        </p:spPr>
        <p:txBody>
          <a:bodyPr wrap="square">
            <a:noAutofit/>
          </a:bodyPr>
          <a:lstStyle/>
          <a:p>
            <a:pPr algn="l"/>
            <a:r>
              <a:rPr sz="1700" b="1" i="0">
                <a:solidFill>
                  <a:srgbClr val="FFFFFF"/>
                </a:solidFill>
              </a:rPr>
              <a:t>Redistributivas</a:t>
            </a:r>
          </a:p>
        </p:txBody>
      </p:sp>
      <p:sp>
        <p:nvSpPr>
          <p:cNvPr id="24" name="TextBox 23"/>
          <p:cNvSpPr txBox="1"/>
          <p:nvPr/>
        </p:nvSpPr>
        <p:spPr>
          <a:xfrm>
            <a:off x="8686800" y="2743200"/>
            <a:ext cx="3200400" cy="365760"/>
          </a:xfrm>
          <a:prstGeom prst="rect">
            <a:avLst/>
          </a:prstGeom>
          <a:noFill/>
          <a:ln>
            <a:noFill/>
          </a:ln>
        </p:spPr>
        <p:txBody>
          <a:bodyPr wrap="square">
            <a:noAutofit/>
          </a:bodyPr>
          <a:lstStyle/>
          <a:p>
            <a:pPr algn="l"/>
            <a:r>
              <a:rPr sz="1300" b="0" i="0">
                <a:solidFill>
                  <a:srgbClr val="CCE899"/>
                </a:solidFill>
              </a:rPr>
              <a:t>Después del mercado</a:t>
            </a:r>
          </a:p>
        </p:txBody>
      </p:sp>
      <p:sp>
        <p:nvSpPr>
          <p:cNvPr id="25" name="TextBox 24"/>
          <p:cNvSpPr txBox="1"/>
          <p:nvPr/>
        </p:nvSpPr>
        <p:spPr>
          <a:xfrm>
            <a:off x="8686800" y="3246120"/>
            <a:ext cx="3200400" cy="548640"/>
          </a:xfrm>
          <a:prstGeom prst="rect">
            <a:avLst/>
          </a:prstGeom>
          <a:noFill/>
          <a:ln>
            <a:noFill/>
          </a:ln>
        </p:spPr>
        <p:txBody>
          <a:bodyPr wrap="square">
            <a:noAutofit/>
          </a:bodyPr>
          <a:lstStyle/>
          <a:p>
            <a:pPr algn="l"/>
            <a:r>
              <a:rPr sz="1300" b="0" i="0">
                <a:solidFill>
                  <a:srgbClr val="FFFFFF"/>
                </a:solidFill>
              </a:rPr>
              <a:t>→ Impuestos progresivos</a:t>
            </a:r>
          </a:p>
        </p:txBody>
      </p:sp>
      <p:sp>
        <p:nvSpPr>
          <p:cNvPr id="26" name="TextBox 25"/>
          <p:cNvSpPr txBox="1"/>
          <p:nvPr/>
        </p:nvSpPr>
        <p:spPr>
          <a:xfrm>
            <a:off x="8686800" y="3840480"/>
            <a:ext cx="3200400" cy="548640"/>
          </a:xfrm>
          <a:prstGeom prst="rect">
            <a:avLst/>
          </a:prstGeom>
          <a:noFill/>
          <a:ln>
            <a:noFill/>
          </a:ln>
        </p:spPr>
        <p:txBody>
          <a:bodyPr wrap="square">
            <a:noAutofit/>
          </a:bodyPr>
          <a:lstStyle/>
          <a:p>
            <a:pPr algn="l"/>
            <a:r>
              <a:rPr sz="1300" b="0" i="0">
                <a:solidFill>
                  <a:srgbClr val="FFFFFF"/>
                </a:solidFill>
              </a:rPr>
              <a:t>→ Seguro de desempleo</a:t>
            </a:r>
          </a:p>
        </p:txBody>
      </p:sp>
      <p:sp>
        <p:nvSpPr>
          <p:cNvPr id="27" name="TextBox 26"/>
          <p:cNvSpPr txBox="1"/>
          <p:nvPr/>
        </p:nvSpPr>
        <p:spPr>
          <a:xfrm>
            <a:off x="8686800" y="4434840"/>
            <a:ext cx="3200400" cy="548640"/>
          </a:xfrm>
          <a:prstGeom prst="rect">
            <a:avLst/>
          </a:prstGeom>
          <a:noFill/>
          <a:ln>
            <a:noFill/>
          </a:ln>
        </p:spPr>
        <p:txBody>
          <a:bodyPr wrap="square">
            <a:noAutofit/>
          </a:bodyPr>
          <a:lstStyle/>
          <a:p>
            <a:pPr algn="l"/>
            <a:r>
              <a:rPr sz="1300" b="0" i="0">
                <a:solidFill>
                  <a:srgbClr val="FFFFFF"/>
                </a:solidFill>
              </a:rPr>
              <a:t>→ Transferencias condicionadas</a:t>
            </a:r>
          </a:p>
        </p:txBody>
      </p:sp>
      <p:sp>
        <p:nvSpPr>
          <p:cNvPr id="28" name="TextBox 27"/>
          <p:cNvSpPr txBox="1"/>
          <p:nvPr/>
        </p:nvSpPr>
        <p:spPr>
          <a:xfrm>
            <a:off x="8686800" y="5029200"/>
            <a:ext cx="3200400" cy="548640"/>
          </a:xfrm>
          <a:prstGeom prst="rect">
            <a:avLst/>
          </a:prstGeom>
          <a:noFill/>
          <a:ln>
            <a:noFill/>
          </a:ln>
        </p:spPr>
        <p:txBody>
          <a:bodyPr wrap="square">
            <a:noAutofit/>
          </a:bodyPr>
          <a:lstStyle/>
          <a:p>
            <a:pPr algn="l"/>
            <a:r>
              <a:rPr sz="1300" b="0" i="0">
                <a:solidFill>
                  <a:srgbClr val="FFFFFF"/>
                </a:solidFill>
              </a:rPr>
              <a:t>→ Pensiones y jubilaciones</a:t>
            </a:r>
          </a:p>
        </p:txBody>
      </p:sp>
      <p:sp>
        <p:nvSpPr>
          <p:cNvPr id="29" name="TextBox 28"/>
          <p:cNvSpPr txBox="1"/>
          <p:nvPr/>
        </p:nvSpPr>
        <p:spPr>
          <a:xfrm>
            <a:off x="502920" y="6355080"/>
            <a:ext cx="11185855" cy="492443"/>
          </a:xfrm>
          <a:prstGeom prst="rect">
            <a:avLst/>
          </a:prstGeom>
          <a:solidFill>
            <a:srgbClr val="E8F4D6"/>
          </a:solidFill>
          <a:ln>
            <a:noFill/>
          </a:ln>
        </p:spPr>
        <p:txBody>
          <a:bodyPr wrap="square">
            <a:spAutoFit/>
          </a:bodyPr>
          <a:lstStyle/>
          <a:p>
            <a:pPr algn="l"/>
            <a:r>
              <a:rPr sz="1300" b="0" dirty="0">
                <a:solidFill>
                  <a:srgbClr val="2C5F2D"/>
                </a:solidFill>
              </a:rPr>
              <a:t>Las </a:t>
            </a:r>
            <a:r>
              <a:rPr sz="1300" b="0" dirty="0" err="1">
                <a:solidFill>
                  <a:srgbClr val="2C5F2D"/>
                </a:solidFill>
              </a:rPr>
              <a:t>políticas</a:t>
            </a:r>
            <a:r>
              <a:rPr sz="1300" b="0" dirty="0">
                <a:solidFill>
                  <a:srgbClr val="2C5F2D"/>
                </a:solidFill>
              </a:rPr>
              <a:t> pre-</a:t>
            </a:r>
            <a:r>
              <a:rPr sz="1300" b="0" dirty="0" err="1">
                <a:solidFill>
                  <a:srgbClr val="2C5F2D"/>
                </a:solidFill>
              </a:rPr>
              <a:t>distributivas</a:t>
            </a:r>
            <a:r>
              <a:rPr sz="1300" b="0" dirty="0">
                <a:solidFill>
                  <a:srgbClr val="2C5F2D"/>
                </a:solidFill>
              </a:rPr>
              <a:t> (Sen/Rawls) </a:t>
            </a:r>
            <a:r>
              <a:rPr sz="1300" b="0" dirty="0" err="1">
                <a:solidFill>
                  <a:srgbClr val="2C5F2D"/>
                </a:solidFill>
              </a:rPr>
              <a:t>atacan</a:t>
            </a:r>
            <a:r>
              <a:rPr sz="1300" b="0" dirty="0">
                <a:solidFill>
                  <a:srgbClr val="2C5F2D"/>
                </a:solidFill>
              </a:rPr>
              <a:t> la causa </a:t>
            </a:r>
            <a:r>
              <a:rPr sz="1300" b="0" dirty="0" err="1">
                <a:solidFill>
                  <a:srgbClr val="2C5F2D"/>
                </a:solidFill>
              </a:rPr>
              <a:t>raíz</a:t>
            </a:r>
            <a:r>
              <a:rPr sz="1300" b="0" dirty="0">
                <a:solidFill>
                  <a:srgbClr val="2C5F2D"/>
                </a:solidFill>
              </a:rPr>
              <a:t>.
Las </a:t>
            </a:r>
            <a:r>
              <a:rPr sz="1300" b="0" dirty="0" err="1">
                <a:solidFill>
                  <a:srgbClr val="2C5F2D"/>
                </a:solidFill>
              </a:rPr>
              <a:t>redistributivas</a:t>
            </a:r>
            <a:r>
              <a:rPr sz="1300" b="0" dirty="0">
                <a:solidFill>
                  <a:srgbClr val="2C5F2D"/>
                </a:solidFill>
              </a:rPr>
              <a:t> (Mill/</a:t>
            </a:r>
            <a:r>
              <a:rPr sz="1300" b="0" dirty="0" err="1">
                <a:solidFill>
                  <a:srgbClr val="2C5F2D"/>
                </a:solidFill>
              </a:rPr>
              <a:t>Consenso</a:t>
            </a:r>
            <a:r>
              <a:rPr sz="1300" b="0" dirty="0">
                <a:solidFill>
                  <a:srgbClr val="2C5F2D"/>
                </a:solidFill>
              </a:rPr>
              <a:t> Washington) son </a:t>
            </a:r>
            <a:r>
              <a:rPr sz="1300" b="0" dirty="0" err="1">
                <a:solidFill>
                  <a:srgbClr val="2C5F2D"/>
                </a:solidFill>
              </a:rPr>
              <a:t>insuficientes</a:t>
            </a:r>
            <a:r>
              <a:rPr lang="es-US" sz="1300" dirty="0">
                <a:solidFill>
                  <a:srgbClr val="2C5F2D"/>
                </a:solidFill>
              </a:rPr>
              <a:t> </a:t>
            </a:r>
            <a:r>
              <a:rPr sz="1300" b="0" dirty="0" err="1">
                <a:solidFill>
                  <a:srgbClr val="2C5F2D"/>
                </a:solidFill>
              </a:rPr>
              <a:t>en</a:t>
            </a:r>
            <a:r>
              <a:rPr sz="1300" b="0" dirty="0">
                <a:solidFill>
                  <a:srgbClr val="2C5F2D"/>
                </a:solidFill>
              </a:rPr>
              <a:t> </a:t>
            </a:r>
            <a:r>
              <a:rPr sz="1300" b="0" dirty="0" err="1">
                <a:solidFill>
                  <a:srgbClr val="2C5F2D"/>
                </a:solidFill>
              </a:rPr>
              <a:t>países</a:t>
            </a:r>
            <a:r>
              <a:rPr sz="1300" b="0" dirty="0">
                <a:solidFill>
                  <a:srgbClr val="2C5F2D"/>
                </a:solidFill>
              </a:rPr>
              <a:t> con baja </a:t>
            </a:r>
            <a:r>
              <a:rPr sz="1300" b="0" dirty="0" err="1">
                <a:solidFill>
                  <a:srgbClr val="2C5F2D"/>
                </a:solidFill>
              </a:rPr>
              <a:t>recaudación</a:t>
            </a:r>
            <a:r>
              <a:rPr sz="1300" b="0" dirty="0">
                <a:solidFill>
                  <a:srgbClr val="2C5F2D"/>
                </a:solidFill>
              </a:rPr>
              <a:t> e </a:t>
            </a:r>
            <a:r>
              <a:rPr sz="1300" b="0" dirty="0" err="1">
                <a:solidFill>
                  <a:srgbClr val="2C5F2D"/>
                </a:solidFill>
              </a:rPr>
              <a:t>informalidad</a:t>
            </a:r>
            <a:r>
              <a:rPr sz="1300" b="0" dirty="0">
                <a:solidFill>
                  <a:srgbClr val="2C5F2D"/>
                </a:solidFill>
              </a:rPr>
              <a:t> </a:t>
            </a:r>
            <a:r>
              <a:rPr sz="1300" b="0" dirty="0" err="1">
                <a:solidFill>
                  <a:srgbClr val="2C5F2D"/>
                </a:solidFill>
              </a:rPr>
              <a:t>elevada</a:t>
            </a:r>
            <a:r>
              <a:rPr sz="1300" b="0" dirty="0">
                <a:solidFill>
                  <a:srgbClr val="2C5F2D"/>
                </a:solidFill>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U4_5 — DEBATE EFICIENCIA VS. EQUIDAD</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a:solidFill>
                  <a:srgbClr val="2C5F2D"/>
                </a:solidFill>
              </a:rPr>
              <a:t>¿Eficiencia y equidad son incompatibles?</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508760"/>
            <a:ext cx="11185855" cy="1188720"/>
          </a:xfrm>
          <a:prstGeom prst="rect">
            <a:avLst/>
          </a:prstGeom>
          <a:noFill/>
          <a:ln>
            <a:noFill/>
          </a:ln>
        </p:spPr>
        <p:txBody>
          <a:bodyPr wrap="square">
            <a:noAutofit/>
          </a:bodyPr>
          <a:lstStyle/>
          <a:p>
            <a:pPr algn="l">
              <a:spcBef>
                <a:spcPts val="0"/>
              </a:spcBef>
            </a:pPr>
            <a:r>
              <a:rPr sz="1500" b="1">
                <a:solidFill>
                  <a:srgbClr val="2C5F2D"/>
                </a:solidFill>
              </a:rPr>
              <a:t>Visión clásica (Mill, Diamond, Mirrlees / Consenso de Washington):</a:t>
            </a:r>
          </a:p>
          <a:p>
            <a:pPr algn="l">
              <a:spcBef>
                <a:spcPts val="500"/>
              </a:spcBef>
            </a:pPr>
            <a:r>
              <a:rPr sz="1400" b="0">
                <a:solidFill>
                  <a:srgbClr val="1A1A1A"/>
                </a:solidFill>
              </a:rPr>
              <a:t>No hay contradicción: el MERCADO maximiza eficiencia y el ESTADO redistribuye después.</a:t>
            </a:r>
          </a:p>
          <a:p>
            <a:pPr algn="l">
              <a:spcBef>
                <a:spcPts val="500"/>
              </a:spcBef>
            </a:pPr>
            <a:r>
              <a:rPr sz="1400" b="0">
                <a:solidFill>
                  <a:srgbClr val="5A822A"/>
                </a:solidFill>
              </a:rPr>
              <a:t>→ 'Agrandá la torta primero, repartila después.'</a:t>
            </a:r>
          </a:p>
        </p:txBody>
      </p:sp>
      <p:sp>
        <p:nvSpPr>
          <p:cNvPr id="6" name="TextBox 5"/>
          <p:cNvSpPr txBox="1"/>
          <p:nvPr/>
        </p:nvSpPr>
        <p:spPr>
          <a:xfrm>
            <a:off x="502920" y="2880360"/>
            <a:ext cx="11185855" cy="2286000"/>
          </a:xfrm>
          <a:prstGeom prst="rect">
            <a:avLst/>
          </a:prstGeom>
          <a:noFill/>
          <a:ln>
            <a:noFill/>
          </a:ln>
        </p:spPr>
        <p:txBody>
          <a:bodyPr wrap="square">
            <a:noAutofit/>
          </a:bodyPr>
          <a:lstStyle/>
          <a:p>
            <a:pPr algn="l">
              <a:spcBef>
                <a:spcPts val="0"/>
              </a:spcBef>
            </a:pPr>
            <a:r>
              <a:rPr sz="1500" b="1">
                <a:solidFill>
                  <a:srgbClr val="C03B1F"/>
                </a:solidFill>
              </a:rPr>
              <a:t>El límite: ¿por qué falla en países en desarrollo?</a:t>
            </a:r>
          </a:p>
          <a:p>
            <a:pPr algn="l">
              <a:spcBef>
                <a:spcPts val="600"/>
              </a:spcBef>
            </a:pPr>
            <a:r>
              <a:rPr sz="1400" b="0">
                <a:solidFill>
                  <a:srgbClr val="1A1A1A"/>
                </a:solidFill>
              </a:rPr>
              <a:t>1. Baja capacidad fiscal por alta informalidad → el Estado no puede redistribuir eficazmente.</a:t>
            </a:r>
          </a:p>
          <a:p>
            <a:pPr algn="l">
              <a:spcBef>
                <a:spcPts val="600"/>
              </a:spcBef>
            </a:pPr>
            <a:r>
              <a:rPr sz="1400" b="0">
                <a:solidFill>
                  <a:srgbClr val="1A1A1A"/>
                </a:solidFill>
              </a:rPr>
              <a:t>2. El mercado por sí solo no garantiza el enfoque de capacidades de Sen.</a:t>
            </a:r>
          </a:p>
          <a:p>
            <a:pPr algn="l">
              <a:spcBef>
                <a:spcPts val="600"/>
              </a:spcBef>
            </a:pPr>
            <a:r>
              <a:rPr sz="1400" b="0">
                <a:solidFill>
                  <a:srgbClr val="1A1A1A"/>
                </a:solidFill>
              </a:rPr>
              <a:t>3. Sin predistribución, las brechas se vuelven estructurales e irreversibles.</a:t>
            </a:r>
          </a:p>
          <a:p>
            <a:pPr algn="l">
              <a:spcBef>
                <a:spcPts val="600"/>
              </a:spcBef>
            </a:pPr>
            <a:r>
              <a:rPr sz="1400" b="1">
                <a:solidFill>
                  <a:srgbClr val="2C5F2D"/>
                </a:solidFill>
              </a:rPr>
              <a:t>→ No se puede separar eficiencia de equidad: hay que intervenir ANTES del mercado.</a:t>
            </a:r>
          </a:p>
        </p:txBody>
      </p:sp>
      <p:sp>
        <p:nvSpPr>
          <p:cNvPr id="7" name="TextBox 6"/>
          <p:cNvSpPr txBox="1"/>
          <p:nvPr/>
        </p:nvSpPr>
        <p:spPr>
          <a:xfrm>
            <a:off x="502920" y="5303520"/>
            <a:ext cx="11185855" cy="1097280"/>
          </a:xfrm>
          <a:prstGeom prst="rect">
            <a:avLst/>
          </a:prstGeom>
          <a:solidFill>
            <a:srgbClr val="E8F4D6"/>
          </a:solidFill>
          <a:ln>
            <a:noFill/>
          </a:ln>
        </p:spPr>
        <p:txBody>
          <a:bodyPr wrap="square">
            <a:spAutoFit/>
          </a:bodyPr>
          <a:lstStyle/>
          <a:p>
            <a:pPr algn="l"/>
            <a:r>
              <a:rPr sz="1400" b="0">
                <a:solidFill>
                  <a:srgbClr val="2C5F2D"/>
                </a:solidFill>
              </a:rPr>
              <a:t>Conclusión: En el mundo en desarrollo, la separación eficiencia-equidad es una ilusión.
El Estado debe intervenir en la predistribución para garantizar derechos reales,
no solo transferencias monetarias post-mercado.</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RELACIONES CONCEPTUALES</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600" b="1" i="0" dirty="0" err="1">
                <a:solidFill>
                  <a:srgbClr val="2C5F2D"/>
                </a:solidFill>
              </a:rPr>
              <a:t>Relación</a:t>
            </a:r>
            <a:r>
              <a:rPr sz="3600" b="1" i="0" dirty="0">
                <a:solidFill>
                  <a:srgbClr val="2C5F2D"/>
                </a:solidFill>
              </a:rPr>
              <a:t> circular: </a:t>
            </a:r>
            <a:r>
              <a:rPr sz="3600" b="1" i="0" dirty="0" err="1">
                <a:solidFill>
                  <a:srgbClr val="2C5F2D"/>
                </a:solidFill>
              </a:rPr>
              <a:t>pobreza</a:t>
            </a:r>
            <a:r>
              <a:rPr sz="3600" b="1" i="0" dirty="0">
                <a:solidFill>
                  <a:srgbClr val="2C5F2D"/>
                </a:solidFill>
              </a:rPr>
              <a:t> — </a:t>
            </a:r>
            <a:r>
              <a:rPr sz="3600" b="1" i="0" dirty="0" err="1">
                <a:solidFill>
                  <a:srgbClr val="2C5F2D"/>
                </a:solidFill>
              </a:rPr>
              <a:t>desigualdad</a:t>
            </a:r>
            <a:r>
              <a:rPr sz="3600" b="1" i="0" dirty="0">
                <a:solidFill>
                  <a:srgbClr val="2C5F2D"/>
                </a:solidFill>
              </a:rPr>
              <a:t> — </a:t>
            </a:r>
            <a:r>
              <a:rPr sz="3600" b="1" i="0" dirty="0" err="1">
                <a:solidFill>
                  <a:srgbClr val="2C5F2D"/>
                </a:solidFill>
              </a:rPr>
              <a:t>crecimiento</a:t>
            </a:r>
            <a:endParaRPr sz="3600" b="1" i="0" dirty="0">
              <a:solidFill>
                <a:srgbClr val="2C5F2D"/>
              </a:solidFill>
            </a:endParaRP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508760"/>
            <a:ext cx="11185855" cy="457200"/>
          </a:xfrm>
          <a:prstGeom prst="rect">
            <a:avLst/>
          </a:prstGeom>
          <a:solidFill>
            <a:srgbClr val="E8F4D6"/>
          </a:solidFill>
          <a:ln>
            <a:noFill/>
          </a:ln>
        </p:spPr>
        <p:txBody>
          <a:bodyPr wrap="square">
            <a:spAutoFit/>
          </a:bodyPr>
          <a:lstStyle/>
          <a:p>
            <a:pPr algn="l"/>
            <a:r>
              <a:rPr sz="1400" b="0" dirty="0">
                <a:solidFill>
                  <a:srgbClr val="2C5F2D"/>
                </a:solidFill>
              </a:rPr>
              <a:t>El </a:t>
            </a:r>
            <a:r>
              <a:rPr sz="1400" b="0" dirty="0" err="1">
                <a:solidFill>
                  <a:srgbClr val="2C5F2D"/>
                </a:solidFill>
              </a:rPr>
              <a:t>vínculo</a:t>
            </a:r>
            <a:r>
              <a:rPr sz="1400" b="0" dirty="0">
                <a:solidFill>
                  <a:srgbClr val="2C5F2D"/>
                </a:solidFill>
              </a:rPr>
              <a:t> es circular y </a:t>
            </a:r>
            <a:r>
              <a:rPr sz="1400" b="0" dirty="0" err="1">
                <a:solidFill>
                  <a:srgbClr val="2C5F2D"/>
                </a:solidFill>
              </a:rPr>
              <a:t>bidireccional</a:t>
            </a:r>
            <a:r>
              <a:rPr sz="1400" b="0" dirty="0">
                <a:solidFill>
                  <a:srgbClr val="2C5F2D"/>
                </a:solidFill>
              </a:rPr>
              <a:t>: </a:t>
            </a:r>
            <a:r>
              <a:rPr sz="1400" b="0" dirty="0" err="1">
                <a:solidFill>
                  <a:srgbClr val="2C5F2D"/>
                </a:solidFill>
              </a:rPr>
              <a:t>ningún</a:t>
            </a:r>
            <a:r>
              <a:rPr sz="1400" b="0" dirty="0">
                <a:solidFill>
                  <a:srgbClr val="2C5F2D"/>
                </a:solidFill>
              </a:rPr>
              <a:t> factor es solo causa o solo </a:t>
            </a:r>
            <a:r>
              <a:rPr sz="1400" b="0" dirty="0" err="1">
                <a:solidFill>
                  <a:srgbClr val="2C5F2D"/>
                </a:solidFill>
              </a:rPr>
              <a:t>consecuencia</a:t>
            </a:r>
            <a:r>
              <a:rPr sz="1400" b="0" dirty="0">
                <a:solidFill>
                  <a:srgbClr val="2C5F2D"/>
                </a:solidFill>
              </a:rPr>
              <a:t>.</a:t>
            </a:r>
          </a:p>
        </p:txBody>
      </p:sp>
      <p:sp>
        <p:nvSpPr>
          <p:cNvPr id="6" name="Rectangle 5"/>
          <p:cNvSpPr/>
          <p:nvPr/>
        </p:nvSpPr>
        <p:spPr>
          <a:xfrm>
            <a:off x="1371600" y="2103120"/>
            <a:ext cx="3840480" cy="822960"/>
          </a:xfrm>
          <a:prstGeom prst="rect">
            <a:avLst/>
          </a:prstGeom>
          <a:solidFill>
            <a:srgbClr val="2C5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08760" y="2240280"/>
            <a:ext cx="3566160" cy="548640"/>
          </a:xfrm>
          <a:prstGeom prst="rect">
            <a:avLst/>
          </a:prstGeom>
          <a:noFill/>
          <a:ln>
            <a:noFill/>
          </a:ln>
        </p:spPr>
        <p:txBody>
          <a:bodyPr wrap="square">
            <a:noAutofit/>
          </a:bodyPr>
          <a:lstStyle/>
          <a:p>
            <a:pPr algn="ctr"/>
            <a:r>
              <a:rPr sz="1800" b="1" i="0">
                <a:solidFill>
                  <a:srgbClr val="FFFFFF"/>
                </a:solidFill>
              </a:rPr>
              <a:t>ALTA DESIGUALDAD</a:t>
            </a:r>
          </a:p>
        </p:txBody>
      </p:sp>
      <p:sp>
        <p:nvSpPr>
          <p:cNvPr id="8" name="Rectangle 7"/>
          <p:cNvSpPr/>
          <p:nvPr/>
        </p:nvSpPr>
        <p:spPr>
          <a:xfrm>
            <a:off x="4297680" y="3611880"/>
            <a:ext cx="3840480" cy="82296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34840" y="3749040"/>
            <a:ext cx="3566160" cy="548640"/>
          </a:xfrm>
          <a:prstGeom prst="rect">
            <a:avLst/>
          </a:prstGeom>
          <a:noFill/>
          <a:ln>
            <a:noFill/>
          </a:ln>
        </p:spPr>
        <p:txBody>
          <a:bodyPr wrap="square">
            <a:noAutofit/>
          </a:bodyPr>
          <a:lstStyle/>
          <a:p>
            <a:pPr algn="ctr"/>
            <a:r>
              <a:rPr sz="1800" b="1" i="0">
                <a:solidFill>
                  <a:srgbClr val="FFFFFF"/>
                </a:solidFill>
              </a:rPr>
              <a:t>BAJO CRECIMIENTO</a:t>
            </a:r>
          </a:p>
        </p:txBody>
      </p:sp>
      <p:sp>
        <p:nvSpPr>
          <p:cNvPr id="10" name="Rectangle 9"/>
          <p:cNvSpPr/>
          <p:nvPr/>
        </p:nvSpPr>
        <p:spPr>
          <a:xfrm>
            <a:off x="1371600" y="5074920"/>
            <a:ext cx="3840480" cy="822960"/>
          </a:xfrm>
          <a:prstGeom prst="rect">
            <a:avLst/>
          </a:prstGeom>
          <a:solidFill>
            <a:srgbClr val="2C5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508760" y="5212080"/>
            <a:ext cx="3566160" cy="548640"/>
          </a:xfrm>
          <a:prstGeom prst="rect">
            <a:avLst/>
          </a:prstGeom>
          <a:noFill/>
          <a:ln>
            <a:noFill/>
          </a:ln>
        </p:spPr>
        <p:txBody>
          <a:bodyPr wrap="square">
            <a:noAutofit/>
          </a:bodyPr>
          <a:lstStyle/>
          <a:p>
            <a:pPr algn="ctr"/>
            <a:r>
              <a:rPr sz="1800" b="1" i="0">
                <a:solidFill>
                  <a:srgbClr val="FFFFFF"/>
                </a:solidFill>
              </a:rPr>
              <a:t>MÁS POBREZA</a:t>
            </a:r>
          </a:p>
        </p:txBody>
      </p:sp>
      <p:sp>
        <p:nvSpPr>
          <p:cNvPr id="12" name="TextBox 11"/>
          <p:cNvSpPr txBox="1"/>
          <p:nvPr/>
        </p:nvSpPr>
        <p:spPr>
          <a:xfrm>
            <a:off x="7315200" y="2148840"/>
            <a:ext cx="4389120" cy="1645920"/>
          </a:xfrm>
          <a:prstGeom prst="rect">
            <a:avLst/>
          </a:prstGeom>
          <a:solidFill>
            <a:srgbClr val="E8F4D6"/>
          </a:solidFill>
          <a:ln>
            <a:noFill/>
          </a:ln>
        </p:spPr>
        <p:txBody>
          <a:bodyPr wrap="square">
            <a:spAutoFit/>
          </a:bodyPr>
          <a:lstStyle/>
          <a:p>
            <a:pPr algn="l"/>
            <a:r>
              <a:rPr sz="1300" b="0">
                <a:solidFill>
                  <a:srgbClr val="444444"/>
                </a:solidFill>
              </a:rPr>
              <a:t>Canales 3,4,5,6,7,8:
• Inestabilidad social → baja inversión
• Crédito imperfecto → sin capital humano
• Captura del Estado por élites
• Baja fertilidad-educación de los pobres</a:t>
            </a:r>
          </a:p>
        </p:txBody>
      </p:sp>
      <p:sp>
        <p:nvSpPr>
          <p:cNvPr id="13" name="TextBox 12"/>
          <p:cNvSpPr txBox="1"/>
          <p:nvPr/>
        </p:nvSpPr>
        <p:spPr>
          <a:xfrm>
            <a:off x="7315200" y="4251960"/>
            <a:ext cx="4389120" cy="1645920"/>
          </a:xfrm>
          <a:prstGeom prst="rect">
            <a:avLst/>
          </a:prstGeom>
          <a:solidFill>
            <a:srgbClr val="E8F4D6"/>
          </a:solidFill>
          <a:ln>
            <a:noFill/>
          </a:ln>
        </p:spPr>
        <p:txBody>
          <a:bodyPr wrap="square">
            <a:spAutoFit/>
          </a:bodyPr>
          <a:lstStyle/>
          <a:p>
            <a:pPr algn="l"/>
            <a:r>
              <a:rPr sz="1300" b="0">
                <a:solidFill>
                  <a:srgbClr val="444444"/>
                </a:solidFill>
              </a:rPr>
              <a:t>América Latina:
Mejora coyuntural (2000s) revertida (2014)
demuestra que sin abordar estructuras
productivas el ciclo se perpetúa.</a:t>
            </a:r>
          </a:p>
        </p:txBody>
      </p:sp>
      <p:sp>
        <p:nvSpPr>
          <p:cNvPr id="15" name="TextBox 4">
            <a:extLst>
              <a:ext uri="{FF2B5EF4-FFF2-40B4-BE49-F238E27FC236}">
                <a16:creationId xmlns:a16="http://schemas.microsoft.com/office/drawing/2014/main" id="{A43A9065-C139-B13C-DF6D-72444D3D8932}"/>
              </a:ext>
            </a:extLst>
          </p:cNvPr>
          <p:cNvSpPr txBox="1"/>
          <p:nvPr/>
        </p:nvSpPr>
        <p:spPr>
          <a:xfrm>
            <a:off x="206587" y="6217920"/>
            <a:ext cx="11185855" cy="307777"/>
          </a:xfrm>
          <a:prstGeom prst="rect">
            <a:avLst/>
          </a:prstGeom>
          <a:solidFill>
            <a:srgbClr val="E8F4D6"/>
          </a:solidFill>
          <a:ln>
            <a:noFill/>
          </a:ln>
        </p:spPr>
        <p:txBody>
          <a:bodyPr wrap="square">
            <a:spAutoFit/>
          </a:bodyPr>
          <a:lstStyle/>
          <a:p>
            <a:pPr algn="l"/>
            <a:r>
              <a:rPr lang="es-MX" sz="1400" b="0" dirty="0">
                <a:solidFill>
                  <a:srgbClr val="2C5F2D"/>
                </a:solidFill>
              </a:rPr>
              <a:t>La clave es que si no se rompe este ciclo desde afuera (con políticas), se perpetúa solo.</a:t>
            </a:r>
            <a:endParaRPr sz="1400" b="0" dirty="0">
              <a:solidFill>
                <a:srgbClr val="2C5F2D"/>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D0CAEA8-6A99-1857-B533-B8352485399D}"/>
              </a:ext>
            </a:extLst>
          </p:cNvPr>
          <p:cNvSpPr txBox="1"/>
          <p:nvPr/>
        </p:nvSpPr>
        <p:spPr>
          <a:xfrm>
            <a:off x="1143000" y="800375"/>
            <a:ext cx="6096000" cy="4801314"/>
          </a:xfrm>
          <a:prstGeom prst="rect">
            <a:avLst/>
          </a:prstGeom>
          <a:noFill/>
        </p:spPr>
        <p:txBody>
          <a:bodyPr wrap="square">
            <a:spAutoFit/>
          </a:bodyPr>
          <a:lstStyle/>
          <a:p>
            <a:pPr>
              <a:buNone/>
            </a:pPr>
            <a:r>
              <a:rPr lang="es-MX" b="1" dirty="0"/>
              <a:t>Inestabilidad social → baja inversión</a:t>
            </a:r>
            <a:r>
              <a:rPr lang="es-MX" dirty="0"/>
              <a:t> — cuando hay mucha desigualdad aparecen conflictos, huelgas, criminalidad. Eso genera incertidumbre y los empresarios invierten menos.</a:t>
            </a:r>
          </a:p>
          <a:p>
            <a:pPr>
              <a:buNone/>
            </a:pPr>
            <a:endParaRPr lang="es-MX" dirty="0"/>
          </a:p>
          <a:p>
            <a:pPr>
              <a:buNone/>
            </a:pPr>
            <a:r>
              <a:rPr lang="es-MX" b="1" dirty="0"/>
              <a:t>Crédito imperfecto → sin capital humano</a:t>
            </a:r>
            <a:r>
              <a:rPr lang="es-MX" dirty="0"/>
              <a:t> — los pobres no tienen garantías para acceder a crédito, entonces no pueden invertir en educación ni en emprendimientos. El talento queda sin desarrollarse.</a:t>
            </a:r>
          </a:p>
          <a:p>
            <a:pPr>
              <a:buNone/>
            </a:pPr>
            <a:endParaRPr lang="es-MX" dirty="0"/>
          </a:p>
          <a:p>
            <a:pPr>
              <a:buNone/>
            </a:pPr>
            <a:r>
              <a:rPr lang="es-MX" b="1" dirty="0"/>
              <a:t>Captura del Estado por élites</a:t>
            </a:r>
            <a:r>
              <a:rPr lang="es-MX" dirty="0"/>
              <a:t> — quienes tienen poder económico también capturan el poder político y diseñan las instituciones a su favor, bloqueando reformas que beneficiarían al </a:t>
            </a:r>
            <a:r>
              <a:rPr lang="es-MX"/>
              <a:t>resto.</a:t>
            </a:r>
          </a:p>
          <a:p>
            <a:pPr>
              <a:buNone/>
            </a:pPr>
            <a:endParaRPr lang="es-MX" dirty="0"/>
          </a:p>
          <a:p>
            <a:pPr>
              <a:buNone/>
            </a:pPr>
            <a:r>
              <a:rPr lang="es-MX" b="1" dirty="0"/>
              <a:t>Baja inversión en educación de los pobres</a:t>
            </a:r>
            <a:r>
              <a:rPr lang="es-MX" dirty="0"/>
              <a:t> — los pobres tienen más hijos pero invierten menos en la educación de cada uno, lo que genera baja productividad en el largo plazo.</a:t>
            </a:r>
          </a:p>
        </p:txBody>
      </p:sp>
    </p:spTree>
    <p:extLst>
      <p:ext uri="{BB962C8B-B14F-4D97-AF65-F5344CB8AC3E}">
        <p14:creationId xmlns:p14="http://schemas.microsoft.com/office/powerpoint/2010/main" val="9694810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HERRAMIENTAS PARA EL EXAMEN</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a:solidFill>
                  <a:srgbClr val="2C5F2D"/>
                </a:solidFill>
              </a:rPr>
              <a:t>Errores conceptuales más comunes</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02920" y="1508760"/>
          <a:ext cx="11185855" cy="4976946"/>
        </p:xfrm>
        <a:graphic>
          <a:graphicData uri="http://schemas.openxmlformats.org/drawingml/2006/table">
            <a:tbl>
              <a:tblPr firstRow="1" bandRow="1">
                <a:tableStyleId>{5C22544A-7EE6-4342-B048-85BDC9FD1C3A}</a:tableStyleId>
              </a:tblPr>
              <a:tblGrid>
                <a:gridCol w="5592927">
                  <a:extLst>
                    <a:ext uri="{9D8B030D-6E8A-4147-A177-3AD203B41FA5}">
                      <a16:colId xmlns:a16="http://schemas.microsoft.com/office/drawing/2014/main" val="20000"/>
                    </a:ext>
                  </a:extLst>
                </a:gridCol>
                <a:gridCol w="5592928">
                  <a:extLst>
                    <a:ext uri="{9D8B030D-6E8A-4147-A177-3AD203B41FA5}">
                      <a16:colId xmlns:a16="http://schemas.microsoft.com/office/drawing/2014/main" val="20001"/>
                    </a:ext>
                  </a:extLst>
                </a:gridCol>
              </a:tblGrid>
              <a:tr h="692331">
                <a:tc>
                  <a:txBody>
                    <a:bodyPr/>
                    <a:lstStyle/>
                    <a:p>
                      <a:pPr algn="ctr"/>
                      <a:r>
                        <a:rPr sz="1300" b="1">
                          <a:solidFill>
                            <a:srgbClr val="FFFFFF"/>
                          </a:solidFill>
                        </a:rPr>
                        <a:t>Error frecuente</a:t>
                      </a:r>
                    </a:p>
                  </a:txBody>
                  <a:tcPr>
                    <a:solidFill>
                      <a:srgbClr val="2C5F2D"/>
                    </a:solidFill>
                  </a:tcPr>
                </a:tc>
                <a:tc>
                  <a:txBody>
                    <a:bodyPr/>
                    <a:lstStyle/>
                    <a:p>
                      <a:pPr algn="ctr"/>
                      <a:r>
                        <a:rPr sz="1300" b="1">
                          <a:solidFill>
                            <a:srgbClr val="FFFFFF"/>
                          </a:solidFill>
                        </a:rPr>
                        <a:t>Corrección</a:t>
                      </a:r>
                    </a:p>
                  </a:txBody>
                  <a:tcPr>
                    <a:solidFill>
                      <a:srgbClr val="2C5F2D"/>
                    </a:solidFill>
                  </a:tcPr>
                </a:tc>
                <a:extLst>
                  <a:ext uri="{0D108BD9-81ED-4DB2-BD59-A6C34878D82A}">
                    <a16:rowId xmlns:a16="http://schemas.microsoft.com/office/drawing/2014/main" val="10000"/>
                  </a:ext>
                </a:extLst>
              </a:tr>
              <a:tr h="692331">
                <a:tc>
                  <a:txBody>
                    <a:bodyPr/>
                    <a:lstStyle/>
                    <a:p>
                      <a:r>
                        <a:rPr sz="1200">
                          <a:solidFill>
                            <a:srgbClr val="1A1A1A"/>
                          </a:solidFill>
                        </a:rPr>
                        <a:t>✗ Confundir indigente con pobre</a:t>
                      </a:r>
                    </a:p>
                  </a:txBody>
                  <a:tcPr>
                    <a:solidFill>
                      <a:srgbClr val="FDF2E8"/>
                    </a:solidFill>
                  </a:tcPr>
                </a:tc>
                <a:tc>
                  <a:txBody>
                    <a:bodyPr/>
                    <a:lstStyle/>
                    <a:p>
                      <a:r>
                        <a:rPr sz="1200">
                          <a:solidFill>
                            <a:srgbClr val="1A1A1A"/>
                          </a:solidFill>
                        </a:rPr>
                        <a:t>INDIGENTE &lt; CBA  |  POBRE &lt; CBT</a:t>
                      </a:r>
                    </a:p>
                    <a:p>
                      <a:r>
                        <a:t>Todo indigente es pobre. No al revés.</a:t>
                      </a:r>
                    </a:p>
                  </a:txBody>
                  <a:tcPr>
                    <a:solidFill>
                      <a:srgbClr val="FDF2E8"/>
                    </a:solidFill>
                  </a:tcPr>
                </a:tc>
                <a:extLst>
                  <a:ext uri="{0D108BD9-81ED-4DB2-BD59-A6C34878D82A}">
                    <a16:rowId xmlns:a16="http://schemas.microsoft.com/office/drawing/2014/main" val="10001"/>
                  </a:ext>
                </a:extLst>
              </a:tr>
              <a:tr h="692331">
                <a:tc>
                  <a:txBody>
                    <a:bodyPr/>
                    <a:lstStyle/>
                    <a:p>
                      <a:r>
                        <a:rPr sz="1200">
                          <a:solidFill>
                            <a:srgbClr val="1A1A1A"/>
                          </a:solidFill>
                        </a:rPr>
                        <a:t>✗ Confundir Gini con FGT α=2</a:t>
                      </a:r>
                    </a:p>
                  </a:txBody>
                  <a:tcPr>
                    <a:solidFill>
                      <a:srgbClr val="FFFFFF"/>
                    </a:solidFill>
                  </a:tcPr>
                </a:tc>
                <a:tc>
                  <a:txBody>
                    <a:bodyPr/>
                    <a:lstStyle/>
                    <a:p>
                      <a:r>
                        <a:rPr sz="1200">
                          <a:solidFill>
                            <a:srgbClr val="1A1A1A"/>
                          </a:solidFill>
                        </a:rPr>
                        <a:t>Gini = desigualdad de TODA la distribución.</a:t>
                      </a:r>
                    </a:p>
                    <a:p>
                      <a:r>
                        <a:t>FGT α=2 = desigualdad DENTRO del grupo pobre.</a:t>
                      </a:r>
                    </a:p>
                  </a:txBody>
                  <a:tcPr>
                    <a:solidFill>
                      <a:srgbClr val="FFFFFF"/>
                    </a:solidFill>
                  </a:tcPr>
                </a:tc>
                <a:extLst>
                  <a:ext uri="{0D108BD9-81ED-4DB2-BD59-A6C34878D82A}">
                    <a16:rowId xmlns:a16="http://schemas.microsoft.com/office/drawing/2014/main" val="10002"/>
                  </a:ext>
                </a:extLst>
              </a:tr>
              <a:tr h="692331">
                <a:tc>
                  <a:txBody>
                    <a:bodyPr/>
                    <a:lstStyle/>
                    <a:p>
                      <a:r>
                        <a:rPr sz="1200">
                          <a:solidFill>
                            <a:srgbClr val="1A1A1A"/>
                          </a:solidFill>
                        </a:rPr>
                        <a:t>✗ Confundir enfoque absoluto con método directo</a:t>
                      </a:r>
                    </a:p>
                  </a:txBody>
                  <a:tcPr>
                    <a:solidFill>
                      <a:srgbClr val="FDF2E8"/>
                    </a:solidFill>
                  </a:tcPr>
                </a:tc>
                <a:tc>
                  <a:txBody>
                    <a:bodyPr/>
                    <a:lstStyle/>
                    <a:p>
                      <a:r>
                        <a:rPr sz="1200">
                          <a:solidFill>
                            <a:srgbClr val="1A1A1A"/>
                          </a:solidFill>
                        </a:rPr>
                        <a:t>Absoluto/Relativo = cómo se define la necesidad.</a:t>
                      </a:r>
                    </a:p>
                    <a:p>
                      <a:r>
                        <a:t>Directo/Indirecto = si se mide resultado o recursos.</a:t>
                      </a:r>
                    </a:p>
                  </a:txBody>
                  <a:tcPr>
                    <a:solidFill>
                      <a:srgbClr val="FDF2E8"/>
                    </a:solidFill>
                  </a:tcPr>
                </a:tc>
                <a:extLst>
                  <a:ext uri="{0D108BD9-81ED-4DB2-BD59-A6C34878D82A}">
                    <a16:rowId xmlns:a16="http://schemas.microsoft.com/office/drawing/2014/main" val="10003"/>
                  </a:ext>
                </a:extLst>
              </a:tr>
              <a:tr h="692331">
                <a:tc>
                  <a:txBody>
                    <a:bodyPr/>
                    <a:lstStyle/>
                    <a:p>
                      <a:r>
                        <a:rPr sz="1200">
                          <a:solidFill>
                            <a:srgbClr val="1A1A1A"/>
                          </a:solidFill>
                        </a:rPr>
                        <a:t>✗ Creer que Kuznets es empíricamente válido</a:t>
                      </a:r>
                    </a:p>
                  </a:txBody>
                  <a:tcPr>
                    <a:solidFill>
                      <a:srgbClr val="FFFFFF"/>
                    </a:solidFill>
                  </a:tcPr>
                </a:tc>
                <a:tc>
                  <a:txBody>
                    <a:bodyPr/>
                    <a:lstStyle/>
                    <a:p>
                      <a:r>
                        <a:rPr sz="1200">
                          <a:solidFill>
                            <a:srgbClr val="1A1A1A"/>
                          </a:solidFill>
                        </a:rPr>
                        <a:t>La U invertida es una HIPÓTESIS, no un hecho.</a:t>
                      </a:r>
                    </a:p>
                    <a:p>
                      <a:r>
                        <a:t>El derrame automático no ocurre en países en desarrollo.</a:t>
                      </a:r>
                    </a:p>
                  </a:txBody>
                  <a:tcPr>
                    <a:solidFill>
                      <a:srgbClr val="FFFFFF"/>
                    </a:solidFill>
                  </a:tcPr>
                </a:tc>
                <a:extLst>
                  <a:ext uri="{0D108BD9-81ED-4DB2-BD59-A6C34878D82A}">
                    <a16:rowId xmlns:a16="http://schemas.microsoft.com/office/drawing/2014/main" val="10004"/>
                  </a:ext>
                </a:extLst>
              </a:tr>
              <a:tr h="692331">
                <a:tc>
                  <a:txBody>
                    <a:bodyPr/>
                    <a:lstStyle/>
                    <a:p>
                      <a:r>
                        <a:rPr sz="1200">
                          <a:solidFill>
                            <a:srgbClr val="1A1A1A"/>
                          </a:solidFill>
                        </a:rPr>
                        <a:t>✗ Creer que redistribuir siempre impulsa el crecimiento</a:t>
                      </a:r>
                    </a:p>
                  </a:txBody>
                  <a:tcPr>
                    <a:solidFill>
                      <a:srgbClr val="FDF2E8"/>
                    </a:solidFill>
                  </a:tcPr>
                </a:tc>
                <a:tc>
                  <a:txBody>
                    <a:bodyPr/>
                    <a:lstStyle/>
                    <a:p>
                      <a:r>
                        <a:rPr sz="1200">
                          <a:solidFill>
                            <a:srgbClr val="1A1A1A"/>
                          </a:solidFill>
                        </a:rPr>
                        <a:t>Canal 6 (Ahorros): en países pobres, redistribuir</a:t>
                      </a:r>
                    </a:p>
                    <a:p>
                      <a:r>
                        <a:t>puede bajar el ahorro nacional y frenar la inversión.</a:t>
                      </a:r>
                    </a:p>
                  </a:txBody>
                  <a:tcPr>
                    <a:solidFill>
                      <a:srgbClr val="FDF2E8"/>
                    </a:solidFill>
                  </a:tcPr>
                </a:tc>
                <a:extLst>
                  <a:ext uri="{0D108BD9-81ED-4DB2-BD59-A6C34878D82A}">
                    <a16:rowId xmlns:a16="http://schemas.microsoft.com/office/drawing/2014/main" val="10005"/>
                  </a:ext>
                </a:extLst>
              </a:tr>
              <a:tr h="692334">
                <a:tc>
                  <a:txBody>
                    <a:bodyPr/>
                    <a:lstStyle/>
                    <a:p>
                      <a:r>
                        <a:rPr sz="1200">
                          <a:solidFill>
                            <a:srgbClr val="1A1A1A"/>
                          </a:solidFill>
                        </a:rPr>
                        <a:t>✗ IPM Alkire-Foster = NBI</a:t>
                      </a:r>
                    </a:p>
                  </a:txBody>
                  <a:tcPr>
                    <a:solidFill>
                      <a:srgbClr val="FFFFFF"/>
                    </a:solidFill>
                  </a:tcPr>
                </a:tc>
                <a:tc>
                  <a:txBody>
                    <a:bodyPr/>
                    <a:lstStyle/>
                    <a:p>
                      <a:r>
                        <a:rPr sz="1200">
                          <a:solidFill>
                            <a:srgbClr val="1A1A1A"/>
                          </a:solidFill>
                        </a:rPr>
                        <a:t>Ambos son multidimensionales y absolutos,</a:t>
                      </a:r>
                    </a:p>
                    <a:p>
                      <a:r>
                        <a:t>pero IPM es flexible y usa H×A. NBI tiene 6 indicadores</a:t>
                      </a:r>
                    </a:p>
                    <a:p>
                      <a:r>
                        <a:t>fijos: con UNA privación ya es pobre.</a:t>
                      </a:r>
                    </a:p>
                  </a:txBody>
                  <a:tcPr>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HERRAMIENTAS PARA EL EXAMEN</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a:solidFill>
                  <a:srgbClr val="2C5F2D"/>
                </a:solidFill>
              </a:rPr>
              <a:t>Afirmaciones trampa: Verdadero o Falso</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508760"/>
            <a:ext cx="11185855" cy="109728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411480" cy="685800"/>
          </a:xfrm>
          <a:prstGeom prst="rect">
            <a:avLst/>
          </a:prstGeom>
          <a:noFill/>
          <a:ln>
            <a:noFill/>
          </a:ln>
        </p:spPr>
        <p:txBody>
          <a:bodyPr wrap="square">
            <a:noAutofit/>
          </a:bodyPr>
          <a:lstStyle/>
          <a:p>
            <a:pPr algn="ctr"/>
            <a:r>
              <a:rPr sz="3000" b="1" i="0">
                <a:solidFill>
                  <a:srgbClr val="2C5F2D"/>
                </a:solidFill>
              </a:rPr>
              <a:t>V</a:t>
            </a:r>
          </a:p>
        </p:txBody>
      </p:sp>
      <p:sp>
        <p:nvSpPr>
          <p:cNvPr id="7" name="TextBox 6"/>
          <p:cNvSpPr txBox="1"/>
          <p:nvPr/>
        </p:nvSpPr>
        <p:spPr>
          <a:xfrm>
            <a:off x="1097280" y="1554480"/>
            <a:ext cx="5669280" cy="502920"/>
          </a:xfrm>
          <a:prstGeom prst="rect">
            <a:avLst/>
          </a:prstGeom>
          <a:noFill/>
          <a:ln>
            <a:noFill/>
          </a:ln>
        </p:spPr>
        <p:txBody>
          <a:bodyPr wrap="square">
            <a:noAutofit/>
          </a:bodyPr>
          <a:lstStyle/>
          <a:p>
            <a:pPr algn="l"/>
            <a:r>
              <a:rPr sz="1300" b="1" i="0">
                <a:solidFill>
                  <a:srgbClr val="1A1A1A"/>
                </a:solidFill>
              </a:rPr>
              <a:t>'Redistribuir ingresos de ricos a pobres puede frenar el crecimiento
en un país pobre.'</a:t>
            </a:r>
          </a:p>
        </p:txBody>
      </p:sp>
      <p:sp>
        <p:nvSpPr>
          <p:cNvPr id="8" name="TextBox 7"/>
          <p:cNvSpPr txBox="1"/>
          <p:nvPr/>
        </p:nvSpPr>
        <p:spPr>
          <a:xfrm>
            <a:off x="1097280" y="2075688"/>
            <a:ext cx="11064240" cy="475488"/>
          </a:xfrm>
          <a:prstGeom prst="rect">
            <a:avLst/>
          </a:prstGeom>
          <a:noFill/>
          <a:ln>
            <a:noFill/>
          </a:ln>
        </p:spPr>
        <p:txBody>
          <a:bodyPr wrap="square">
            <a:noAutofit/>
          </a:bodyPr>
          <a:lstStyle/>
          <a:p>
            <a:pPr algn="l"/>
            <a:r>
              <a:rPr sz="1200" b="0" i="0">
                <a:solidFill>
                  <a:srgbClr val="444444"/>
                </a:solidFill>
              </a:rPr>
              <a:t>VERDADERO. Canal 6: los ricos ahorran más. Redistribuir puede bajar el ahorro
nacional y reducir la inversión y el crecimiento.</a:t>
            </a:r>
          </a:p>
        </p:txBody>
      </p:sp>
      <p:sp>
        <p:nvSpPr>
          <p:cNvPr id="9" name="Rectangle 8"/>
          <p:cNvSpPr/>
          <p:nvPr/>
        </p:nvSpPr>
        <p:spPr>
          <a:xfrm>
            <a:off x="502920" y="2697480"/>
            <a:ext cx="11185855"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788920"/>
            <a:ext cx="411480" cy="685800"/>
          </a:xfrm>
          <a:prstGeom prst="rect">
            <a:avLst/>
          </a:prstGeom>
          <a:noFill/>
          <a:ln>
            <a:noFill/>
          </a:ln>
        </p:spPr>
        <p:txBody>
          <a:bodyPr wrap="square">
            <a:noAutofit/>
          </a:bodyPr>
          <a:lstStyle/>
          <a:p>
            <a:pPr algn="ctr"/>
            <a:r>
              <a:rPr sz="3000" b="1" i="0">
                <a:solidFill>
                  <a:srgbClr val="2C5F2D"/>
                </a:solidFill>
              </a:rPr>
              <a:t>V</a:t>
            </a:r>
          </a:p>
        </p:txBody>
      </p:sp>
      <p:sp>
        <p:nvSpPr>
          <p:cNvPr id="11" name="TextBox 10"/>
          <p:cNvSpPr txBox="1"/>
          <p:nvPr/>
        </p:nvSpPr>
        <p:spPr>
          <a:xfrm>
            <a:off x="1097280" y="2743200"/>
            <a:ext cx="5669280" cy="502920"/>
          </a:xfrm>
          <a:prstGeom prst="rect">
            <a:avLst/>
          </a:prstGeom>
          <a:noFill/>
          <a:ln>
            <a:noFill/>
          </a:ln>
        </p:spPr>
        <p:txBody>
          <a:bodyPr wrap="square">
            <a:noAutofit/>
          </a:bodyPr>
          <a:lstStyle/>
          <a:p>
            <a:pPr algn="l"/>
            <a:r>
              <a:rPr sz="1300" b="1" i="0">
                <a:solidFill>
                  <a:srgbClr val="1A1A1A"/>
                </a:solidFill>
              </a:rPr>
              <a:t>'América Latina tiene menor pobreza extrema que África pero
es la región más desigual del mundo.'</a:t>
            </a:r>
          </a:p>
        </p:txBody>
      </p:sp>
      <p:sp>
        <p:nvSpPr>
          <p:cNvPr id="12" name="TextBox 11"/>
          <p:cNvSpPr txBox="1"/>
          <p:nvPr/>
        </p:nvSpPr>
        <p:spPr>
          <a:xfrm>
            <a:off x="1097280" y="3264408"/>
            <a:ext cx="11064240" cy="475488"/>
          </a:xfrm>
          <a:prstGeom prst="rect">
            <a:avLst/>
          </a:prstGeom>
          <a:noFill/>
          <a:ln>
            <a:noFill/>
          </a:ln>
        </p:spPr>
        <p:txBody>
          <a:bodyPr wrap="square">
            <a:noAutofit/>
          </a:bodyPr>
          <a:lstStyle/>
          <a:p>
            <a:pPr algn="l"/>
            <a:r>
              <a:rPr sz="1200" b="0" i="0">
                <a:solidFill>
                  <a:srgbClr val="444444"/>
                </a:solidFill>
              </a:rPr>
              <a:t>VERDADERO. Su problema es acumulación excesiva en la cúspide,
no pobreza masiva generalizada.</a:t>
            </a:r>
          </a:p>
        </p:txBody>
      </p:sp>
      <p:sp>
        <p:nvSpPr>
          <p:cNvPr id="13" name="Rectangle 12"/>
          <p:cNvSpPr/>
          <p:nvPr/>
        </p:nvSpPr>
        <p:spPr>
          <a:xfrm>
            <a:off x="502920" y="3886200"/>
            <a:ext cx="11185855" cy="109728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3977640"/>
            <a:ext cx="411480" cy="685800"/>
          </a:xfrm>
          <a:prstGeom prst="rect">
            <a:avLst/>
          </a:prstGeom>
          <a:noFill/>
          <a:ln>
            <a:noFill/>
          </a:ln>
        </p:spPr>
        <p:txBody>
          <a:bodyPr wrap="square">
            <a:noAutofit/>
          </a:bodyPr>
          <a:lstStyle/>
          <a:p>
            <a:pPr algn="ctr"/>
            <a:r>
              <a:rPr sz="3000" b="1" i="0">
                <a:solidFill>
                  <a:srgbClr val="C03B1F"/>
                </a:solidFill>
              </a:rPr>
              <a:t>F</a:t>
            </a:r>
          </a:p>
        </p:txBody>
      </p:sp>
      <p:sp>
        <p:nvSpPr>
          <p:cNvPr id="15" name="TextBox 14"/>
          <p:cNvSpPr txBox="1"/>
          <p:nvPr/>
        </p:nvSpPr>
        <p:spPr>
          <a:xfrm>
            <a:off x="1097280" y="3931920"/>
            <a:ext cx="5669280" cy="502920"/>
          </a:xfrm>
          <a:prstGeom prst="rect">
            <a:avLst/>
          </a:prstGeom>
          <a:noFill/>
          <a:ln>
            <a:noFill/>
          </a:ln>
        </p:spPr>
        <p:txBody>
          <a:bodyPr wrap="square">
            <a:noAutofit/>
          </a:bodyPr>
          <a:lstStyle/>
          <a:p>
            <a:pPr algn="l"/>
            <a:r>
              <a:rPr sz="1300" b="1" i="0">
                <a:solidFill>
                  <a:srgbClr val="1A1A1A"/>
                </a:solidFill>
              </a:rPr>
              <a:t>'El método de la CBT garantiza que las familias accedieron
efectivamente a bienes básicos de calidad.'</a:t>
            </a:r>
          </a:p>
        </p:txBody>
      </p:sp>
      <p:sp>
        <p:nvSpPr>
          <p:cNvPr id="16" name="TextBox 15"/>
          <p:cNvSpPr txBox="1"/>
          <p:nvPr/>
        </p:nvSpPr>
        <p:spPr>
          <a:xfrm>
            <a:off x="1097280" y="4453128"/>
            <a:ext cx="11064240" cy="475488"/>
          </a:xfrm>
          <a:prstGeom prst="rect">
            <a:avLst/>
          </a:prstGeom>
          <a:noFill/>
          <a:ln>
            <a:noFill/>
          </a:ln>
        </p:spPr>
        <p:txBody>
          <a:bodyPr wrap="square">
            <a:noAutofit/>
          </a:bodyPr>
          <a:lstStyle/>
          <a:p>
            <a:pPr algn="l"/>
            <a:r>
              <a:rPr sz="1200" b="0" i="0">
                <a:solidFill>
                  <a:srgbClr val="444444"/>
                </a:solidFill>
              </a:rPr>
              <a:t>FALSO. El método monetario es INDIRECTO: mide si tienen los recursos,
no si accedieron. Para eso existen los métodos directos (NBI).</a:t>
            </a:r>
          </a:p>
        </p:txBody>
      </p:sp>
      <p:sp>
        <p:nvSpPr>
          <p:cNvPr id="17" name="Rectangle 16"/>
          <p:cNvSpPr/>
          <p:nvPr/>
        </p:nvSpPr>
        <p:spPr>
          <a:xfrm>
            <a:off x="502920" y="5074920"/>
            <a:ext cx="11185855"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 y="5166360"/>
            <a:ext cx="411480" cy="685800"/>
          </a:xfrm>
          <a:prstGeom prst="rect">
            <a:avLst/>
          </a:prstGeom>
          <a:noFill/>
          <a:ln>
            <a:noFill/>
          </a:ln>
        </p:spPr>
        <p:txBody>
          <a:bodyPr wrap="square">
            <a:noAutofit/>
          </a:bodyPr>
          <a:lstStyle/>
          <a:p>
            <a:pPr algn="ctr"/>
            <a:r>
              <a:rPr sz="3000" b="1" i="0">
                <a:solidFill>
                  <a:srgbClr val="C03B1F"/>
                </a:solidFill>
              </a:rPr>
              <a:t>F</a:t>
            </a:r>
          </a:p>
        </p:txBody>
      </p:sp>
      <p:sp>
        <p:nvSpPr>
          <p:cNvPr id="19" name="TextBox 18"/>
          <p:cNvSpPr txBox="1"/>
          <p:nvPr/>
        </p:nvSpPr>
        <p:spPr>
          <a:xfrm>
            <a:off x="1097280" y="5120640"/>
            <a:ext cx="5669280" cy="502920"/>
          </a:xfrm>
          <a:prstGeom prst="rect">
            <a:avLst/>
          </a:prstGeom>
          <a:noFill/>
          <a:ln>
            <a:noFill/>
          </a:ln>
        </p:spPr>
        <p:txBody>
          <a:bodyPr wrap="square">
            <a:noAutofit/>
          </a:bodyPr>
          <a:lstStyle/>
          <a:p>
            <a:pPr algn="l"/>
            <a:r>
              <a:rPr sz="1300" b="1" i="0">
                <a:solidFill>
                  <a:srgbClr val="1A1A1A"/>
                </a:solidFill>
              </a:rPr>
              <a:t>'La tecnología resolverá naturalmente la desigualdad salarial.'</a:t>
            </a:r>
          </a:p>
        </p:txBody>
      </p:sp>
      <p:sp>
        <p:nvSpPr>
          <p:cNvPr id="20" name="TextBox 19"/>
          <p:cNvSpPr txBox="1"/>
          <p:nvPr/>
        </p:nvSpPr>
        <p:spPr>
          <a:xfrm>
            <a:off x="1097280" y="5641848"/>
            <a:ext cx="11064240" cy="475488"/>
          </a:xfrm>
          <a:prstGeom prst="rect">
            <a:avLst/>
          </a:prstGeom>
          <a:noFill/>
          <a:ln>
            <a:noFill/>
          </a:ln>
        </p:spPr>
        <p:txBody>
          <a:bodyPr wrap="square">
            <a:noAutofit/>
          </a:bodyPr>
          <a:lstStyle/>
          <a:p>
            <a:pPr algn="l"/>
            <a:r>
              <a:rPr sz="1200" b="0" i="0">
                <a:solidFill>
                  <a:srgbClr val="444444"/>
                </a:solidFill>
              </a:rPr>
              <a:t>FALSO. Canal 2: el progreso técnico está sesgado hacia trabajo calificado;
amplia estructuralmente la brecha en países en desarrollo.</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HERRAMIENTAS PARA EL EXAMEN</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a:solidFill>
                  <a:srgbClr val="2C5F2D"/>
                </a:solidFill>
              </a:rPr>
              <a:t>Preguntas típicas de examen</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508760"/>
            <a:ext cx="5486400" cy="146304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81912"/>
            <a:ext cx="5212080" cy="457200"/>
          </a:xfrm>
          <a:prstGeom prst="rect">
            <a:avLst/>
          </a:prstGeom>
          <a:noFill/>
          <a:ln>
            <a:noFill/>
          </a:ln>
        </p:spPr>
        <p:txBody>
          <a:bodyPr wrap="square">
            <a:noAutofit/>
          </a:bodyPr>
          <a:lstStyle/>
          <a:p>
            <a:pPr algn="l"/>
            <a:r>
              <a:rPr sz="1300" b="1" i="0">
                <a:solidFill>
                  <a:srgbClr val="2C5F2D"/>
                </a:solidFill>
              </a:rPr>
              <a:t>P: ¿Cuáles son los 2 pasos de toda medición de pobreza?</a:t>
            </a:r>
          </a:p>
        </p:txBody>
      </p:sp>
      <p:sp>
        <p:nvSpPr>
          <p:cNvPr id="7" name="TextBox 6"/>
          <p:cNvSpPr txBox="1"/>
          <p:nvPr/>
        </p:nvSpPr>
        <p:spPr>
          <a:xfrm>
            <a:off x="640080" y="2103120"/>
            <a:ext cx="5212080" cy="777240"/>
          </a:xfrm>
          <a:prstGeom prst="rect">
            <a:avLst/>
          </a:prstGeom>
          <a:noFill/>
          <a:ln>
            <a:noFill/>
          </a:ln>
        </p:spPr>
        <p:txBody>
          <a:bodyPr wrap="square">
            <a:noAutofit/>
          </a:bodyPr>
          <a:lstStyle/>
          <a:p>
            <a:pPr algn="l"/>
            <a:r>
              <a:rPr sz="1200" b="0" i="0">
                <a:solidFill>
                  <a:srgbClr val="444444"/>
                </a:solidFill>
              </a:rPr>
              <a:t>R: Identificación (criterio para saber quién es pobre) + Agregación
(índice que resume cuántos son y qué tan pobres: FGT, M₀).</a:t>
            </a:r>
          </a:p>
        </p:txBody>
      </p:sp>
      <p:sp>
        <p:nvSpPr>
          <p:cNvPr id="8" name="Rectangle 7"/>
          <p:cNvSpPr/>
          <p:nvPr/>
        </p:nvSpPr>
        <p:spPr>
          <a:xfrm>
            <a:off x="6400800" y="1508760"/>
            <a:ext cx="5486400" cy="146304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37960" y="1581912"/>
            <a:ext cx="5212080" cy="457200"/>
          </a:xfrm>
          <a:prstGeom prst="rect">
            <a:avLst/>
          </a:prstGeom>
          <a:noFill/>
          <a:ln>
            <a:noFill/>
          </a:ln>
        </p:spPr>
        <p:txBody>
          <a:bodyPr wrap="square">
            <a:noAutofit/>
          </a:bodyPr>
          <a:lstStyle/>
          <a:p>
            <a:pPr algn="l"/>
            <a:r>
              <a:rPr sz="1300" b="1" i="0">
                <a:solidFill>
                  <a:srgbClr val="2C5F2D"/>
                </a:solidFill>
              </a:rPr>
              <a:t>P: Explique la diferencia entre enfoque de capacidades y bienestarismo.</a:t>
            </a:r>
          </a:p>
        </p:txBody>
      </p:sp>
      <p:sp>
        <p:nvSpPr>
          <p:cNvPr id="10" name="TextBox 9"/>
          <p:cNvSpPr txBox="1"/>
          <p:nvPr/>
        </p:nvSpPr>
        <p:spPr>
          <a:xfrm>
            <a:off x="6537960" y="2103120"/>
            <a:ext cx="5212080" cy="777240"/>
          </a:xfrm>
          <a:prstGeom prst="rect">
            <a:avLst/>
          </a:prstGeom>
          <a:noFill/>
          <a:ln>
            <a:noFill/>
          </a:ln>
        </p:spPr>
        <p:txBody>
          <a:bodyPr wrap="square">
            <a:noAutofit/>
          </a:bodyPr>
          <a:lstStyle/>
          <a:p>
            <a:pPr algn="l"/>
            <a:r>
              <a:rPr sz="1200" b="0" i="0">
                <a:solidFill>
                  <a:srgbClr val="444444"/>
                </a:solidFill>
              </a:rPr>
              <a:t>R: Bienestarismo (utilitarismo): maximizar utilidad/ingreso.
Sen: medir lo que la persona puede hacer y ser con sus recursos
(capacidades), considerando los factores de conversión individuales.</a:t>
            </a:r>
          </a:p>
        </p:txBody>
      </p:sp>
      <p:sp>
        <p:nvSpPr>
          <p:cNvPr id="11" name="Rectangle 10"/>
          <p:cNvSpPr/>
          <p:nvPr/>
        </p:nvSpPr>
        <p:spPr>
          <a:xfrm>
            <a:off x="502920" y="3108960"/>
            <a:ext cx="5486400" cy="146304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3182112"/>
            <a:ext cx="5212080" cy="457200"/>
          </a:xfrm>
          <a:prstGeom prst="rect">
            <a:avLst/>
          </a:prstGeom>
          <a:noFill/>
          <a:ln>
            <a:noFill/>
          </a:ln>
        </p:spPr>
        <p:txBody>
          <a:bodyPr wrap="square">
            <a:noAutofit/>
          </a:bodyPr>
          <a:lstStyle/>
          <a:p>
            <a:pPr algn="l"/>
            <a:r>
              <a:rPr sz="1300" b="1" i="0">
                <a:solidFill>
                  <a:srgbClr val="2C5F2D"/>
                </a:solidFill>
              </a:rPr>
              <a:t>P: Mencione 2 canales por los que la alta desigualdad frena el crecimiento.</a:t>
            </a:r>
          </a:p>
        </p:txBody>
      </p:sp>
      <p:sp>
        <p:nvSpPr>
          <p:cNvPr id="13" name="TextBox 12"/>
          <p:cNvSpPr txBox="1"/>
          <p:nvPr/>
        </p:nvSpPr>
        <p:spPr>
          <a:xfrm>
            <a:off x="640080" y="3703320"/>
            <a:ext cx="5212080" cy="777240"/>
          </a:xfrm>
          <a:prstGeom prst="rect">
            <a:avLst/>
          </a:prstGeom>
          <a:noFill/>
          <a:ln>
            <a:noFill/>
          </a:ln>
        </p:spPr>
        <p:txBody>
          <a:bodyPr wrap="square">
            <a:noAutofit/>
          </a:bodyPr>
          <a:lstStyle/>
          <a:p>
            <a:pPr algn="l"/>
            <a:r>
              <a:rPr sz="1200" b="0" i="0">
                <a:solidFill>
                  <a:srgbClr val="444444"/>
                </a:solidFill>
              </a:rPr>
              <a:t>R: Ej: Crédito imperfecto (los pobres no acceden a financiamiento)
y economía política (impuestos al capital desincentivan inversión).</a:t>
            </a:r>
          </a:p>
        </p:txBody>
      </p:sp>
      <p:sp>
        <p:nvSpPr>
          <p:cNvPr id="14" name="Rectangle 13"/>
          <p:cNvSpPr/>
          <p:nvPr/>
        </p:nvSpPr>
        <p:spPr>
          <a:xfrm>
            <a:off x="6400800" y="3108960"/>
            <a:ext cx="5486400" cy="146304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37960" y="3182112"/>
            <a:ext cx="5212080" cy="457200"/>
          </a:xfrm>
          <a:prstGeom prst="rect">
            <a:avLst/>
          </a:prstGeom>
          <a:noFill/>
          <a:ln>
            <a:noFill/>
          </a:ln>
        </p:spPr>
        <p:txBody>
          <a:bodyPr wrap="square">
            <a:noAutofit/>
          </a:bodyPr>
          <a:lstStyle/>
          <a:p>
            <a:pPr algn="l"/>
            <a:r>
              <a:rPr sz="1300" b="1" i="0">
                <a:solidFill>
                  <a:srgbClr val="2C5F2D"/>
                </a:solidFill>
              </a:rPr>
              <a:t>P: ¿Por qué Kuznets no se cumple empíricamente en AL?</a:t>
            </a:r>
          </a:p>
        </p:txBody>
      </p:sp>
      <p:sp>
        <p:nvSpPr>
          <p:cNvPr id="16" name="TextBox 15"/>
          <p:cNvSpPr txBox="1"/>
          <p:nvPr/>
        </p:nvSpPr>
        <p:spPr>
          <a:xfrm>
            <a:off x="6537960" y="3703320"/>
            <a:ext cx="5212080" cy="777240"/>
          </a:xfrm>
          <a:prstGeom prst="rect">
            <a:avLst/>
          </a:prstGeom>
          <a:noFill/>
          <a:ln>
            <a:noFill/>
          </a:ln>
        </p:spPr>
        <p:txBody>
          <a:bodyPr wrap="square">
            <a:noAutofit/>
          </a:bodyPr>
          <a:lstStyle/>
          <a:p>
            <a:pPr algn="l"/>
            <a:r>
              <a:rPr sz="1200" b="0" i="0">
                <a:solidFill>
                  <a:srgbClr val="444444"/>
                </a:solidFill>
              </a:rPr>
              <a:t>R: El sector moderno requiere capital o trabajo calificado que los
trabajadores rurales no poseen → dualidad estructural permanente.</a:t>
            </a:r>
          </a:p>
        </p:txBody>
      </p:sp>
      <p:sp>
        <p:nvSpPr>
          <p:cNvPr id="17" name="Rectangle 16"/>
          <p:cNvSpPr/>
          <p:nvPr/>
        </p:nvSpPr>
        <p:spPr>
          <a:xfrm>
            <a:off x="502920" y="4709160"/>
            <a:ext cx="5486400" cy="146304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4782312"/>
            <a:ext cx="5212080" cy="457200"/>
          </a:xfrm>
          <a:prstGeom prst="rect">
            <a:avLst/>
          </a:prstGeom>
          <a:noFill/>
          <a:ln>
            <a:noFill/>
          </a:ln>
        </p:spPr>
        <p:txBody>
          <a:bodyPr wrap="square">
            <a:noAutofit/>
          </a:bodyPr>
          <a:lstStyle/>
          <a:p>
            <a:pPr algn="l"/>
            <a:r>
              <a:rPr sz="1300" b="1" i="0">
                <a:solidFill>
                  <a:srgbClr val="2C5F2D"/>
                </a:solidFill>
              </a:rPr>
              <a:t>P: ¿Cuál es la diferencia entre método monetario y NBI?</a:t>
            </a:r>
          </a:p>
        </p:txBody>
      </p:sp>
      <p:sp>
        <p:nvSpPr>
          <p:cNvPr id="19" name="TextBox 18"/>
          <p:cNvSpPr txBox="1"/>
          <p:nvPr/>
        </p:nvSpPr>
        <p:spPr>
          <a:xfrm>
            <a:off x="640080" y="5303520"/>
            <a:ext cx="5212080" cy="777240"/>
          </a:xfrm>
          <a:prstGeom prst="rect">
            <a:avLst/>
          </a:prstGeom>
          <a:noFill/>
          <a:ln>
            <a:noFill/>
          </a:ln>
        </p:spPr>
        <p:txBody>
          <a:bodyPr wrap="square">
            <a:noAutofit/>
          </a:bodyPr>
          <a:lstStyle/>
          <a:p>
            <a:pPr algn="l"/>
            <a:r>
              <a:rPr sz="1200" b="0" i="0">
                <a:solidFill>
                  <a:srgbClr val="444444"/>
                </a:solidFill>
              </a:rPr>
              <a:t>R: Monetario: indirecto (mide ingresos/recursos disponibles).
NBI: directo (mide si el hogar efectivamente accedió a los bienes).</a:t>
            </a:r>
          </a:p>
        </p:txBody>
      </p:sp>
      <p:sp>
        <p:nvSpPr>
          <p:cNvPr id="20" name="Rectangle 19"/>
          <p:cNvSpPr/>
          <p:nvPr/>
        </p:nvSpPr>
        <p:spPr>
          <a:xfrm>
            <a:off x="6400800" y="4709160"/>
            <a:ext cx="5486400" cy="146304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37960" y="4782312"/>
            <a:ext cx="5212080" cy="457200"/>
          </a:xfrm>
          <a:prstGeom prst="rect">
            <a:avLst/>
          </a:prstGeom>
          <a:noFill/>
          <a:ln>
            <a:noFill/>
          </a:ln>
        </p:spPr>
        <p:txBody>
          <a:bodyPr wrap="square">
            <a:noAutofit/>
          </a:bodyPr>
          <a:lstStyle/>
          <a:p>
            <a:pPr algn="l"/>
            <a:r>
              <a:rPr sz="1300" b="1" i="0">
                <a:solidFill>
                  <a:srgbClr val="2C5F2D"/>
                </a:solidFill>
              </a:rPr>
              <a:t>P: ¿Por qué falla la separación eficiencia-equidad en países en desarrollo?</a:t>
            </a:r>
          </a:p>
        </p:txBody>
      </p:sp>
      <p:sp>
        <p:nvSpPr>
          <p:cNvPr id="22" name="TextBox 21"/>
          <p:cNvSpPr txBox="1"/>
          <p:nvPr/>
        </p:nvSpPr>
        <p:spPr>
          <a:xfrm>
            <a:off x="6537960" y="5303520"/>
            <a:ext cx="5212080" cy="777240"/>
          </a:xfrm>
          <a:prstGeom prst="rect">
            <a:avLst/>
          </a:prstGeom>
          <a:noFill/>
          <a:ln>
            <a:noFill/>
          </a:ln>
        </p:spPr>
        <p:txBody>
          <a:bodyPr wrap="square">
            <a:noAutofit/>
          </a:bodyPr>
          <a:lstStyle/>
          <a:p>
            <a:pPr algn="l"/>
            <a:r>
              <a:rPr sz="1200" b="0" i="0">
                <a:solidFill>
                  <a:srgbClr val="444444"/>
                </a:solidFill>
              </a:rPr>
              <a:t>R: Baja capacidad fiscal (alta informalidad) impide redistribuir
eficazmente ex-post → hay que intervenir antes del mercado.</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HERRAMIENTAS PARA EL EXAMEN</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a:solidFill>
                  <a:srgbClr val="2C5F2D"/>
                </a:solidFill>
              </a:rPr>
              <a:t>Autores obligatorios — ¿quién, qué, cuándo?</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02920" y="1508760"/>
          <a:ext cx="11185855" cy="4741818"/>
        </p:xfrm>
        <a:graphic>
          <a:graphicData uri="http://schemas.openxmlformats.org/drawingml/2006/table">
            <a:tbl>
              <a:tblPr firstRow="1" bandRow="1">
                <a:tableStyleId>{5C22544A-7EE6-4342-B048-85BDC9FD1C3A}</a:tableStyleId>
              </a:tblPr>
              <a:tblGrid>
                <a:gridCol w="3728618">
                  <a:extLst>
                    <a:ext uri="{9D8B030D-6E8A-4147-A177-3AD203B41FA5}">
                      <a16:colId xmlns:a16="http://schemas.microsoft.com/office/drawing/2014/main" val="20000"/>
                    </a:ext>
                  </a:extLst>
                </a:gridCol>
                <a:gridCol w="3728618">
                  <a:extLst>
                    <a:ext uri="{9D8B030D-6E8A-4147-A177-3AD203B41FA5}">
                      <a16:colId xmlns:a16="http://schemas.microsoft.com/office/drawing/2014/main" val="20001"/>
                    </a:ext>
                  </a:extLst>
                </a:gridCol>
                <a:gridCol w="3728619">
                  <a:extLst>
                    <a:ext uri="{9D8B030D-6E8A-4147-A177-3AD203B41FA5}">
                      <a16:colId xmlns:a16="http://schemas.microsoft.com/office/drawing/2014/main" val="20002"/>
                    </a:ext>
                  </a:extLst>
                </a:gridCol>
              </a:tblGrid>
              <a:tr h="653142">
                <a:tc>
                  <a:txBody>
                    <a:bodyPr/>
                    <a:lstStyle/>
                    <a:p>
                      <a:pPr algn="ctr"/>
                      <a:r>
                        <a:rPr sz="1300" b="1">
                          <a:solidFill>
                            <a:srgbClr val="FFFFFF"/>
                          </a:solidFill>
                        </a:rPr>
                        <a:t>Autor</a:t>
                      </a:r>
                    </a:p>
                  </a:txBody>
                  <a:tcPr>
                    <a:solidFill>
                      <a:srgbClr val="2C5F2D"/>
                    </a:solidFill>
                  </a:tcPr>
                </a:tc>
                <a:tc>
                  <a:txBody>
                    <a:bodyPr/>
                    <a:lstStyle/>
                    <a:p>
                      <a:pPr algn="ctr"/>
                      <a:r>
                        <a:rPr sz="1300" b="1">
                          <a:solidFill>
                            <a:srgbClr val="FFFFFF"/>
                          </a:solidFill>
                        </a:rPr>
                        <a:t>Concepto clave</a:t>
                      </a:r>
                    </a:p>
                  </a:txBody>
                  <a:tcPr>
                    <a:solidFill>
                      <a:srgbClr val="2C5F2D"/>
                    </a:solidFill>
                  </a:tcPr>
                </a:tc>
                <a:tc>
                  <a:txBody>
                    <a:bodyPr/>
                    <a:lstStyle/>
                    <a:p>
                      <a:pPr algn="ctr"/>
                      <a:r>
                        <a:rPr sz="1300" b="1">
                          <a:solidFill>
                            <a:srgbClr val="FFFFFF"/>
                          </a:solidFill>
                        </a:rPr>
                        <a:t>Cuándo citarlo</a:t>
                      </a:r>
                    </a:p>
                  </a:txBody>
                  <a:tcPr>
                    <a:solidFill>
                      <a:srgbClr val="2C5F2D"/>
                    </a:solidFill>
                  </a:tcPr>
                </a:tc>
                <a:extLst>
                  <a:ext uri="{0D108BD9-81ED-4DB2-BD59-A6C34878D82A}">
                    <a16:rowId xmlns:a16="http://schemas.microsoft.com/office/drawing/2014/main" val="10000"/>
                  </a:ext>
                </a:extLst>
              </a:tr>
              <a:tr h="653142">
                <a:tc>
                  <a:txBody>
                    <a:bodyPr/>
                    <a:lstStyle/>
                    <a:p>
                      <a:r>
                        <a:rPr sz="1200">
                          <a:solidFill>
                            <a:srgbClr val="1A1A1A"/>
                          </a:solidFill>
                        </a:rPr>
                        <a:t>Amartya Sen</a:t>
                      </a:r>
                    </a:p>
                  </a:txBody>
                  <a:tcPr>
                    <a:solidFill>
                      <a:srgbClr val="E8F4D6"/>
                    </a:solidFill>
                  </a:tcPr>
                </a:tc>
                <a:tc>
                  <a:txBody>
                    <a:bodyPr/>
                    <a:lstStyle/>
                    <a:p>
                      <a:r>
                        <a:rPr sz="1200">
                          <a:solidFill>
                            <a:srgbClr val="1A1A1A"/>
                          </a:solidFill>
                        </a:rPr>
                        <a:t>Enfoque de Capacidades, factores de</a:t>
                      </a:r>
                    </a:p>
                    <a:p>
                      <a:r>
                        <a:t>conversión, ¿Igualdad de qué? (1979)</a:t>
                      </a:r>
                    </a:p>
                  </a:txBody>
                  <a:tcPr>
                    <a:solidFill>
                      <a:srgbClr val="E8F4D6"/>
                    </a:solidFill>
                  </a:tcPr>
                </a:tc>
                <a:tc>
                  <a:txBody>
                    <a:bodyPr/>
                    <a:lstStyle/>
                    <a:p>
                      <a:r>
                        <a:rPr sz="1200">
                          <a:solidFill>
                            <a:srgbClr val="1A1A1A"/>
                          </a:solidFill>
                        </a:rPr>
                        <a:t>Siempre que se contraste con el método</a:t>
                      </a:r>
                    </a:p>
                    <a:p>
                      <a:r>
                        <a:t>monetario o con Rawls.</a:t>
                      </a:r>
                    </a:p>
                  </a:txBody>
                  <a:tcPr>
                    <a:solidFill>
                      <a:srgbClr val="E8F4D6"/>
                    </a:solidFill>
                  </a:tcPr>
                </a:tc>
                <a:extLst>
                  <a:ext uri="{0D108BD9-81ED-4DB2-BD59-A6C34878D82A}">
                    <a16:rowId xmlns:a16="http://schemas.microsoft.com/office/drawing/2014/main" val="10001"/>
                  </a:ext>
                </a:extLst>
              </a:tr>
              <a:tr h="653142">
                <a:tc>
                  <a:txBody>
                    <a:bodyPr/>
                    <a:lstStyle/>
                    <a:p>
                      <a:r>
                        <a:rPr sz="1200">
                          <a:solidFill>
                            <a:srgbClr val="1A1A1A"/>
                          </a:solidFill>
                        </a:rPr>
                        <a:t>John Rawls</a:t>
                      </a:r>
                    </a:p>
                  </a:txBody>
                  <a:tcPr>
                    <a:solidFill>
                      <a:srgbClr val="FFFFFF"/>
                    </a:solidFill>
                  </a:tcPr>
                </a:tc>
                <a:tc>
                  <a:txBody>
                    <a:bodyPr/>
                    <a:lstStyle/>
                    <a:p>
                      <a:r>
                        <a:rPr sz="1200">
                          <a:solidFill>
                            <a:srgbClr val="1A1A1A"/>
                          </a:solidFill>
                        </a:rPr>
                        <a:t>Velo de ignorancia, principio de</a:t>
                      </a:r>
                    </a:p>
                    <a:p>
                      <a:r>
                        <a:t>diferencia (maximin)</a:t>
                      </a:r>
                    </a:p>
                  </a:txBody>
                  <a:tcPr>
                    <a:solidFill>
                      <a:srgbClr val="FFFFFF"/>
                    </a:solidFill>
                  </a:tcPr>
                </a:tc>
                <a:tc>
                  <a:txBody>
                    <a:bodyPr/>
                    <a:lstStyle/>
                    <a:p>
                      <a:r>
                        <a:rPr sz="1200">
                          <a:solidFill>
                            <a:srgbClr val="1A1A1A"/>
                          </a:solidFill>
                        </a:rPr>
                        <a:t>Teorías de justicia social; base de</a:t>
                      </a:r>
                    </a:p>
                    <a:p>
                      <a:r>
                        <a:t>políticas predistributivas.</a:t>
                      </a:r>
                    </a:p>
                  </a:txBody>
                  <a:tcPr>
                    <a:solidFill>
                      <a:srgbClr val="FFFFFF"/>
                    </a:solidFill>
                  </a:tcPr>
                </a:tc>
                <a:extLst>
                  <a:ext uri="{0D108BD9-81ED-4DB2-BD59-A6C34878D82A}">
                    <a16:rowId xmlns:a16="http://schemas.microsoft.com/office/drawing/2014/main" val="10002"/>
                  </a:ext>
                </a:extLst>
              </a:tr>
              <a:tr h="653142">
                <a:tc>
                  <a:txBody>
                    <a:bodyPr/>
                    <a:lstStyle/>
                    <a:p>
                      <a:r>
                        <a:rPr sz="1200">
                          <a:solidFill>
                            <a:srgbClr val="1A1A1A"/>
                          </a:solidFill>
                        </a:rPr>
                        <a:t>Simon Kuznets</a:t>
                      </a:r>
                    </a:p>
                  </a:txBody>
                  <a:tcPr>
                    <a:solidFill>
                      <a:srgbClr val="E8F4D6"/>
                    </a:solidFill>
                  </a:tcPr>
                </a:tc>
                <a:tc>
                  <a:txBody>
                    <a:bodyPr/>
                    <a:lstStyle/>
                    <a:p>
                      <a:r>
                        <a:rPr sz="1200">
                          <a:solidFill>
                            <a:srgbClr val="1A1A1A"/>
                          </a:solidFill>
                        </a:rPr>
                        <a:t>Curva U invertida: desigualdad crece</a:t>
                      </a:r>
                    </a:p>
                    <a:p>
                      <a:r>
                        <a:t>luego decrece con el desarrollo (1955)</a:t>
                      </a:r>
                    </a:p>
                  </a:txBody>
                  <a:tcPr>
                    <a:solidFill>
                      <a:srgbClr val="E8F4D6"/>
                    </a:solidFill>
                  </a:tcPr>
                </a:tc>
                <a:tc>
                  <a:txBody>
                    <a:bodyPr/>
                    <a:lstStyle/>
                    <a:p>
                      <a:r>
                        <a:rPr sz="1200">
                          <a:solidFill>
                            <a:srgbClr val="1A1A1A"/>
                          </a:solidFill>
                        </a:rPr>
                        <a:t>Canal 1; debate Kuznets vs. evidencia</a:t>
                      </a:r>
                    </a:p>
                    <a:p>
                      <a:r>
                        <a:t>empírica.</a:t>
                      </a:r>
                    </a:p>
                  </a:txBody>
                  <a:tcPr>
                    <a:solidFill>
                      <a:srgbClr val="E8F4D6"/>
                    </a:solidFill>
                  </a:tcPr>
                </a:tc>
                <a:extLst>
                  <a:ext uri="{0D108BD9-81ED-4DB2-BD59-A6C34878D82A}">
                    <a16:rowId xmlns:a16="http://schemas.microsoft.com/office/drawing/2014/main" val="10003"/>
                  </a:ext>
                </a:extLst>
              </a:tr>
              <a:tr h="653142">
                <a:tc>
                  <a:txBody>
                    <a:bodyPr/>
                    <a:lstStyle/>
                    <a:p>
                      <a:r>
                        <a:rPr sz="1200">
                          <a:solidFill>
                            <a:srgbClr val="1A1A1A"/>
                          </a:solidFill>
                        </a:rPr>
                        <a:t>Foster, Greer &amp; Thorbecke</a:t>
                      </a:r>
                    </a:p>
                  </a:txBody>
                  <a:tcPr>
                    <a:solidFill>
                      <a:srgbClr val="FFFFFF"/>
                    </a:solidFill>
                  </a:tcPr>
                </a:tc>
                <a:tc>
                  <a:txBody>
                    <a:bodyPr/>
                    <a:lstStyle/>
                    <a:p>
                      <a:r>
                        <a:rPr sz="1200">
                          <a:solidFill>
                            <a:srgbClr val="1A1A1A"/>
                          </a:solidFill>
                        </a:rPr>
                        <a:t>Índices FGT: α=0,1,2 (1983)</a:t>
                      </a:r>
                    </a:p>
                  </a:txBody>
                  <a:tcPr>
                    <a:solidFill>
                      <a:srgbClr val="FFFFFF"/>
                    </a:solidFill>
                  </a:tcPr>
                </a:tc>
                <a:tc>
                  <a:txBody>
                    <a:bodyPr/>
                    <a:lstStyle/>
                    <a:p>
                      <a:r>
                        <a:rPr sz="1200">
                          <a:solidFill>
                            <a:srgbClr val="1A1A1A"/>
                          </a:solidFill>
                        </a:rPr>
                        <a:t>Etapa de Agregación en método</a:t>
                      </a:r>
                    </a:p>
                    <a:p>
                      <a:r>
                        <a:t>monetario.</a:t>
                      </a:r>
                    </a:p>
                  </a:txBody>
                  <a:tcPr>
                    <a:solidFill>
                      <a:srgbClr val="FFFFFF"/>
                    </a:solidFill>
                  </a:tcPr>
                </a:tc>
                <a:extLst>
                  <a:ext uri="{0D108BD9-81ED-4DB2-BD59-A6C34878D82A}">
                    <a16:rowId xmlns:a16="http://schemas.microsoft.com/office/drawing/2014/main" val="10004"/>
                  </a:ext>
                </a:extLst>
              </a:tr>
              <a:tr h="653142">
                <a:tc>
                  <a:txBody>
                    <a:bodyPr/>
                    <a:lstStyle/>
                    <a:p>
                      <a:r>
                        <a:rPr sz="1200">
                          <a:solidFill>
                            <a:srgbClr val="1A1A1A"/>
                          </a:solidFill>
                        </a:rPr>
                        <a:t>Alkire &amp; Foster</a:t>
                      </a:r>
                    </a:p>
                  </a:txBody>
                  <a:tcPr>
                    <a:solidFill>
                      <a:srgbClr val="E8F4D6"/>
                    </a:solidFill>
                  </a:tcPr>
                </a:tc>
                <a:tc>
                  <a:txBody>
                    <a:bodyPr/>
                    <a:lstStyle/>
                    <a:p>
                      <a:r>
                        <a:rPr sz="1200">
                          <a:solidFill>
                            <a:srgbClr val="1A1A1A"/>
                          </a:solidFill>
                        </a:rPr>
                        <a:t>Índice de Pobreza Multidimensional</a:t>
                      </a:r>
                    </a:p>
                    <a:p>
                      <a:r>
                        <a:t>(IPM): H, A, M₀</a:t>
                      </a:r>
                    </a:p>
                  </a:txBody>
                  <a:tcPr>
                    <a:solidFill>
                      <a:srgbClr val="E8F4D6"/>
                    </a:solidFill>
                  </a:tcPr>
                </a:tc>
                <a:tc>
                  <a:txBody>
                    <a:bodyPr/>
                    <a:lstStyle/>
                    <a:p>
                      <a:r>
                        <a:rPr sz="1200">
                          <a:solidFill>
                            <a:srgbClr val="1A1A1A"/>
                          </a:solidFill>
                        </a:rPr>
                        <a:t>Método absoluto multidimensional.</a:t>
                      </a:r>
                    </a:p>
                  </a:txBody>
                  <a:tcPr>
                    <a:solidFill>
                      <a:srgbClr val="E8F4D6"/>
                    </a:solidFill>
                  </a:tcPr>
                </a:tc>
                <a:extLst>
                  <a:ext uri="{0D108BD9-81ED-4DB2-BD59-A6C34878D82A}">
                    <a16:rowId xmlns:a16="http://schemas.microsoft.com/office/drawing/2014/main" val="10005"/>
                  </a:ext>
                </a:extLst>
              </a:tr>
              <a:tr h="653148">
                <a:tc>
                  <a:txBody>
                    <a:bodyPr/>
                    <a:lstStyle/>
                    <a:p>
                      <a:r>
                        <a:rPr sz="1200">
                          <a:solidFill>
                            <a:srgbClr val="1A1A1A"/>
                          </a:solidFill>
                        </a:rPr>
                        <a:t>Peter Townsend</a:t>
                      </a:r>
                    </a:p>
                  </a:txBody>
                  <a:tcPr>
                    <a:solidFill>
                      <a:srgbClr val="FFFFFF"/>
                    </a:solidFill>
                  </a:tcPr>
                </a:tc>
                <a:tc>
                  <a:txBody>
                    <a:bodyPr/>
                    <a:lstStyle/>
                    <a:p>
                      <a:r>
                        <a:rPr sz="1200">
                          <a:solidFill>
                            <a:srgbClr val="1A1A1A"/>
                          </a:solidFill>
                        </a:rPr>
                        <a:t>Privación relativa; Método</a:t>
                      </a:r>
                    </a:p>
                    <a:p>
                      <a:r>
                        <a:t>Consensual (1979)</a:t>
                      </a:r>
                    </a:p>
                  </a:txBody>
                  <a:tcPr>
                    <a:solidFill>
                      <a:srgbClr val="FFFFFF"/>
                    </a:solidFill>
                  </a:tcPr>
                </a:tc>
                <a:tc>
                  <a:txBody>
                    <a:bodyPr/>
                    <a:lstStyle/>
                    <a:p>
                      <a:r>
                        <a:rPr sz="1200">
                          <a:solidFill>
                            <a:srgbClr val="1A1A1A"/>
                          </a:solidFill>
                        </a:rPr>
                        <a:t>Enfoque relativo; definición social</a:t>
                      </a:r>
                    </a:p>
                    <a:p>
                      <a:r>
                        <a:t>de necesidad.</a:t>
                      </a:r>
                    </a:p>
                  </a:txBody>
                  <a:tcPr>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HERRAMIENTAS PARA EL EXAMEN</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a:solidFill>
                  <a:srgbClr val="2C5F2D"/>
                </a:solidFill>
              </a:rPr>
              <a:t>Datos empíricos clave — Argentina y América Latina</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508760"/>
            <a:ext cx="5486400" cy="146304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81912"/>
            <a:ext cx="5212080" cy="365760"/>
          </a:xfrm>
          <a:prstGeom prst="rect">
            <a:avLst/>
          </a:prstGeom>
          <a:noFill/>
          <a:ln>
            <a:noFill/>
          </a:ln>
        </p:spPr>
        <p:txBody>
          <a:bodyPr wrap="square">
            <a:noAutofit/>
          </a:bodyPr>
          <a:lstStyle/>
          <a:p>
            <a:pPr algn="l"/>
            <a:r>
              <a:rPr sz="1400" b="1" i="0">
                <a:solidFill>
                  <a:srgbClr val="2C5F2D"/>
                </a:solidFill>
              </a:rPr>
              <a:t>CEPAL 2025</a:t>
            </a:r>
          </a:p>
        </p:txBody>
      </p:sp>
      <p:sp>
        <p:nvSpPr>
          <p:cNvPr id="7" name="TextBox 6"/>
          <p:cNvSpPr txBox="1"/>
          <p:nvPr/>
        </p:nvSpPr>
        <p:spPr>
          <a:xfrm>
            <a:off x="640080" y="2011680"/>
            <a:ext cx="5212080" cy="896112"/>
          </a:xfrm>
          <a:prstGeom prst="rect">
            <a:avLst/>
          </a:prstGeom>
          <a:noFill/>
          <a:ln>
            <a:noFill/>
          </a:ln>
        </p:spPr>
        <p:txBody>
          <a:bodyPr wrap="square">
            <a:noAutofit/>
          </a:bodyPr>
          <a:lstStyle/>
          <a:p>
            <a:pPr algn="l"/>
            <a:r>
              <a:rPr sz="1300" b="0" i="0">
                <a:solidFill>
                  <a:srgbClr val="1A1A1A"/>
                </a:solidFill>
              </a:rPr>
              <a:t>Pobreza de ingresos en AL alcanzó su mínimo desde 1990
pero la desigualdad de ingresos permanece estancada.</a:t>
            </a:r>
          </a:p>
        </p:txBody>
      </p:sp>
      <p:sp>
        <p:nvSpPr>
          <p:cNvPr id="8" name="Rectangle 7"/>
          <p:cNvSpPr/>
          <p:nvPr/>
        </p:nvSpPr>
        <p:spPr>
          <a:xfrm>
            <a:off x="6400800" y="1508760"/>
            <a:ext cx="5486400" cy="1463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37960" y="1581912"/>
            <a:ext cx="5212080" cy="365760"/>
          </a:xfrm>
          <a:prstGeom prst="rect">
            <a:avLst/>
          </a:prstGeom>
          <a:noFill/>
          <a:ln>
            <a:noFill/>
          </a:ln>
        </p:spPr>
        <p:txBody>
          <a:bodyPr wrap="square">
            <a:noAutofit/>
          </a:bodyPr>
          <a:lstStyle/>
          <a:p>
            <a:pPr algn="l"/>
            <a:r>
              <a:rPr sz="1400" b="1" i="0">
                <a:solidFill>
                  <a:srgbClr val="2C5F2D"/>
                </a:solidFill>
              </a:rPr>
              <a:t>80/70%</a:t>
            </a:r>
          </a:p>
        </p:txBody>
      </p:sp>
      <p:sp>
        <p:nvSpPr>
          <p:cNvPr id="10" name="TextBox 9"/>
          <p:cNvSpPr txBox="1"/>
          <p:nvPr/>
        </p:nvSpPr>
        <p:spPr>
          <a:xfrm>
            <a:off x="6537960" y="2011680"/>
            <a:ext cx="5212080" cy="896112"/>
          </a:xfrm>
          <a:prstGeom prst="rect">
            <a:avLst/>
          </a:prstGeom>
          <a:noFill/>
          <a:ln>
            <a:noFill/>
          </a:ln>
        </p:spPr>
        <p:txBody>
          <a:bodyPr wrap="square">
            <a:noAutofit/>
          </a:bodyPr>
          <a:lstStyle/>
          <a:p>
            <a:pPr algn="l"/>
            <a:r>
              <a:rPr sz="1300" b="0" i="0">
                <a:solidFill>
                  <a:srgbClr val="1A1A1A"/>
                </a:solidFill>
              </a:rPr>
              <a:t>El 80% de la población percibe la distribución como injusta;
el 70% apoya la intervención redistributiva del Estado.</a:t>
            </a:r>
          </a:p>
        </p:txBody>
      </p:sp>
      <p:sp>
        <p:nvSpPr>
          <p:cNvPr id="11" name="Rectangle 10"/>
          <p:cNvSpPr/>
          <p:nvPr/>
        </p:nvSpPr>
        <p:spPr>
          <a:xfrm>
            <a:off x="502920" y="3108960"/>
            <a:ext cx="5486400" cy="146304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3182112"/>
            <a:ext cx="5212080" cy="365760"/>
          </a:xfrm>
          <a:prstGeom prst="rect">
            <a:avLst/>
          </a:prstGeom>
          <a:noFill/>
          <a:ln>
            <a:noFill/>
          </a:ln>
        </p:spPr>
        <p:txBody>
          <a:bodyPr wrap="square">
            <a:noAutofit/>
          </a:bodyPr>
          <a:lstStyle/>
          <a:p>
            <a:pPr algn="l"/>
            <a:r>
              <a:rPr sz="1400" b="1" i="0">
                <a:solidFill>
                  <a:srgbClr val="2C5F2D"/>
                </a:solidFill>
              </a:rPr>
              <a:t>Los 2000 (Beccaria, 2018)</a:t>
            </a:r>
          </a:p>
        </p:txBody>
      </p:sp>
      <p:sp>
        <p:nvSpPr>
          <p:cNvPr id="13" name="TextBox 12"/>
          <p:cNvSpPr txBox="1"/>
          <p:nvPr/>
        </p:nvSpPr>
        <p:spPr>
          <a:xfrm>
            <a:off x="640080" y="3611880"/>
            <a:ext cx="5212080" cy="896112"/>
          </a:xfrm>
          <a:prstGeom prst="rect">
            <a:avLst/>
          </a:prstGeom>
          <a:noFill/>
          <a:ln>
            <a:noFill/>
          </a:ln>
        </p:spPr>
        <p:txBody>
          <a:bodyPr wrap="square">
            <a:noAutofit/>
          </a:bodyPr>
          <a:lstStyle/>
          <a:p>
            <a:pPr algn="l"/>
            <a:r>
              <a:rPr sz="1300" b="0" i="0">
                <a:solidFill>
                  <a:srgbClr val="1A1A1A"/>
                </a:solidFill>
              </a:rPr>
              <a:t>Reducción del Gini en AL por: boom de commodities + empleo
formal + sindicalización + suba del salario mínimo +
reducción brecha calificado/no calificado.</a:t>
            </a:r>
          </a:p>
        </p:txBody>
      </p:sp>
      <p:sp>
        <p:nvSpPr>
          <p:cNvPr id="14" name="Rectangle 13"/>
          <p:cNvSpPr/>
          <p:nvPr/>
        </p:nvSpPr>
        <p:spPr>
          <a:xfrm>
            <a:off x="6400800" y="3108960"/>
            <a:ext cx="5486400" cy="1463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37960" y="3182112"/>
            <a:ext cx="5212080" cy="365760"/>
          </a:xfrm>
          <a:prstGeom prst="rect">
            <a:avLst/>
          </a:prstGeom>
          <a:noFill/>
          <a:ln>
            <a:noFill/>
          </a:ln>
        </p:spPr>
        <p:txBody>
          <a:bodyPr wrap="square">
            <a:noAutofit/>
          </a:bodyPr>
          <a:lstStyle/>
          <a:p>
            <a:pPr algn="l"/>
            <a:r>
              <a:rPr sz="1400" b="1" i="0">
                <a:solidFill>
                  <a:srgbClr val="2C5F2D"/>
                </a:solidFill>
              </a:rPr>
              <a:t>Freno 2008 / Reversión 2014</a:t>
            </a:r>
          </a:p>
        </p:txBody>
      </p:sp>
      <p:sp>
        <p:nvSpPr>
          <p:cNvPr id="16" name="TextBox 15"/>
          <p:cNvSpPr txBox="1"/>
          <p:nvPr/>
        </p:nvSpPr>
        <p:spPr>
          <a:xfrm>
            <a:off x="6537960" y="3611880"/>
            <a:ext cx="5212080" cy="896112"/>
          </a:xfrm>
          <a:prstGeom prst="rect">
            <a:avLst/>
          </a:prstGeom>
          <a:noFill/>
          <a:ln>
            <a:noFill/>
          </a:ln>
        </p:spPr>
        <p:txBody>
          <a:bodyPr wrap="square">
            <a:noAutofit/>
          </a:bodyPr>
          <a:lstStyle/>
          <a:p>
            <a:pPr algn="l"/>
            <a:r>
              <a:rPr sz="1300" b="0" i="0">
                <a:solidFill>
                  <a:srgbClr val="1A1A1A"/>
                </a:solidFill>
              </a:rPr>
              <a:t>Caída de materias primas + baja dinámica laboral revirtieron
los avances. La mejora fue COYUNTURAL, no estructural.</a:t>
            </a:r>
          </a:p>
        </p:txBody>
      </p:sp>
      <p:sp>
        <p:nvSpPr>
          <p:cNvPr id="17" name="Rectangle 16"/>
          <p:cNvSpPr/>
          <p:nvPr/>
        </p:nvSpPr>
        <p:spPr>
          <a:xfrm>
            <a:off x="502920" y="4709160"/>
            <a:ext cx="5486400" cy="1463040"/>
          </a:xfrm>
          <a:prstGeom prst="rect">
            <a:avLst/>
          </a:prstGeom>
          <a:solidFill>
            <a:srgbClr val="E8F4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4782312"/>
            <a:ext cx="5212080" cy="365760"/>
          </a:xfrm>
          <a:prstGeom prst="rect">
            <a:avLst/>
          </a:prstGeom>
          <a:noFill/>
          <a:ln>
            <a:noFill/>
          </a:ln>
        </p:spPr>
        <p:txBody>
          <a:bodyPr wrap="square">
            <a:noAutofit/>
          </a:bodyPr>
          <a:lstStyle/>
          <a:p>
            <a:pPr algn="l"/>
            <a:r>
              <a:rPr sz="1400" b="1" i="0">
                <a:solidFill>
                  <a:srgbClr val="2C5F2D"/>
                </a:solidFill>
              </a:rPr>
              <a:t>AL: la más desigual</a:t>
            </a:r>
          </a:p>
        </p:txBody>
      </p:sp>
      <p:sp>
        <p:nvSpPr>
          <p:cNvPr id="19" name="TextBox 18"/>
          <p:cNvSpPr txBox="1"/>
          <p:nvPr/>
        </p:nvSpPr>
        <p:spPr>
          <a:xfrm>
            <a:off x="640080" y="5212080"/>
            <a:ext cx="5212080" cy="896112"/>
          </a:xfrm>
          <a:prstGeom prst="rect">
            <a:avLst/>
          </a:prstGeom>
          <a:noFill/>
          <a:ln>
            <a:noFill/>
          </a:ln>
        </p:spPr>
        <p:txBody>
          <a:bodyPr wrap="square">
            <a:noAutofit/>
          </a:bodyPr>
          <a:lstStyle/>
          <a:p>
            <a:pPr algn="l"/>
            <a:r>
              <a:rPr sz="1300" b="0" i="0">
                <a:solidFill>
                  <a:srgbClr val="1A1A1A"/>
                </a:solidFill>
              </a:rPr>
              <a:t>No por poca clase media sino por acumulación excesiva
en la cúspide. Problema es netamente distributivo.</a:t>
            </a:r>
          </a:p>
        </p:txBody>
      </p:sp>
      <p:sp>
        <p:nvSpPr>
          <p:cNvPr id="20" name="Rectangle 19"/>
          <p:cNvSpPr/>
          <p:nvPr/>
        </p:nvSpPr>
        <p:spPr>
          <a:xfrm>
            <a:off x="6400800" y="4709160"/>
            <a:ext cx="5486400" cy="1463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37960" y="4782312"/>
            <a:ext cx="5212080" cy="365760"/>
          </a:xfrm>
          <a:prstGeom prst="rect">
            <a:avLst/>
          </a:prstGeom>
          <a:noFill/>
          <a:ln>
            <a:noFill/>
          </a:ln>
        </p:spPr>
        <p:txBody>
          <a:bodyPr wrap="square">
            <a:noAutofit/>
          </a:bodyPr>
          <a:lstStyle/>
          <a:p>
            <a:pPr algn="l"/>
            <a:r>
              <a:rPr sz="1400" b="1" i="0">
                <a:solidFill>
                  <a:srgbClr val="2C5F2D"/>
                </a:solidFill>
              </a:rPr>
              <a:t>Argentina: INDEC</a:t>
            </a:r>
          </a:p>
        </p:txBody>
      </p:sp>
      <p:sp>
        <p:nvSpPr>
          <p:cNvPr id="22" name="TextBox 21"/>
          <p:cNvSpPr txBox="1"/>
          <p:nvPr/>
        </p:nvSpPr>
        <p:spPr>
          <a:xfrm>
            <a:off x="6537960" y="5212080"/>
            <a:ext cx="5212080" cy="896112"/>
          </a:xfrm>
          <a:prstGeom prst="rect">
            <a:avLst/>
          </a:prstGeom>
          <a:noFill/>
          <a:ln>
            <a:noFill/>
          </a:ln>
        </p:spPr>
        <p:txBody>
          <a:bodyPr wrap="square">
            <a:noAutofit/>
          </a:bodyPr>
          <a:lstStyle/>
          <a:p>
            <a:pPr algn="l"/>
            <a:r>
              <a:rPr sz="1300" b="0" i="0">
                <a:solidFill>
                  <a:srgbClr val="1A1A1A"/>
                </a:solidFill>
              </a:rPr>
              <a:t>Usa CBA + CBT con Coeficiente de Engel nacional.
CABA aplica el método de componentes detallado.</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185855" cy="320040"/>
          </a:xfrm>
          <a:prstGeom prst="rect">
            <a:avLst/>
          </a:prstGeom>
          <a:noFill/>
          <a:ln>
            <a:noFill/>
          </a:ln>
        </p:spPr>
        <p:txBody>
          <a:bodyPr wrap="square">
            <a:noAutofit/>
          </a:bodyPr>
          <a:lstStyle/>
          <a:p>
            <a:pPr algn="l"/>
            <a:r>
              <a:rPr sz="1100" b="1" i="0">
                <a:solidFill>
                  <a:srgbClr val="97BC62"/>
                </a:solidFill>
              </a:rPr>
              <a:t>RESUMEN INTEGRADOR</a:t>
            </a:r>
          </a:p>
        </p:txBody>
      </p:sp>
      <p:sp>
        <p:nvSpPr>
          <p:cNvPr id="3" name="TextBox 2"/>
          <p:cNvSpPr txBox="1"/>
          <p:nvPr/>
        </p:nvSpPr>
        <p:spPr>
          <a:xfrm>
            <a:off x="502920" y="548640"/>
            <a:ext cx="11185855" cy="868680"/>
          </a:xfrm>
          <a:prstGeom prst="rect">
            <a:avLst/>
          </a:prstGeom>
          <a:noFill/>
          <a:ln>
            <a:noFill/>
          </a:ln>
        </p:spPr>
        <p:txBody>
          <a:bodyPr wrap="square">
            <a:noAutofit/>
          </a:bodyPr>
          <a:lstStyle/>
          <a:p>
            <a:pPr algn="l"/>
            <a:r>
              <a:rPr sz="3800" b="1" i="0">
                <a:solidFill>
                  <a:srgbClr val="2C5F2D"/>
                </a:solidFill>
              </a:rPr>
              <a:t>U4 en una pantalla — los pilares conceptuales</a:t>
            </a:r>
          </a:p>
        </p:txBody>
      </p:sp>
      <p:sp>
        <p:nvSpPr>
          <p:cNvPr id="4" name="Rectangle 3"/>
          <p:cNvSpPr/>
          <p:nvPr/>
        </p:nvSpPr>
        <p:spPr>
          <a:xfrm>
            <a:off x="502920" y="1417320"/>
            <a:ext cx="2286000" cy="4572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508760"/>
            <a:ext cx="5486400" cy="2240280"/>
          </a:xfrm>
          <a:prstGeom prst="rect">
            <a:avLst/>
          </a:prstGeom>
          <a:solidFill>
            <a:srgbClr val="2C5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600200"/>
            <a:ext cx="5120640" cy="594360"/>
          </a:xfrm>
          <a:prstGeom prst="rect">
            <a:avLst/>
          </a:prstGeom>
          <a:noFill/>
          <a:ln>
            <a:noFill/>
          </a:ln>
        </p:spPr>
        <p:txBody>
          <a:bodyPr wrap="square">
            <a:noAutofit/>
          </a:bodyPr>
          <a:lstStyle/>
          <a:p>
            <a:pPr algn="l"/>
            <a:r>
              <a:rPr sz="1800" b="1" i="0">
                <a:solidFill>
                  <a:srgbClr val="FFFFFF"/>
                </a:solidFill>
              </a:rPr>
              <a:t>MEDICIÓN
DE LA POBREZA</a:t>
            </a:r>
          </a:p>
        </p:txBody>
      </p:sp>
      <p:sp>
        <p:nvSpPr>
          <p:cNvPr id="7" name="TextBox 6"/>
          <p:cNvSpPr txBox="1"/>
          <p:nvPr/>
        </p:nvSpPr>
        <p:spPr>
          <a:xfrm>
            <a:off x="685800" y="2286000"/>
            <a:ext cx="5120640" cy="1371600"/>
          </a:xfrm>
          <a:prstGeom prst="rect">
            <a:avLst/>
          </a:prstGeom>
          <a:noFill/>
          <a:ln>
            <a:noFill/>
          </a:ln>
        </p:spPr>
        <p:txBody>
          <a:bodyPr wrap="square">
            <a:noAutofit/>
          </a:bodyPr>
          <a:lstStyle/>
          <a:p>
            <a:pPr algn="l"/>
            <a:r>
              <a:rPr sz="1300" b="0" i="0">
                <a:solidFill>
                  <a:srgbClr val="FFFFFF"/>
                </a:solidFill>
              </a:rPr>
              <a:t>• Identificación + Agregación
• CBA/CBT + Coeficiente de Engel
• FGT: α=0,1,2
• NBI / IPM / Consensual</a:t>
            </a:r>
          </a:p>
        </p:txBody>
      </p:sp>
      <p:sp>
        <p:nvSpPr>
          <p:cNvPr id="8" name="Rectangle 7"/>
          <p:cNvSpPr/>
          <p:nvPr/>
        </p:nvSpPr>
        <p:spPr>
          <a:xfrm>
            <a:off x="6400800" y="1508760"/>
            <a:ext cx="5486400" cy="224028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0" y="1600200"/>
            <a:ext cx="5120640" cy="594360"/>
          </a:xfrm>
          <a:prstGeom prst="rect">
            <a:avLst/>
          </a:prstGeom>
          <a:noFill/>
          <a:ln>
            <a:noFill/>
          </a:ln>
        </p:spPr>
        <p:txBody>
          <a:bodyPr wrap="square">
            <a:noAutofit/>
          </a:bodyPr>
          <a:lstStyle/>
          <a:p>
            <a:pPr algn="l"/>
            <a:r>
              <a:rPr sz="1800" b="1" i="0">
                <a:solidFill>
                  <a:srgbClr val="FFFFFF"/>
                </a:solidFill>
              </a:rPr>
              <a:t>JUSTICIA
SOCIAL</a:t>
            </a:r>
          </a:p>
        </p:txBody>
      </p:sp>
      <p:sp>
        <p:nvSpPr>
          <p:cNvPr id="10" name="TextBox 9"/>
          <p:cNvSpPr txBox="1"/>
          <p:nvPr/>
        </p:nvSpPr>
        <p:spPr>
          <a:xfrm>
            <a:off x="6583680" y="2286000"/>
            <a:ext cx="5120640" cy="1371600"/>
          </a:xfrm>
          <a:prstGeom prst="rect">
            <a:avLst/>
          </a:prstGeom>
          <a:noFill/>
          <a:ln>
            <a:noFill/>
          </a:ln>
        </p:spPr>
        <p:txBody>
          <a:bodyPr wrap="square">
            <a:noAutofit/>
          </a:bodyPr>
          <a:lstStyle/>
          <a:p>
            <a:pPr algn="l"/>
            <a:r>
              <a:rPr sz="1300" b="0" i="0">
                <a:solidFill>
                  <a:srgbClr val="FFFFFF"/>
                </a:solidFill>
              </a:rPr>
              <a:t>• Convencionalismo → acepta status quo
• Utilitarismo → maximiza utilidad
• Rawls → maximin (velo de ignorancia)
• Sen → capacidades (factores de conv.)</a:t>
            </a:r>
          </a:p>
        </p:txBody>
      </p:sp>
      <p:sp>
        <p:nvSpPr>
          <p:cNvPr id="11" name="Rectangle 10"/>
          <p:cNvSpPr/>
          <p:nvPr/>
        </p:nvSpPr>
        <p:spPr>
          <a:xfrm>
            <a:off x="502920" y="3886200"/>
            <a:ext cx="5486400" cy="2240280"/>
          </a:xfrm>
          <a:prstGeom prst="rect">
            <a:avLst/>
          </a:prstGeom>
          <a:solidFill>
            <a:srgbClr val="2C5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3977640"/>
            <a:ext cx="5120640" cy="594360"/>
          </a:xfrm>
          <a:prstGeom prst="rect">
            <a:avLst/>
          </a:prstGeom>
          <a:noFill/>
          <a:ln>
            <a:noFill/>
          </a:ln>
        </p:spPr>
        <p:txBody>
          <a:bodyPr wrap="square">
            <a:noAutofit/>
          </a:bodyPr>
          <a:lstStyle/>
          <a:p>
            <a:pPr algn="l"/>
            <a:r>
              <a:rPr sz="1800" b="1" i="0">
                <a:solidFill>
                  <a:srgbClr val="FFFFFF"/>
                </a:solidFill>
              </a:rPr>
              <a:t>DESIGUALDAD
Y CRECIMIENTO</a:t>
            </a:r>
          </a:p>
        </p:txBody>
      </p:sp>
      <p:sp>
        <p:nvSpPr>
          <p:cNvPr id="13" name="TextBox 12"/>
          <p:cNvSpPr txBox="1"/>
          <p:nvPr/>
        </p:nvSpPr>
        <p:spPr>
          <a:xfrm>
            <a:off x="685800" y="4663440"/>
            <a:ext cx="5120640" cy="1371600"/>
          </a:xfrm>
          <a:prstGeom prst="rect">
            <a:avLst/>
          </a:prstGeom>
          <a:noFill/>
          <a:ln>
            <a:noFill/>
          </a:ln>
        </p:spPr>
        <p:txBody>
          <a:bodyPr wrap="square">
            <a:noAutofit/>
          </a:bodyPr>
          <a:lstStyle/>
          <a:p>
            <a:pPr algn="l"/>
            <a:r>
              <a:rPr sz="1300" b="0" i="0">
                <a:solidFill>
                  <a:srgbClr val="FFFFFF"/>
                </a:solidFill>
              </a:rPr>
              <a:t>• Kuznets: U invertida (no automática)
• 8 canales bidireccionales
• Distribución personal vs. funcional
• Vertical / Horizontal / Relacional</a:t>
            </a:r>
          </a:p>
        </p:txBody>
      </p:sp>
      <p:sp>
        <p:nvSpPr>
          <p:cNvPr id="14" name="Rectangle 13"/>
          <p:cNvSpPr/>
          <p:nvPr/>
        </p:nvSpPr>
        <p:spPr>
          <a:xfrm>
            <a:off x="6400800" y="3886200"/>
            <a:ext cx="5486400" cy="2240280"/>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83680" y="3977640"/>
            <a:ext cx="5120640" cy="594360"/>
          </a:xfrm>
          <a:prstGeom prst="rect">
            <a:avLst/>
          </a:prstGeom>
          <a:noFill/>
          <a:ln>
            <a:noFill/>
          </a:ln>
        </p:spPr>
        <p:txBody>
          <a:bodyPr wrap="square">
            <a:noAutofit/>
          </a:bodyPr>
          <a:lstStyle/>
          <a:p>
            <a:pPr algn="l"/>
            <a:r>
              <a:rPr sz="1800" b="1" i="0">
                <a:solidFill>
                  <a:srgbClr val="FFFFFF"/>
                </a:solidFill>
              </a:rPr>
              <a:t>POLÍTICAS</a:t>
            </a:r>
          </a:p>
        </p:txBody>
      </p:sp>
      <p:sp>
        <p:nvSpPr>
          <p:cNvPr id="16" name="TextBox 15"/>
          <p:cNvSpPr txBox="1"/>
          <p:nvPr/>
        </p:nvSpPr>
        <p:spPr>
          <a:xfrm>
            <a:off x="6583680" y="4663440"/>
            <a:ext cx="5120640" cy="1371600"/>
          </a:xfrm>
          <a:prstGeom prst="rect">
            <a:avLst/>
          </a:prstGeom>
          <a:noFill/>
          <a:ln>
            <a:noFill/>
          </a:ln>
        </p:spPr>
        <p:txBody>
          <a:bodyPr wrap="square">
            <a:noAutofit/>
          </a:bodyPr>
          <a:lstStyle/>
          <a:p>
            <a:pPr algn="l"/>
            <a:r>
              <a:rPr sz="1300" b="0" i="0">
                <a:solidFill>
                  <a:srgbClr val="FFFFFF"/>
                </a:solidFill>
              </a:rPr>
              <a:t>• Pre-distributivas (antes del mercado)
• Intervención en mercados
• Redistributivas (impuestos/transferencias)
• Falla en PED: baja recaudación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A381B"/>
        </a:solidFill>
        <a:effectLst/>
      </p:bgPr>
    </p:bg>
    <p:spTree>
      <p:nvGrpSpPr>
        <p:cNvPr id="1" name=""/>
        <p:cNvGrpSpPr/>
        <p:nvPr/>
      </p:nvGrpSpPr>
      <p:grpSpPr>
        <a:xfrm>
          <a:off x="0" y="0"/>
          <a:ext cx="0" cy="0"/>
          <a:chOff x="0" y="0"/>
          <a:chExt cx="0" cy="0"/>
        </a:xfrm>
      </p:grpSpPr>
      <p:sp>
        <p:nvSpPr>
          <p:cNvPr id="2" name="Rectangle 1"/>
          <p:cNvSpPr/>
          <p:nvPr/>
        </p:nvSpPr>
        <p:spPr>
          <a:xfrm>
            <a:off x="0" y="3108960"/>
            <a:ext cx="12191695" cy="64008"/>
          </a:xfrm>
          <a:prstGeom prst="rect">
            <a:avLst/>
          </a:prstGeom>
          <a:solidFill>
            <a:srgbClr val="97B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548640"/>
            <a:ext cx="11185855" cy="411480"/>
          </a:xfrm>
          <a:prstGeom prst="rect">
            <a:avLst/>
          </a:prstGeom>
          <a:noFill/>
          <a:ln>
            <a:noFill/>
          </a:ln>
        </p:spPr>
        <p:txBody>
          <a:bodyPr wrap="square">
            <a:noAutofit/>
          </a:bodyPr>
          <a:lstStyle/>
          <a:p>
            <a:pPr algn="l"/>
            <a:r>
              <a:rPr sz="1500" b="0" i="0">
                <a:solidFill>
                  <a:srgbClr val="CCE899"/>
                </a:solidFill>
              </a:rPr>
              <a:t>UNIDAD 4 — Desarrollo Económico  |  UBA FCE</a:t>
            </a:r>
          </a:p>
        </p:txBody>
      </p:sp>
      <p:sp>
        <p:nvSpPr>
          <p:cNvPr id="4" name="TextBox 3"/>
          <p:cNvSpPr txBox="1"/>
          <p:nvPr/>
        </p:nvSpPr>
        <p:spPr>
          <a:xfrm>
            <a:off x="502920" y="1097280"/>
            <a:ext cx="11185855" cy="1188720"/>
          </a:xfrm>
          <a:prstGeom prst="rect">
            <a:avLst/>
          </a:prstGeom>
          <a:noFill/>
          <a:ln>
            <a:noFill/>
          </a:ln>
        </p:spPr>
        <p:txBody>
          <a:bodyPr wrap="square">
            <a:noAutofit/>
          </a:bodyPr>
          <a:lstStyle/>
          <a:p>
            <a:pPr algn="l"/>
            <a:r>
              <a:rPr sz="4000" b="1" i="0">
                <a:solidFill>
                  <a:srgbClr val="FFFFFF"/>
                </a:solidFill>
              </a:rPr>
              <a:t>La pobreza y la desigualdad
no son inevitables.</a:t>
            </a:r>
          </a:p>
        </p:txBody>
      </p:sp>
      <p:sp>
        <p:nvSpPr>
          <p:cNvPr id="5" name="TextBox 4"/>
          <p:cNvSpPr txBox="1"/>
          <p:nvPr/>
        </p:nvSpPr>
        <p:spPr>
          <a:xfrm>
            <a:off x="502920" y="2468880"/>
            <a:ext cx="11185855" cy="1645920"/>
          </a:xfrm>
          <a:prstGeom prst="rect">
            <a:avLst/>
          </a:prstGeom>
          <a:noFill/>
          <a:ln>
            <a:noFill/>
          </a:ln>
        </p:spPr>
        <p:txBody>
          <a:bodyPr wrap="square">
            <a:noAutofit/>
          </a:bodyPr>
          <a:lstStyle/>
          <a:p>
            <a:pPr algn="l">
              <a:spcBef>
                <a:spcPts val="0"/>
              </a:spcBef>
            </a:pPr>
            <a:r>
              <a:rPr sz="1700" b="0">
                <a:solidFill>
                  <a:srgbClr val="CCE899"/>
                </a:solidFill>
              </a:rPr>
              <a:t>Son el resultado de estructuras económicas e institucionales que pueden transformarse.</a:t>
            </a:r>
          </a:p>
          <a:p>
            <a:pPr algn="l">
              <a:spcBef>
                <a:spcPts val="800"/>
              </a:spcBef>
            </a:pPr>
            <a:r>
              <a:rPr sz="1700" b="0">
                <a:solidFill>
                  <a:srgbClr val="CCE899"/>
                </a:solidFill>
              </a:rPr>
              <a:t>Medirlas correctamente es el primer paso para actuar sobre ellas.</a:t>
            </a:r>
          </a:p>
          <a:p>
            <a:pPr algn="l">
              <a:spcBef>
                <a:spcPts val="800"/>
              </a:spcBef>
            </a:pPr>
            <a:endParaRPr sz="1700" b="0">
              <a:solidFill>
                <a:srgbClr val="CCE899"/>
              </a:solidFill>
            </a:endParaRPr>
          </a:p>
          <a:p>
            <a:pPr algn="l">
              <a:spcBef>
                <a:spcPts val="800"/>
              </a:spcBef>
            </a:pPr>
            <a:r>
              <a:rPr sz="1500" b="1">
                <a:solidFill>
                  <a:srgbClr val="97BC62"/>
                </a:solidFill>
              </a:rPr>
              <a:t>Dominá el ciclo completo:</a:t>
            </a:r>
          </a:p>
          <a:p>
            <a:pPr algn="l">
              <a:spcBef>
                <a:spcPts val="800"/>
              </a:spcBef>
            </a:pPr>
            <a:r>
              <a:rPr sz="1500" b="0">
                <a:solidFill>
                  <a:srgbClr val="CCE899"/>
                </a:solidFill>
              </a:rPr>
              <a:t>Medir bien  →  Entender mecanismos  →  Diseñar políticas  →  Evaluar impacto</a:t>
            </a:r>
          </a:p>
        </p:txBody>
      </p:sp>
      <p:sp>
        <p:nvSpPr>
          <p:cNvPr id="6" name="TextBox 5"/>
          <p:cNvSpPr txBox="1"/>
          <p:nvPr/>
        </p:nvSpPr>
        <p:spPr>
          <a:xfrm>
            <a:off x="502920" y="6309360"/>
            <a:ext cx="11185855" cy="411480"/>
          </a:xfrm>
          <a:prstGeom prst="rect">
            <a:avLst/>
          </a:prstGeom>
          <a:noFill/>
          <a:ln>
            <a:noFill/>
          </a:ln>
        </p:spPr>
        <p:txBody>
          <a:bodyPr wrap="square">
            <a:noAutofit/>
          </a:bodyPr>
          <a:lstStyle/>
          <a:p>
            <a:pPr algn="r"/>
            <a:r>
              <a:rPr sz="1300" b="0" i="0">
                <a:solidFill>
                  <a:srgbClr val="97BC62"/>
                </a:solidFill>
              </a:rPr>
              <a:t>Fin de la presentación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46</TotalTime>
  <Words>5209</Words>
  <Application>Microsoft Office PowerPoint</Application>
  <PresentationFormat>Panorámica</PresentationFormat>
  <Paragraphs>603</Paragraphs>
  <Slides>38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38</vt:i4>
      </vt:variant>
    </vt:vector>
  </HeadingPairs>
  <TitlesOfParts>
    <vt:vector size="42" baseType="lpstr">
      <vt:lpstr>Arial</vt:lpstr>
      <vt:lpstr>Calibri</vt:lpstr>
      <vt:lpstr>Segoe UI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estefanny vasquez</cp:lastModifiedBy>
  <cp:revision>1</cp:revision>
  <dcterms:created xsi:type="dcterms:W3CDTF">2013-01-27T09:14:16Z</dcterms:created>
  <dcterms:modified xsi:type="dcterms:W3CDTF">2026-05-21T02:04:40Z</dcterms:modified>
  <cp:category/>
</cp:coreProperties>
</file>