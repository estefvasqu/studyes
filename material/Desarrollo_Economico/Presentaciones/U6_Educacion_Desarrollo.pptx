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27B5A0"/>
          </a:solidFill>
          <a:ln w="12700">
            <a:solidFill>
              <a:srgbClr val="27B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Unidad 6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Educación y Desarrollo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Enfoques, Consideraciones y Componentes clave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Desarrollo — UBA FCE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GENERAL DE LA UNIDAD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Humano · Capacidades · Derechos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3716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CONSIDERACIONES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Oferta/Demanda · Empleo · Heckman · Movilidad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560320" cy="137160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Pobreza · Migración · Género · Rural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2560320" cy="1371600"/>
          </a:xfrm>
          <a:prstGeom prst="rect">
            <a:avLst/>
          </a:prstGeom>
          <a:solidFill>
            <a:srgbClr val="7B3A2D"/>
          </a:solidFill>
          <a:ln w="12700">
            <a:solidFill>
              <a:srgbClr val="7B3A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CLAVE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Mincer · Heckman · Becker-Tomes · Curva Gatsby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555B6E"/>
          </a:solidFill>
          <a:ln w="12700">
            <a:solidFill>
              <a:srgbClr val="555B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&amp; RETORNOS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Privados vs. Sociales · Punto óptimo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2560320" cy="137160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TRAMPA CONCEPTUAL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Credencialismo · Movilidad sin equidad · Brain Drain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ÍNDICE DE LA PRESENTACIÓN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Enfoques para el estudio de la Educación y el Desarrollo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Capital Humano (HC) · Enfoque de Capacidades (CA) · Enfoque de Derechos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Consideraciones sobre la Educación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Oferta/Demanda · Educación y Empleo · Costos y Beneficios · Heckman · Movilidad Social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Componentes: Educación y Desarrollo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Crecimiento Económico · Pobreza/Desigualdad · Migración (Brain Drain) · Género · Desarrollo Rural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Resumen · Errores comunes · Preguntas de examen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Enfoques para el estudio de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Educación y el Desarrollo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Humano · Enfoque de Capacidades · Enfoque de Derechos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CONTEXTO: ¿Por qué estudiar enfoques diferentes?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puede vincularse al desarrollo desde ángulos muy distintos: económicos, éticos, políticos.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enfoque responde a una pregunta diferente: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educación produce crecimiento económico?  → Capital Humano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educación amplía la libertad real de las personas?  → Enfoque de Capacidades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educación es un derecho universal?  → Enfoque de Derechos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enfoque es «completo» por sí solo: se complementan y critican mutuamente.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examen: entender las diferencias filosóficas y prácticas entre HC y CA.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Teoría del Capital Humano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Becker (1964) · Schultz · Psacharopoulos · Ecuación de Mincer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HUMANO — Idea central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es comparable a la inversión en capital físico: genera un retorno económico medible.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Becker (1964) desarrolla el concepto en marco neoclásico: la escolaridad incrementa la productividad como lo haría una máquina.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Schultz amplía la idea: la educación tiene valor económico que la teoría clásica ignoró por mucho tiempo.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Psacharopoulos (1970s-80s) compara la rentabilidad de invertir en educación vs. capital físico entre países.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resultados fueron adoptados por el Banco Mundial como justificación para política educativa.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Orientación: el crecimiento económico es la preocupación central.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son tratadas como recursos humanos — agentes pasivos.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RETORNOS A LA EDUCACIÓN — Ecuación de Mincer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Y = β₀ + β₁S + β₂E + β₃S² + β₄(S×E) + β₅E² + u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del individuo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60904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60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6609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educación (schooling)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64408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644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264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 laboral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867912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β₁β₃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867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que describen el retorno a la educación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471416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71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β₂β₅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4714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que describen el retorno a la experiencia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074920"/>
            <a:ext cx="640080" cy="4572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5074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combinado (interacción) de educación y experiencia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 de las Capacidades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(Capabilities Approach)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Unterhalter · Nussbaum · Sen · Boni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 DE CAPACIDADES — Idea central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preocupación central NO es el crecimiento económico, sino la calidad de vida humana.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cumple 3 roles: instrumental (medio), potenciador (amplía capacidades) y redistributivo (corrige inequidades).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a los 'improductivos': ancianos, discapacitados, enfermos. No los excluye como el HC.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son agentes participativos y activos, no objetivos pasivos.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se entiende como DESARROLLO EN SÍ MISMO — no solo como medio.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la reflexión crítica, el debate público y la inclusión de voces excluidas.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importa qué se enseña (contenido), sino cómo se enseña (proceso pedagógico) — Nussbaum.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COMPARACIÓN: Capital Humano vs. Enfoque de Capacidades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Humano (HC)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Preocupación central: Crecimiento económico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= inversión que genera retorno productivo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competencias: habilidades funcionales para satisfacer demandas del mercado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externa: el mercado define qué habilidades importan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= recursos humanos (pasivos)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a quienes no producen (ancianos, enfermos, discapacitados)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023360" cy="3749040"/>
          </a:xfrm>
          <a:prstGeom prst="rect">
            <a:avLst/>
          </a:prstGeom>
          <a:solidFill>
            <a:srgbClr val="E8F4EF"/>
          </a:solidFill>
          <a:ln w="12700">
            <a:solidFill>
              <a:srgbClr val="E8F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 de Capacidades (CA)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Preocupación central: Calidad de vida y libertad real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= medio Y fin del desarrollo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capacidades: poder optar por acciones y modos de vida valiosos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interna: el individuo elige libremente según sus valores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= agentes activos y participativos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a todos, independientemente de su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COMPETENCIAS vs. CAPACIDADES — distinción clave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COMPETENCIAS (HC)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 para satisfacer demandas complejas en un contexto particular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funcional: resolver problemas que vienen del exterior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Orientadas externamente a la demanda (mercado, instituciones)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saber programar para emplearse en tech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023360" cy="3749040"/>
          </a:xfrm>
          <a:prstGeom prst="rect">
            <a:avLst/>
          </a:prstGeom>
          <a:solidFill>
            <a:srgbClr val="E8F4EF"/>
          </a:solidFill>
          <a:ln w="12700">
            <a:solidFill>
              <a:srgbClr val="E8F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CAPACIDADES (CA)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optar por una acción, elección o comportamiento valioso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ético y normativo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Orientadas internamente: el individuo elige según sus valores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capacidad de participar políticamente, de deliberar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IMPLICANCIAS DEL CA PARA LA EDUCACIÓN Y EL DESARROLLO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Aspectos Distributivos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desigualdad en oportunidades, en el proceso educativo (calidad de escuelas, interacciones pedagógicas) y en los resultados. Con la misma experiencia educativa, distintas personas obtienen distintos resultados.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Valores Sustantivos y Contenido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enseña a razonar, a deliberar y empodera. ES A LA VEZ MEDIO Y FIN DEL DESARROLLO. Los valores son parte inseparable del proceso educativo.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Ciudadanía Democrática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participación, la deliberación y el aprendizaje colectivo. Expande la agencia de las personas. Las diferencias sirven para aprender pero son moralmente irrelevantes.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FACTORES DE CONVERSIÓN (CA)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 señala que no basta con tener recursos educativos: hay que analizarsi los estudiantes pueden CONVERTIR esos recursos en capacidades y luego en funcionamientos.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INTERNA: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las personas aprenden o entienden el valor de la educación. Incluye preferencias adaptativas de los pobres (conformarse con terminar primaria).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EXTERNA: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provisión educativa: conocimiento de maestros, infraestructura, materiales, contexto escolar.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nivel de recursos NO logra que todos aprendan igual: un niño con necesidades especiales requiere recursos adicionales.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conceptual: evaluar solo recursos e insumos, sin analizar si se convierten en capacidades reales.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ETAPAS DEL PROCESO EDUCATIVO (mirada del CA)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a los servicios educativos. Indicador: escolarización, asistencia escolar. Sin acceso no hay punto de partida posible.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TRAYECTORIA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educativo de los estudiantes ya insertos. Indicadores: repitencia, abandono, reingreso, sobreedad, promoción efectiva.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371600"/>
            <a:ext cx="24688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aprendizajes significativos. Indicadores: pruebas estandarizadas de lengua y matemática, acceso posterior al empleo.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 de Derechos en la Educación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Tomasevski · UNESCO · Esquema 4-A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 DE DERECHOS — Principios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Declaración Universal de DDHH (1948): la educación es un derecho humano.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educación primaria gratuita y obligatoria; acceso equitativo a secundaria y superior.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obligaciones estatales se organizan en el esquema 4-A (Tomasevski).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Asequibilidad: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garantiza la existencia de establecimientos, respeta libertad en educación, asegura educación gratuita y obligatoria, respeta diversidad cultural.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modalidades en cada nivel; educación obligatoria gratuita; post-obligatoria con cargas según capacidad adquisitiva.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ESQUEMA 4-A — Aceptabilidad y Adaptabilidad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Aceptabilidad: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calidad: seguridad escolar, cualidades profesionales de docentes, lengua de instrucción, disciplina sin castigo corporal, calidad de programas y métodos.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niños son sujetos de derecho A la educación y EN la educación.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escuelas deben adaptarse a los niños (principio del interés superior del niño — CDN), no al revés.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análisis inter-sectorial: educación y su impacto en todos los derechos humanos.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del CA al enfoque de derechos: garantizar acceso sin atender la calidad del proceso falla. 'Las escuelas construidas sin considerar contexto local no garantizan aprendizaje' — Tikly y Barret.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Consideraciones sobre la Educación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Oferta/Demanda · Empleo · Costos/Retornos · Heckman · Movilidad Social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OFERTA Y DEMANDA EDUCATIVA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mayoría de países en desarrollo la educación es provista públicamente por el Estado.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educativa: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Motivada económicamente: la perspectiva de mayores ingresos en el sector moderno. Es una demanda DERIVADA del deseo de empleo de mayor salario.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de: beneficio privado esperado vs. costos privados directos e indirectos.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educativa: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Determinada políticamente (no por fuerzas del mercado). El Estado fija vacantes en distintos niveles.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demanda se igualan de modo institucional, no vía precios de mercado.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expansión educativa a tasas difíciles de justificar en términos de asignación óptima de recursos.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FACTORES QUE DETERMINAN LA DEMANDA EDUCATIVA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Diferencial de Ingresos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brecha sector moderno vs. tradicional → mayor educación demandada. El sector moderno exige nivel mínimo; el tradicional 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 de Empleo Formal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nivel educativo, mayor probabilidad de encontrar empleo en el sector moderno. Pero también existe desempleo entre profesionales.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Privados Directos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371600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Cuota, materiales, uniformes. A mayor costo monetario → menor demanda privada. Especialmente limitante para hogares pobres.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17520"/>
            <a:ext cx="2651760" cy="329184"/>
          </a:xfrm>
          <a:prstGeom prst="rect">
            <a:avLst/>
          </a:prstGeom>
          <a:solidFill>
            <a:srgbClr val="7B3A2D"/>
          </a:solidFill>
          <a:ln w="12700">
            <a:solidFill>
              <a:srgbClr val="7B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17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 de Oportunidad Indirecto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laboral sacrificado por permanecer en el sistema. Relación inversa: más costo de oportunidad → menos educación demandada.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2651760" cy="329184"/>
          </a:xfrm>
          <a:prstGeom prst="rect">
            <a:avLst/>
          </a:prstGeom>
          <a:solidFill>
            <a:srgbClr val="555B6E"/>
          </a:solidFill>
          <a:ln w="12700">
            <a:solidFill>
              <a:srgbClr val="555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017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Factores No Económicos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383280"/>
            <a:ext cx="2468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Tradiciones culturales, estatus social de los padres, nivel educativo familiar, tamaño del hogar. Refuerzan o frenan la demanda independientemente del retorno.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DEL CREDENCIALISMO (proceso paso a paso)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960120"/>
            <a:ext cx="352044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601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Empeora el mercado laboral → se demanda más educación, el Estado provee más oferta.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50292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960120"/>
            <a:ext cx="352044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9601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están desocupados los sin educación.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50292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476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1947672"/>
            <a:ext cx="352044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19476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educativo promedio de los desempleados sube: oferta excedente de graduados.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1947672"/>
            <a:ext cx="50292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476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4920" y="1947672"/>
            <a:ext cx="3520440" cy="65836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9476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tiempo de desempleo, los educados aceptan empleos para los que están sobrecalificados.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935224"/>
            <a:ext cx="5029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352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8680" y="2935224"/>
            <a:ext cx="3520440" cy="658368"/>
          </a:xfrm>
          <a:prstGeom prst="rect">
            <a:avLst/>
          </a:prstGeom>
          <a:solidFill>
            <a:srgbClr val="FEE8E6"/>
          </a:solidFill>
          <a:ln w="12700">
            <a:solidFill>
              <a:srgbClr val="F0B8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9352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diploma se vuelve condición necesaria pero NO garantiza un buen empleo.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2935224"/>
            <a:ext cx="5029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9352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74920" y="2935224"/>
            <a:ext cx="3520440" cy="658368"/>
          </a:xfrm>
          <a:prstGeom prst="rect">
            <a:avLst/>
          </a:prstGeom>
          <a:solidFill>
            <a:srgbClr val="FEE8E6"/>
          </a:solidFill>
          <a:ln w="12700">
            <a:solidFill>
              <a:srgbClr val="F0B8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9352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empleadores piden credenciales incluso para puestos simples que no las requieren (credencialismo).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922776"/>
            <a:ext cx="5029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227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68680" y="3922776"/>
            <a:ext cx="3520440" cy="658368"/>
          </a:xfrm>
          <a:prstGeom prst="rect">
            <a:avLst/>
          </a:prstGeom>
          <a:solidFill>
            <a:srgbClr val="FEE8E6"/>
          </a:solidFill>
          <a:ln w="12700">
            <a:solidFill>
              <a:srgbClr val="F0B8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9227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no obtienen esas credenciales (por pobreza) quedan fuera del mercado laboral.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0" y="3922776"/>
            <a:ext cx="5029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9227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074920" y="3922776"/>
            <a:ext cx="3520440" cy="658368"/>
          </a:xfrm>
          <a:prstGeom prst="rect">
            <a:avLst/>
          </a:prstGeom>
          <a:solidFill>
            <a:srgbClr val="FEE8E6"/>
          </a:solidFill>
          <a:ln w="12700">
            <a:solidFill>
              <a:srgbClr val="F0B8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9227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educados sin oportunidades permanecen en el sistema → sube el costo social y privado.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02b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y Costos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Sociales y Privados de la Educación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 socialmente óptimo invertir en educación?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COSTOS Y BENEFICIOS — Definiciones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privados: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pagan directamente los estudiantes o sus familias (cuota, materiales, uniforme). También incluye el costo de oportunidad del tiempo dedicado.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sociales: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oportunidad para la sociedad: los recursos destinados a expandir la educación podrían usarse de forma más productiva en otros sectores.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privados: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ingreso laboral esperado. Desde el punto de vista privado SIEMPRE conviene seguir estudiando: los retornos esperados superan a los costos privados.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sociales (Hopenhayn-CEPAL):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de valores, ética ciudadana, competitividad internacional basada en progreso técnico, capacidades productivas colectivas.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PUNTO ÓPTIMO SOCIAL (Punto 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punto de vista PRIVADO: siempre es racional seguir estudiando más años (retornos &gt; costos privados).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punto de vista SOCIAL: existe un nivel de educación óptimo — el Punto B — que maximiza la diferencia entre retornos sociales y costos sociales.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Punto B los costos sociales superan a los retornos sociales.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ocurre porque la expansión masiva genera credencialismo, sobreducación y uso ineficiente de recursos públicos.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 de política: el Estado debería orientar el gasto educativo hacia los niveles con mayor retorno social (primaria &gt; universitaria en países en desarrollo).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examen: ¿Por qué el beneficio social puede ser menor que el beneficio privado de la educación?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02c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Heckman y la Inversión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Educación Temprana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Heckman · Self-Productivity · Dynamic Complementarity · Ventanas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HECKMAN (2006) — Argumento central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en edades tempranas, especialmente para poblaciones en condiciones desfavorables, produce el MAYOR retorno a la inversión en capital humano.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planteo integra el enfoque de capital humano con procesos biológicos y cognitivos del desarrollo infantil.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de Heckman: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que la tasa de retorno de la inversión pública disminuye rápidamente con la edad: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Prenatal / Infancia temprana (0-3) → retorno MÁS ALTO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Preescolar (4-5) → muy alto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K-12 → moderado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laboral post-escolar → más bajo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DETRÁS DE LA CURVA DE HECKMAN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SELF-PRODUCTIVITY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obtenidas en una etapa POTENCIAN las habilidades que se pueden adquirir en la siguiente.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se refuerzan entre sí a lo largo del tiempo.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niño con lenguaje desarrollado aprende a leer más fácilmente.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cognitivas potencian las no cognitivas y viceversa.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023360" cy="3749040"/>
          </a:xfrm>
          <a:prstGeom prst="rect">
            <a:avLst/>
          </a:prstGeom>
          <a:solidFill>
            <a:srgbClr val="E8F4EF"/>
          </a:solidFill>
          <a:ln w="12700">
            <a:solidFill>
              <a:srgbClr val="E8F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COMPLEMENTARITY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de una etapa AUMENTAN la productividad de la inversión en períodos siguientes.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tardía NO puede reemplazar la inversión temprana.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PERO: la inversión también es necesaria en etapas posteriores — no solo en la temprana.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factores juntos producen un EFECTO MULTIPLICADOR sobre las habilidades.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VENTANAS CRÍTICAS Y SENSIBLES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ventana: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del desarrollo en que la incorporación de habilidades cognitivas y no cognitivas es máxima. Hay que aprovecharlos.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CRÍTICA: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habilidad solo puede adquirirse en esa etapa. Si se pierde esa ventana, la habilidad se pierde para siempre.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SENSIBLE: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habilidad se puede adquirir más fácilmente en cierta etapa, pero también más tarde, con mayor inversión.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infancia concentra la mayoría de ventanas críticas. Hay evidencia de que algunas también existen en la adolescencia.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conceptual: confundir ventana crítica con ventana sensible — no lo mismo.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IMPLICANCIAS Y LÍMITES DE LA CURVA DE HECKMAN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Implicancias positivas: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 sociales: mejores ingresos, salud, menor criminalidad, mayor bienestar. Puede romper la transmisión intergeneracional de la pobreza.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a la inversión tardía: se invierte demasiado en programas para adultos cuando el retorno es menor.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riesgos: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se justifican inversiones en etapas tempranas, la población que no las recibió queda «perdida» en términos de productividad — riesgo de exclusión.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empírica: los programas apuntados a edades tempranas NO SIEMPRE muestran mayores retornos. Ni los programas para adultos tienen siempre beneficios &lt; costos.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es un argumento teórico potente, pero no una receta universal de política.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02d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Educación y Movilidad Social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Becker-Tomes · Curva Gran Gatsby · Factores estructurales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BECKER Y TOMES (1979) — Movilidad intergeneracional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capital humano, la movilidad social se estudia a través de las decisiones familiares que buscan maximizar el bienestar propio y de sus descendientes.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familias transfieren bienestar a sus hijos de 3 formas: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Transmisión de habilidades, intereses y valores: genética o crianza. Esas habilidades generan retornos en el mercado.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Inversión en capital humano: educación y salud en primeros años. Impacta la productividad laboral futura.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Herencia: transferencia directa de riqueza.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es el canal central de movilidad porque puede aumentarse por decisión familiar y política pública.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CURVA GRAN GATSBY — Desigualdad y Movilidad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NEGATIVA entre desigualdad (Gini) y movilidad social intergeneracional.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bien: relación DIRECTA entre desigualdad y persistencia del ingreso entre generaciones.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desigualdad → menor movilidad social.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con Gini alto (Brasil, Ecuador, Perú, Colombia) muestran alta persistencia educativa intergeneracional.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más igualitarios (Suecia, Australia) muestran mayor movilidad.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se ubica en posición intermedia pero con tendencia al estancamiento de la movilidad.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Implicancia: la educación sola no garantiza movilidad si la desigualdad estructural es alta.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FACTORES ESTRUCTURALES QUE LIMITAN LA MOVILIDAD SOCIAL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4069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Transmisión de Capital Social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hijos heredan contactos, vinculaciones y reputación de sus padres. La red social es uno de los predictores más fuertes de movilidad ascendente (estudios empíricos).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069080" cy="329184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05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Emparejamiento Selectivo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matrimonios ocurren entre personas del mismo NSE. Fertilidad menor en NSE alto → más ingreso per cápita. Estos patrones se reproducen intergeneracionalmente.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17520"/>
            <a:ext cx="4069080" cy="329184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175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Segregación Geográfica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entre lugar de residencia y NSE. Limita la interacción social entre clases. Los pobres acceden a bienes públicos de menor calidad (educación, salud, esparcimiento).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4069080" cy="329184"/>
          </a:xfrm>
          <a:prstGeom prst="rect">
            <a:avLst/>
          </a:prstGeom>
          <a:solidFill>
            <a:srgbClr val="7B3A2D"/>
          </a:solidFill>
          <a:ln w="12700">
            <a:solidFill>
              <a:srgbClr val="7B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0175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Discriminación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NSE implica dificultades de acceso igualitario a mercados de trabajo, vivienda, etc. Reduce directamente las probabilidades de mejora social.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NARAYAN Y PETESCH (BM, 2007) — Empoderamiento y Exclusión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Analizan la movilidad social en términos de EMPODERAMIENTO, poniendo el foco en las asimetrías de poder dentro de instituciones y estructura social.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desigualdades se reflejan en y son perpetradas por estructuras sociales dominantes, valores y normas que determinan la estructura de oportunidades.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exclusión de los pobres no es solo consecuencia de sus características individuales: es el resultado de estructuras de poder que los marginan.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la mirada del capital humano: no basta con educarse si las instituciones y estructuras discriminan sistemáticamente.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CA: la expansión de capacidades requiere transformar también el entorno institucional, no solo proveer educación.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Componentes: Educación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Características Socioeconómicas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· Pobreza · Migración · Género · Desarrollo Rural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PREMISA GENERAL — Educación como espejo social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educativos son un reflejo de las condiciones y naturaleza de la sociedad a la que pertenecen.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puede ejercer influencia sobre la sociedad, perpetuando O transformando estructuras sociales y económicas.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componentes clave según Todaro (2014):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Educación y crecimiento económico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Educación, pobreza y desigualdad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Educación y migración interna (Brain Drain)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Educación de las mujeres, fertilidad y salud infantil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Educación y desarrollo rural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EDUCACIÓN Y CRECIMIENTO ECONÓMICO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tradicional: los países subdesarrollados son deficientes en recursos humanos calificados → la educación formal es el canal para desarrollar esa calificación.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de la educación al crecimiento: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nueva fuerza productiva con mayor conocimiento y calificación.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empleo para docentes, administrativos, proveedores de servicios escolares.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una clase de líderes educados en países en desarrollo.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tasas de alfabetización y genera actitudes modernas en distintos estratos.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genera beneficios económicos Y no económicos.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clave: ¿cómo se DISTRIBUYEN esos beneficios a lo largo de la población?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EDUCACIÓN, POBREZA Y DESIGUALDAD — Mecanismos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diferenciales de ingreso entre quien termina la universidad y quien solo completó parte del primario son muy altos.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las personas de estratos medios y altos están representadas de manera DESPROPORCIONADA entre quienes alcanzan secundaria o universidad.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pobres no acceden a educación superior?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financieras: son los primeros en abandonar para trabajar.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logros por mala nutrición: falta de concentración y capacidad cognitiva.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Credencialismo: las oportunidades requieren cada vez más credenciales, incluso para tareas simples.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 alto: el ingreso infantil es proporcionalmente más importante para familias pobres.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EDUCACIÓN, POBREZA Y DESIGUALDAD — La trampa estructural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razones económicas por las que el sistema es inherentemente desigual: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Los costos privados de la educación primaria son MAYORES para los pobres. El costo de oportunidad del trabajo infantil pesa mucho más como porcentaje de su ingreso.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 beneficios esperados de la educación primaria son MENORES para los pobres (menores oportunidades laborales futuras).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no ocurre por méritos, sino por nivel de ingreso familiar → se perpetúa la concentración del ingreso.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universidad el Estado subsidia los costos → transferencia de fondos de los pobres a los ricos.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educación pierde importancia como promotor de movilidad social.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EDUCACIÓN Y MIGRACIÓN INTERNA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local: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directa entre logro educativo y propensión a migrar de zonas rurales a urbanas.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tienen más educación tienen mayores probabilidades de encontrar trabajo en el sector moderno y obtener ingresos más altos.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internacional — Brain Drain: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trabajadores de alta calificación desde países pobres hacia países ricos.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país pobre invierte recursos (costos sociales altos) en formarlos, pero los beneficios los captura el país rico.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del Brain Drain: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la oferta de profesionales en países en desarrollo.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 de objetivos: los profesionales que quedan orientan sus metas hacia estándares de los países ricos (investigación de «excelencia» desconectada de problemas locales).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EDUCACIÓN DE LAS MUJERES — Fertilidad y Salud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INVERSA entre nivel educativo femenino y tamaño de la familia, especialmente en los niveles más bajos de educación.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educación femenina reduce la fertilidad?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el costo de oportunidad de dedicar tiempo a la crianza en vez de trabajar.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alto desempleo, esta consecuencia es menos directa.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femenina reduce la mortalidad infantil y mejora la nutrición y salud de los hijos.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Género: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jóvenes mujeres reciben menos educación que los hombres en la mayoría de países en desarrollo.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retorno a la educación femenina es mayor para las mujeres que para los varones.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¿POR QUÉ PRIORIZAR LA EDUCACIÓN FEMENINA?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productividad laboral y mayor participación en la fuerza de trabajo.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Matrimonios más tardíos y menor fertilidad → niños de mayor 'calidad' (más inversión por hijo).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salud y nutrición para niños y madres → mejor capital humano futuro del país.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mujeres cargan una proporción desproporcionada de la pobreza. Mejorar su situación puede romper el círculo vicioso pobreza-educación inadecuada.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 añade: la educación femenina expande la agencia y la capacidad de participación política y social de las mujeres, no solo sus ingresos.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EDUCACIÓN Y DESARROLLO RURAL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lograr mejor desarrollo debe existir equilibrio entre sector rural y urbano.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central: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que se aplica en zonas rurales está orientada por objetivos urbanos, importados de países desarrollados. No contribuye a mejorar la productividad rural ni a que los alumnos funcionen efectivamente en su ambiente.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curriculares necesarios para el desarrollo rural: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Educación general: alfabetismo, aritmética, ciencia básica.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Mejora familiar: salud, nutrición, cuidado de hijos, planeamiento familiar.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Mejora comunitaria: instituciones locales, cooperativas, asociativismo.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Educación ocupacional: habilidades para actividades económicas rurales.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CONSECUENCIAS DE LA MAYOR EDUCACIÓN — Perspectiva macro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Mayores beneficios sociales: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más efectiva de bienes públicos: mejor aire, agua, logros educativos, salud, nutrición, infraestructura. Estos beneficios llegan a pobres Y al resto.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Mercados que funcionan mejor: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Crédito, educación, vivienda, tierra: se coordinan de manera más eficiente y asignan oportunidades a lo largo de la sociedad.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pobres cargan con la mayor parte de las fallas informativas → los beneficios de mercados más eficientes les llegan de manera más intensa.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 es siempre cómo se DISTRIBUYEN los beneficios a lo largo de la población.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6400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y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Trampa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confunde a los estudiantes en el examen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— ¿Qué confunden los estudiantes?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EE8E6"/>
          </a:solidFill>
          <a:ln w="12700">
            <a:solidFill>
              <a:srgbClr val="FE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Error frecuente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más educación siempre mejora la movilidad social.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costo de oportunidad con costo directo.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que el CA no valora el crecimiento económico.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Heckman dice que no hay que invertir en adultos.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ventana crítica con ventana sensible.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023360" cy="3749040"/>
          </a:xfrm>
          <a:prstGeom prst="rect">
            <a:avLst/>
          </a:prstGeom>
          <a:solidFill>
            <a:srgbClr val="E8F4EF"/>
          </a:solidFill>
          <a:ln w="12700">
            <a:solidFill>
              <a:srgbClr val="E8F4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La visión correcta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444752"/>
            <a:ext cx="3840480" cy="32461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educación puede perpetuar desigualdades si el sistema es inequitativo desde el origen.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 = ingreso laboral sacrificado. Costo directo = cuota, materiales.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 valora la calidad de vida; el crecimiento es un medio, no el fin en sí.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Heckman dice que el retorno es mayor en la infancia, pero la inversión posterior sigue siendo necesaria.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Crítica: ambas describen ventanas temporales de aprendizaje, pero la crítica implica pérdida irreversible; la sensible, más esfuerzo futuro.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27432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TRAMPA — Definiciones que suelen confundirse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8321040" cy="27432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8321040" cy="384048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Credencialismo: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diploma se vuelve condición necesaria para cualquier empleo, incluso simples, aunque no sea necesaria la competencia. Reduce el valor real de la educación.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adaptativas (CA):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pobres se conforman con objetivos bajos (terminar primaria) porque interiorizan sus limitaciones. No refleja sus preferencias reales sino las restricciones de su contexto.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Drain: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talento desde países en desarrollo hacia países ricos. El país pobre financia la formación pero el país rico captura el retorno productivo.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B (óptimo social):</a:t>
            </a:r>
            <a:endParaRPr lang="en-US" sz="1500" dirty="0"/>
          </a:p>
          <a:p>
            <a:pPr lvl="1" marL="3810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educación donde se maximiza la diferencia entre retornos sociales y costos sociales. Más allá de B los costos sociales superan a los retornos.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PREGUNTAS DE EXAMEN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las diferencias centrales entre el Capital Humano y el Enfoque de Capacidades?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745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beneficio social de la educación puede ser menor al beneficio privado?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83464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8346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Punto B y qué implicancia tiene para la política educativa?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379476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947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Expliqué el argumento de Heckman sobre la inversión en educación temprana.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PREGUNTAS DE EXAMEN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Brain Drain? ¿Cuáles son sus consecuencias para los países en desarrollo?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745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perpetúa el sistema educativo la desigualdad en países en desarrollo? (2 razones económicas)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83464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8346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factores que afectan la demanda educativa? Explicá cada uno.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379476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947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establece la Curva Gran Gatsby? ¿Qué implica para la relación entre educación y movilidad?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PREGUNTAS DE EXAMEN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factores de conversión en el CA? ¿Por qué son importantes para analizar la equidad educativa?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745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las 3 implicancias del CA para la educación y el desarrollo humano?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83464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8346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educación rural en países en desarrollo falla en contribuir al desarrollo local?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3794760"/>
            <a:ext cx="7772400" cy="658368"/>
          </a:xfrm>
          <a:prstGeom prst="rect">
            <a:avLst/>
          </a:prstGeom>
          <a:solidFill>
            <a:srgbClr val="0E2333"/>
          </a:solidFill>
          <a:ln w="12700">
            <a:solidFill>
              <a:srgbClr val="0E2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947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Describí el ciclo del credencialismo paso a paso.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FINAL — Unidad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01498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Capital Humano ve la educación como inversión productiva; el CA la ve como desarrollo en sí mismo y fin.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79222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educativa es derivada del deseo de empleo moderno; la oferta es políticamente determinada por el Estado.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5694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B marca el óptimo social: más allá, los costos sociales superan a los retornos sociales.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91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Heckman: el retorno a la inversión es máximo en la infancia temprana (self-productivity + dynamic complementarity).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69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1239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educativo puede PERPETUAR desigualdades: costos y beneficios son asimétricamente desfavorables para los pobres.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502920" cy="59436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46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490118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Drain: el país pobre forma el talento, el rico captura el retorno. Distorsiona también a los profesionales que quedan.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7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REPASO RÁPIDO 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00584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0058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= inversión productiva. Crecimiento económico como fin.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0058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= medio Y fin. Calidad de vida. Incluye a todos.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63040" y="201168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Asequibilidad · Acceso · Aceptabilidad · Adaptabilidad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0116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Mincer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01168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Y = f(S, E): retorno a educación y experiencia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Heckman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63040" y="301752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0175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ROI en infancia temprana. Self-productivity + Dynamic Complementarity.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17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 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301752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0175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social: maximiza retornos sociales - costos sociales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233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 Drain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463040" y="402336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formado en país pobre emigra al país rico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1097280" cy="658368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233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Gatsby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852160" y="4023360"/>
            <a:ext cx="3108960" cy="658368"/>
          </a:xfrm>
          <a:prstGeom prst="rect">
            <a:avLst/>
          </a:prstGeom>
          <a:solidFill>
            <a:srgbClr val="0E5A66"/>
          </a:solidFill>
          <a:ln w="12700">
            <a:solidFill>
              <a:srgbClr val="0E5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desigualdad → menor movilidad social intergeneracional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23A"/>
          </a:solidFill>
          <a:ln w="12700">
            <a:solidFill>
              <a:srgbClr val="E8A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1E7D8A"/>
          </a:solidFill>
          <a:ln w="12700">
            <a:solidFill>
              <a:srgbClr val="1E7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¡A estudiar! 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6 — Educación y Desarrollo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8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del Desarrollo · FCE-UBA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U6 — Educación y Desarrollo</dc:title>
  <dc:subject>PptxGenJS Presentation</dc:subject>
  <dc:creator>PptxGenJS</dc:creator>
  <cp:lastModifiedBy>PptxGenJS</cp:lastModifiedBy>
  <cp:revision>1</cp:revision>
  <dcterms:created xsi:type="dcterms:W3CDTF">2026-05-21T01:58:10Z</dcterms:created>
  <dcterms:modified xsi:type="dcterms:W3CDTF">2026-05-21T01:58:10Z</dcterms:modified>
</cp:coreProperties>
</file>