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94" r:id="rId8"/>
    <p:sldId id="302" r:id="rId9"/>
    <p:sldId id="262" r:id="rId10"/>
    <p:sldId id="263" r:id="rId11"/>
    <p:sldId id="264" r:id="rId12"/>
    <p:sldId id="295" r:id="rId13"/>
    <p:sldId id="265" r:id="rId14"/>
    <p:sldId id="266" r:id="rId15"/>
    <p:sldId id="267" r:id="rId16"/>
    <p:sldId id="296" r:id="rId17"/>
    <p:sldId id="297" r:id="rId18"/>
    <p:sldId id="298" r:id="rId19"/>
    <p:sldId id="299" r:id="rId20"/>
    <p:sldId id="301" r:id="rId21"/>
    <p:sldId id="303" r:id="rId22"/>
    <p:sldId id="304"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313" r:id="rId37"/>
    <p:sldId id="281" r:id="rId38"/>
    <p:sldId id="282" r:id="rId39"/>
    <p:sldId id="283" r:id="rId40"/>
    <p:sldId id="284" r:id="rId41"/>
    <p:sldId id="285" r:id="rId42"/>
    <p:sldId id="310" r:id="rId43"/>
    <p:sldId id="312" r:id="rId44"/>
    <p:sldId id="286" r:id="rId45"/>
    <p:sldId id="311" r:id="rId46"/>
    <p:sldId id="287" r:id="rId47"/>
    <p:sldId id="309" r:id="rId48"/>
    <p:sldId id="288" r:id="rId49"/>
    <p:sldId id="289" r:id="rId50"/>
    <p:sldId id="290" r:id="rId51"/>
    <p:sldId id="291" r:id="rId52"/>
    <p:sldId id="292" r:id="rId53"/>
    <p:sldId id="293" r:id="rId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B64E30-FD08-4B5F-87B3-BBF1ED5B05AA}" v="15" dt="2026-05-17T21:19:21.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fanny vasquez" userId="d5a657f96adc8ecf" providerId="LiveId" clId="{98A29601-CF73-4DD9-B5EE-BFDCD35D78FF}"/>
    <pc:docChg chg="undo custSel addSld delSld modSld sldOrd">
      <pc:chgData name="estefanny vasquez" userId="d5a657f96adc8ecf" providerId="LiveId" clId="{98A29601-CF73-4DD9-B5EE-BFDCD35D78FF}" dt="2026-05-17T21:19:23.760" v="359" actId="2696"/>
      <pc:docMkLst>
        <pc:docMk/>
      </pc:docMkLst>
      <pc:sldChg chg="modSp mod">
        <pc:chgData name="estefanny vasquez" userId="d5a657f96adc8ecf" providerId="LiveId" clId="{98A29601-CF73-4DD9-B5EE-BFDCD35D78FF}" dt="2026-05-07T02:59:39.428" v="1" actId="1076"/>
        <pc:sldMkLst>
          <pc:docMk/>
          <pc:sldMk cId="0" sldId="261"/>
        </pc:sldMkLst>
        <pc:spChg chg="mod">
          <ac:chgData name="estefanny vasquez" userId="d5a657f96adc8ecf" providerId="LiveId" clId="{98A29601-CF73-4DD9-B5EE-BFDCD35D78FF}" dt="2026-05-07T02:59:39.428" v="1" actId="1076"/>
          <ac:spMkLst>
            <pc:docMk/>
            <pc:sldMk cId="0" sldId="261"/>
            <ac:spMk id="4" creationId="{00000000-0000-0000-0000-000000000000}"/>
          </ac:spMkLst>
        </pc:spChg>
      </pc:sldChg>
      <pc:sldChg chg="modSp mod ord">
        <pc:chgData name="estefanny vasquez" userId="d5a657f96adc8ecf" providerId="LiveId" clId="{98A29601-CF73-4DD9-B5EE-BFDCD35D78FF}" dt="2026-05-15T00:37:31.461" v="228"/>
        <pc:sldMkLst>
          <pc:docMk/>
          <pc:sldMk cId="0" sldId="267"/>
        </pc:sldMkLst>
        <pc:spChg chg="mod">
          <ac:chgData name="estefanny vasquez" userId="d5a657f96adc8ecf" providerId="LiveId" clId="{98A29601-CF73-4DD9-B5EE-BFDCD35D78FF}" dt="2026-05-07T03:00:31.158" v="2" actId="1076"/>
          <ac:spMkLst>
            <pc:docMk/>
            <pc:sldMk cId="0" sldId="267"/>
            <ac:spMk id="4" creationId="{00000000-0000-0000-0000-000000000000}"/>
          </ac:spMkLst>
        </pc:spChg>
      </pc:sldChg>
      <pc:sldChg chg="modSp mod">
        <pc:chgData name="estefanny vasquez" userId="d5a657f96adc8ecf" providerId="LiveId" clId="{98A29601-CF73-4DD9-B5EE-BFDCD35D78FF}" dt="2026-05-07T03:01:29.304" v="6" actId="14100"/>
        <pc:sldMkLst>
          <pc:docMk/>
          <pc:sldMk cId="0" sldId="279"/>
        </pc:sldMkLst>
        <pc:spChg chg="mod">
          <ac:chgData name="estefanny vasquez" userId="d5a657f96adc8ecf" providerId="LiveId" clId="{98A29601-CF73-4DD9-B5EE-BFDCD35D78FF}" dt="2026-05-07T03:01:29.304" v="6" actId="14100"/>
          <ac:spMkLst>
            <pc:docMk/>
            <pc:sldMk cId="0" sldId="279"/>
            <ac:spMk id="6" creationId="{00000000-0000-0000-0000-000000000000}"/>
          </ac:spMkLst>
        </pc:spChg>
        <pc:spChg chg="mod">
          <ac:chgData name="estefanny vasquez" userId="d5a657f96adc8ecf" providerId="LiveId" clId="{98A29601-CF73-4DD9-B5EE-BFDCD35D78FF}" dt="2026-05-07T03:01:26.705" v="5" actId="14100"/>
          <ac:spMkLst>
            <pc:docMk/>
            <pc:sldMk cId="0" sldId="279"/>
            <ac:spMk id="8" creationId="{00000000-0000-0000-0000-000000000000}"/>
          </ac:spMkLst>
        </pc:spChg>
        <pc:spChg chg="mod">
          <ac:chgData name="estefanny vasquez" userId="d5a657f96adc8ecf" providerId="LiveId" clId="{98A29601-CF73-4DD9-B5EE-BFDCD35D78FF}" dt="2026-05-07T03:01:19.388" v="3" actId="14100"/>
          <ac:spMkLst>
            <pc:docMk/>
            <pc:sldMk cId="0" sldId="279"/>
            <ac:spMk id="9" creationId="{00000000-0000-0000-0000-000000000000}"/>
          </ac:spMkLst>
        </pc:spChg>
        <pc:spChg chg="mod">
          <ac:chgData name="estefanny vasquez" userId="d5a657f96adc8ecf" providerId="LiveId" clId="{98A29601-CF73-4DD9-B5EE-BFDCD35D78FF}" dt="2026-05-07T03:01:23.072" v="4" actId="14100"/>
          <ac:spMkLst>
            <pc:docMk/>
            <pc:sldMk cId="0" sldId="279"/>
            <ac:spMk id="12" creationId="{00000000-0000-0000-0000-000000000000}"/>
          </ac:spMkLst>
        </pc:spChg>
      </pc:sldChg>
      <pc:sldChg chg="modSp mod">
        <pc:chgData name="estefanny vasquez" userId="d5a657f96adc8ecf" providerId="LiveId" clId="{98A29601-CF73-4DD9-B5EE-BFDCD35D78FF}" dt="2026-05-16T12:06:37.150" v="244" actId="20577"/>
        <pc:sldMkLst>
          <pc:docMk/>
          <pc:sldMk cId="0" sldId="281"/>
        </pc:sldMkLst>
        <pc:spChg chg="mod">
          <ac:chgData name="estefanny vasquez" userId="d5a657f96adc8ecf" providerId="LiveId" clId="{98A29601-CF73-4DD9-B5EE-BFDCD35D78FF}" dt="2026-05-16T12:06:37.150" v="244" actId="20577"/>
          <ac:spMkLst>
            <pc:docMk/>
            <pc:sldMk cId="0" sldId="281"/>
            <ac:spMk id="7" creationId="{00000000-0000-0000-0000-000000000000}"/>
          </ac:spMkLst>
        </pc:spChg>
        <pc:graphicFrameChg chg="modGraphic">
          <ac:chgData name="estefanny vasquez" userId="d5a657f96adc8ecf" providerId="LiveId" clId="{98A29601-CF73-4DD9-B5EE-BFDCD35D78FF}" dt="2026-05-16T12:06:07.469" v="233" actId="20577"/>
          <ac:graphicFrameMkLst>
            <pc:docMk/>
            <pc:sldMk cId="0" sldId="281"/>
            <ac:graphicFrameMk id="27" creationId="{00000000-0000-0000-0000-000000000000}"/>
          </ac:graphicFrameMkLst>
        </pc:graphicFrameChg>
      </pc:sldChg>
      <pc:sldChg chg="modSp mod">
        <pc:chgData name="estefanny vasquez" userId="d5a657f96adc8ecf" providerId="LiveId" clId="{98A29601-CF73-4DD9-B5EE-BFDCD35D78FF}" dt="2026-05-16T12:08:48.266" v="263" actId="20577"/>
        <pc:sldMkLst>
          <pc:docMk/>
          <pc:sldMk cId="0" sldId="283"/>
        </pc:sldMkLst>
        <pc:spChg chg="mod">
          <ac:chgData name="estefanny vasquez" userId="d5a657f96adc8ecf" providerId="LiveId" clId="{98A29601-CF73-4DD9-B5EE-BFDCD35D78FF}" dt="2026-05-16T12:05:08.995" v="231" actId="20577"/>
          <ac:spMkLst>
            <pc:docMk/>
            <pc:sldMk cId="0" sldId="283"/>
            <ac:spMk id="8" creationId="{00000000-0000-0000-0000-000000000000}"/>
          </ac:spMkLst>
        </pc:spChg>
        <pc:spChg chg="mod">
          <ac:chgData name="estefanny vasquez" userId="d5a657f96adc8ecf" providerId="LiveId" clId="{98A29601-CF73-4DD9-B5EE-BFDCD35D78FF}" dt="2026-05-16T12:08:24.732" v="256" actId="20577"/>
          <ac:spMkLst>
            <pc:docMk/>
            <pc:sldMk cId="0" sldId="283"/>
            <ac:spMk id="11" creationId="{00000000-0000-0000-0000-000000000000}"/>
          </ac:spMkLst>
        </pc:spChg>
        <pc:spChg chg="mod">
          <ac:chgData name="estefanny vasquez" userId="d5a657f96adc8ecf" providerId="LiveId" clId="{98A29601-CF73-4DD9-B5EE-BFDCD35D78FF}" dt="2026-05-07T03:01:47.438" v="7" actId="14100"/>
          <ac:spMkLst>
            <pc:docMk/>
            <pc:sldMk cId="0" sldId="283"/>
            <ac:spMk id="15" creationId="{00000000-0000-0000-0000-000000000000}"/>
          </ac:spMkLst>
        </pc:spChg>
        <pc:spChg chg="mod">
          <ac:chgData name="estefanny vasquez" userId="d5a657f96adc8ecf" providerId="LiveId" clId="{98A29601-CF73-4DD9-B5EE-BFDCD35D78FF}" dt="2026-05-16T12:08:48.266" v="263" actId="20577"/>
          <ac:spMkLst>
            <pc:docMk/>
            <pc:sldMk cId="0" sldId="283"/>
            <ac:spMk id="17" creationId="{00000000-0000-0000-0000-000000000000}"/>
          </ac:spMkLst>
        </pc:spChg>
      </pc:sldChg>
      <pc:sldChg chg="modSp mod">
        <pc:chgData name="estefanny vasquez" userId="d5a657f96adc8ecf" providerId="LiveId" clId="{98A29601-CF73-4DD9-B5EE-BFDCD35D78FF}" dt="2026-05-16T12:13:16.251" v="279"/>
        <pc:sldMkLst>
          <pc:docMk/>
          <pc:sldMk cId="0" sldId="286"/>
        </pc:sldMkLst>
        <pc:spChg chg="mod">
          <ac:chgData name="estefanny vasquez" userId="d5a657f96adc8ecf" providerId="LiveId" clId="{98A29601-CF73-4DD9-B5EE-BFDCD35D78FF}" dt="2026-05-16T12:11:29.814" v="277" actId="20577"/>
          <ac:spMkLst>
            <pc:docMk/>
            <pc:sldMk cId="0" sldId="286"/>
            <ac:spMk id="13" creationId="{00000000-0000-0000-0000-000000000000}"/>
          </ac:spMkLst>
        </pc:spChg>
        <pc:spChg chg="mod">
          <ac:chgData name="estefanny vasquez" userId="d5a657f96adc8ecf" providerId="LiveId" clId="{98A29601-CF73-4DD9-B5EE-BFDCD35D78FF}" dt="2026-05-16T12:12:37.842" v="278"/>
          <ac:spMkLst>
            <pc:docMk/>
            <pc:sldMk cId="0" sldId="286"/>
            <ac:spMk id="20" creationId="{00000000-0000-0000-0000-000000000000}"/>
          </ac:spMkLst>
        </pc:spChg>
        <pc:spChg chg="mod">
          <ac:chgData name="estefanny vasquez" userId="d5a657f96adc8ecf" providerId="LiveId" clId="{98A29601-CF73-4DD9-B5EE-BFDCD35D78FF}" dt="2026-05-16T12:13:16.251" v="279"/>
          <ac:spMkLst>
            <pc:docMk/>
            <pc:sldMk cId="0" sldId="286"/>
            <ac:spMk id="23" creationId="{00000000-0000-0000-0000-000000000000}"/>
          </ac:spMkLst>
        </pc:spChg>
      </pc:sldChg>
      <pc:sldChg chg="addSp delSp mod">
        <pc:chgData name="estefanny vasquez" userId="d5a657f96adc8ecf" providerId="LiveId" clId="{98A29601-CF73-4DD9-B5EE-BFDCD35D78FF}" dt="2026-05-17T21:10:00.990" v="339" actId="22"/>
        <pc:sldMkLst>
          <pc:docMk/>
          <pc:sldMk cId="0" sldId="287"/>
        </pc:sldMkLst>
        <pc:spChg chg="add del">
          <ac:chgData name="estefanny vasquez" userId="d5a657f96adc8ecf" providerId="LiveId" clId="{98A29601-CF73-4DD9-B5EE-BFDCD35D78FF}" dt="2026-05-17T21:10:00.990" v="339" actId="22"/>
          <ac:spMkLst>
            <pc:docMk/>
            <pc:sldMk cId="0" sldId="287"/>
            <ac:spMk id="22" creationId="{C07CC714-82B0-FE68-C1E1-DE224DB1F89B}"/>
          </ac:spMkLst>
        </pc:spChg>
      </pc:sldChg>
      <pc:sldChg chg="ord">
        <pc:chgData name="estefanny vasquez" userId="d5a657f96adc8ecf" providerId="LiveId" clId="{98A29601-CF73-4DD9-B5EE-BFDCD35D78FF}" dt="2026-05-07T03:02:05.636" v="9"/>
        <pc:sldMkLst>
          <pc:docMk/>
          <pc:sldMk cId="0" sldId="292"/>
        </pc:sldMkLst>
      </pc:sldChg>
      <pc:sldChg chg="addSp delSp modSp new mod">
        <pc:chgData name="estefanny vasquez" userId="d5a657f96adc8ecf" providerId="LiveId" clId="{98A29601-CF73-4DD9-B5EE-BFDCD35D78FF}" dt="2026-05-08T00:00:24.903" v="21" actId="1076"/>
        <pc:sldMkLst>
          <pc:docMk/>
          <pc:sldMk cId="629616032" sldId="294"/>
        </pc:sldMkLst>
        <pc:picChg chg="add mod">
          <ac:chgData name="estefanny vasquez" userId="d5a657f96adc8ecf" providerId="LiveId" clId="{98A29601-CF73-4DD9-B5EE-BFDCD35D78FF}" dt="2026-05-08T00:00:24.903" v="21" actId="1076"/>
          <ac:picMkLst>
            <pc:docMk/>
            <pc:sldMk cId="629616032" sldId="294"/>
            <ac:picMk id="5" creationId="{352423E4-F3DB-69C4-8233-419335DDBD2D}"/>
          </ac:picMkLst>
        </pc:picChg>
      </pc:sldChg>
      <pc:sldChg chg="addSp modSp new mod">
        <pc:chgData name="estefanny vasquez" userId="d5a657f96adc8ecf" providerId="LiveId" clId="{98A29601-CF73-4DD9-B5EE-BFDCD35D78FF}" dt="2026-05-08T00:07:18.268" v="25" actId="1076"/>
        <pc:sldMkLst>
          <pc:docMk/>
          <pc:sldMk cId="3941016927" sldId="295"/>
        </pc:sldMkLst>
        <pc:picChg chg="add mod">
          <ac:chgData name="estefanny vasquez" userId="d5a657f96adc8ecf" providerId="LiveId" clId="{98A29601-CF73-4DD9-B5EE-BFDCD35D78FF}" dt="2026-05-08T00:07:18.268" v="25" actId="1076"/>
          <ac:picMkLst>
            <pc:docMk/>
            <pc:sldMk cId="3941016927" sldId="295"/>
            <ac:picMk id="3" creationId="{A9D2929A-9C25-1510-56CB-2CE5E0FD2172}"/>
          </ac:picMkLst>
        </pc:picChg>
      </pc:sldChg>
      <pc:sldChg chg="addSp modSp new mod">
        <pc:chgData name="estefanny vasquez" userId="d5a657f96adc8ecf" providerId="LiveId" clId="{98A29601-CF73-4DD9-B5EE-BFDCD35D78FF}" dt="2026-05-08T00:13:24.634" v="29" actId="1076"/>
        <pc:sldMkLst>
          <pc:docMk/>
          <pc:sldMk cId="409507497" sldId="296"/>
        </pc:sldMkLst>
        <pc:picChg chg="add mod">
          <ac:chgData name="estefanny vasquez" userId="d5a657f96adc8ecf" providerId="LiveId" clId="{98A29601-CF73-4DD9-B5EE-BFDCD35D78FF}" dt="2026-05-08T00:13:24.634" v="29" actId="1076"/>
          <ac:picMkLst>
            <pc:docMk/>
            <pc:sldMk cId="409507497" sldId="296"/>
            <ac:picMk id="3" creationId="{17FAF3F6-6A4C-556D-D9FD-9A904751AEC2}"/>
          </ac:picMkLst>
        </pc:picChg>
      </pc:sldChg>
      <pc:sldChg chg="addSp modSp new mod">
        <pc:chgData name="estefanny vasquez" userId="d5a657f96adc8ecf" providerId="LiveId" clId="{98A29601-CF73-4DD9-B5EE-BFDCD35D78FF}" dt="2026-05-10T15:58:38.850" v="199" actId="1076"/>
        <pc:sldMkLst>
          <pc:docMk/>
          <pc:sldMk cId="787100313" sldId="297"/>
        </pc:sldMkLst>
        <pc:picChg chg="add mod modCrop">
          <ac:chgData name="estefanny vasquez" userId="d5a657f96adc8ecf" providerId="LiveId" clId="{98A29601-CF73-4DD9-B5EE-BFDCD35D78FF}" dt="2026-05-10T15:58:38.850" v="199" actId="1076"/>
          <ac:picMkLst>
            <pc:docMk/>
            <pc:sldMk cId="787100313" sldId="297"/>
            <ac:picMk id="3" creationId="{0A62A59F-668D-38D4-9FA8-2BBA5D68E986}"/>
          </ac:picMkLst>
        </pc:picChg>
        <pc:picChg chg="add mod modCrop">
          <ac:chgData name="estefanny vasquez" userId="d5a657f96adc8ecf" providerId="LiveId" clId="{98A29601-CF73-4DD9-B5EE-BFDCD35D78FF}" dt="2026-05-08T00:31:32.167" v="45" actId="14100"/>
          <ac:picMkLst>
            <pc:docMk/>
            <pc:sldMk cId="787100313" sldId="297"/>
            <ac:picMk id="4" creationId="{DBC92F1A-BF34-0E0E-6372-287DC6CCEC31}"/>
          </ac:picMkLst>
        </pc:picChg>
        <pc:cxnChg chg="add mod">
          <ac:chgData name="estefanny vasquez" userId="d5a657f96adc8ecf" providerId="LiveId" clId="{98A29601-CF73-4DD9-B5EE-BFDCD35D78FF}" dt="2026-05-08T00:34:20.094" v="53" actId="1076"/>
          <ac:cxnSpMkLst>
            <pc:docMk/>
            <pc:sldMk cId="787100313" sldId="297"/>
            <ac:cxnSpMk id="6" creationId="{C8A12094-2785-396F-CE1B-C82C10AE2AED}"/>
          </ac:cxnSpMkLst>
        </pc:cxnChg>
      </pc:sldChg>
      <pc:sldChg chg="addSp delSp modSp new mod">
        <pc:chgData name="estefanny vasquez" userId="d5a657f96adc8ecf" providerId="LiveId" clId="{98A29601-CF73-4DD9-B5EE-BFDCD35D78FF}" dt="2026-05-10T15:58:29.636" v="198" actId="113"/>
        <pc:sldMkLst>
          <pc:docMk/>
          <pc:sldMk cId="1858349627" sldId="298"/>
        </pc:sldMkLst>
        <pc:spChg chg="add mod">
          <ac:chgData name="estefanny vasquez" userId="d5a657f96adc8ecf" providerId="LiveId" clId="{98A29601-CF73-4DD9-B5EE-BFDCD35D78FF}" dt="2026-05-10T15:58:29.636" v="198" actId="113"/>
          <ac:spMkLst>
            <pc:docMk/>
            <pc:sldMk cId="1858349627" sldId="298"/>
            <ac:spMk id="10" creationId="{3D3F1912-2EB7-985E-BF95-CF9C4F17A9CF}"/>
          </ac:spMkLst>
        </pc:spChg>
        <pc:picChg chg="add mod modCrop">
          <ac:chgData name="estefanny vasquez" userId="d5a657f96adc8ecf" providerId="LiveId" clId="{98A29601-CF73-4DD9-B5EE-BFDCD35D78FF}" dt="2026-05-09T14:25:40.981" v="176" actId="1076"/>
          <ac:picMkLst>
            <pc:docMk/>
            <pc:sldMk cId="1858349627" sldId="298"/>
            <ac:picMk id="6" creationId="{EFEF2AB7-054D-FAB9-4CE5-1C0557DAC168}"/>
          </ac:picMkLst>
        </pc:picChg>
        <pc:picChg chg="add mod modCrop">
          <ac:chgData name="estefanny vasquez" userId="d5a657f96adc8ecf" providerId="LiveId" clId="{98A29601-CF73-4DD9-B5EE-BFDCD35D78FF}" dt="2026-05-09T13:01:19.576" v="123" actId="1076"/>
          <ac:picMkLst>
            <pc:docMk/>
            <pc:sldMk cId="1858349627" sldId="298"/>
            <ac:picMk id="9" creationId="{24E25AC4-D1B8-AF74-6FBE-7E72BCD08B1E}"/>
          </ac:picMkLst>
        </pc:picChg>
      </pc:sldChg>
      <pc:sldChg chg="addSp delSp modSp new mod">
        <pc:chgData name="estefanny vasquez" userId="d5a657f96adc8ecf" providerId="LiveId" clId="{98A29601-CF73-4DD9-B5EE-BFDCD35D78FF}" dt="2026-05-10T15:58:54.080" v="205" actId="1076"/>
        <pc:sldMkLst>
          <pc:docMk/>
          <pc:sldMk cId="2189046216" sldId="299"/>
        </pc:sldMkLst>
        <pc:spChg chg="add mod">
          <ac:chgData name="estefanny vasquez" userId="d5a657f96adc8ecf" providerId="LiveId" clId="{98A29601-CF73-4DD9-B5EE-BFDCD35D78FF}" dt="2026-05-10T15:58:46.873" v="202" actId="1076"/>
          <ac:spMkLst>
            <pc:docMk/>
            <pc:sldMk cId="2189046216" sldId="299"/>
            <ac:spMk id="16" creationId="{83519E06-7211-92C4-BC60-3CD1C541ED39}"/>
          </ac:spMkLst>
        </pc:spChg>
        <pc:picChg chg="add mod modCrop">
          <ac:chgData name="estefanny vasquez" userId="d5a657f96adc8ecf" providerId="LiveId" clId="{98A29601-CF73-4DD9-B5EE-BFDCD35D78FF}" dt="2026-05-10T15:58:50.057" v="204" actId="14100"/>
          <ac:picMkLst>
            <pc:docMk/>
            <pc:sldMk cId="2189046216" sldId="299"/>
            <ac:picMk id="13" creationId="{46F02036-9927-32F8-68ED-2D6BF594D4B6}"/>
          </ac:picMkLst>
        </pc:picChg>
        <pc:picChg chg="add mod modCrop">
          <ac:chgData name="estefanny vasquez" userId="d5a657f96adc8ecf" providerId="LiveId" clId="{98A29601-CF73-4DD9-B5EE-BFDCD35D78FF}" dt="2026-05-10T15:58:54.080" v="205" actId="1076"/>
          <ac:picMkLst>
            <pc:docMk/>
            <pc:sldMk cId="2189046216" sldId="299"/>
            <ac:picMk id="15" creationId="{4B225D6E-8425-2AA6-CDD7-D56E69E7767F}"/>
          </ac:picMkLst>
        </pc:picChg>
      </pc:sldChg>
      <pc:sldChg chg="addSp delSp modSp new mod setBg">
        <pc:chgData name="estefanny vasquez" userId="d5a657f96adc8ecf" providerId="LiveId" clId="{98A29601-CF73-4DD9-B5EE-BFDCD35D78FF}" dt="2026-05-10T16:02:27.031" v="213" actId="1076"/>
        <pc:sldMkLst>
          <pc:docMk/>
          <pc:sldMk cId="1949805007" sldId="301"/>
        </pc:sldMkLst>
        <pc:picChg chg="add mod">
          <ac:chgData name="estefanny vasquez" userId="d5a657f96adc8ecf" providerId="LiveId" clId="{98A29601-CF73-4DD9-B5EE-BFDCD35D78FF}" dt="2026-05-10T16:02:27.031" v="213" actId="1076"/>
          <ac:picMkLst>
            <pc:docMk/>
            <pc:sldMk cId="1949805007" sldId="301"/>
            <ac:picMk id="3" creationId="{EB7955B9-428D-AF03-90FE-45D4756009BF}"/>
          </ac:picMkLst>
        </pc:picChg>
        <pc:picChg chg="add mod">
          <ac:chgData name="estefanny vasquez" userId="d5a657f96adc8ecf" providerId="LiveId" clId="{98A29601-CF73-4DD9-B5EE-BFDCD35D78FF}" dt="2026-05-10T16:02:21.898" v="212" actId="14100"/>
          <ac:picMkLst>
            <pc:docMk/>
            <pc:sldMk cId="1949805007" sldId="301"/>
            <ac:picMk id="7" creationId="{77811522-19DC-B593-4FD1-66077702DCB3}"/>
          </ac:picMkLst>
        </pc:picChg>
      </pc:sldChg>
      <pc:sldChg chg="addSp delSp modSp new mod">
        <pc:chgData name="estefanny vasquez" userId="d5a657f96adc8ecf" providerId="LiveId" clId="{98A29601-CF73-4DD9-B5EE-BFDCD35D78FF}" dt="2026-05-12T00:13:19.942" v="222" actId="1076"/>
        <pc:sldMkLst>
          <pc:docMk/>
          <pc:sldMk cId="1232471540" sldId="302"/>
        </pc:sldMkLst>
        <pc:picChg chg="add mod">
          <ac:chgData name="estefanny vasquez" userId="d5a657f96adc8ecf" providerId="LiveId" clId="{98A29601-CF73-4DD9-B5EE-BFDCD35D78FF}" dt="2026-05-12T00:13:19.942" v="222" actId="1076"/>
          <ac:picMkLst>
            <pc:docMk/>
            <pc:sldMk cId="1232471540" sldId="302"/>
            <ac:picMk id="5" creationId="{0B61EF3E-5289-49F0-2D26-11A5CE701889}"/>
          </ac:picMkLst>
        </pc:picChg>
      </pc:sldChg>
      <pc:sldChg chg="addSp modSp new mod">
        <pc:chgData name="estefanny vasquez" userId="d5a657f96adc8ecf" providerId="LiveId" clId="{98A29601-CF73-4DD9-B5EE-BFDCD35D78FF}" dt="2026-05-15T00:36:05.019" v="225"/>
        <pc:sldMkLst>
          <pc:docMk/>
          <pc:sldMk cId="3498100727" sldId="303"/>
        </pc:sldMkLst>
        <pc:picChg chg="add mod">
          <ac:chgData name="estefanny vasquez" userId="d5a657f96adc8ecf" providerId="LiveId" clId="{98A29601-CF73-4DD9-B5EE-BFDCD35D78FF}" dt="2026-05-15T00:36:05.019" v="225"/>
          <ac:picMkLst>
            <pc:docMk/>
            <pc:sldMk cId="3498100727" sldId="303"/>
            <ac:picMk id="3" creationId="{1D269730-5D5E-357E-21FE-48E06BA3EE2C}"/>
          </ac:picMkLst>
        </pc:picChg>
      </pc:sldChg>
      <pc:sldChg chg="addSp new mod">
        <pc:chgData name="estefanny vasquez" userId="d5a657f96adc8ecf" providerId="LiveId" clId="{98A29601-CF73-4DD9-B5EE-BFDCD35D78FF}" dt="2026-05-15T00:39:52.065" v="230" actId="22"/>
        <pc:sldMkLst>
          <pc:docMk/>
          <pc:sldMk cId="3197964614" sldId="304"/>
        </pc:sldMkLst>
        <pc:picChg chg="add">
          <ac:chgData name="estefanny vasquez" userId="d5a657f96adc8ecf" providerId="LiveId" clId="{98A29601-CF73-4DD9-B5EE-BFDCD35D78FF}" dt="2026-05-15T00:39:52.065" v="230" actId="22"/>
          <ac:picMkLst>
            <pc:docMk/>
            <pc:sldMk cId="3197964614" sldId="304"/>
            <ac:picMk id="3" creationId="{47F0F762-C255-BE91-B999-4EEDFC0AD2F7}"/>
          </ac:picMkLst>
        </pc:picChg>
      </pc:sldChg>
      <pc:sldChg chg="addSp modSp new del mod">
        <pc:chgData name="estefanny vasquez" userId="d5a657f96adc8ecf" providerId="LiveId" clId="{98A29601-CF73-4DD9-B5EE-BFDCD35D78FF}" dt="2026-05-17T21:19:23.760" v="359" actId="2696"/>
        <pc:sldMkLst>
          <pc:docMk/>
          <pc:sldMk cId="2140287005" sldId="305"/>
        </pc:sldMkLst>
        <pc:spChg chg="add mod">
          <ac:chgData name="estefanny vasquez" userId="d5a657f96adc8ecf" providerId="LiveId" clId="{98A29601-CF73-4DD9-B5EE-BFDCD35D78FF}" dt="2026-05-16T12:32:54.520" v="282" actId="1076"/>
          <ac:spMkLst>
            <pc:docMk/>
            <pc:sldMk cId="2140287005" sldId="305"/>
            <ac:spMk id="3" creationId="{BEB90F7C-1299-E457-4072-B6F6E774B754}"/>
          </ac:spMkLst>
        </pc:spChg>
      </pc:sldChg>
      <pc:sldChg chg="addSp modSp new del mod">
        <pc:chgData name="estefanny vasquez" userId="d5a657f96adc8ecf" providerId="LiveId" clId="{98A29601-CF73-4DD9-B5EE-BFDCD35D78FF}" dt="2026-05-17T21:16:05.199" v="355" actId="2696"/>
        <pc:sldMkLst>
          <pc:docMk/>
          <pc:sldMk cId="3410466817" sldId="306"/>
        </pc:sldMkLst>
        <pc:spChg chg="add mod">
          <ac:chgData name="estefanny vasquez" userId="d5a657f96adc8ecf" providerId="LiveId" clId="{98A29601-CF73-4DD9-B5EE-BFDCD35D78FF}" dt="2026-05-16T13:14:41.497" v="330" actId="1076"/>
          <ac:spMkLst>
            <pc:docMk/>
            <pc:sldMk cId="3410466817" sldId="306"/>
            <ac:spMk id="3" creationId="{C8D7BB20-C170-4EE8-007C-FACCC896F571}"/>
          </ac:spMkLst>
        </pc:spChg>
      </pc:sldChg>
      <pc:sldChg chg="addSp modSp new del mod">
        <pc:chgData name="estefanny vasquez" userId="d5a657f96adc8ecf" providerId="LiveId" clId="{98A29601-CF73-4DD9-B5EE-BFDCD35D78FF}" dt="2026-05-17T21:17:22.018" v="357" actId="2696"/>
        <pc:sldMkLst>
          <pc:docMk/>
          <pc:sldMk cId="2304740030" sldId="307"/>
        </pc:sldMkLst>
        <pc:spChg chg="add mod">
          <ac:chgData name="estefanny vasquez" userId="d5a657f96adc8ecf" providerId="LiveId" clId="{98A29601-CF73-4DD9-B5EE-BFDCD35D78FF}" dt="2026-05-16T13:28:01.971" v="335" actId="1076"/>
          <ac:spMkLst>
            <pc:docMk/>
            <pc:sldMk cId="2304740030" sldId="307"/>
            <ac:spMk id="3" creationId="{C6214D32-96A0-1ED6-9844-4E10111F8094}"/>
          </ac:spMkLst>
        </pc:spChg>
      </pc:sldChg>
      <pc:sldChg chg="addSp new del mod">
        <pc:chgData name="estefanny vasquez" userId="d5a657f96adc8ecf" providerId="LiveId" clId="{98A29601-CF73-4DD9-B5EE-BFDCD35D78FF}" dt="2026-05-17T21:14:41.414" v="351" actId="2696"/>
        <pc:sldMkLst>
          <pc:docMk/>
          <pc:sldMk cId="1446078205" sldId="308"/>
        </pc:sldMkLst>
        <pc:spChg chg="add">
          <ac:chgData name="estefanny vasquez" userId="d5a657f96adc8ecf" providerId="LiveId" clId="{98A29601-CF73-4DD9-B5EE-BFDCD35D78FF}" dt="2026-05-16T16:34:47.375" v="337" actId="22"/>
          <ac:spMkLst>
            <pc:docMk/>
            <pc:sldMk cId="1446078205" sldId="308"/>
            <ac:spMk id="3" creationId="{102EBB4C-BF2D-F13A-20F6-071F1754AF8D}"/>
          </ac:spMkLst>
        </pc:spChg>
      </pc:sldChg>
      <pc:sldChg chg="delSp modSp add mod setBg">
        <pc:chgData name="estefanny vasquez" userId="d5a657f96adc8ecf" providerId="LiveId" clId="{98A29601-CF73-4DD9-B5EE-BFDCD35D78FF}" dt="2026-05-17T21:11:14.101" v="349" actId="478"/>
        <pc:sldMkLst>
          <pc:docMk/>
          <pc:sldMk cId="0" sldId="309"/>
        </pc:sldMkLst>
        <pc:spChg chg="del">
          <ac:chgData name="estefanny vasquez" userId="d5a657f96adc8ecf" providerId="LiveId" clId="{98A29601-CF73-4DD9-B5EE-BFDCD35D78FF}" dt="2026-05-17T21:11:14.101" v="349" actId="478"/>
          <ac:spMkLst>
            <pc:docMk/>
            <pc:sldMk cId="0" sldId="309"/>
            <ac:spMk id="2" creationId="{00000000-0000-0000-0000-000000000000}"/>
          </ac:spMkLst>
        </pc:spChg>
        <pc:graphicFrameChg chg="mod modGraphic">
          <ac:chgData name="estefanny vasquez" userId="d5a657f96adc8ecf" providerId="LiveId" clId="{98A29601-CF73-4DD9-B5EE-BFDCD35D78FF}" dt="2026-05-17T21:11:03.608" v="348"/>
          <ac:graphicFrameMkLst>
            <pc:docMk/>
            <pc:sldMk cId="0" sldId="309"/>
            <ac:graphicFrameMk id="5" creationId="{00000000-0000-0000-0000-000000000000}"/>
          </ac:graphicFrameMkLst>
        </pc:graphicFrameChg>
      </pc:sldChg>
      <pc:sldChg chg="add ord setBg">
        <pc:chgData name="estefanny vasquez" userId="d5a657f96adc8ecf" providerId="LiveId" clId="{98A29601-CF73-4DD9-B5EE-BFDCD35D78FF}" dt="2026-05-17T21:14:50.661" v="353"/>
        <pc:sldMkLst>
          <pc:docMk/>
          <pc:sldMk cId="0" sldId="310"/>
        </pc:sldMkLst>
      </pc:sldChg>
      <pc:sldChg chg="add setBg">
        <pc:chgData name="estefanny vasquez" userId="d5a657f96adc8ecf" providerId="LiveId" clId="{98A29601-CF73-4DD9-B5EE-BFDCD35D78FF}" dt="2026-05-17T21:16:01.657" v="354"/>
        <pc:sldMkLst>
          <pc:docMk/>
          <pc:sldMk cId="0" sldId="311"/>
        </pc:sldMkLst>
      </pc:sldChg>
      <pc:sldChg chg="add setBg">
        <pc:chgData name="estefanny vasquez" userId="d5a657f96adc8ecf" providerId="LiveId" clId="{98A29601-CF73-4DD9-B5EE-BFDCD35D78FF}" dt="2026-05-17T21:17:20.179" v="356"/>
        <pc:sldMkLst>
          <pc:docMk/>
          <pc:sldMk cId="0" sldId="312"/>
        </pc:sldMkLst>
      </pc:sldChg>
      <pc:sldChg chg="add setBg">
        <pc:chgData name="estefanny vasquez" userId="d5a657f96adc8ecf" providerId="LiveId" clId="{98A29601-CF73-4DD9-B5EE-BFDCD35D78FF}" dt="2026-05-17T21:19:21.806" v="358"/>
        <pc:sldMkLst>
          <pc:docMk/>
          <pc:sldMk cId="0" sldId="31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9662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1920240"/>
          </a:xfrm>
          <a:prstGeom prst="rect">
            <a:avLst/>
          </a:prstGeom>
          <a:solidFill>
            <a:srgbClr val="0F7B6C"/>
          </a:solidFill>
          <a:ln w="12700">
            <a:solidFill>
              <a:srgbClr val="0F7B6C"/>
            </a:solidFill>
            <a:prstDash val="solid"/>
          </a:ln>
        </p:spPr>
        <p:txBody>
          <a:bodyPr/>
          <a:lstStyle/>
          <a:p>
            <a:endParaRPr lang="es-AR"/>
          </a:p>
        </p:txBody>
      </p:sp>
      <p:sp>
        <p:nvSpPr>
          <p:cNvPr id="3" name="Shape 1"/>
          <p:cNvSpPr/>
          <p:nvPr/>
        </p:nvSpPr>
        <p:spPr>
          <a:xfrm>
            <a:off x="0" y="4754880"/>
            <a:ext cx="9144000" cy="393192"/>
          </a:xfrm>
          <a:prstGeom prst="rect">
            <a:avLst/>
          </a:prstGeom>
          <a:solidFill>
            <a:srgbClr val="F5A623"/>
          </a:solidFill>
          <a:ln w="12700">
            <a:solidFill>
              <a:srgbClr val="F5A623"/>
            </a:solidFill>
            <a:prstDash val="solid"/>
          </a:ln>
        </p:spPr>
        <p:txBody>
          <a:bodyPr/>
          <a:lstStyle/>
          <a:p>
            <a:endParaRPr lang="es-AR"/>
          </a:p>
        </p:txBody>
      </p:sp>
      <p:sp>
        <p:nvSpPr>
          <p:cNvPr id="4" name="Text 2"/>
          <p:cNvSpPr/>
          <p:nvPr/>
        </p:nvSpPr>
        <p:spPr>
          <a:xfrm>
            <a:off x="457200" y="137160"/>
            <a:ext cx="8229600" cy="411480"/>
          </a:xfrm>
          <a:prstGeom prst="rect">
            <a:avLst/>
          </a:prstGeom>
          <a:noFill/>
          <a:ln/>
        </p:spPr>
        <p:txBody>
          <a:bodyPr wrap="square" lIns="0" tIns="0" rIns="0" bIns="0" rtlCol="0" anchor="ctr"/>
          <a:lstStyle/>
          <a:p>
            <a:pPr marL="0" indent="0">
              <a:buNone/>
            </a:pPr>
            <a:r>
              <a:rPr lang="en-US" sz="1300" b="1" kern="0" spc="500" dirty="0">
                <a:solidFill>
                  <a:srgbClr val="FFFFFF"/>
                </a:solidFill>
              </a:rPr>
              <a:t>TEORÍA DE JUEGOS</a:t>
            </a:r>
            <a:endParaRPr lang="en-US" sz="1300" dirty="0"/>
          </a:p>
        </p:txBody>
      </p:sp>
      <p:sp>
        <p:nvSpPr>
          <p:cNvPr id="5" name="Text 3"/>
          <p:cNvSpPr/>
          <p:nvPr/>
        </p:nvSpPr>
        <p:spPr>
          <a:xfrm>
            <a:off x="457200" y="502920"/>
            <a:ext cx="8229600" cy="1234440"/>
          </a:xfrm>
          <a:prstGeom prst="rect">
            <a:avLst/>
          </a:prstGeom>
          <a:noFill/>
          <a:ln/>
        </p:spPr>
        <p:txBody>
          <a:bodyPr wrap="square" lIns="0" tIns="0" rIns="0" bIns="0" rtlCol="0" anchor="ctr"/>
          <a:lstStyle/>
          <a:p>
            <a:pPr marL="0" indent="0">
              <a:buNone/>
            </a:pPr>
            <a:r>
              <a:rPr lang="en-US" sz="3400" b="1" dirty="0">
                <a:solidFill>
                  <a:srgbClr val="FFFFFF"/>
                </a:solidFill>
              </a:rPr>
              <a:t>Juegos Dinámicos</a:t>
            </a:r>
            <a:endParaRPr lang="en-US" sz="3400" dirty="0"/>
          </a:p>
          <a:p>
            <a:pPr marL="0" indent="0">
              <a:buNone/>
            </a:pPr>
            <a:r>
              <a:rPr lang="en-US" sz="3400" b="1" dirty="0">
                <a:solidFill>
                  <a:srgbClr val="FFFFFF"/>
                </a:solidFill>
              </a:rPr>
              <a:t>y Juegos Repetidos</a:t>
            </a:r>
            <a:endParaRPr lang="en-US" sz="3400" dirty="0"/>
          </a:p>
        </p:txBody>
      </p:sp>
      <p:sp>
        <p:nvSpPr>
          <p:cNvPr id="6" name="Text 4"/>
          <p:cNvSpPr/>
          <p:nvPr/>
        </p:nvSpPr>
        <p:spPr>
          <a:xfrm>
            <a:off x="457200" y="2103120"/>
            <a:ext cx="8229600" cy="457200"/>
          </a:xfrm>
          <a:prstGeom prst="rect">
            <a:avLst/>
          </a:prstGeom>
          <a:noFill/>
          <a:ln/>
        </p:spPr>
        <p:txBody>
          <a:bodyPr wrap="square" lIns="0" tIns="0" rIns="0" bIns="0" rtlCol="0" anchor="ctr"/>
          <a:lstStyle/>
          <a:p>
            <a:pPr marL="0" indent="0">
              <a:buNone/>
            </a:pPr>
            <a:r>
              <a:rPr lang="en-US" sz="1200" i="1" dirty="0">
                <a:solidFill>
                  <a:srgbClr val="A8C0D0"/>
                </a:solidFill>
              </a:rPr>
              <a:t>Formas extensivas · Equilibrio Perfecto en Subjuegos · Negociación · Stackelberg · Cooperación</a:t>
            </a:r>
            <a:endParaRPr lang="en-US" sz="1200" dirty="0"/>
          </a:p>
        </p:txBody>
      </p:sp>
      <p:sp>
        <p:nvSpPr>
          <p:cNvPr id="7" name="Shape 5"/>
          <p:cNvSpPr/>
          <p:nvPr/>
        </p:nvSpPr>
        <p:spPr>
          <a:xfrm>
            <a:off x="457200" y="2788920"/>
            <a:ext cx="3931920" cy="1417320"/>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8" name="Text 6"/>
          <p:cNvSpPr/>
          <p:nvPr/>
        </p:nvSpPr>
        <p:spPr>
          <a:xfrm>
            <a:off x="621792" y="2880360"/>
            <a:ext cx="3566160" cy="320040"/>
          </a:xfrm>
          <a:prstGeom prst="rect">
            <a:avLst/>
          </a:prstGeom>
          <a:noFill/>
          <a:ln/>
        </p:spPr>
        <p:txBody>
          <a:bodyPr wrap="square" lIns="0" tIns="0" rIns="0" bIns="0" rtlCol="0" anchor="ctr"/>
          <a:lstStyle/>
          <a:p>
            <a:pPr marL="0" indent="0">
              <a:buNone/>
            </a:pPr>
            <a:r>
              <a:rPr lang="en-US" sz="1000" b="1" kern="0" spc="300" dirty="0">
                <a:solidFill>
                  <a:srgbClr val="F5A623"/>
                </a:solidFill>
              </a:rPr>
              <a:t>PARTE 1</a:t>
            </a:r>
            <a:endParaRPr lang="en-US" sz="1000" dirty="0"/>
          </a:p>
        </p:txBody>
      </p:sp>
      <p:sp>
        <p:nvSpPr>
          <p:cNvPr id="9" name="Text 7"/>
          <p:cNvSpPr/>
          <p:nvPr/>
        </p:nvSpPr>
        <p:spPr>
          <a:xfrm>
            <a:off x="621792" y="3182112"/>
            <a:ext cx="3566160" cy="777240"/>
          </a:xfrm>
          <a:prstGeom prst="rect">
            <a:avLst/>
          </a:prstGeom>
          <a:noFill/>
          <a:ln/>
        </p:spPr>
        <p:txBody>
          <a:bodyPr wrap="square" lIns="0" tIns="0" rIns="0" bIns="0" rtlCol="0" anchor="ctr"/>
          <a:lstStyle/>
          <a:p>
            <a:pPr marL="0" indent="0">
              <a:buNone/>
            </a:pPr>
            <a:r>
              <a:rPr lang="en-US" sz="1500" b="1" dirty="0">
                <a:solidFill>
                  <a:srgbClr val="FFFFFF"/>
                </a:solidFill>
              </a:rPr>
              <a:t>Juegos Dinámicos</a:t>
            </a:r>
            <a:endParaRPr lang="en-US" sz="1500" dirty="0"/>
          </a:p>
        </p:txBody>
      </p:sp>
      <p:sp>
        <p:nvSpPr>
          <p:cNvPr id="10" name="Shape 8"/>
          <p:cNvSpPr/>
          <p:nvPr/>
        </p:nvSpPr>
        <p:spPr>
          <a:xfrm>
            <a:off x="4846320" y="2788920"/>
            <a:ext cx="3931920" cy="1417320"/>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1" name="Text 9"/>
          <p:cNvSpPr/>
          <p:nvPr/>
        </p:nvSpPr>
        <p:spPr>
          <a:xfrm>
            <a:off x="5010912" y="2880360"/>
            <a:ext cx="3566160" cy="320040"/>
          </a:xfrm>
          <a:prstGeom prst="rect">
            <a:avLst/>
          </a:prstGeom>
          <a:noFill/>
          <a:ln/>
        </p:spPr>
        <p:txBody>
          <a:bodyPr wrap="square" lIns="0" tIns="0" rIns="0" bIns="0" rtlCol="0" anchor="ctr"/>
          <a:lstStyle/>
          <a:p>
            <a:pPr marL="0" indent="0">
              <a:buNone/>
            </a:pPr>
            <a:r>
              <a:rPr lang="en-US" sz="1000" b="1" kern="0" spc="300" dirty="0">
                <a:solidFill>
                  <a:srgbClr val="F5A623"/>
                </a:solidFill>
              </a:rPr>
              <a:t>PARTE 2</a:t>
            </a:r>
            <a:endParaRPr lang="en-US" sz="1000" dirty="0"/>
          </a:p>
        </p:txBody>
      </p:sp>
      <p:sp>
        <p:nvSpPr>
          <p:cNvPr id="12" name="Text 10"/>
          <p:cNvSpPr/>
          <p:nvPr/>
        </p:nvSpPr>
        <p:spPr>
          <a:xfrm>
            <a:off x="5010912" y="3182112"/>
            <a:ext cx="3566160" cy="777240"/>
          </a:xfrm>
          <a:prstGeom prst="rect">
            <a:avLst/>
          </a:prstGeom>
          <a:noFill/>
          <a:ln/>
        </p:spPr>
        <p:txBody>
          <a:bodyPr wrap="square" lIns="0" tIns="0" rIns="0" bIns="0" rtlCol="0" anchor="ctr"/>
          <a:lstStyle/>
          <a:p>
            <a:pPr marL="0" indent="0">
              <a:buNone/>
            </a:pPr>
            <a:r>
              <a:rPr lang="en-US" sz="1500" b="1" dirty="0">
                <a:solidFill>
                  <a:srgbClr val="FFFFFF"/>
                </a:solidFill>
              </a:rPr>
              <a:t>Juegos Repetidos</a:t>
            </a:r>
            <a:endParaRPr lang="en-US" sz="1500" dirty="0"/>
          </a:p>
        </p:txBody>
      </p:sp>
      <p:sp>
        <p:nvSpPr>
          <p:cNvPr id="13" name="Text 11"/>
          <p:cNvSpPr/>
          <p:nvPr/>
        </p:nvSpPr>
        <p:spPr>
          <a:xfrm>
            <a:off x="457200" y="4754880"/>
            <a:ext cx="8229600" cy="393192"/>
          </a:xfrm>
          <a:prstGeom prst="rect">
            <a:avLst/>
          </a:prstGeom>
          <a:noFill/>
          <a:ln/>
        </p:spPr>
        <p:txBody>
          <a:bodyPr wrap="square" lIns="0" tIns="0" rIns="0" bIns="0" rtlCol="0" anchor="ctr"/>
          <a:lstStyle/>
          <a:p>
            <a:pPr marL="0" indent="0">
              <a:buNone/>
            </a:pPr>
            <a:r>
              <a:rPr lang="en-US" sz="1000" b="1" dirty="0">
                <a:solidFill>
                  <a:srgbClr val="1A2744"/>
                </a:solidFill>
              </a:rPr>
              <a:t>Economía  •  Guía de Estudio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MAPA GENERAL DE LA UNIDAD</a:t>
            </a:r>
            <a:endParaRPr lang="en-US" sz="2200" dirty="0"/>
          </a:p>
        </p:txBody>
      </p:sp>
      <p:sp>
        <p:nvSpPr>
          <p:cNvPr id="4" name="Shape 2"/>
          <p:cNvSpPr/>
          <p:nvPr/>
        </p:nvSpPr>
        <p:spPr>
          <a:xfrm>
            <a:off x="320040" y="960120"/>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5" name="Shape 3"/>
          <p:cNvSpPr/>
          <p:nvPr/>
        </p:nvSpPr>
        <p:spPr>
          <a:xfrm>
            <a:off x="320040" y="960120"/>
            <a:ext cx="502920" cy="822960"/>
          </a:xfrm>
          <a:prstGeom prst="rect">
            <a:avLst/>
          </a:prstGeom>
          <a:solidFill>
            <a:srgbClr val="0F7B6C"/>
          </a:solidFill>
          <a:ln w="12700">
            <a:solidFill>
              <a:srgbClr val="0F7B6C"/>
            </a:solidFill>
            <a:prstDash val="solid"/>
          </a:ln>
        </p:spPr>
        <p:txBody>
          <a:bodyPr/>
          <a:lstStyle/>
          <a:p>
            <a:endParaRPr lang="es-AR"/>
          </a:p>
        </p:txBody>
      </p:sp>
      <p:sp>
        <p:nvSpPr>
          <p:cNvPr id="6" name="Text 4"/>
          <p:cNvSpPr/>
          <p:nvPr/>
        </p:nvSpPr>
        <p:spPr>
          <a:xfrm>
            <a:off x="329184" y="978408"/>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01</a:t>
            </a:r>
            <a:endParaRPr lang="en-US" sz="1500" dirty="0"/>
          </a:p>
        </p:txBody>
      </p:sp>
      <p:sp>
        <p:nvSpPr>
          <p:cNvPr id="7" name="Text 5"/>
          <p:cNvSpPr/>
          <p:nvPr/>
        </p:nvSpPr>
        <p:spPr>
          <a:xfrm>
            <a:off x="914400" y="1005840"/>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Forma Extensiva</a:t>
            </a:r>
            <a:endParaRPr lang="en-US" sz="1300" dirty="0"/>
          </a:p>
        </p:txBody>
      </p:sp>
      <p:sp>
        <p:nvSpPr>
          <p:cNvPr id="8" name="Text 6"/>
          <p:cNvSpPr/>
          <p:nvPr/>
        </p:nvSpPr>
        <p:spPr>
          <a:xfrm>
            <a:off x="914400" y="1371600"/>
            <a:ext cx="3520440" cy="320040"/>
          </a:xfrm>
          <a:prstGeom prst="rect">
            <a:avLst/>
          </a:prstGeom>
          <a:noFill/>
          <a:ln/>
        </p:spPr>
        <p:txBody>
          <a:bodyPr wrap="square" lIns="0" tIns="0" rIns="0" bIns="0" rtlCol="0" anchor="ctr"/>
          <a:lstStyle/>
          <a:p>
            <a:pPr marL="0" indent="0">
              <a:buNone/>
            </a:pPr>
            <a:r>
              <a:rPr lang="en-US" sz="1000" dirty="0">
                <a:solidFill>
                  <a:srgbClr val="A8C0D0"/>
                </a:solidFill>
              </a:rPr>
              <a:t>Árbol, nodos, ramas, conjuntos de información</a:t>
            </a:r>
            <a:endParaRPr lang="en-US" sz="1000" dirty="0"/>
          </a:p>
        </p:txBody>
      </p:sp>
      <p:sp>
        <p:nvSpPr>
          <p:cNvPr id="9" name="Shape 7"/>
          <p:cNvSpPr/>
          <p:nvPr/>
        </p:nvSpPr>
        <p:spPr>
          <a:xfrm>
            <a:off x="320040" y="1947672"/>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0" name="Shape 8"/>
          <p:cNvSpPr/>
          <p:nvPr/>
        </p:nvSpPr>
        <p:spPr>
          <a:xfrm>
            <a:off x="320040" y="1947672"/>
            <a:ext cx="502920" cy="822960"/>
          </a:xfrm>
          <a:prstGeom prst="rect">
            <a:avLst/>
          </a:prstGeom>
          <a:solidFill>
            <a:srgbClr val="0F7B6C"/>
          </a:solidFill>
          <a:ln w="12700">
            <a:solidFill>
              <a:srgbClr val="0F7B6C"/>
            </a:solidFill>
            <a:prstDash val="solid"/>
          </a:ln>
        </p:spPr>
        <p:txBody>
          <a:bodyPr/>
          <a:lstStyle/>
          <a:p>
            <a:endParaRPr lang="es-AR"/>
          </a:p>
        </p:txBody>
      </p:sp>
      <p:sp>
        <p:nvSpPr>
          <p:cNvPr id="11" name="Text 9"/>
          <p:cNvSpPr/>
          <p:nvPr/>
        </p:nvSpPr>
        <p:spPr>
          <a:xfrm>
            <a:off x="329184" y="1965960"/>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02</a:t>
            </a:r>
            <a:endParaRPr lang="en-US" sz="1500" dirty="0"/>
          </a:p>
        </p:txBody>
      </p:sp>
      <p:sp>
        <p:nvSpPr>
          <p:cNvPr id="12" name="Text 10"/>
          <p:cNvSpPr/>
          <p:nvPr/>
        </p:nvSpPr>
        <p:spPr>
          <a:xfrm>
            <a:off x="914400" y="1993392"/>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Info. Perfecta vs Imperfecta</a:t>
            </a:r>
            <a:endParaRPr lang="en-US" sz="1300" dirty="0"/>
          </a:p>
        </p:txBody>
      </p:sp>
      <p:sp>
        <p:nvSpPr>
          <p:cNvPr id="13" name="Text 11"/>
          <p:cNvSpPr/>
          <p:nvPr/>
        </p:nvSpPr>
        <p:spPr>
          <a:xfrm>
            <a:off x="914400" y="2359152"/>
            <a:ext cx="3520440" cy="320040"/>
          </a:xfrm>
          <a:prstGeom prst="rect">
            <a:avLst/>
          </a:prstGeom>
          <a:noFill/>
          <a:ln/>
        </p:spPr>
        <p:txBody>
          <a:bodyPr wrap="square" lIns="0" tIns="0" rIns="0" bIns="0" rtlCol="0" anchor="ctr"/>
          <a:lstStyle/>
          <a:p>
            <a:pPr marL="0" indent="0">
              <a:buNone/>
            </a:pPr>
            <a:r>
              <a:rPr lang="en-US" sz="1000" dirty="0">
                <a:solidFill>
                  <a:srgbClr val="A8C0D0"/>
                </a:solidFill>
              </a:rPr>
              <a:t>Unitariedad de conjuntos; ejemplos</a:t>
            </a:r>
            <a:endParaRPr lang="en-US" sz="1000" dirty="0"/>
          </a:p>
        </p:txBody>
      </p:sp>
      <p:sp>
        <p:nvSpPr>
          <p:cNvPr id="14" name="Shape 12"/>
          <p:cNvSpPr/>
          <p:nvPr/>
        </p:nvSpPr>
        <p:spPr>
          <a:xfrm>
            <a:off x="320040" y="2935224"/>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5" name="Shape 13"/>
          <p:cNvSpPr/>
          <p:nvPr/>
        </p:nvSpPr>
        <p:spPr>
          <a:xfrm>
            <a:off x="320040" y="2935224"/>
            <a:ext cx="502920" cy="822960"/>
          </a:xfrm>
          <a:prstGeom prst="rect">
            <a:avLst/>
          </a:prstGeom>
          <a:solidFill>
            <a:srgbClr val="0F7B6C"/>
          </a:solidFill>
          <a:ln w="12700">
            <a:solidFill>
              <a:srgbClr val="0F7B6C"/>
            </a:solidFill>
            <a:prstDash val="solid"/>
          </a:ln>
        </p:spPr>
        <p:txBody>
          <a:bodyPr/>
          <a:lstStyle/>
          <a:p>
            <a:endParaRPr lang="es-AR"/>
          </a:p>
        </p:txBody>
      </p:sp>
      <p:sp>
        <p:nvSpPr>
          <p:cNvPr id="16" name="Text 14"/>
          <p:cNvSpPr/>
          <p:nvPr/>
        </p:nvSpPr>
        <p:spPr>
          <a:xfrm>
            <a:off x="329184" y="2953512"/>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03</a:t>
            </a:r>
            <a:endParaRPr lang="en-US" sz="1500" dirty="0"/>
          </a:p>
        </p:txBody>
      </p:sp>
      <p:sp>
        <p:nvSpPr>
          <p:cNvPr id="17" name="Text 15"/>
          <p:cNvSpPr/>
          <p:nvPr/>
        </p:nvSpPr>
        <p:spPr>
          <a:xfrm>
            <a:off x="914400" y="2980944"/>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Subjuego &amp; ENPS</a:t>
            </a:r>
            <a:endParaRPr lang="en-US" sz="1300" dirty="0"/>
          </a:p>
        </p:txBody>
      </p:sp>
      <p:sp>
        <p:nvSpPr>
          <p:cNvPr id="18" name="Text 16"/>
          <p:cNvSpPr/>
          <p:nvPr/>
        </p:nvSpPr>
        <p:spPr>
          <a:xfrm>
            <a:off x="914400" y="3346704"/>
            <a:ext cx="3520440" cy="320040"/>
          </a:xfrm>
          <a:prstGeom prst="rect">
            <a:avLst/>
          </a:prstGeom>
          <a:noFill/>
          <a:ln/>
        </p:spPr>
        <p:txBody>
          <a:bodyPr wrap="square" lIns="0" tIns="0" rIns="0" bIns="0" rtlCol="0" anchor="ctr"/>
          <a:lstStyle/>
          <a:p>
            <a:pPr marL="0" indent="0">
              <a:buNone/>
            </a:pPr>
            <a:r>
              <a:rPr lang="en-US" sz="1000" dirty="0">
                <a:solidFill>
                  <a:srgbClr val="A8C0D0"/>
                </a:solidFill>
              </a:rPr>
              <a:t>Definición, backward induction</a:t>
            </a:r>
            <a:endParaRPr lang="en-US" sz="1000" dirty="0"/>
          </a:p>
        </p:txBody>
      </p:sp>
      <p:sp>
        <p:nvSpPr>
          <p:cNvPr id="19" name="Shape 17"/>
          <p:cNvSpPr/>
          <p:nvPr/>
        </p:nvSpPr>
        <p:spPr>
          <a:xfrm>
            <a:off x="320040" y="3922776"/>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20" name="Shape 18"/>
          <p:cNvSpPr/>
          <p:nvPr/>
        </p:nvSpPr>
        <p:spPr>
          <a:xfrm>
            <a:off x="320040" y="3922776"/>
            <a:ext cx="502920" cy="822960"/>
          </a:xfrm>
          <a:prstGeom prst="rect">
            <a:avLst/>
          </a:prstGeom>
          <a:solidFill>
            <a:srgbClr val="0F7B6C"/>
          </a:solidFill>
          <a:ln w="12700">
            <a:solidFill>
              <a:srgbClr val="0F7B6C"/>
            </a:solidFill>
            <a:prstDash val="solid"/>
          </a:ln>
        </p:spPr>
        <p:txBody>
          <a:bodyPr/>
          <a:lstStyle/>
          <a:p>
            <a:endParaRPr lang="es-AR"/>
          </a:p>
        </p:txBody>
      </p:sp>
      <p:sp>
        <p:nvSpPr>
          <p:cNvPr id="21" name="Text 19"/>
          <p:cNvSpPr/>
          <p:nvPr/>
        </p:nvSpPr>
        <p:spPr>
          <a:xfrm>
            <a:off x="329184" y="3941064"/>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04</a:t>
            </a:r>
            <a:endParaRPr lang="en-US" sz="1500" dirty="0"/>
          </a:p>
        </p:txBody>
      </p:sp>
      <p:sp>
        <p:nvSpPr>
          <p:cNvPr id="22" name="Text 20"/>
          <p:cNvSpPr/>
          <p:nvPr/>
        </p:nvSpPr>
        <p:spPr>
          <a:xfrm>
            <a:off x="914400" y="3968496"/>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Juegos de Negociación</a:t>
            </a:r>
            <a:endParaRPr lang="en-US" sz="1300" dirty="0"/>
          </a:p>
        </p:txBody>
      </p:sp>
      <p:sp>
        <p:nvSpPr>
          <p:cNvPr id="23" name="Text 21"/>
          <p:cNvSpPr/>
          <p:nvPr/>
        </p:nvSpPr>
        <p:spPr>
          <a:xfrm>
            <a:off x="914400" y="4334256"/>
            <a:ext cx="3520440" cy="320040"/>
          </a:xfrm>
          <a:prstGeom prst="rect">
            <a:avLst/>
          </a:prstGeom>
          <a:noFill/>
          <a:ln/>
        </p:spPr>
        <p:txBody>
          <a:bodyPr wrap="square" lIns="0" tIns="0" rIns="0" bIns="0" rtlCol="0" anchor="ctr"/>
          <a:lstStyle/>
          <a:p>
            <a:pPr marL="0" indent="0">
              <a:buNone/>
            </a:pPr>
            <a:r>
              <a:rPr lang="en-US" sz="1000" dirty="0">
                <a:solidFill>
                  <a:srgbClr val="A8C0D0"/>
                </a:solidFill>
              </a:rPr>
              <a:t>Ultimátum, Doble Ultimátum, Rubinstein</a:t>
            </a:r>
            <a:endParaRPr lang="en-US" sz="1000" dirty="0"/>
          </a:p>
        </p:txBody>
      </p:sp>
      <p:sp>
        <p:nvSpPr>
          <p:cNvPr id="24" name="Shape 22"/>
          <p:cNvSpPr/>
          <p:nvPr/>
        </p:nvSpPr>
        <p:spPr>
          <a:xfrm>
            <a:off x="4800600" y="960120"/>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25" name="Shape 23"/>
          <p:cNvSpPr/>
          <p:nvPr/>
        </p:nvSpPr>
        <p:spPr>
          <a:xfrm>
            <a:off x="4800600" y="960120"/>
            <a:ext cx="502920" cy="822960"/>
          </a:xfrm>
          <a:prstGeom prst="rect">
            <a:avLst/>
          </a:prstGeom>
          <a:solidFill>
            <a:srgbClr val="0F7B6C"/>
          </a:solidFill>
          <a:ln w="12700">
            <a:solidFill>
              <a:srgbClr val="0F7B6C"/>
            </a:solidFill>
            <a:prstDash val="solid"/>
          </a:ln>
        </p:spPr>
        <p:txBody>
          <a:bodyPr/>
          <a:lstStyle/>
          <a:p>
            <a:endParaRPr lang="es-AR"/>
          </a:p>
        </p:txBody>
      </p:sp>
      <p:sp>
        <p:nvSpPr>
          <p:cNvPr id="26" name="Text 24"/>
          <p:cNvSpPr/>
          <p:nvPr/>
        </p:nvSpPr>
        <p:spPr>
          <a:xfrm>
            <a:off x="4809744" y="978408"/>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05</a:t>
            </a:r>
            <a:endParaRPr lang="en-US" sz="1500" dirty="0"/>
          </a:p>
        </p:txBody>
      </p:sp>
      <p:sp>
        <p:nvSpPr>
          <p:cNvPr id="27" name="Text 25"/>
          <p:cNvSpPr/>
          <p:nvPr/>
        </p:nvSpPr>
        <p:spPr>
          <a:xfrm>
            <a:off x="5394960" y="1005840"/>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Stackelberg</a:t>
            </a:r>
            <a:endParaRPr lang="en-US" sz="1300" dirty="0"/>
          </a:p>
        </p:txBody>
      </p:sp>
      <p:sp>
        <p:nvSpPr>
          <p:cNvPr id="28" name="Text 26"/>
          <p:cNvSpPr/>
          <p:nvPr/>
        </p:nvSpPr>
        <p:spPr>
          <a:xfrm>
            <a:off x="5394960" y="1371600"/>
            <a:ext cx="3520440" cy="320040"/>
          </a:xfrm>
          <a:prstGeom prst="rect">
            <a:avLst/>
          </a:prstGeom>
          <a:noFill/>
          <a:ln/>
        </p:spPr>
        <p:txBody>
          <a:bodyPr wrap="square" lIns="0" tIns="0" rIns="0" bIns="0" rtlCol="0" anchor="ctr"/>
          <a:lstStyle/>
          <a:p>
            <a:pPr marL="0" indent="0">
              <a:buNone/>
            </a:pPr>
            <a:r>
              <a:rPr lang="en-US" sz="1000" dirty="0">
                <a:solidFill>
                  <a:srgbClr val="A8C0D0"/>
                </a:solidFill>
              </a:rPr>
              <a:t>Duopolio secuencial, comparación de modelos</a:t>
            </a:r>
            <a:endParaRPr lang="en-US" sz="1000" dirty="0"/>
          </a:p>
        </p:txBody>
      </p:sp>
      <p:sp>
        <p:nvSpPr>
          <p:cNvPr id="29" name="Shape 27"/>
          <p:cNvSpPr/>
          <p:nvPr/>
        </p:nvSpPr>
        <p:spPr>
          <a:xfrm>
            <a:off x="4800600" y="1947672"/>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30" name="Shape 28"/>
          <p:cNvSpPr/>
          <p:nvPr/>
        </p:nvSpPr>
        <p:spPr>
          <a:xfrm>
            <a:off x="4800600" y="1947672"/>
            <a:ext cx="502920" cy="822960"/>
          </a:xfrm>
          <a:prstGeom prst="rect">
            <a:avLst/>
          </a:prstGeom>
          <a:solidFill>
            <a:srgbClr val="0F7B6C"/>
          </a:solidFill>
          <a:ln w="12700">
            <a:solidFill>
              <a:srgbClr val="0F7B6C"/>
            </a:solidFill>
            <a:prstDash val="solid"/>
          </a:ln>
        </p:spPr>
        <p:txBody>
          <a:bodyPr/>
          <a:lstStyle/>
          <a:p>
            <a:endParaRPr lang="es-AR"/>
          </a:p>
        </p:txBody>
      </p:sp>
      <p:sp>
        <p:nvSpPr>
          <p:cNvPr id="31" name="Text 29"/>
          <p:cNvSpPr/>
          <p:nvPr/>
        </p:nvSpPr>
        <p:spPr>
          <a:xfrm>
            <a:off x="4809744" y="1965960"/>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06</a:t>
            </a:r>
            <a:endParaRPr lang="en-US" sz="1500" dirty="0"/>
          </a:p>
        </p:txBody>
      </p:sp>
      <p:sp>
        <p:nvSpPr>
          <p:cNvPr id="32" name="Text 30"/>
          <p:cNvSpPr/>
          <p:nvPr/>
        </p:nvSpPr>
        <p:spPr>
          <a:xfrm>
            <a:off x="5394960" y="1993392"/>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Juegos Repetidos</a:t>
            </a:r>
            <a:endParaRPr lang="en-US" sz="1300" dirty="0"/>
          </a:p>
        </p:txBody>
      </p:sp>
      <p:sp>
        <p:nvSpPr>
          <p:cNvPr id="33" name="Text 31"/>
          <p:cNvSpPr/>
          <p:nvPr/>
        </p:nvSpPr>
        <p:spPr>
          <a:xfrm>
            <a:off x="5394960" y="2359152"/>
            <a:ext cx="3520440" cy="320040"/>
          </a:xfrm>
          <a:prstGeom prst="rect">
            <a:avLst/>
          </a:prstGeom>
          <a:noFill/>
          <a:ln/>
        </p:spPr>
        <p:txBody>
          <a:bodyPr wrap="square" lIns="0" tIns="0" rIns="0" bIns="0" rtlCol="0" anchor="ctr"/>
          <a:lstStyle/>
          <a:p>
            <a:pPr marL="0" indent="0">
              <a:buNone/>
            </a:pPr>
            <a:r>
              <a:rPr lang="en-US" sz="1000" dirty="0">
                <a:solidFill>
                  <a:srgbClr val="A8C0D0"/>
                </a:solidFill>
              </a:rPr>
              <a:t>Finitos, infinitos, estrategia trigger</a:t>
            </a:r>
            <a:endParaRPr lang="en-US" sz="1000" dirty="0"/>
          </a:p>
        </p:txBody>
      </p:sp>
      <p:sp>
        <p:nvSpPr>
          <p:cNvPr id="34" name="Shape 32"/>
          <p:cNvSpPr/>
          <p:nvPr/>
        </p:nvSpPr>
        <p:spPr>
          <a:xfrm>
            <a:off x="4800600" y="2935224"/>
            <a:ext cx="4206240" cy="822960"/>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35" name="Shape 33"/>
          <p:cNvSpPr/>
          <p:nvPr/>
        </p:nvSpPr>
        <p:spPr>
          <a:xfrm>
            <a:off x="4800600" y="2935224"/>
            <a:ext cx="502920" cy="822960"/>
          </a:xfrm>
          <a:prstGeom prst="rect">
            <a:avLst/>
          </a:prstGeom>
          <a:solidFill>
            <a:srgbClr val="0F7B6C"/>
          </a:solidFill>
          <a:ln w="12700">
            <a:solidFill>
              <a:srgbClr val="0F7B6C"/>
            </a:solidFill>
            <a:prstDash val="solid"/>
          </a:ln>
        </p:spPr>
        <p:txBody>
          <a:bodyPr/>
          <a:lstStyle/>
          <a:p>
            <a:endParaRPr lang="es-AR"/>
          </a:p>
        </p:txBody>
      </p:sp>
      <p:sp>
        <p:nvSpPr>
          <p:cNvPr id="36" name="Text 34"/>
          <p:cNvSpPr/>
          <p:nvPr/>
        </p:nvSpPr>
        <p:spPr>
          <a:xfrm>
            <a:off x="4809744" y="2953512"/>
            <a:ext cx="484632" cy="786384"/>
          </a:xfrm>
          <a:prstGeom prst="rect">
            <a:avLst/>
          </a:prstGeom>
          <a:noFill/>
          <a:ln/>
        </p:spPr>
        <p:txBody>
          <a:bodyPr wrap="square" lIns="0" tIns="0" rIns="0" bIns="0" rtlCol="0" anchor="ctr"/>
          <a:lstStyle/>
          <a:p>
            <a:pPr marL="0" indent="0" algn="ctr">
              <a:buNone/>
            </a:pPr>
            <a:r>
              <a:rPr lang="en-US" sz="1500" b="1" dirty="0">
                <a:solidFill>
                  <a:srgbClr val="FFFFFF"/>
                </a:solidFill>
              </a:rPr>
              <a:t>07</a:t>
            </a:r>
            <a:endParaRPr lang="en-US" sz="1500" dirty="0"/>
          </a:p>
        </p:txBody>
      </p:sp>
      <p:sp>
        <p:nvSpPr>
          <p:cNvPr id="37" name="Text 35"/>
          <p:cNvSpPr/>
          <p:nvPr/>
        </p:nvSpPr>
        <p:spPr>
          <a:xfrm>
            <a:off x="5394960" y="2980944"/>
            <a:ext cx="3520440" cy="347472"/>
          </a:xfrm>
          <a:prstGeom prst="rect">
            <a:avLst/>
          </a:prstGeom>
          <a:noFill/>
          <a:ln/>
        </p:spPr>
        <p:txBody>
          <a:bodyPr wrap="square" lIns="0" tIns="0" rIns="0" bIns="0" rtlCol="0" anchor="ctr"/>
          <a:lstStyle/>
          <a:p>
            <a:pPr marL="0" indent="0">
              <a:buNone/>
            </a:pPr>
            <a:r>
              <a:rPr lang="en-US" sz="1300" b="1" dirty="0">
                <a:solidFill>
                  <a:srgbClr val="FFFFFF"/>
                </a:solidFill>
              </a:rPr>
              <a:t>Estrategias de Castigo</a:t>
            </a:r>
            <a:endParaRPr lang="en-US" sz="1300" dirty="0"/>
          </a:p>
        </p:txBody>
      </p:sp>
      <p:sp>
        <p:nvSpPr>
          <p:cNvPr id="38" name="Text 36"/>
          <p:cNvSpPr/>
          <p:nvPr/>
        </p:nvSpPr>
        <p:spPr>
          <a:xfrm>
            <a:off x="5394960" y="3346704"/>
            <a:ext cx="3520440" cy="320040"/>
          </a:xfrm>
          <a:prstGeom prst="rect">
            <a:avLst/>
          </a:prstGeom>
          <a:noFill/>
          <a:ln/>
        </p:spPr>
        <p:txBody>
          <a:bodyPr wrap="square" lIns="0" tIns="0" rIns="0" bIns="0" rtlCol="0" anchor="ctr"/>
          <a:lstStyle/>
          <a:p>
            <a:pPr marL="0" indent="0">
              <a:buNone/>
            </a:pPr>
            <a:r>
              <a:rPr lang="en-US" sz="1000" dirty="0">
                <a:solidFill>
                  <a:srgbClr val="A8C0D0"/>
                </a:solidFill>
              </a:rPr>
              <a:t>Toma y Daka, castigo limitado, δ ≥ ½</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ÍNDICE VISUAL</a:t>
            </a:r>
            <a:endParaRPr lang="en-US" sz="2200" dirty="0"/>
          </a:p>
        </p:txBody>
      </p:sp>
      <p:sp>
        <p:nvSpPr>
          <p:cNvPr id="4" name="Shape 2"/>
          <p:cNvSpPr/>
          <p:nvPr/>
        </p:nvSpPr>
        <p:spPr>
          <a:xfrm>
            <a:off x="320040" y="960120"/>
            <a:ext cx="4114800" cy="502920"/>
          </a:xfrm>
          <a:prstGeom prst="rect">
            <a:avLst/>
          </a:prstGeom>
          <a:solidFill>
            <a:srgbClr val="0F7B6C"/>
          </a:solidFill>
          <a:ln w="12700">
            <a:solidFill>
              <a:srgbClr val="0F7B6C"/>
            </a:solidFill>
            <a:prstDash val="solid"/>
          </a:ln>
        </p:spPr>
        <p:txBody>
          <a:bodyPr/>
          <a:lstStyle/>
          <a:p>
            <a:endParaRPr lang="es-AR"/>
          </a:p>
        </p:txBody>
      </p:sp>
      <p:sp>
        <p:nvSpPr>
          <p:cNvPr id="5" name="Text 3"/>
          <p:cNvSpPr/>
          <p:nvPr/>
        </p:nvSpPr>
        <p:spPr>
          <a:xfrm>
            <a:off x="457200" y="960120"/>
            <a:ext cx="3840480" cy="502920"/>
          </a:xfrm>
          <a:prstGeom prst="rect">
            <a:avLst/>
          </a:prstGeom>
          <a:noFill/>
          <a:ln/>
        </p:spPr>
        <p:txBody>
          <a:bodyPr wrap="square" lIns="0" tIns="0" rIns="0" bIns="0" rtlCol="0" anchor="ctr"/>
          <a:lstStyle/>
          <a:p>
            <a:pPr marL="0" indent="0">
              <a:buNone/>
            </a:pPr>
            <a:r>
              <a:rPr lang="en-US" sz="1300" b="1" dirty="0">
                <a:solidFill>
                  <a:srgbClr val="FFFFFF"/>
                </a:solidFill>
              </a:rPr>
              <a:t>PARTE 1  —  Juegos Dinámicos</a:t>
            </a:r>
            <a:endParaRPr lang="en-US" sz="1300" dirty="0"/>
          </a:p>
        </p:txBody>
      </p:sp>
      <p:sp>
        <p:nvSpPr>
          <p:cNvPr id="6" name="Shape 4"/>
          <p:cNvSpPr/>
          <p:nvPr/>
        </p:nvSpPr>
        <p:spPr>
          <a:xfrm>
            <a:off x="320040" y="1554480"/>
            <a:ext cx="4114800" cy="475488"/>
          </a:xfrm>
          <a:prstGeom prst="rect">
            <a:avLst/>
          </a:prstGeom>
          <a:solidFill>
            <a:srgbClr val="EBF3F8"/>
          </a:solidFill>
          <a:ln w="12700">
            <a:solidFill>
              <a:srgbClr val="C0D8E8"/>
            </a:solidFill>
            <a:prstDash val="solid"/>
          </a:ln>
        </p:spPr>
        <p:txBody>
          <a:bodyPr/>
          <a:lstStyle/>
          <a:p>
            <a:endParaRPr lang="es-AR"/>
          </a:p>
        </p:txBody>
      </p:sp>
      <p:sp>
        <p:nvSpPr>
          <p:cNvPr id="7" name="Text 5"/>
          <p:cNvSpPr/>
          <p:nvPr/>
        </p:nvSpPr>
        <p:spPr>
          <a:xfrm>
            <a:off x="502920" y="1554480"/>
            <a:ext cx="3749040" cy="475488"/>
          </a:xfrm>
          <a:prstGeom prst="rect">
            <a:avLst/>
          </a:prstGeom>
          <a:noFill/>
          <a:ln/>
        </p:spPr>
        <p:txBody>
          <a:bodyPr wrap="square" lIns="0" tIns="0" rIns="0" bIns="0" rtlCol="0" anchor="ctr"/>
          <a:lstStyle/>
          <a:p>
            <a:pPr marL="0" indent="0">
              <a:buNone/>
            </a:pPr>
            <a:r>
              <a:rPr lang="en-US" sz="1200" dirty="0">
                <a:solidFill>
                  <a:srgbClr val="1A2744"/>
                </a:solidFill>
              </a:rPr>
              <a:t>1.  Forma Extensiva</a:t>
            </a:r>
            <a:endParaRPr lang="en-US" sz="1200" dirty="0"/>
          </a:p>
        </p:txBody>
      </p:sp>
      <p:sp>
        <p:nvSpPr>
          <p:cNvPr id="8" name="Shape 6"/>
          <p:cNvSpPr/>
          <p:nvPr/>
        </p:nvSpPr>
        <p:spPr>
          <a:xfrm>
            <a:off x="320040" y="2121408"/>
            <a:ext cx="4114800" cy="475488"/>
          </a:xfrm>
          <a:prstGeom prst="rect">
            <a:avLst/>
          </a:prstGeom>
          <a:solidFill>
            <a:srgbClr val="DDEEF6"/>
          </a:solidFill>
          <a:ln w="12700">
            <a:solidFill>
              <a:srgbClr val="C0D8E8"/>
            </a:solidFill>
            <a:prstDash val="solid"/>
          </a:ln>
        </p:spPr>
        <p:txBody>
          <a:bodyPr/>
          <a:lstStyle/>
          <a:p>
            <a:endParaRPr lang="es-AR"/>
          </a:p>
        </p:txBody>
      </p:sp>
      <p:sp>
        <p:nvSpPr>
          <p:cNvPr id="9" name="Text 7"/>
          <p:cNvSpPr/>
          <p:nvPr/>
        </p:nvSpPr>
        <p:spPr>
          <a:xfrm>
            <a:off x="502920" y="2121408"/>
            <a:ext cx="3749040" cy="475488"/>
          </a:xfrm>
          <a:prstGeom prst="rect">
            <a:avLst/>
          </a:prstGeom>
          <a:noFill/>
          <a:ln/>
        </p:spPr>
        <p:txBody>
          <a:bodyPr wrap="square" lIns="0" tIns="0" rIns="0" bIns="0" rtlCol="0" anchor="ctr"/>
          <a:lstStyle/>
          <a:p>
            <a:pPr marL="0" indent="0">
              <a:buNone/>
            </a:pPr>
            <a:r>
              <a:rPr lang="en-US" sz="1200" dirty="0">
                <a:solidFill>
                  <a:srgbClr val="1A2744"/>
                </a:solidFill>
              </a:rPr>
              <a:t>2.  Info Perfecta/Imperfecta</a:t>
            </a:r>
            <a:endParaRPr lang="en-US" sz="1200" dirty="0"/>
          </a:p>
        </p:txBody>
      </p:sp>
      <p:sp>
        <p:nvSpPr>
          <p:cNvPr id="10" name="Shape 8"/>
          <p:cNvSpPr/>
          <p:nvPr/>
        </p:nvSpPr>
        <p:spPr>
          <a:xfrm>
            <a:off x="320040" y="2688336"/>
            <a:ext cx="4114800" cy="475488"/>
          </a:xfrm>
          <a:prstGeom prst="rect">
            <a:avLst/>
          </a:prstGeom>
          <a:solidFill>
            <a:srgbClr val="EBF3F8"/>
          </a:solidFill>
          <a:ln w="12700">
            <a:solidFill>
              <a:srgbClr val="C0D8E8"/>
            </a:solidFill>
            <a:prstDash val="solid"/>
          </a:ln>
        </p:spPr>
        <p:txBody>
          <a:bodyPr/>
          <a:lstStyle/>
          <a:p>
            <a:endParaRPr lang="es-AR"/>
          </a:p>
        </p:txBody>
      </p:sp>
      <p:sp>
        <p:nvSpPr>
          <p:cNvPr id="11" name="Text 9"/>
          <p:cNvSpPr/>
          <p:nvPr/>
        </p:nvSpPr>
        <p:spPr>
          <a:xfrm>
            <a:off x="502920" y="2688336"/>
            <a:ext cx="3749040" cy="475488"/>
          </a:xfrm>
          <a:prstGeom prst="rect">
            <a:avLst/>
          </a:prstGeom>
          <a:noFill/>
          <a:ln/>
        </p:spPr>
        <p:txBody>
          <a:bodyPr wrap="square" lIns="0" tIns="0" rIns="0" bIns="0" rtlCol="0" anchor="ctr"/>
          <a:lstStyle/>
          <a:p>
            <a:pPr marL="0" indent="0">
              <a:buNone/>
            </a:pPr>
            <a:r>
              <a:rPr lang="en-US" sz="1200" dirty="0">
                <a:solidFill>
                  <a:srgbClr val="1A2744"/>
                </a:solidFill>
              </a:rPr>
              <a:t>3.  Subjuego</a:t>
            </a:r>
            <a:endParaRPr lang="en-US" sz="1200" dirty="0"/>
          </a:p>
        </p:txBody>
      </p:sp>
      <p:sp>
        <p:nvSpPr>
          <p:cNvPr id="12" name="Shape 10"/>
          <p:cNvSpPr/>
          <p:nvPr/>
        </p:nvSpPr>
        <p:spPr>
          <a:xfrm>
            <a:off x="320040" y="3255264"/>
            <a:ext cx="4114800" cy="475488"/>
          </a:xfrm>
          <a:prstGeom prst="rect">
            <a:avLst/>
          </a:prstGeom>
          <a:solidFill>
            <a:srgbClr val="DDEEF6"/>
          </a:solidFill>
          <a:ln w="12700">
            <a:solidFill>
              <a:srgbClr val="C0D8E8"/>
            </a:solidFill>
            <a:prstDash val="solid"/>
          </a:ln>
        </p:spPr>
        <p:txBody>
          <a:bodyPr/>
          <a:lstStyle/>
          <a:p>
            <a:endParaRPr lang="es-AR"/>
          </a:p>
        </p:txBody>
      </p:sp>
      <p:sp>
        <p:nvSpPr>
          <p:cNvPr id="13" name="Text 11"/>
          <p:cNvSpPr/>
          <p:nvPr/>
        </p:nvSpPr>
        <p:spPr>
          <a:xfrm>
            <a:off x="502920" y="3255264"/>
            <a:ext cx="3749040" cy="475488"/>
          </a:xfrm>
          <a:prstGeom prst="rect">
            <a:avLst/>
          </a:prstGeom>
          <a:noFill/>
          <a:ln/>
        </p:spPr>
        <p:txBody>
          <a:bodyPr wrap="square" lIns="0" tIns="0" rIns="0" bIns="0" rtlCol="0" anchor="ctr"/>
          <a:lstStyle/>
          <a:p>
            <a:pPr marL="0" indent="0">
              <a:buNone/>
            </a:pPr>
            <a:r>
              <a:rPr lang="en-US" sz="1200" dirty="0">
                <a:solidFill>
                  <a:srgbClr val="1A2744"/>
                </a:solidFill>
              </a:rPr>
              <a:t>4.  ENPS &amp; Backward Induction</a:t>
            </a:r>
            <a:endParaRPr lang="en-US" sz="1200" dirty="0"/>
          </a:p>
        </p:txBody>
      </p:sp>
      <p:sp>
        <p:nvSpPr>
          <p:cNvPr id="14" name="Shape 12"/>
          <p:cNvSpPr/>
          <p:nvPr/>
        </p:nvSpPr>
        <p:spPr>
          <a:xfrm>
            <a:off x="320040" y="3822192"/>
            <a:ext cx="4114800" cy="475488"/>
          </a:xfrm>
          <a:prstGeom prst="rect">
            <a:avLst/>
          </a:prstGeom>
          <a:solidFill>
            <a:srgbClr val="EBF3F8"/>
          </a:solidFill>
          <a:ln w="12700">
            <a:solidFill>
              <a:srgbClr val="C0D8E8"/>
            </a:solidFill>
            <a:prstDash val="solid"/>
          </a:ln>
        </p:spPr>
        <p:txBody>
          <a:bodyPr/>
          <a:lstStyle/>
          <a:p>
            <a:endParaRPr lang="es-AR"/>
          </a:p>
        </p:txBody>
      </p:sp>
      <p:sp>
        <p:nvSpPr>
          <p:cNvPr id="15" name="Text 13"/>
          <p:cNvSpPr/>
          <p:nvPr/>
        </p:nvSpPr>
        <p:spPr>
          <a:xfrm>
            <a:off x="502920" y="3822192"/>
            <a:ext cx="3749040" cy="475488"/>
          </a:xfrm>
          <a:prstGeom prst="rect">
            <a:avLst/>
          </a:prstGeom>
          <a:noFill/>
          <a:ln/>
        </p:spPr>
        <p:txBody>
          <a:bodyPr wrap="square" lIns="0" tIns="0" rIns="0" bIns="0" rtlCol="0" anchor="ctr"/>
          <a:lstStyle/>
          <a:p>
            <a:pPr marL="0" indent="0">
              <a:buNone/>
            </a:pPr>
            <a:r>
              <a:rPr lang="en-US" sz="1200" dirty="0">
                <a:solidFill>
                  <a:srgbClr val="1A2744"/>
                </a:solidFill>
              </a:rPr>
              <a:t>5.  Negociación</a:t>
            </a:r>
            <a:endParaRPr lang="en-US" sz="1200" dirty="0"/>
          </a:p>
        </p:txBody>
      </p:sp>
      <p:sp>
        <p:nvSpPr>
          <p:cNvPr id="16" name="Shape 14"/>
          <p:cNvSpPr/>
          <p:nvPr/>
        </p:nvSpPr>
        <p:spPr>
          <a:xfrm>
            <a:off x="320040" y="4389120"/>
            <a:ext cx="4114800" cy="475488"/>
          </a:xfrm>
          <a:prstGeom prst="rect">
            <a:avLst/>
          </a:prstGeom>
          <a:solidFill>
            <a:srgbClr val="DDEEF6"/>
          </a:solidFill>
          <a:ln w="12700">
            <a:solidFill>
              <a:srgbClr val="C0D8E8"/>
            </a:solidFill>
            <a:prstDash val="solid"/>
          </a:ln>
        </p:spPr>
        <p:txBody>
          <a:bodyPr/>
          <a:lstStyle/>
          <a:p>
            <a:endParaRPr lang="es-AR"/>
          </a:p>
        </p:txBody>
      </p:sp>
      <p:sp>
        <p:nvSpPr>
          <p:cNvPr id="17" name="Text 15"/>
          <p:cNvSpPr/>
          <p:nvPr/>
        </p:nvSpPr>
        <p:spPr>
          <a:xfrm>
            <a:off x="502920" y="4389120"/>
            <a:ext cx="3749040" cy="475488"/>
          </a:xfrm>
          <a:prstGeom prst="rect">
            <a:avLst/>
          </a:prstGeom>
          <a:noFill/>
          <a:ln/>
        </p:spPr>
        <p:txBody>
          <a:bodyPr wrap="square" lIns="0" tIns="0" rIns="0" bIns="0" rtlCol="0" anchor="ctr"/>
          <a:lstStyle/>
          <a:p>
            <a:pPr marL="0" indent="0">
              <a:buNone/>
            </a:pPr>
            <a:r>
              <a:rPr lang="en-US" sz="1200" dirty="0">
                <a:solidFill>
                  <a:srgbClr val="1A2744"/>
                </a:solidFill>
              </a:rPr>
              <a:t>6.  Stackelberg</a:t>
            </a:r>
            <a:endParaRPr lang="en-US" sz="1200" dirty="0"/>
          </a:p>
        </p:txBody>
      </p:sp>
      <p:sp>
        <p:nvSpPr>
          <p:cNvPr id="18" name="Shape 16"/>
          <p:cNvSpPr/>
          <p:nvPr/>
        </p:nvSpPr>
        <p:spPr>
          <a:xfrm>
            <a:off x="4800600" y="960120"/>
            <a:ext cx="4114800" cy="502920"/>
          </a:xfrm>
          <a:prstGeom prst="rect">
            <a:avLst/>
          </a:prstGeom>
          <a:solidFill>
            <a:srgbClr val="1A2744"/>
          </a:solidFill>
          <a:ln w="12700">
            <a:solidFill>
              <a:srgbClr val="1A2744"/>
            </a:solidFill>
            <a:prstDash val="solid"/>
          </a:ln>
        </p:spPr>
        <p:txBody>
          <a:bodyPr/>
          <a:lstStyle/>
          <a:p>
            <a:endParaRPr lang="es-AR"/>
          </a:p>
        </p:txBody>
      </p:sp>
      <p:sp>
        <p:nvSpPr>
          <p:cNvPr id="19" name="Text 17"/>
          <p:cNvSpPr/>
          <p:nvPr/>
        </p:nvSpPr>
        <p:spPr>
          <a:xfrm>
            <a:off x="4937760" y="960120"/>
            <a:ext cx="3840480" cy="502920"/>
          </a:xfrm>
          <a:prstGeom prst="rect">
            <a:avLst/>
          </a:prstGeom>
          <a:noFill/>
          <a:ln/>
        </p:spPr>
        <p:txBody>
          <a:bodyPr wrap="square" lIns="0" tIns="0" rIns="0" bIns="0" rtlCol="0" anchor="ctr"/>
          <a:lstStyle/>
          <a:p>
            <a:pPr marL="0" indent="0">
              <a:buNone/>
            </a:pPr>
            <a:r>
              <a:rPr lang="en-US" sz="1300" b="1" dirty="0">
                <a:solidFill>
                  <a:srgbClr val="FFFFFF"/>
                </a:solidFill>
              </a:rPr>
              <a:t>PARTE 2  —  Juegos Repetidos</a:t>
            </a:r>
            <a:endParaRPr lang="en-US" sz="1300" dirty="0"/>
          </a:p>
        </p:txBody>
      </p:sp>
      <p:sp>
        <p:nvSpPr>
          <p:cNvPr id="20" name="Shape 18"/>
          <p:cNvSpPr/>
          <p:nvPr/>
        </p:nvSpPr>
        <p:spPr>
          <a:xfrm>
            <a:off x="4800600" y="1554480"/>
            <a:ext cx="4114800" cy="475488"/>
          </a:xfrm>
          <a:prstGeom prst="rect">
            <a:avLst/>
          </a:prstGeom>
          <a:solidFill>
            <a:srgbClr val="EBF3F8"/>
          </a:solidFill>
          <a:ln w="12700">
            <a:solidFill>
              <a:srgbClr val="C0D8E8"/>
            </a:solidFill>
            <a:prstDash val="solid"/>
          </a:ln>
        </p:spPr>
        <p:txBody>
          <a:bodyPr/>
          <a:lstStyle/>
          <a:p>
            <a:endParaRPr lang="es-AR"/>
          </a:p>
        </p:txBody>
      </p:sp>
      <p:sp>
        <p:nvSpPr>
          <p:cNvPr id="21" name="Text 19"/>
          <p:cNvSpPr/>
          <p:nvPr/>
        </p:nvSpPr>
        <p:spPr>
          <a:xfrm>
            <a:off x="4983480" y="1554480"/>
            <a:ext cx="3749040" cy="475488"/>
          </a:xfrm>
          <a:prstGeom prst="rect">
            <a:avLst/>
          </a:prstGeom>
          <a:noFill/>
          <a:ln/>
        </p:spPr>
        <p:txBody>
          <a:bodyPr wrap="square" lIns="0" tIns="0" rIns="0" bIns="0" rtlCol="0" anchor="ctr"/>
          <a:lstStyle/>
          <a:p>
            <a:pPr marL="0" indent="0">
              <a:buNone/>
            </a:pPr>
            <a:r>
              <a:rPr lang="en-US" sz="1200" dirty="0">
                <a:solidFill>
                  <a:srgbClr val="1A2744"/>
                </a:solidFill>
              </a:rPr>
              <a:t>1.  Dilema del Prisionero repetido</a:t>
            </a:r>
            <a:endParaRPr lang="en-US" sz="1200" dirty="0"/>
          </a:p>
        </p:txBody>
      </p:sp>
      <p:sp>
        <p:nvSpPr>
          <p:cNvPr id="22" name="Shape 20"/>
          <p:cNvSpPr/>
          <p:nvPr/>
        </p:nvSpPr>
        <p:spPr>
          <a:xfrm>
            <a:off x="4800600" y="2121408"/>
            <a:ext cx="4114800" cy="475488"/>
          </a:xfrm>
          <a:prstGeom prst="rect">
            <a:avLst/>
          </a:prstGeom>
          <a:solidFill>
            <a:srgbClr val="DDEEF6"/>
          </a:solidFill>
          <a:ln w="12700">
            <a:solidFill>
              <a:srgbClr val="C0D8E8"/>
            </a:solidFill>
            <a:prstDash val="solid"/>
          </a:ln>
        </p:spPr>
        <p:txBody>
          <a:bodyPr/>
          <a:lstStyle/>
          <a:p>
            <a:endParaRPr lang="es-AR"/>
          </a:p>
        </p:txBody>
      </p:sp>
      <p:sp>
        <p:nvSpPr>
          <p:cNvPr id="23" name="Text 21"/>
          <p:cNvSpPr/>
          <p:nvPr/>
        </p:nvSpPr>
        <p:spPr>
          <a:xfrm>
            <a:off x="4983480" y="2121408"/>
            <a:ext cx="3749040" cy="475488"/>
          </a:xfrm>
          <a:prstGeom prst="rect">
            <a:avLst/>
          </a:prstGeom>
          <a:noFill/>
          <a:ln/>
        </p:spPr>
        <p:txBody>
          <a:bodyPr wrap="square" lIns="0" tIns="0" rIns="0" bIns="0" rtlCol="0" anchor="ctr"/>
          <a:lstStyle/>
          <a:p>
            <a:pPr marL="0" indent="0">
              <a:buNone/>
            </a:pPr>
            <a:r>
              <a:rPr lang="en-US" sz="1200" dirty="0">
                <a:solidFill>
                  <a:srgbClr val="1A2744"/>
                </a:solidFill>
              </a:rPr>
              <a:t>2.  Juego Finito — Falla del Trigger</a:t>
            </a:r>
            <a:endParaRPr lang="en-US" sz="1200" dirty="0"/>
          </a:p>
        </p:txBody>
      </p:sp>
      <p:sp>
        <p:nvSpPr>
          <p:cNvPr id="24" name="Shape 22"/>
          <p:cNvSpPr/>
          <p:nvPr/>
        </p:nvSpPr>
        <p:spPr>
          <a:xfrm>
            <a:off x="4800600" y="2688336"/>
            <a:ext cx="4114800" cy="475488"/>
          </a:xfrm>
          <a:prstGeom prst="rect">
            <a:avLst/>
          </a:prstGeom>
          <a:solidFill>
            <a:srgbClr val="EBF3F8"/>
          </a:solidFill>
          <a:ln w="12700">
            <a:solidFill>
              <a:srgbClr val="C0D8E8"/>
            </a:solidFill>
            <a:prstDash val="solid"/>
          </a:ln>
        </p:spPr>
        <p:txBody>
          <a:bodyPr/>
          <a:lstStyle/>
          <a:p>
            <a:endParaRPr lang="es-AR"/>
          </a:p>
        </p:txBody>
      </p:sp>
      <p:sp>
        <p:nvSpPr>
          <p:cNvPr id="25" name="Text 23"/>
          <p:cNvSpPr/>
          <p:nvPr/>
        </p:nvSpPr>
        <p:spPr>
          <a:xfrm>
            <a:off x="4983480" y="2688336"/>
            <a:ext cx="3749040" cy="475488"/>
          </a:xfrm>
          <a:prstGeom prst="rect">
            <a:avLst/>
          </a:prstGeom>
          <a:noFill/>
          <a:ln/>
        </p:spPr>
        <p:txBody>
          <a:bodyPr wrap="square" lIns="0" tIns="0" rIns="0" bIns="0" rtlCol="0" anchor="ctr"/>
          <a:lstStyle/>
          <a:p>
            <a:pPr marL="0" indent="0">
              <a:buNone/>
            </a:pPr>
            <a:r>
              <a:rPr lang="en-US" sz="1200" dirty="0">
                <a:solidFill>
                  <a:srgbClr val="1A2744"/>
                </a:solidFill>
              </a:rPr>
              <a:t>3.  Juego con incertidumbre (p)</a:t>
            </a:r>
            <a:endParaRPr lang="en-US" sz="1200" dirty="0"/>
          </a:p>
        </p:txBody>
      </p:sp>
      <p:sp>
        <p:nvSpPr>
          <p:cNvPr id="26" name="Shape 24"/>
          <p:cNvSpPr/>
          <p:nvPr/>
        </p:nvSpPr>
        <p:spPr>
          <a:xfrm>
            <a:off x="4800600" y="3255264"/>
            <a:ext cx="4114800" cy="475488"/>
          </a:xfrm>
          <a:prstGeom prst="rect">
            <a:avLst/>
          </a:prstGeom>
          <a:solidFill>
            <a:srgbClr val="DDEEF6"/>
          </a:solidFill>
          <a:ln w="12700">
            <a:solidFill>
              <a:srgbClr val="C0D8E8"/>
            </a:solidFill>
            <a:prstDash val="solid"/>
          </a:ln>
        </p:spPr>
        <p:txBody>
          <a:bodyPr/>
          <a:lstStyle/>
          <a:p>
            <a:endParaRPr lang="es-AR"/>
          </a:p>
        </p:txBody>
      </p:sp>
      <p:sp>
        <p:nvSpPr>
          <p:cNvPr id="27" name="Text 25"/>
          <p:cNvSpPr/>
          <p:nvPr/>
        </p:nvSpPr>
        <p:spPr>
          <a:xfrm>
            <a:off x="4983480" y="3255264"/>
            <a:ext cx="3749040" cy="475488"/>
          </a:xfrm>
          <a:prstGeom prst="rect">
            <a:avLst/>
          </a:prstGeom>
          <a:noFill/>
          <a:ln/>
        </p:spPr>
        <p:txBody>
          <a:bodyPr wrap="square" lIns="0" tIns="0" rIns="0" bIns="0" rtlCol="0" anchor="ctr"/>
          <a:lstStyle/>
          <a:p>
            <a:pPr marL="0" indent="0">
              <a:buNone/>
            </a:pPr>
            <a:r>
              <a:rPr lang="en-US" sz="1200" dirty="0">
                <a:solidFill>
                  <a:srgbClr val="1A2744"/>
                </a:solidFill>
              </a:rPr>
              <a:t>4.  Juego Infinito (δ)</a:t>
            </a:r>
            <a:endParaRPr lang="en-US" sz="1200" dirty="0"/>
          </a:p>
        </p:txBody>
      </p:sp>
      <p:sp>
        <p:nvSpPr>
          <p:cNvPr id="28" name="Shape 26"/>
          <p:cNvSpPr/>
          <p:nvPr/>
        </p:nvSpPr>
        <p:spPr>
          <a:xfrm>
            <a:off x="4800600" y="3822192"/>
            <a:ext cx="4114800" cy="475488"/>
          </a:xfrm>
          <a:prstGeom prst="rect">
            <a:avLst/>
          </a:prstGeom>
          <a:solidFill>
            <a:srgbClr val="EBF3F8"/>
          </a:solidFill>
          <a:ln w="12700">
            <a:solidFill>
              <a:srgbClr val="C0D8E8"/>
            </a:solidFill>
            <a:prstDash val="solid"/>
          </a:ln>
        </p:spPr>
        <p:txBody>
          <a:bodyPr/>
          <a:lstStyle/>
          <a:p>
            <a:endParaRPr lang="es-AR"/>
          </a:p>
        </p:txBody>
      </p:sp>
      <p:sp>
        <p:nvSpPr>
          <p:cNvPr id="29" name="Text 27"/>
          <p:cNvSpPr/>
          <p:nvPr/>
        </p:nvSpPr>
        <p:spPr>
          <a:xfrm>
            <a:off x="4983480" y="3822192"/>
            <a:ext cx="3749040" cy="475488"/>
          </a:xfrm>
          <a:prstGeom prst="rect">
            <a:avLst/>
          </a:prstGeom>
          <a:noFill/>
          <a:ln/>
        </p:spPr>
        <p:txBody>
          <a:bodyPr wrap="square" lIns="0" tIns="0" rIns="0" bIns="0" rtlCol="0" anchor="ctr"/>
          <a:lstStyle/>
          <a:p>
            <a:pPr marL="0" indent="0">
              <a:buNone/>
            </a:pPr>
            <a:r>
              <a:rPr lang="en-US" sz="1200" dirty="0">
                <a:solidFill>
                  <a:srgbClr val="1A2744"/>
                </a:solidFill>
              </a:rPr>
              <a:t>5.  Toma y Daka</a:t>
            </a:r>
            <a:endParaRPr lang="en-US" sz="1200" dirty="0"/>
          </a:p>
        </p:txBody>
      </p:sp>
      <p:sp>
        <p:nvSpPr>
          <p:cNvPr id="30" name="Shape 28"/>
          <p:cNvSpPr/>
          <p:nvPr/>
        </p:nvSpPr>
        <p:spPr>
          <a:xfrm>
            <a:off x="4800600" y="4389120"/>
            <a:ext cx="4114800" cy="475488"/>
          </a:xfrm>
          <a:prstGeom prst="rect">
            <a:avLst/>
          </a:prstGeom>
          <a:solidFill>
            <a:srgbClr val="DDEEF6"/>
          </a:solidFill>
          <a:ln w="12700">
            <a:solidFill>
              <a:srgbClr val="C0D8E8"/>
            </a:solidFill>
            <a:prstDash val="solid"/>
          </a:ln>
        </p:spPr>
        <p:txBody>
          <a:bodyPr/>
          <a:lstStyle/>
          <a:p>
            <a:endParaRPr lang="es-AR"/>
          </a:p>
        </p:txBody>
      </p:sp>
      <p:sp>
        <p:nvSpPr>
          <p:cNvPr id="31" name="Text 29"/>
          <p:cNvSpPr/>
          <p:nvPr/>
        </p:nvSpPr>
        <p:spPr>
          <a:xfrm>
            <a:off x="4983480" y="4389120"/>
            <a:ext cx="3749040" cy="475488"/>
          </a:xfrm>
          <a:prstGeom prst="rect">
            <a:avLst/>
          </a:prstGeom>
          <a:noFill/>
          <a:ln/>
        </p:spPr>
        <p:txBody>
          <a:bodyPr wrap="square" lIns="0" tIns="0" rIns="0" bIns="0" rtlCol="0" anchor="ctr"/>
          <a:lstStyle/>
          <a:p>
            <a:pPr marL="0" indent="0">
              <a:buNone/>
            </a:pPr>
            <a:r>
              <a:rPr lang="en-US" sz="1200" dirty="0">
                <a:solidFill>
                  <a:srgbClr val="1A2744"/>
                </a:solidFill>
              </a:rPr>
              <a:t>6.  Castigo Limitado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1463040"/>
            <a:ext cx="164592" cy="2194560"/>
          </a:xfrm>
          <a:prstGeom prst="rect">
            <a:avLst/>
          </a:prstGeom>
          <a:solidFill>
            <a:srgbClr val="F5A623"/>
          </a:solidFill>
          <a:ln w="12700">
            <a:solidFill>
              <a:srgbClr val="F5A623"/>
            </a:solidFill>
            <a:prstDash val="solid"/>
          </a:ln>
        </p:spPr>
        <p:txBody>
          <a:bodyPr/>
          <a:lstStyle/>
          <a:p>
            <a:endParaRPr lang="es-AR"/>
          </a:p>
        </p:txBody>
      </p:sp>
      <p:sp>
        <p:nvSpPr>
          <p:cNvPr id="3" name="Text 1"/>
          <p:cNvSpPr/>
          <p:nvPr/>
        </p:nvSpPr>
        <p:spPr>
          <a:xfrm>
            <a:off x="411480" y="1554480"/>
            <a:ext cx="8229600" cy="457200"/>
          </a:xfrm>
          <a:prstGeom prst="rect">
            <a:avLst/>
          </a:prstGeom>
          <a:noFill/>
          <a:ln/>
        </p:spPr>
        <p:txBody>
          <a:bodyPr wrap="square" lIns="0" tIns="0" rIns="0" bIns="0" rtlCol="0" anchor="ctr"/>
          <a:lstStyle/>
          <a:p>
            <a:pPr marL="0" indent="0">
              <a:buNone/>
            </a:pPr>
            <a:r>
              <a:rPr lang="en-US" sz="1200" b="1" kern="0" spc="400" dirty="0">
                <a:solidFill>
                  <a:srgbClr val="F5A623"/>
                </a:solidFill>
              </a:rPr>
              <a:t>SECCIÓN 1</a:t>
            </a:r>
            <a:endParaRPr lang="en-US" sz="1200" dirty="0"/>
          </a:p>
        </p:txBody>
      </p:sp>
      <p:sp>
        <p:nvSpPr>
          <p:cNvPr id="4" name="Text 2"/>
          <p:cNvSpPr/>
          <p:nvPr/>
        </p:nvSpPr>
        <p:spPr>
          <a:xfrm>
            <a:off x="411480" y="1920240"/>
            <a:ext cx="8229600" cy="914400"/>
          </a:xfrm>
          <a:prstGeom prst="rect">
            <a:avLst/>
          </a:prstGeom>
          <a:noFill/>
          <a:ln/>
        </p:spPr>
        <p:txBody>
          <a:bodyPr wrap="square" lIns="0" tIns="0" rIns="0" bIns="0" rtlCol="0" anchor="ctr"/>
          <a:lstStyle/>
          <a:p>
            <a:pPr marL="0" indent="0">
              <a:buNone/>
            </a:pPr>
            <a:r>
              <a:rPr lang="en-US" sz="3400" b="1" dirty="0">
                <a:solidFill>
                  <a:srgbClr val="FFFFFF"/>
                </a:solidFill>
              </a:rPr>
              <a:t>Forma Extensiva</a:t>
            </a:r>
            <a:endParaRPr lang="en-US" sz="3400" dirty="0"/>
          </a:p>
        </p:txBody>
      </p:sp>
      <p:sp>
        <p:nvSpPr>
          <p:cNvPr id="5" name="Text 3"/>
          <p:cNvSpPr/>
          <p:nvPr/>
        </p:nvSpPr>
        <p:spPr>
          <a:xfrm>
            <a:off x="411480" y="2880360"/>
            <a:ext cx="7772400" cy="731520"/>
          </a:xfrm>
          <a:prstGeom prst="rect">
            <a:avLst/>
          </a:prstGeom>
          <a:noFill/>
          <a:ln/>
        </p:spPr>
        <p:txBody>
          <a:bodyPr wrap="square" lIns="0" tIns="0" rIns="0" bIns="0" rtlCol="0" anchor="ctr"/>
          <a:lstStyle/>
          <a:p>
            <a:pPr marL="0" indent="0">
              <a:buNone/>
            </a:pPr>
            <a:r>
              <a:rPr lang="en-US" sz="1400" i="1" dirty="0">
                <a:solidFill>
                  <a:srgbClr val="A8C0D0"/>
                </a:solidFill>
              </a:rPr>
              <a:t>Representar juegos como árboles: nodos, ramas y conjuntos de información</a:t>
            </a:r>
            <a:endParaRPr lang="en-US" sz="1400" dirty="0"/>
          </a:p>
        </p:txBody>
      </p:sp>
      <p:sp>
        <p:nvSpPr>
          <p:cNvPr id="6" name="Shape 4"/>
          <p:cNvSpPr/>
          <p:nvPr/>
        </p:nvSpPr>
        <p:spPr>
          <a:xfrm>
            <a:off x="0" y="4754880"/>
            <a:ext cx="9144000" cy="393192"/>
          </a:xfrm>
          <a:prstGeom prst="rect">
            <a:avLst/>
          </a:prstGeom>
          <a:solidFill>
            <a:srgbClr val="0F7B6C"/>
          </a:solidFill>
          <a:ln w="12700">
            <a:solidFill>
              <a:srgbClr val="0F7B6C"/>
            </a:solidFill>
            <a:prstDash val="solid"/>
          </a:ln>
        </p:spPr>
        <p:txBody>
          <a:bodyPr/>
          <a:lstStyle/>
          <a:p>
            <a:endParaRPr lang="es-AR"/>
          </a:p>
        </p:txBody>
      </p:sp>
      <p:sp>
        <p:nvSpPr>
          <p:cNvPr id="7" name="Text 5"/>
          <p:cNvSpPr/>
          <p:nvPr/>
        </p:nvSpPr>
        <p:spPr>
          <a:xfrm>
            <a:off x="365760" y="4754880"/>
            <a:ext cx="8229600" cy="393192"/>
          </a:xfrm>
          <a:prstGeom prst="rect">
            <a:avLst/>
          </a:prstGeom>
          <a:noFill/>
          <a:ln/>
        </p:spPr>
        <p:txBody>
          <a:bodyPr wrap="square" lIns="0" tIns="0" rIns="0" bIns="0" rtlCol="0" anchor="ctr"/>
          <a:lstStyle/>
          <a:p>
            <a:pPr marL="0" indent="0">
              <a:buNone/>
            </a:pPr>
            <a:r>
              <a:rPr lang="en-US" sz="1000" dirty="0">
                <a:solidFill>
                  <a:srgbClr val="FFFFFF"/>
                </a:solidFill>
              </a:rPr>
              <a:t>Teoría de Juegos  •  Juegos Dinámicos y Repetidos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Dos formas de representar un juego</a:t>
            </a:r>
            <a:endParaRPr lang="en-US" sz="2200" dirty="0"/>
          </a:p>
        </p:txBody>
      </p:sp>
      <p:sp>
        <p:nvSpPr>
          <p:cNvPr id="4" name="Shape 2"/>
          <p:cNvSpPr/>
          <p:nvPr/>
        </p:nvSpPr>
        <p:spPr>
          <a:xfrm>
            <a:off x="320040" y="960120"/>
            <a:ext cx="3931920" cy="356616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5" name="Text 3"/>
          <p:cNvSpPr/>
          <p:nvPr/>
        </p:nvSpPr>
        <p:spPr>
          <a:xfrm>
            <a:off x="502920" y="1051560"/>
            <a:ext cx="3566160" cy="365760"/>
          </a:xfrm>
          <a:prstGeom prst="rect">
            <a:avLst/>
          </a:prstGeom>
          <a:noFill/>
          <a:ln/>
        </p:spPr>
        <p:txBody>
          <a:bodyPr wrap="square" lIns="0" tIns="0" rIns="0" bIns="0" rtlCol="0" anchor="ctr"/>
          <a:lstStyle/>
          <a:p>
            <a:pPr marL="0" indent="0">
              <a:buNone/>
            </a:pPr>
            <a:r>
              <a:rPr lang="en-US" sz="1200" b="1" kern="0" spc="300" dirty="0">
                <a:solidFill>
                  <a:srgbClr val="F5A623"/>
                </a:solidFill>
              </a:rPr>
              <a:t>FORMA NORMAL</a:t>
            </a:r>
            <a:endParaRPr lang="en-US" sz="1200" dirty="0"/>
          </a:p>
        </p:txBody>
      </p:sp>
      <p:sp>
        <p:nvSpPr>
          <p:cNvPr id="6" name="Text 4"/>
          <p:cNvSpPr/>
          <p:nvPr/>
        </p:nvSpPr>
        <p:spPr>
          <a:xfrm>
            <a:off x="502920" y="1417320"/>
            <a:ext cx="3566160" cy="320040"/>
          </a:xfrm>
          <a:prstGeom prst="rect">
            <a:avLst/>
          </a:prstGeom>
          <a:noFill/>
          <a:ln/>
        </p:spPr>
        <p:txBody>
          <a:bodyPr wrap="square" lIns="0" tIns="0" rIns="0" bIns="0" rtlCol="0" anchor="ctr"/>
          <a:lstStyle/>
          <a:p>
            <a:pPr marL="0" indent="0">
              <a:buNone/>
            </a:pPr>
            <a:r>
              <a:rPr lang="en-US" sz="1600" b="1" dirty="0">
                <a:solidFill>
                  <a:srgbClr val="FFFFFF"/>
                </a:solidFill>
              </a:rPr>
              <a:t>La Matriz</a:t>
            </a:r>
            <a:endParaRPr lang="en-US" sz="1600" dirty="0"/>
          </a:p>
        </p:txBody>
      </p:sp>
      <p:sp>
        <p:nvSpPr>
          <p:cNvPr id="7" name="Text 5"/>
          <p:cNvSpPr/>
          <p:nvPr/>
        </p:nvSpPr>
        <p:spPr>
          <a:xfrm>
            <a:off x="502920" y="1828800"/>
            <a:ext cx="3566160" cy="2377440"/>
          </a:xfrm>
          <a:prstGeom prst="rect">
            <a:avLst/>
          </a:prstGeom>
          <a:noFill/>
          <a:ln/>
        </p:spPr>
        <p:txBody>
          <a:bodyPr wrap="square" rtlCol="0" anchor="ctr"/>
          <a:lstStyle/>
          <a:p>
            <a:pPr marL="0" indent="0">
              <a:buNone/>
            </a:pPr>
            <a:r>
              <a:rPr lang="en-US" sz="1200" dirty="0">
                <a:solidFill>
                  <a:srgbClr val="FFFFFF"/>
                </a:solidFill>
              </a:rPr>
              <a:t>• Muestra todas las estrategias disponibles</a:t>
            </a:r>
            <a:endParaRPr lang="en-US" sz="1200" dirty="0"/>
          </a:p>
          <a:p>
            <a:pPr marL="0" indent="0">
              <a:buNone/>
            </a:pPr>
            <a:r>
              <a:rPr lang="en-US" sz="1200" dirty="0">
                <a:solidFill>
                  <a:srgbClr val="FFFFFF"/>
                </a:solidFill>
              </a:rPr>
              <a:t>• Pagos en cada celda de la tabla</a:t>
            </a:r>
            <a:endParaRPr lang="en-US" sz="1200" dirty="0"/>
          </a:p>
          <a:p>
            <a:pPr marL="0" indent="0">
              <a:buNone/>
            </a:pPr>
            <a:r>
              <a:rPr lang="en-US" sz="1200" dirty="0">
                <a:solidFill>
                  <a:srgbClr val="FFFFFF"/>
                </a:solidFill>
              </a:rPr>
              <a:t>• Ideal para juegos simultáneos</a:t>
            </a:r>
            <a:endParaRPr lang="en-US" sz="1200" dirty="0"/>
          </a:p>
          <a:p>
            <a:pPr marL="0" indent="0">
              <a:buNone/>
            </a:pPr>
            <a:endParaRPr lang="en-US" sz="1200" dirty="0"/>
          </a:p>
          <a:p>
            <a:pPr marL="0" indent="0">
              <a:buNone/>
            </a:pPr>
            <a:r>
              <a:rPr lang="en-US" sz="1100" i="1" dirty="0">
                <a:solidFill>
                  <a:srgbClr val="A8C0D0"/>
                </a:solidFill>
              </a:rPr>
              <a:t>Ejemplo: Dilema del Prisionero como tabla 2×2</a:t>
            </a:r>
            <a:endParaRPr lang="en-US" sz="1200" dirty="0"/>
          </a:p>
        </p:txBody>
      </p:sp>
      <p:sp>
        <p:nvSpPr>
          <p:cNvPr id="8" name="Shape 6"/>
          <p:cNvSpPr/>
          <p:nvPr/>
        </p:nvSpPr>
        <p:spPr>
          <a:xfrm>
            <a:off x="4663440" y="960120"/>
            <a:ext cx="3931920" cy="3566160"/>
          </a:xfrm>
          <a:prstGeom prst="rect">
            <a:avLst/>
          </a:prstGeom>
          <a:solidFill>
            <a:srgbClr val="162840"/>
          </a:solidFill>
          <a:ln w="12700">
            <a:solidFill>
              <a:srgbClr val="F5A623"/>
            </a:solidFill>
            <a:prstDash val="solid"/>
          </a:ln>
          <a:effectLst>
            <a:outerShdw blurRad="101600" dist="38100" dir="8100000" algn="bl" rotWithShape="0">
              <a:srgbClr val="000000">
                <a:alpha val="13000"/>
              </a:srgbClr>
            </a:outerShdw>
          </a:effectLst>
        </p:spPr>
        <p:txBody>
          <a:bodyPr/>
          <a:lstStyle/>
          <a:p>
            <a:endParaRPr lang="es-AR"/>
          </a:p>
        </p:txBody>
      </p:sp>
      <p:sp>
        <p:nvSpPr>
          <p:cNvPr id="9" name="Text 7"/>
          <p:cNvSpPr/>
          <p:nvPr/>
        </p:nvSpPr>
        <p:spPr>
          <a:xfrm>
            <a:off x="4846320" y="1051560"/>
            <a:ext cx="3566160" cy="365760"/>
          </a:xfrm>
          <a:prstGeom prst="rect">
            <a:avLst/>
          </a:prstGeom>
          <a:noFill/>
          <a:ln/>
        </p:spPr>
        <p:txBody>
          <a:bodyPr wrap="square" lIns="0" tIns="0" rIns="0" bIns="0" rtlCol="0" anchor="ctr"/>
          <a:lstStyle/>
          <a:p>
            <a:pPr marL="0" indent="0">
              <a:buNone/>
            </a:pPr>
            <a:r>
              <a:rPr lang="en-US" sz="1200" b="1" kern="0" spc="300" dirty="0">
                <a:solidFill>
                  <a:srgbClr val="F5A623"/>
                </a:solidFill>
              </a:rPr>
              <a:t>FORMA EXTENSIVA</a:t>
            </a:r>
            <a:endParaRPr lang="en-US" sz="1200" dirty="0"/>
          </a:p>
        </p:txBody>
      </p:sp>
      <p:sp>
        <p:nvSpPr>
          <p:cNvPr id="10" name="Text 8"/>
          <p:cNvSpPr/>
          <p:nvPr/>
        </p:nvSpPr>
        <p:spPr>
          <a:xfrm>
            <a:off x="4846320" y="1417320"/>
            <a:ext cx="3566160" cy="320040"/>
          </a:xfrm>
          <a:prstGeom prst="rect">
            <a:avLst/>
          </a:prstGeom>
          <a:noFill/>
          <a:ln/>
        </p:spPr>
        <p:txBody>
          <a:bodyPr wrap="square" lIns="0" tIns="0" rIns="0" bIns="0" rtlCol="0" anchor="ctr"/>
          <a:lstStyle/>
          <a:p>
            <a:pPr marL="0" indent="0">
              <a:buNone/>
            </a:pPr>
            <a:r>
              <a:rPr lang="en-US" sz="1600" b="1" dirty="0">
                <a:solidFill>
                  <a:srgbClr val="FFFFFF"/>
                </a:solidFill>
              </a:rPr>
              <a:t>El Árbol</a:t>
            </a:r>
            <a:endParaRPr lang="en-US" sz="1600" dirty="0"/>
          </a:p>
        </p:txBody>
      </p:sp>
      <p:sp>
        <p:nvSpPr>
          <p:cNvPr id="11" name="Text 9"/>
          <p:cNvSpPr/>
          <p:nvPr/>
        </p:nvSpPr>
        <p:spPr>
          <a:xfrm>
            <a:off x="4846320" y="1828800"/>
            <a:ext cx="3566160" cy="2377440"/>
          </a:xfrm>
          <a:prstGeom prst="rect">
            <a:avLst/>
          </a:prstGeom>
          <a:noFill/>
          <a:ln/>
        </p:spPr>
        <p:txBody>
          <a:bodyPr wrap="square" rtlCol="0" anchor="ctr"/>
          <a:lstStyle/>
          <a:p>
            <a:pPr marL="0" indent="0">
              <a:buNone/>
            </a:pPr>
            <a:r>
              <a:rPr lang="en-US" sz="1200" dirty="0">
                <a:solidFill>
                  <a:srgbClr val="FFFFFF"/>
                </a:solidFill>
              </a:rPr>
              <a:t>• Captura la SECUENCIA de decisiones</a:t>
            </a:r>
            <a:endParaRPr lang="en-US" sz="1200" dirty="0"/>
          </a:p>
          <a:p>
            <a:pPr marL="0" indent="0">
              <a:buNone/>
            </a:pPr>
            <a:r>
              <a:rPr lang="en-US" sz="1200" dirty="0">
                <a:solidFill>
                  <a:srgbClr val="FFFFFF"/>
                </a:solidFill>
              </a:rPr>
              <a:t>• Muestra quién sabe qué en cada turno</a:t>
            </a:r>
            <a:endParaRPr lang="en-US" sz="1200" dirty="0"/>
          </a:p>
          <a:p>
            <a:pPr marL="0" indent="0">
              <a:buNone/>
            </a:pPr>
            <a:r>
              <a:rPr lang="en-US" sz="1200" dirty="0">
                <a:solidFill>
                  <a:srgbClr val="FFFFFF"/>
                </a:solidFill>
              </a:rPr>
              <a:t>• Ideal para juegos dinámicos (secuenciales)</a:t>
            </a:r>
            <a:endParaRPr lang="en-US" sz="1200" dirty="0"/>
          </a:p>
          <a:p>
            <a:pPr marL="0" indent="0">
              <a:buNone/>
            </a:pPr>
            <a:endParaRPr lang="en-US" sz="1200" dirty="0"/>
          </a:p>
          <a:p>
            <a:pPr marL="0" indent="0">
              <a:buNone/>
            </a:pPr>
            <a:r>
              <a:rPr lang="en-US" sz="1100" i="1" dirty="0">
                <a:solidFill>
                  <a:srgbClr val="A8C0D0"/>
                </a:solidFill>
              </a:rPr>
              <a:t>Ejemplo: Dilema del Prisionero como árbol de decisión</a:t>
            </a:r>
            <a:endParaRPr lang="en-US" sz="1200" dirty="0"/>
          </a:p>
        </p:txBody>
      </p:sp>
      <p:sp>
        <p:nvSpPr>
          <p:cNvPr id="12" name="Text 10"/>
          <p:cNvSpPr/>
          <p:nvPr/>
        </p:nvSpPr>
        <p:spPr>
          <a:xfrm>
            <a:off x="3840480" y="2377440"/>
            <a:ext cx="1097280" cy="457200"/>
          </a:xfrm>
          <a:prstGeom prst="rect">
            <a:avLst/>
          </a:prstGeom>
          <a:noFill/>
          <a:ln/>
        </p:spPr>
        <p:txBody>
          <a:bodyPr wrap="square" rtlCol="0" anchor="ctr"/>
          <a:lstStyle/>
          <a:p>
            <a:pPr marL="0" indent="0" algn="ctr">
              <a:buNone/>
            </a:pPr>
            <a:r>
              <a:rPr lang="en-US" sz="2200" dirty="0">
                <a:solidFill>
                  <a:srgbClr val="14A896"/>
                </a:solidFill>
              </a:rPr>
              <a: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Componentes del Árbol (Forma Extensiva)</a:t>
            </a:r>
            <a:endParaRPr lang="en-US" sz="2200" dirty="0"/>
          </a:p>
        </p:txBody>
      </p:sp>
      <p:sp>
        <p:nvSpPr>
          <p:cNvPr id="4" name="Text 2"/>
          <p:cNvSpPr/>
          <p:nvPr/>
        </p:nvSpPr>
        <p:spPr>
          <a:xfrm>
            <a:off x="365760" y="742905"/>
            <a:ext cx="8503920" cy="274320"/>
          </a:xfrm>
          <a:prstGeom prst="rect">
            <a:avLst/>
          </a:prstGeom>
          <a:noFill/>
          <a:ln/>
        </p:spPr>
        <p:txBody>
          <a:bodyPr wrap="square" lIns="0" tIns="0" rIns="0" bIns="0" rtlCol="0" anchor="ctr"/>
          <a:lstStyle/>
          <a:p>
            <a:pPr marL="0" indent="0">
              <a:buNone/>
            </a:pPr>
            <a:r>
              <a:rPr lang="en-US" sz="900" i="1" dirty="0">
                <a:solidFill>
                  <a:srgbClr val="14A896"/>
                </a:solidFill>
              </a:rPr>
              <a:t>Los bloques básicos de construcción</a:t>
            </a:r>
            <a:endParaRPr lang="en-US" sz="900" dirty="0"/>
          </a:p>
        </p:txBody>
      </p:sp>
      <p:sp>
        <p:nvSpPr>
          <p:cNvPr id="5" name="Shape 3"/>
          <p:cNvSpPr/>
          <p:nvPr/>
        </p:nvSpPr>
        <p:spPr>
          <a:xfrm>
            <a:off x="320040" y="960120"/>
            <a:ext cx="4114800" cy="173736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6" name="Text 4"/>
          <p:cNvSpPr/>
          <p:nvPr/>
        </p:nvSpPr>
        <p:spPr>
          <a:xfrm>
            <a:off x="457200" y="1051560"/>
            <a:ext cx="502920" cy="502920"/>
          </a:xfrm>
          <a:prstGeom prst="rect">
            <a:avLst/>
          </a:prstGeom>
          <a:noFill/>
          <a:ln/>
        </p:spPr>
        <p:txBody>
          <a:bodyPr wrap="square" lIns="0" tIns="0" rIns="0" bIns="0" rtlCol="0" anchor="ctr"/>
          <a:lstStyle/>
          <a:p>
            <a:pPr marL="0" indent="0" algn="ctr">
              <a:buNone/>
            </a:pPr>
            <a:r>
              <a:rPr lang="en-US" sz="1800" b="1" dirty="0">
                <a:solidFill>
                  <a:srgbClr val="F5A623"/>
                </a:solidFill>
              </a:rPr>
              <a:t>●</a:t>
            </a:r>
            <a:endParaRPr lang="en-US" sz="1800" dirty="0"/>
          </a:p>
        </p:txBody>
      </p:sp>
      <p:sp>
        <p:nvSpPr>
          <p:cNvPr id="7" name="Text 5"/>
          <p:cNvSpPr/>
          <p:nvPr/>
        </p:nvSpPr>
        <p:spPr>
          <a:xfrm>
            <a:off x="1005840" y="1051560"/>
            <a:ext cx="3291840" cy="365760"/>
          </a:xfrm>
          <a:prstGeom prst="rect">
            <a:avLst/>
          </a:prstGeom>
          <a:noFill/>
          <a:ln/>
        </p:spPr>
        <p:txBody>
          <a:bodyPr wrap="square" lIns="0" tIns="0" rIns="0" bIns="0" rtlCol="0" anchor="ctr"/>
          <a:lstStyle/>
          <a:p>
            <a:pPr marL="0" indent="0">
              <a:buNone/>
            </a:pPr>
            <a:r>
              <a:rPr lang="en-US" sz="1300" b="1" dirty="0">
                <a:solidFill>
                  <a:srgbClr val="FFFFFF"/>
                </a:solidFill>
              </a:rPr>
              <a:t>NODOS</a:t>
            </a:r>
            <a:endParaRPr lang="en-US" sz="1300" dirty="0"/>
          </a:p>
        </p:txBody>
      </p:sp>
      <p:sp>
        <p:nvSpPr>
          <p:cNvPr id="8" name="Text 6"/>
          <p:cNvSpPr/>
          <p:nvPr/>
        </p:nvSpPr>
        <p:spPr>
          <a:xfrm>
            <a:off x="502920" y="1508760"/>
            <a:ext cx="3794760" cy="1051560"/>
          </a:xfrm>
          <a:prstGeom prst="rect">
            <a:avLst/>
          </a:prstGeom>
          <a:noFill/>
          <a:ln/>
        </p:spPr>
        <p:txBody>
          <a:bodyPr wrap="square" lIns="0" tIns="0" rIns="0" bIns="0" rtlCol="0" anchor="ctr"/>
          <a:lstStyle/>
          <a:p>
            <a:pPr marL="0" indent="0">
              <a:buNone/>
            </a:pPr>
            <a:r>
              <a:rPr lang="en-US" sz="1100" dirty="0">
                <a:solidFill>
                  <a:srgbClr val="C8D8E8"/>
                </a:solidFill>
              </a:rPr>
              <a:t>Puntos del árbol donde se toman decisiones. El elemento básico. Pueden ser: nodo de decisión (un jugador elige) o nodo terminal (el juego termina y se realizan los pagos).</a:t>
            </a:r>
            <a:endParaRPr lang="en-US" sz="1100" dirty="0"/>
          </a:p>
        </p:txBody>
      </p:sp>
      <p:sp>
        <p:nvSpPr>
          <p:cNvPr id="9" name="Shape 7"/>
          <p:cNvSpPr/>
          <p:nvPr/>
        </p:nvSpPr>
        <p:spPr>
          <a:xfrm>
            <a:off x="4800600" y="960120"/>
            <a:ext cx="4114800" cy="173736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8"/>
          <p:cNvSpPr/>
          <p:nvPr/>
        </p:nvSpPr>
        <p:spPr>
          <a:xfrm>
            <a:off x="4937760" y="1051560"/>
            <a:ext cx="502920" cy="502920"/>
          </a:xfrm>
          <a:prstGeom prst="rect">
            <a:avLst/>
          </a:prstGeom>
          <a:noFill/>
          <a:ln/>
        </p:spPr>
        <p:txBody>
          <a:bodyPr wrap="square" lIns="0" tIns="0" rIns="0" bIns="0" rtlCol="0" anchor="ctr"/>
          <a:lstStyle/>
          <a:p>
            <a:pPr marL="0" indent="0" algn="ctr">
              <a:buNone/>
            </a:pPr>
            <a:r>
              <a:rPr lang="en-US" sz="1800" b="1" dirty="0">
                <a:solidFill>
                  <a:srgbClr val="F5A623"/>
                </a:solidFill>
              </a:rPr>
              <a:t>→</a:t>
            </a:r>
            <a:endParaRPr lang="en-US" sz="1800" dirty="0"/>
          </a:p>
        </p:txBody>
      </p:sp>
      <p:sp>
        <p:nvSpPr>
          <p:cNvPr id="11" name="Text 9"/>
          <p:cNvSpPr/>
          <p:nvPr/>
        </p:nvSpPr>
        <p:spPr>
          <a:xfrm>
            <a:off x="5486400" y="1051560"/>
            <a:ext cx="3291840" cy="365760"/>
          </a:xfrm>
          <a:prstGeom prst="rect">
            <a:avLst/>
          </a:prstGeom>
          <a:noFill/>
          <a:ln/>
        </p:spPr>
        <p:txBody>
          <a:bodyPr wrap="square" lIns="0" tIns="0" rIns="0" bIns="0" rtlCol="0" anchor="ctr"/>
          <a:lstStyle/>
          <a:p>
            <a:pPr marL="0" indent="0">
              <a:buNone/>
            </a:pPr>
            <a:r>
              <a:rPr lang="en-US" sz="1300" b="1" dirty="0">
                <a:solidFill>
                  <a:srgbClr val="FFFFFF"/>
                </a:solidFill>
              </a:rPr>
              <a:t>RAMAS</a:t>
            </a:r>
            <a:endParaRPr lang="en-US" sz="1300" dirty="0"/>
          </a:p>
        </p:txBody>
      </p:sp>
      <p:sp>
        <p:nvSpPr>
          <p:cNvPr id="12" name="Text 10"/>
          <p:cNvSpPr/>
          <p:nvPr/>
        </p:nvSpPr>
        <p:spPr>
          <a:xfrm>
            <a:off x="4983480" y="1508760"/>
            <a:ext cx="3794760" cy="1051560"/>
          </a:xfrm>
          <a:prstGeom prst="rect">
            <a:avLst/>
          </a:prstGeom>
          <a:noFill/>
          <a:ln/>
        </p:spPr>
        <p:txBody>
          <a:bodyPr wrap="square" lIns="0" tIns="0" rIns="0" bIns="0" rtlCol="0" anchor="ctr"/>
          <a:lstStyle/>
          <a:p>
            <a:pPr marL="0" indent="0">
              <a:buNone/>
            </a:pPr>
            <a:r>
              <a:rPr lang="en-US" sz="1100" dirty="0">
                <a:solidFill>
                  <a:srgbClr val="C8D8E8"/>
                </a:solidFill>
              </a:rPr>
              <a:t>Flechas que conectan nodos. Representan las alternativas disponibles para el jugador. Cada rama es una acción posible desde ese nodo.</a:t>
            </a:r>
            <a:endParaRPr lang="en-US" sz="1100" dirty="0"/>
          </a:p>
        </p:txBody>
      </p:sp>
      <p:sp>
        <p:nvSpPr>
          <p:cNvPr id="13" name="Shape 11"/>
          <p:cNvSpPr/>
          <p:nvPr/>
        </p:nvSpPr>
        <p:spPr>
          <a:xfrm>
            <a:off x="320040" y="2926080"/>
            <a:ext cx="4114800" cy="173736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4" name="Text 12"/>
          <p:cNvSpPr/>
          <p:nvPr/>
        </p:nvSpPr>
        <p:spPr>
          <a:xfrm>
            <a:off x="457200" y="3017520"/>
            <a:ext cx="502920" cy="502920"/>
          </a:xfrm>
          <a:prstGeom prst="rect">
            <a:avLst/>
          </a:prstGeom>
          <a:noFill/>
          <a:ln/>
        </p:spPr>
        <p:txBody>
          <a:bodyPr wrap="square" lIns="0" tIns="0" rIns="0" bIns="0" rtlCol="0" anchor="ctr"/>
          <a:lstStyle/>
          <a:p>
            <a:pPr marL="0" indent="0" algn="ctr">
              <a:buNone/>
            </a:pPr>
            <a:r>
              <a:rPr lang="en-US" sz="1800" b="1" dirty="0">
                <a:solidFill>
                  <a:srgbClr val="F5A623"/>
                </a:solidFill>
              </a:rPr>
              <a:t>{ }</a:t>
            </a:r>
            <a:endParaRPr lang="en-US" sz="1800" dirty="0"/>
          </a:p>
        </p:txBody>
      </p:sp>
      <p:sp>
        <p:nvSpPr>
          <p:cNvPr id="15" name="Text 13"/>
          <p:cNvSpPr/>
          <p:nvPr/>
        </p:nvSpPr>
        <p:spPr>
          <a:xfrm>
            <a:off x="1005840" y="3017520"/>
            <a:ext cx="3291840" cy="365760"/>
          </a:xfrm>
          <a:prstGeom prst="rect">
            <a:avLst/>
          </a:prstGeom>
          <a:noFill/>
          <a:ln/>
        </p:spPr>
        <p:txBody>
          <a:bodyPr wrap="square" lIns="0" tIns="0" rIns="0" bIns="0" rtlCol="0" anchor="ctr"/>
          <a:lstStyle/>
          <a:p>
            <a:pPr marL="0" indent="0">
              <a:buNone/>
            </a:pPr>
            <a:r>
              <a:rPr lang="en-US" sz="1300" b="1" dirty="0">
                <a:solidFill>
                  <a:srgbClr val="FFFFFF"/>
                </a:solidFill>
              </a:rPr>
              <a:t>CONJUNTO DE INFORMACIÓN (h)</a:t>
            </a:r>
            <a:endParaRPr lang="en-US" sz="1300" dirty="0"/>
          </a:p>
        </p:txBody>
      </p:sp>
      <p:sp>
        <p:nvSpPr>
          <p:cNvPr id="16" name="Text 14"/>
          <p:cNvSpPr/>
          <p:nvPr/>
        </p:nvSpPr>
        <p:spPr>
          <a:xfrm>
            <a:off x="502920" y="3474720"/>
            <a:ext cx="3794760" cy="1051560"/>
          </a:xfrm>
          <a:prstGeom prst="rect">
            <a:avLst/>
          </a:prstGeom>
          <a:noFill/>
          <a:ln/>
        </p:spPr>
        <p:txBody>
          <a:bodyPr wrap="square" lIns="0" tIns="0" rIns="0" bIns="0" rtlCol="0" anchor="ctr"/>
          <a:lstStyle/>
          <a:p>
            <a:pPr marL="0" indent="0">
              <a:buNone/>
            </a:pPr>
            <a:r>
              <a:rPr lang="en-US" sz="1100" dirty="0">
                <a:solidFill>
                  <a:srgbClr val="C8D8E8"/>
                </a:solidFill>
              </a:rPr>
              <a:t>Grupo de nodos de decisión que un jugador NO puede distinguir entre sí, porque no observó alguna acción previa. El jugador sabe que está en 'alguno de esos nodos', pero no cuál exactamente.</a:t>
            </a:r>
            <a:endParaRPr lang="en-US" sz="1100" dirty="0"/>
          </a:p>
        </p:txBody>
      </p:sp>
      <p:sp>
        <p:nvSpPr>
          <p:cNvPr id="17" name="Shape 15"/>
          <p:cNvSpPr/>
          <p:nvPr/>
        </p:nvSpPr>
        <p:spPr>
          <a:xfrm>
            <a:off x="4800600" y="2926080"/>
            <a:ext cx="4114800" cy="173736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8" name="Text 16"/>
          <p:cNvSpPr/>
          <p:nvPr/>
        </p:nvSpPr>
        <p:spPr>
          <a:xfrm>
            <a:off x="4937760" y="3017520"/>
            <a:ext cx="502920" cy="502920"/>
          </a:xfrm>
          <a:prstGeom prst="rect">
            <a:avLst/>
          </a:prstGeom>
          <a:noFill/>
          <a:ln/>
        </p:spPr>
        <p:txBody>
          <a:bodyPr wrap="square" lIns="0" tIns="0" rIns="0" bIns="0" rtlCol="0" anchor="ctr"/>
          <a:lstStyle/>
          <a:p>
            <a:pPr marL="0" indent="0" algn="ctr">
              <a:buNone/>
            </a:pPr>
            <a:r>
              <a:rPr lang="en-US" sz="1800" b="1" dirty="0">
                <a:solidFill>
                  <a:srgbClr val="F5A623"/>
                </a:solidFill>
              </a:rPr>
              <a:t>①</a:t>
            </a:r>
            <a:endParaRPr lang="en-US" sz="1800" dirty="0"/>
          </a:p>
        </p:txBody>
      </p:sp>
      <p:sp>
        <p:nvSpPr>
          <p:cNvPr id="19" name="Text 17"/>
          <p:cNvSpPr/>
          <p:nvPr/>
        </p:nvSpPr>
        <p:spPr>
          <a:xfrm>
            <a:off x="5486400" y="3017520"/>
            <a:ext cx="3291840" cy="365760"/>
          </a:xfrm>
          <a:prstGeom prst="rect">
            <a:avLst/>
          </a:prstGeom>
          <a:noFill/>
          <a:ln/>
        </p:spPr>
        <p:txBody>
          <a:bodyPr wrap="square" lIns="0" tIns="0" rIns="0" bIns="0" rtlCol="0" anchor="ctr"/>
          <a:lstStyle/>
          <a:p>
            <a:pPr marL="0" indent="0">
              <a:buNone/>
            </a:pPr>
            <a:r>
              <a:rPr lang="en-US" sz="1300" b="1" dirty="0">
                <a:solidFill>
                  <a:srgbClr val="FFFFFF"/>
                </a:solidFill>
              </a:rPr>
              <a:t>UNITARIO vs. NO UNITARIO</a:t>
            </a:r>
            <a:endParaRPr lang="en-US" sz="1300" dirty="0"/>
          </a:p>
        </p:txBody>
      </p:sp>
      <p:sp>
        <p:nvSpPr>
          <p:cNvPr id="20" name="Text 18"/>
          <p:cNvSpPr/>
          <p:nvPr/>
        </p:nvSpPr>
        <p:spPr>
          <a:xfrm>
            <a:off x="4983480" y="3474720"/>
            <a:ext cx="3794760" cy="1051560"/>
          </a:xfrm>
          <a:prstGeom prst="rect">
            <a:avLst/>
          </a:prstGeom>
          <a:noFill/>
          <a:ln/>
        </p:spPr>
        <p:txBody>
          <a:bodyPr wrap="square" lIns="0" tIns="0" rIns="0" bIns="0" rtlCol="0" anchor="ctr"/>
          <a:lstStyle/>
          <a:p>
            <a:pPr marL="0" indent="0">
              <a:buNone/>
            </a:pPr>
            <a:r>
              <a:rPr lang="en-US" sz="1100" dirty="0">
                <a:solidFill>
                  <a:srgbClr val="C8D8E8"/>
                </a:solidFill>
              </a:rPr>
              <a:t>Unitario: un solo nodo → el jugador sabe exactamente dónde está. No unitario: varios nodos agrupados → el jugador tiene información incompleta sobre el historial.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52423E4-F3DB-69C4-8233-419335DDBD2D}"/>
              </a:ext>
            </a:extLst>
          </p:cNvPr>
          <p:cNvPicPr>
            <a:picLocks noChangeAspect="1"/>
          </p:cNvPicPr>
          <p:nvPr/>
        </p:nvPicPr>
        <p:blipFill>
          <a:blip r:embed="rId2"/>
          <a:stretch>
            <a:fillRect/>
          </a:stretch>
        </p:blipFill>
        <p:spPr>
          <a:xfrm>
            <a:off x="866775" y="225316"/>
            <a:ext cx="7202805" cy="4801870"/>
          </a:xfrm>
          <a:prstGeom prst="rect">
            <a:avLst/>
          </a:prstGeom>
        </p:spPr>
      </p:pic>
    </p:spTree>
    <p:extLst>
      <p:ext uri="{BB962C8B-B14F-4D97-AF65-F5344CB8AC3E}">
        <p14:creationId xmlns:p14="http://schemas.microsoft.com/office/powerpoint/2010/main" val="62961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B61EF3E-5289-49F0-2D26-11A5CE701889}"/>
              </a:ext>
            </a:extLst>
          </p:cNvPr>
          <p:cNvPicPr>
            <a:picLocks noChangeAspect="1"/>
          </p:cNvPicPr>
          <p:nvPr/>
        </p:nvPicPr>
        <p:blipFill>
          <a:blip r:embed="rId2"/>
          <a:stretch>
            <a:fillRect/>
          </a:stretch>
        </p:blipFill>
        <p:spPr>
          <a:xfrm>
            <a:off x="919294" y="228158"/>
            <a:ext cx="7030775" cy="4687183"/>
          </a:xfrm>
          <a:prstGeom prst="rect">
            <a:avLst/>
          </a:prstGeom>
        </p:spPr>
      </p:pic>
    </p:spTree>
    <p:extLst>
      <p:ext uri="{BB962C8B-B14F-4D97-AF65-F5344CB8AC3E}">
        <p14:creationId xmlns:p14="http://schemas.microsoft.com/office/powerpoint/2010/main" val="1232471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Conjunto de Información — Intuición clave</a:t>
            </a:r>
            <a:endParaRPr lang="en-US" sz="2200" dirty="0"/>
          </a:p>
        </p:txBody>
      </p:sp>
      <p:sp>
        <p:nvSpPr>
          <p:cNvPr id="4" name="Shape 2"/>
          <p:cNvSpPr/>
          <p:nvPr/>
        </p:nvSpPr>
        <p:spPr>
          <a:xfrm>
            <a:off x="320040" y="960120"/>
            <a:ext cx="8503920" cy="1143000"/>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24128"/>
            <a:ext cx="8138160" cy="320040"/>
          </a:xfrm>
          <a:prstGeom prst="rect">
            <a:avLst/>
          </a:prstGeom>
          <a:noFill/>
          <a:ln/>
        </p:spPr>
        <p:txBody>
          <a:bodyPr wrap="square" lIns="0" tIns="0" rIns="0" bIns="0" rtlCol="0" anchor="ctr"/>
          <a:lstStyle/>
          <a:p>
            <a:pPr marL="0" indent="0">
              <a:buNone/>
            </a:pPr>
            <a:r>
              <a:rPr lang="en-US" sz="1100" b="1" kern="0" spc="300" dirty="0">
                <a:solidFill>
                  <a:srgbClr val="F5A623"/>
                </a:solidFill>
              </a:rPr>
              <a:t>DEFINICIÓN PARA EXAMEN</a:t>
            </a:r>
            <a:endParaRPr lang="en-US" sz="1100" dirty="0"/>
          </a:p>
        </p:txBody>
      </p:sp>
      <p:sp>
        <p:nvSpPr>
          <p:cNvPr id="6" name="Text 4"/>
          <p:cNvSpPr/>
          <p:nvPr/>
        </p:nvSpPr>
        <p:spPr>
          <a:xfrm>
            <a:off x="502920" y="1325880"/>
            <a:ext cx="8138160" cy="658368"/>
          </a:xfrm>
          <a:prstGeom prst="rect">
            <a:avLst/>
          </a:prstGeom>
          <a:noFill/>
          <a:ln/>
        </p:spPr>
        <p:txBody>
          <a:bodyPr wrap="square" lIns="0" tIns="0" rIns="0" bIns="0" rtlCol="0" anchor="ctr"/>
          <a:lstStyle/>
          <a:p>
            <a:pPr marL="0" indent="0">
              <a:buNone/>
            </a:pPr>
            <a:r>
              <a:rPr lang="en-US" sz="1300" dirty="0">
                <a:solidFill>
                  <a:srgbClr val="FFFFFF"/>
                </a:solidFill>
              </a:rPr>
              <a:t>Un conjunto de información es un grupo de nodos donde un jugador toma decisiones, pero no puede distinguir en cuál de ellos está, porque no observó alguna acción previa.</a:t>
            </a:r>
            <a:endParaRPr lang="en-US" sz="1300" dirty="0"/>
          </a:p>
        </p:txBody>
      </p:sp>
      <p:sp>
        <p:nvSpPr>
          <p:cNvPr id="7" name="Shape 5"/>
          <p:cNvSpPr/>
          <p:nvPr/>
        </p:nvSpPr>
        <p:spPr>
          <a:xfrm>
            <a:off x="320040" y="2286000"/>
            <a:ext cx="8503920" cy="749808"/>
          </a:xfrm>
          <a:prstGeom prst="rect">
            <a:avLst/>
          </a:prstGeom>
          <a:solidFill>
            <a:srgbClr val="132235"/>
          </a:solidFill>
          <a:ln w="12700">
            <a:solidFill>
              <a:srgbClr val="14A896"/>
            </a:solidFill>
            <a:prstDash val="solid"/>
          </a:ln>
        </p:spPr>
        <p:txBody>
          <a:bodyPr/>
          <a:lstStyle/>
          <a:p>
            <a:endParaRPr lang="es-AR"/>
          </a:p>
        </p:txBody>
      </p:sp>
      <p:sp>
        <p:nvSpPr>
          <p:cNvPr id="8" name="Shape 6"/>
          <p:cNvSpPr/>
          <p:nvPr/>
        </p:nvSpPr>
        <p:spPr>
          <a:xfrm>
            <a:off x="320040" y="2286000"/>
            <a:ext cx="502920" cy="749808"/>
          </a:xfrm>
          <a:prstGeom prst="rect">
            <a:avLst/>
          </a:prstGeom>
          <a:solidFill>
            <a:srgbClr val="0F7B6C"/>
          </a:solidFill>
          <a:ln w="12700">
            <a:solidFill>
              <a:srgbClr val="0F7B6C"/>
            </a:solidFill>
            <a:prstDash val="solid"/>
          </a:ln>
        </p:spPr>
        <p:txBody>
          <a:bodyPr/>
          <a:lstStyle/>
          <a:p>
            <a:endParaRPr lang="es-AR"/>
          </a:p>
        </p:txBody>
      </p:sp>
      <p:sp>
        <p:nvSpPr>
          <p:cNvPr id="9" name="Text 7"/>
          <p:cNvSpPr/>
          <p:nvPr/>
        </p:nvSpPr>
        <p:spPr>
          <a:xfrm>
            <a:off x="329184" y="2286000"/>
            <a:ext cx="484632" cy="74980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0" name="Text 8"/>
          <p:cNvSpPr/>
          <p:nvPr/>
        </p:nvSpPr>
        <p:spPr>
          <a:xfrm>
            <a:off x="960120" y="2313432"/>
            <a:ext cx="3200400" cy="320040"/>
          </a:xfrm>
          <a:prstGeom prst="rect">
            <a:avLst/>
          </a:prstGeom>
          <a:noFill/>
          <a:ln/>
        </p:spPr>
        <p:txBody>
          <a:bodyPr wrap="square" lIns="0" tIns="0" rIns="0" bIns="0" rtlCol="0" anchor="ctr"/>
          <a:lstStyle/>
          <a:p>
            <a:pPr marL="0" indent="0">
              <a:buNone/>
            </a:pPr>
            <a:r>
              <a:rPr lang="en-US" sz="1200" b="1" dirty="0">
                <a:solidFill>
                  <a:srgbClr val="FFFFFF"/>
                </a:solidFill>
              </a:rPr>
              <a:t>¿Por qué existen?</a:t>
            </a:r>
            <a:endParaRPr lang="en-US" sz="1200" dirty="0"/>
          </a:p>
        </p:txBody>
      </p:sp>
      <p:sp>
        <p:nvSpPr>
          <p:cNvPr id="11" name="Text 9"/>
          <p:cNvSpPr/>
          <p:nvPr/>
        </p:nvSpPr>
        <p:spPr>
          <a:xfrm>
            <a:off x="960120" y="2633472"/>
            <a:ext cx="7589520" cy="320040"/>
          </a:xfrm>
          <a:prstGeom prst="rect">
            <a:avLst/>
          </a:prstGeom>
          <a:noFill/>
          <a:ln/>
        </p:spPr>
        <p:txBody>
          <a:bodyPr wrap="square" lIns="0" tIns="0" rIns="0" bIns="0" rtlCol="0" anchor="ctr"/>
          <a:lstStyle/>
          <a:p>
            <a:pPr marL="0" indent="0">
              <a:buNone/>
            </a:pPr>
            <a:r>
              <a:rPr lang="en-US" sz="1100" dirty="0">
                <a:solidFill>
                  <a:srgbClr val="B8D0E4"/>
                </a:solidFill>
              </a:rPr>
              <a:t>Porque en juegos dinámicos, un jugador puede no ver los movimientos anteriores de otro jugador. Su información es incompleta.</a:t>
            </a:r>
            <a:endParaRPr lang="en-US" sz="1100" dirty="0"/>
          </a:p>
        </p:txBody>
      </p:sp>
      <p:sp>
        <p:nvSpPr>
          <p:cNvPr id="12" name="Shape 10"/>
          <p:cNvSpPr/>
          <p:nvPr/>
        </p:nvSpPr>
        <p:spPr>
          <a:xfrm>
            <a:off x="320040" y="3154680"/>
            <a:ext cx="8503920" cy="749808"/>
          </a:xfrm>
          <a:prstGeom prst="rect">
            <a:avLst/>
          </a:prstGeom>
          <a:solidFill>
            <a:srgbClr val="132235"/>
          </a:solidFill>
          <a:ln w="12700">
            <a:solidFill>
              <a:srgbClr val="14A896"/>
            </a:solidFill>
            <a:prstDash val="solid"/>
          </a:ln>
        </p:spPr>
        <p:txBody>
          <a:bodyPr/>
          <a:lstStyle/>
          <a:p>
            <a:endParaRPr lang="es-AR"/>
          </a:p>
        </p:txBody>
      </p:sp>
      <p:sp>
        <p:nvSpPr>
          <p:cNvPr id="13" name="Shape 11"/>
          <p:cNvSpPr/>
          <p:nvPr/>
        </p:nvSpPr>
        <p:spPr>
          <a:xfrm>
            <a:off x="320040" y="3154680"/>
            <a:ext cx="502920" cy="749808"/>
          </a:xfrm>
          <a:prstGeom prst="rect">
            <a:avLst/>
          </a:prstGeom>
          <a:solidFill>
            <a:srgbClr val="0F7B6C"/>
          </a:solidFill>
          <a:ln w="12700">
            <a:solidFill>
              <a:srgbClr val="0F7B6C"/>
            </a:solidFill>
            <a:prstDash val="solid"/>
          </a:ln>
        </p:spPr>
        <p:txBody>
          <a:bodyPr/>
          <a:lstStyle/>
          <a:p>
            <a:endParaRPr lang="es-AR"/>
          </a:p>
        </p:txBody>
      </p:sp>
      <p:sp>
        <p:nvSpPr>
          <p:cNvPr id="14" name="Text 12"/>
          <p:cNvSpPr/>
          <p:nvPr/>
        </p:nvSpPr>
        <p:spPr>
          <a:xfrm>
            <a:off x="329184" y="3154680"/>
            <a:ext cx="484632" cy="74980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5" name="Text 13"/>
          <p:cNvSpPr/>
          <p:nvPr/>
        </p:nvSpPr>
        <p:spPr>
          <a:xfrm>
            <a:off x="960120" y="3182112"/>
            <a:ext cx="3200400" cy="320040"/>
          </a:xfrm>
          <a:prstGeom prst="rect">
            <a:avLst/>
          </a:prstGeom>
          <a:noFill/>
          <a:ln/>
        </p:spPr>
        <p:txBody>
          <a:bodyPr wrap="square" lIns="0" tIns="0" rIns="0" bIns="0" rtlCol="0" anchor="ctr"/>
          <a:lstStyle/>
          <a:p>
            <a:pPr marL="0" indent="0">
              <a:buNone/>
            </a:pPr>
            <a:r>
              <a:rPr lang="en-US" sz="1200" b="1" dirty="0">
                <a:solidFill>
                  <a:srgbClr val="FFFFFF"/>
                </a:solidFill>
              </a:rPr>
              <a:t>¿Qué implica para el jugador?</a:t>
            </a:r>
            <a:endParaRPr lang="en-US" sz="1200" dirty="0"/>
          </a:p>
        </p:txBody>
      </p:sp>
      <p:sp>
        <p:nvSpPr>
          <p:cNvPr id="16" name="Text 14"/>
          <p:cNvSpPr/>
          <p:nvPr/>
        </p:nvSpPr>
        <p:spPr>
          <a:xfrm>
            <a:off x="960120" y="3502152"/>
            <a:ext cx="7589520" cy="320040"/>
          </a:xfrm>
          <a:prstGeom prst="rect">
            <a:avLst/>
          </a:prstGeom>
          <a:noFill/>
          <a:ln/>
        </p:spPr>
        <p:txBody>
          <a:bodyPr wrap="square" lIns="0" tIns="0" rIns="0" bIns="0" rtlCol="0" anchor="ctr"/>
          <a:lstStyle/>
          <a:p>
            <a:pPr marL="0" indent="0">
              <a:buNone/>
            </a:pPr>
            <a:r>
              <a:rPr lang="en-US" sz="1100" dirty="0">
                <a:solidFill>
                  <a:srgbClr val="B8D0E4"/>
                </a:solidFill>
              </a:rPr>
              <a:t>Debe elegir una ACCIÓN (no una estrategia condicionada) sin saber con certeza en qué posición del árbol está. La misma acción aplica a todos los nodos del conjunto.</a:t>
            </a:r>
            <a:endParaRPr lang="en-US" sz="1100" dirty="0"/>
          </a:p>
        </p:txBody>
      </p:sp>
      <p:sp>
        <p:nvSpPr>
          <p:cNvPr id="17" name="Shape 15"/>
          <p:cNvSpPr/>
          <p:nvPr/>
        </p:nvSpPr>
        <p:spPr>
          <a:xfrm>
            <a:off x="320040" y="4023360"/>
            <a:ext cx="8503920" cy="749808"/>
          </a:xfrm>
          <a:prstGeom prst="rect">
            <a:avLst/>
          </a:prstGeom>
          <a:solidFill>
            <a:srgbClr val="132235"/>
          </a:solidFill>
          <a:ln w="12700">
            <a:solidFill>
              <a:srgbClr val="14A896"/>
            </a:solidFill>
            <a:prstDash val="solid"/>
          </a:ln>
        </p:spPr>
        <p:txBody>
          <a:bodyPr/>
          <a:lstStyle/>
          <a:p>
            <a:endParaRPr lang="es-AR"/>
          </a:p>
        </p:txBody>
      </p:sp>
      <p:sp>
        <p:nvSpPr>
          <p:cNvPr id="18" name="Shape 16"/>
          <p:cNvSpPr/>
          <p:nvPr/>
        </p:nvSpPr>
        <p:spPr>
          <a:xfrm>
            <a:off x="320040" y="4023360"/>
            <a:ext cx="502920" cy="749808"/>
          </a:xfrm>
          <a:prstGeom prst="rect">
            <a:avLst/>
          </a:prstGeom>
          <a:solidFill>
            <a:srgbClr val="0F7B6C"/>
          </a:solidFill>
          <a:ln w="12700">
            <a:solidFill>
              <a:srgbClr val="0F7B6C"/>
            </a:solidFill>
            <a:prstDash val="solid"/>
          </a:ln>
        </p:spPr>
        <p:txBody>
          <a:bodyPr/>
          <a:lstStyle/>
          <a:p>
            <a:endParaRPr lang="es-AR"/>
          </a:p>
        </p:txBody>
      </p:sp>
      <p:sp>
        <p:nvSpPr>
          <p:cNvPr id="19" name="Text 17"/>
          <p:cNvSpPr/>
          <p:nvPr/>
        </p:nvSpPr>
        <p:spPr>
          <a:xfrm>
            <a:off x="329184" y="4023360"/>
            <a:ext cx="484632" cy="74980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0" name="Text 18"/>
          <p:cNvSpPr/>
          <p:nvPr/>
        </p:nvSpPr>
        <p:spPr>
          <a:xfrm>
            <a:off x="960120" y="4050792"/>
            <a:ext cx="3200400" cy="320040"/>
          </a:xfrm>
          <a:prstGeom prst="rect">
            <a:avLst/>
          </a:prstGeom>
          <a:noFill/>
          <a:ln/>
        </p:spPr>
        <p:txBody>
          <a:bodyPr wrap="square" lIns="0" tIns="0" rIns="0" bIns="0" rtlCol="0" anchor="ctr"/>
          <a:lstStyle/>
          <a:p>
            <a:pPr marL="0" indent="0">
              <a:buNone/>
            </a:pPr>
            <a:r>
              <a:rPr lang="en-US" sz="1200" b="1" dirty="0">
                <a:solidFill>
                  <a:srgbClr val="FFFFFF"/>
                </a:solidFill>
              </a:rPr>
              <a:t>Consecuencia sobre estrategias</a:t>
            </a:r>
            <a:endParaRPr lang="en-US" sz="1200" dirty="0"/>
          </a:p>
        </p:txBody>
      </p:sp>
      <p:sp>
        <p:nvSpPr>
          <p:cNvPr id="21" name="Text 19"/>
          <p:cNvSpPr/>
          <p:nvPr/>
        </p:nvSpPr>
        <p:spPr>
          <a:xfrm>
            <a:off x="960120" y="4370832"/>
            <a:ext cx="7589520" cy="320040"/>
          </a:xfrm>
          <a:prstGeom prst="rect">
            <a:avLst/>
          </a:prstGeom>
          <a:noFill/>
          <a:ln/>
        </p:spPr>
        <p:txBody>
          <a:bodyPr wrap="square" lIns="0" tIns="0" rIns="0" bIns="0" rtlCol="0" anchor="ctr"/>
          <a:lstStyle/>
          <a:p>
            <a:pPr marL="0" indent="0">
              <a:buNone/>
            </a:pPr>
            <a:r>
              <a:rPr lang="en-US" sz="1100" dirty="0">
                <a:solidFill>
                  <a:srgbClr val="B8D0E4"/>
                </a:solidFill>
              </a:rPr>
              <a:t>La estrategia del jugador asigna una acción a cada conjunto de información, no a cada nodo individual.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Información Perfecta vs. Imperfecta</a:t>
            </a:r>
            <a:endParaRPr lang="en-US" sz="2200" dirty="0"/>
          </a:p>
        </p:txBody>
      </p:sp>
      <p:sp>
        <p:nvSpPr>
          <p:cNvPr id="4" name="Shape 2"/>
          <p:cNvSpPr/>
          <p:nvPr/>
        </p:nvSpPr>
        <p:spPr>
          <a:xfrm>
            <a:off x="320040" y="960120"/>
            <a:ext cx="4069080" cy="4023360"/>
          </a:xfrm>
          <a:prstGeom prst="rect">
            <a:avLst/>
          </a:prstGeom>
          <a:solidFill>
            <a:srgbClr val="D5F0E8"/>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5" name="Text 3"/>
          <p:cNvSpPr/>
          <p:nvPr/>
        </p:nvSpPr>
        <p:spPr>
          <a:xfrm>
            <a:off x="502920" y="1051560"/>
            <a:ext cx="3703320" cy="411480"/>
          </a:xfrm>
          <a:prstGeom prst="rect">
            <a:avLst/>
          </a:prstGeom>
          <a:noFill/>
          <a:ln/>
        </p:spPr>
        <p:txBody>
          <a:bodyPr wrap="square" lIns="0" tIns="0" rIns="0" bIns="0" rtlCol="0" anchor="ctr"/>
          <a:lstStyle/>
          <a:p>
            <a:pPr marL="0" indent="0">
              <a:buNone/>
            </a:pPr>
            <a:r>
              <a:rPr lang="en-US" sz="1250" b="1" dirty="0">
                <a:solidFill>
                  <a:srgbClr val="1A2744"/>
                </a:solidFill>
              </a:rPr>
              <a:t>✔  INFORMACIÓN PERFECTA</a:t>
            </a:r>
            <a:endParaRPr lang="en-US" sz="1250" dirty="0"/>
          </a:p>
        </p:txBody>
      </p:sp>
      <p:sp>
        <p:nvSpPr>
          <p:cNvPr id="6" name="Text 4"/>
          <p:cNvSpPr/>
          <p:nvPr/>
        </p:nvSpPr>
        <p:spPr>
          <a:xfrm>
            <a:off x="502920" y="1554480"/>
            <a:ext cx="3703320" cy="3200400"/>
          </a:xfrm>
          <a:prstGeom prst="rect">
            <a:avLst/>
          </a:prstGeom>
          <a:noFill/>
          <a:ln/>
        </p:spPr>
        <p:txBody>
          <a:bodyPr wrap="square" lIns="0" tIns="0" rIns="0" bIns="0" rtlCol="0" anchor="ctr"/>
          <a:lstStyle/>
          <a:p>
            <a:pPr marL="0" indent="0">
              <a:buNone/>
            </a:pPr>
            <a:r>
              <a:rPr lang="en-US" sz="1250" dirty="0">
                <a:solidFill>
                  <a:srgbClr val="102030"/>
                </a:solidFill>
              </a:rPr>
              <a:t>1. Todos los conjuntos de información son unitarios.</a:t>
            </a:r>
            <a:endParaRPr lang="en-US" sz="1250" dirty="0"/>
          </a:p>
          <a:p>
            <a:pPr marL="0" indent="0">
              <a:buNone/>
            </a:pPr>
            <a:r>
              <a:rPr lang="en-US" sz="1250" dirty="0">
                <a:solidFill>
                  <a:srgbClr val="102030"/>
                </a:solidFill>
              </a:rPr>
              <a:t>2. Cada jugador, cuando decide, conoce TODAS las acciones previas.</a:t>
            </a:r>
            <a:endParaRPr lang="en-US" sz="1250" dirty="0"/>
          </a:p>
          <a:p>
            <a:pPr marL="0" indent="0">
              <a:buNone/>
            </a:pPr>
            <a:r>
              <a:rPr lang="en-US" sz="1250" dirty="0">
                <a:solidFill>
                  <a:srgbClr val="102030"/>
                </a:solidFill>
              </a:rPr>
              <a:t>3. No hay ambigüedad en ningún punto del juego.</a:t>
            </a:r>
            <a:endParaRPr lang="en-US" sz="1250" dirty="0"/>
          </a:p>
          <a:p>
            <a:pPr marL="0" indent="0">
              <a:buNone/>
            </a:pPr>
            <a:r>
              <a:rPr lang="en-US" sz="1250" dirty="0">
                <a:solidFill>
                  <a:srgbClr val="102030"/>
                </a:solidFill>
              </a:rPr>
              <a:t>4. Ejemplo clásico: AJEDREZ (cada jugador ve todo el tablero).</a:t>
            </a:r>
            <a:endParaRPr lang="en-US" sz="1250" dirty="0"/>
          </a:p>
          <a:p>
            <a:pPr marL="0" indent="0">
              <a:buNone/>
            </a:pPr>
            <a:r>
              <a:rPr lang="en-US" sz="1250" dirty="0">
                <a:solidFill>
                  <a:srgbClr val="102030"/>
                </a:solidFill>
              </a:rPr>
              <a:t>5. Otro ejemplo: Juego de ultimátum simple.</a:t>
            </a:r>
            <a:endParaRPr lang="en-US" sz="1250" dirty="0"/>
          </a:p>
        </p:txBody>
      </p:sp>
      <p:sp>
        <p:nvSpPr>
          <p:cNvPr id="7" name="Shape 5"/>
          <p:cNvSpPr/>
          <p:nvPr/>
        </p:nvSpPr>
        <p:spPr>
          <a:xfrm>
            <a:off x="4800600" y="960120"/>
            <a:ext cx="4069080" cy="4023360"/>
          </a:xfrm>
          <a:prstGeom prst="rect">
            <a:avLst/>
          </a:prstGeom>
          <a:solidFill>
            <a:srgbClr val="F7E0DD"/>
          </a:solidFill>
          <a:ln w="12700">
            <a:solidFill>
              <a:srgbClr val="C0392B"/>
            </a:solidFill>
            <a:prstDash val="solid"/>
          </a:ln>
          <a:effectLst>
            <a:outerShdw blurRad="101600" dist="38100" dir="8100000" algn="bl" rotWithShape="0">
              <a:srgbClr val="000000">
                <a:alpha val="13000"/>
              </a:srgbClr>
            </a:outerShdw>
          </a:effectLst>
        </p:spPr>
        <p:txBody>
          <a:bodyPr/>
          <a:lstStyle/>
          <a:p>
            <a:endParaRPr lang="es-AR"/>
          </a:p>
        </p:txBody>
      </p:sp>
      <p:sp>
        <p:nvSpPr>
          <p:cNvPr id="8" name="Text 6"/>
          <p:cNvSpPr/>
          <p:nvPr/>
        </p:nvSpPr>
        <p:spPr>
          <a:xfrm>
            <a:off x="4983480" y="1051560"/>
            <a:ext cx="3703320" cy="411480"/>
          </a:xfrm>
          <a:prstGeom prst="rect">
            <a:avLst/>
          </a:prstGeom>
          <a:noFill/>
          <a:ln/>
        </p:spPr>
        <p:txBody>
          <a:bodyPr wrap="square" lIns="0" tIns="0" rIns="0" bIns="0" rtlCol="0" anchor="ctr"/>
          <a:lstStyle/>
          <a:p>
            <a:pPr marL="0" indent="0">
              <a:buNone/>
            </a:pPr>
            <a:r>
              <a:rPr lang="en-US" sz="1250" b="1" dirty="0">
                <a:solidFill>
                  <a:srgbClr val="1A2744"/>
                </a:solidFill>
              </a:rPr>
              <a:t>✖  INFORMACIÓN IMPERFECTA</a:t>
            </a:r>
            <a:endParaRPr lang="en-US" sz="1250" dirty="0"/>
          </a:p>
        </p:txBody>
      </p:sp>
      <p:sp>
        <p:nvSpPr>
          <p:cNvPr id="9" name="Text 7"/>
          <p:cNvSpPr/>
          <p:nvPr/>
        </p:nvSpPr>
        <p:spPr>
          <a:xfrm>
            <a:off x="4983480" y="1554480"/>
            <a:ext cx="3703320" cy="3200400"/>
          </a:xfrm>
          <a:prstGeom prst="rect">
            <a:avLst/>
          </a:prstGeom>
          <a:noFill/>
          <a:ln/>
        </p:spPr>
        <p:txBody>
          <a:bodyPr wrap="square" lIns="0" tIns="0" rIns="0" bIns="0" rtlCol="0" anchor="ctr"/>
          <a:lstStyle/>
          <a:p>
            <a:pPr marL="0" indent="0">
              <a:buNone/>
            </a:pPr>
            <a:r>
              <a:rPr lang="en-US" sz="1250" dirty="0">
                <a:solidFill>
                  <a:srgbClr val="102030"/>
                </a:solidFill>
              </a:rPr>
              <a:t>1. Al menos UN conjunto de información tiene más de un nodo.</a:t>
            </a:r>
            <a:endParaRPr lang="en-US" sz="1250" dirty="0"/>
          </a:p>
          <a:p>
            <a:pPr marL="0" indent="0">
              <a:buNone/>
            </a:pPr>
            <a:r>
              <a:rPr lang="en-US" sz="1250" dirty="0">
                <a:solidFill>
                  <a:srgbClr val="102030"/>
                </a:solidFill>
              </a:rPr>
              <a:t>2. Existe al menos un momento donde un jugador no sabe qué ocurrió antes.</a:t>
            </a:r>
            <a:endParaRPr lang="en-US" sz="1250" dirty="0"/>
          </a:p>
          <a:p>
            <a:pPr marL="0" indent="0">
              <a:buNone/>
            </a:pPr>
            <a:r>
              <a:rPr lang="en-US" sz="1250" dirty="0">
                <a:solidFill>
                  <a:srgbClr val="102030"/>
                </a:solidFill>
              </a:rPr>
              <a:t>3. El jugador enfrenta incertidumbre sobre el historial del juego.</a:t>
            </a:r>
            <a:endParaRPr lang="en-US" sz="1250" dirty="0"/>
          </a:p>
          <a:p>
            <a:pPr marL="0" indent="0">
              <a:buNone/>
            </a:pPr>
            <a:r>
              <a:rPr lang="en-US" sz="1250" dirty="0">
                <a:solidFill>
                  <a:srgbClr val="102030"/>
                </a:solidFill>
              </a:rPr>
              <a:t>4. Ejemplo: Juego de cartas (no ves las cartas del rival).</a:t>
            </a:r>
            <a:endParaRPr lang="en-US" sz="1250" dirty="0"/>
          </a:p>
          <a:p>
            <a:pPr marL="0" indent="0">
              <a:buNone/>
            </a:pPr>
            <a:r>
              <a:rPr lang="en-US" sz="1250" dirty="0">
                <a:solidFill>
                  <a:srgbClr val="102030"/>
                </a:solidFill>
              </a:rPr>
              <a:t>5. Ejemplo: Cournot simultáneo representado en forma extensiva.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Definición de Subjuego</a:t>
            </a:r>
            <a:endParaRPr lang="en-US" sz="2200" dirty="0"/>
          </a:p>
        </p:txBody>
      </p:sp>
      <p:sp>
        <p:nvSpPr>
          <p:cNvPr id="4" name="Shape 2"/>
          <p:cNvSpPr/>
          <p:nvPr/>
        </p:nvSpPr>
        <p:spPr>
          <a:xfrm>
            <a:off x="320040" y="960120"/>
            <a:ext cx="8503920" cy="1005840"/>
          </a:xfrm>
          <a:prstGeom prst="rect">
            <a:avLst/>
          </a:prstGeom>
          <a:solidFill>
            <a:srgbClr val="0F3A2A"/>
          </a:solidFill>
          <a:ln w="12700">
            <a:solidFill>
              <a:srgbClr val="F5A623"/>
            </a:solidFill>
            <a:prstDash val="solid"/>
          </a:ln>
        </p:spPr>
        <p:txBody>
          <a:bodyPr/>
          <a:lstStyle/>
          <a:p>
            <a:endParaRPr lang="es-AR"/>
          </a:p>
        </p:txBody>
      </p:sp>
      <p:sp>
        <p:nvSpPr>
          <p:cNvPr id="5" name="Text 3"/>
          <p:cNvSpPr/>
          <p:nvPr/>
        </p:nvSpPr>
        <p:spPr>
          <a:xfrm>
            <a:off x="502920" y="987552"/>
            <a:ext cx="8138160" cy="292608"/>
          </a:xfrm>
          <a:prstGeom prst="rect">
            <a:avLst/>
          </a:prstGeom>
          <a:noFill/>
          <a:ln/>
        </p:spPr>
        <p:txBody>
          <a:bodyPr wrap="square" lIns="0" tIns="0" rIns="0" bIns="0" rtlCol="0" anchor="ctr"/>
          <a:lstStyle/>
          <a:p>
            <a:pPr marL="0" indent="0">
              <a:buNone/>
            </a:pPr>
            <a:r>
              <a:rPr lang="en-US" sz="1000" b="1" kern="0" spc="300" dirty="0">
                <a:solidFill>
                  <a:srgbClr val="F5A623"/>
                </a:solidFill>
              </a:rPr>
              <a:t>DEFINICIÓN FORMAL</a:t>
            </a:r>
            <a:endParaRPr lang="en-US" sz="1000" dirty="0"/>
          </a:p>
        </p:txBody>
      </p:sp>
      <p:sp>
        <p:nvSpPr>
          <p:cNvPr id="6" name="Text 4"/>
          <p:cNvSpPr/>
          <p:nvPr/>
        </p:nvSpPr>
        <p:spPr>
          <a:xfrm>
            <a:off x="502920" y="1261872"/>
            <a:ext cx="8138160" cy="594360"/>
          </a:xfrm>
          <a:prstGeom prst="rect">
            <a:avLst/>
          </a:prstGeom>
          <a:noFill/>
          <a:ln/>
        </p:spPr>
        <p:txBody>
          <a:bodyPr wrap="square" lIns="0" tIns="0" rIns="0" bIns="0" rtlCol="0" anchor="ctr"/>
          <a:lstStyle/>
          <a:p>
            <a:pPr marL="0" indent="0">
              <a:buNone/>
            </a:pPr>
            <a:r>
              <a:rPr lang="en-US" sz="1350" dirty="0">
                <a:solidFill>
                  <a:srgbClr val="FFFFFF"/>
                </a:solidFill>
              </a:rPr>
              <a:t>Un subjuego es una parte del árbol que empieza en un nodo unitario, incluye todos sus nodos sucesores, y no corta ningún conjunto de información.</a:t>
            </a:r>
            <a:endParaRPr lang="en-US" sz="1350" dirty="0"/>
          </a:p>
        </p:txBody>
      </p:sp>
      <p:sp>
        <p:nvSpPr>
          <p:cNvPr id="7" name="Shape 5"/>
          <p:cNvSpPr/>
          <p:nvPr/>
        </p:nvSpPr>
        <p:spPr>
          <a:xfrm>
            <a:off x="320040" y="2103120"/>
            <a:ext cx="8503920" cy="804672"/>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8" name="Text 6"/>
          <p:cNvSpPr/>
          <p:nvPr/>
        </p:nvSpPr>
        <p:spPr>
          <a:xfrm>
            <a:off x="502920" y="2148840"/>
            <a:ext cx="2011680" cy="292608"/>
          </a:xfrm>
          <a:prstGeom prst="rect">
            <a:avLst/>
          </a:prstGeom>
          <a:noFill/>
          <a:ln/>
        </p:spPr>
        <p:txBody>
          <a:bodyPr wrap="square" lIns="0" tIns="0" rIns="0" bIns="0" rtlCol="0" anchor="ctr"/>
          <a:lstStyle/>
          <a:p>
            <a:pPr marL="0" indent="0">
              <a:buNone/>
            </a:pPr>
            <a:r>
              <a:rPr lang="en-US" sz="1000" b="1" kern="0" spc="200" dirty="0">
                <a:solidFill>
                  <a:srgbClr val="F5A623"/>
                </a:solidFill>
              </a:rPr>
              <a:t>CONDICIÓN 1</a:t>
            </a:r>
            <a:endParaRPr lang="en-US" sz="1000" dirty="0"/>
          </a:p>
        </p:txBody>
      </p:sp>
      <p:sp>
        <p:nvSpPr>
          <p:cNvPr id="9" name="Text 7"/>
          <p:cNvSpPr/>
          <p:nvPr/>
        </p:nvSpPr>
        <p:spPr>
          <a:xfrm>
            <a:off x="2514600" y="2130552"/>
            <a:ext cx="6126480" cy="320040"/>
          </a:xfrm>
          <a:prstGeom prst="rect">
            <a:avLst/>
          </a:prstGeom>
          <a:noFill/>
          <a:ln/>
        </p:spPr>
        <p:txBody>
          <a:bodyPr wrap="square" lIns="0" tIns="0" rIns="0" bIns="0" rtlCol="0" anchor="ctr"/>
          <a:lstStyle/>
          <a:p>
            <a:pPr marL="0" indent="0">
              <a:buNone/>
            </a:pPr>
            <a:r>
              <a:rPr lang="en-US" sz="1300" b="1" dirty="0">
                <a:solidFill>
                  <a:srgbClr val="FFFFFF"/>
                </a:solidFill>
              </a:rPr>
              <a:t>Inicia en nodo unitario</a:t>
            </a:r>
            <a:endParaRPr lang="en-US" sz="1300" dirty="0"/>
          </a:p>
        </p:txBody>
      </p:sp>
      <p:sp>
        <p:nvSpPr>
          <p:cNvPr id="10" name="Text 8"/>
          <p:cNvSpPr/>
          <p:nvPr/>
        </p:nvSpPr>
        <p:spPr>
          <a:xfrm>
            <a:off x="502920" y="2450592"/>
            <a:ext cx="8183880" cy="384048"/>
          </a:xfrm>
          <a:prstGeom prst="rect">
            <a:avLst/>
          </a:prstGeom>
          <a:noFill/>
          <a:ln/>
        </p:spPr>
        <p:txBody>
          <a:bodyPr wrap="square" lIns="0" tIns="0" rIns="0" bIns="0" rtlCol="0" anchor="ctr"/>
          <a:lstStyle/>
          <a:p>
            <a:pPr marL="0" indent="0">
              <a:buNone/>
            </a:pPr>
            <a:r>
              <a:rPr lang="en-US" sz="1100" dirty="0">
                <a:solidFill>
                  <a:srgbClr val="B8D0E4"/>
                </a:solidFill>
              </a:rPr>
              <a:t>El punto de inicio del subjuego debe ser un conjunto de información de un solo nodo. El jugador SABE exactamente dónde está al comenzar el subjuego. Si no fuera unitario, no podría definirse bien el inicio.</a:t>
            </a:r>
            <a:endParaRPr lang="en-US" sz="1100" dirty="0"/>
          </a:p>
        </p:txBody>
      </p:sp>
      <p:sp>
        <p:nvSpPr>
          <p:cNvPr id="11" name="Shape 9"/>
          <p:cNvSpPr/>
          <p:nvPr/>
        </p:nvSpPr>
        <p:spPr>
          <a:xfrm>
            <a:off x="320040" y="3017520"/>
            <a:ext cx="8503920" cy="804672"/>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2" name="Text 10"/>
          <p:cNvSpPr/>
          <p:nvPr/>
        </p:nvSpPr>
        <p:spPr>
          <a:xfrm>
            <a:off x="502920" y="3063240"/>
            <a:ext cx="2011680" cy="292608"/>
          </a:xfrm>
          <a:prstGeom prst="rect">
            <a:avLst/>
          </a:prstGeom>
          <a:noFill/>
          <a:ln/>
        </p:spPr>
        <p:txBody>
          <a:bodyPr wrap="square" lIns="0" tIns="0" rIns="0" bIns="0" rtlCol="0" anchor="ctr"/>
          <a:lstStyle/>
          <a:p>
            <a:pPr marL="0" indent="0">
              <a:buNone/>
            </a:pPr>
            <a:r>
              <a:rPr lang="en-US" sz="1000" b="1" kern="0" spc="200" dirty="0">
                <a:solidFill>
                  <a:srgbClr val="F5A623"/>
                </a:solidFill>
              </a:rPr>
              <a:t>CONDICIÓN 2</a:t>
            </a:r>
            <a:endParaRPr lang="en-US" sz="1000" dirty="0"/>
          </a:p>
        </p:txBody>
      </p:sp>
      <p:sp>
        <p:nvSpPr>
          <p:cNvPr id="13" name="Text 11"/>
          <p:cNvSpPr/>
          <p:nvPr/>
        </p:nvSpPr>
        <p:spPr>
          <a:xfrm>
            <a:off x="2514600" y="3044952"/>
            <a:ext cx="6126480" cy="320040"/>
          </a:xfrm>
          <a:prstGeom prst="rect">
            <a:avLst/>
          </a:prstGeom>
          <a:noFill/>
          <a:ln/>
        </p:spPr>
        <p:txBody>
          <a:bodyPr wrap="square" lIns="0" tIns="0" rIns="0" bIns="0" rtlCol="0" anchor="ctr"/>
          <a:lstStyle/>
          <a:p>
            <a:pPr marL="0" indent="0">
              <a:buNone/>
            </a:pPr>
            <a:r>
              <a:rPr lang="en-US" sz="1300" b="1" dirty="0">
                <a:solidFill>
                  <a:srgbClr val="FFFFFF"/>
                </a:solidFill>
              </a:rPr>
              <a:t>Incluye todos los sucesores</a:t>
            </a:r>
            <a:endParaRPr lang="en-US" sz="1300" dirty="0"/>
          </a:p>
        </p:txBody>
      </p:sp>
      <p:sp>
        <p:nvSpPr>
          <p:cNvPr id="14" name="Text 12"/>
          <p:cNvSpPr/>
          <p:nvPr/>
        </p:nvSpPr>
        <p:spPr>
          <a:xfrm>
            <a:off x="502920" y="3364992"/>
            <a:ext cx="8183880" cy="384048"/>
          </a:xfrm>
          <a:prstGeom prst="rect">
            <a:avLst/>
          </a:prstGeom>
          <a:noFill/>
          <a:ln/>
        </p:spPr>
        <p:txBody>
          <a:bodyPr wrap="square" lIns="0" tIns="0" rIns="0" bIns="0" rtlCol="0" anchor="ctr"/>
          <a:lstStyle/>
          <a:p>
            <a:pPr marL="0" indent="0">
              <a:buNone/>
            </a:pPr>
            <a:r>
              <a:rPr lang="en-US" sz="1100" dirty="0">
                <a:solidFill>
                  <a:srgbClr val="B8D0E4"/>
                </a:solidFill>
              </a:rPr>
              <a:t>Desde ese nodo inicial, el subjuego debe contener TODOS los nodos que siguen en el árbol hasta los nodos terminales. No puede omitirse ningún nodo descendiente.</a:t>
            </a:r>
            <a:endParaRPr lang="en-US" sz="1100" dirty="0"/>
          </a:p>
        </p:txBody>
      </p:sp>
      <p:sp>
        <p:nvSpPr>
          <p:cNvPr id="15" name="Shape 13"/>
          <p:cNvSpPr/>
          <p:nvPr/>
        </p:nvSpPr>
        <p:spPr>
          <a:xfrm>
            <a:off x="320040" y="3931920"/>
            <a:ext cx="8503920" cy="804672"/>
          </a:xfrm>
          <a:prstGeom prst="rect">
            <a:avLst/>
          </a:prstGeom>
          <a:solidFill>
            <a:srgbClr val="162840"/>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6" name="Text 14"/>
          <p:cNvSpPr/>
          <p:nvPr/>
        </p:nvSpPr>
        <p:spPr>
          <a:xfrm>
            <a:off x="502920" y="3977640"/>
            <a:ext cx="2011680" cy="292608"/>
          </a:xfrm>
          <a:prstGeom prst="rect">
            <a:avLst/>
          </a:prstGeom>
          <a:noFill/>
          <a:ln/>
        </p:spPr>
        <p:txBody>
          <a:bodyPr wrap="square" lIns="0" tIns="0" rIns="0" bIns="0" rtlCol="0" anchor="ctr"/>
          <a:lstStyle/>
          <a:p>
            <a:pPr marL="0" indent="0">
              <a:buNone/>
            </a:pPr>
            <a:r>
              <a:rPr lang="en-US" sz="1000" b="1" kern="0" spc="200" dirty="0">
                <a:solidFill>
                  <a:srgbClr val="F5A623"/>
                </a:solidFill>
              </a:rPr>
              <a:t>CONDICIÓN 3</a:t>
            </a:r>
            <a:endParaRPr lang="en-US" sz="1000" dirty="0"/>
          </a:p>
        </p:txBody>
      </p:sp>
      <p:sp>
        <p:nvSpPr>
          <p:cNvPr id="17" name="Text 15"/>
          <p:cNvSpPr/>
          <p:nvPr/>
        </p:nvSpPr>
        <p:spPr>
          <a:xfrm>
            <a:off x="2514600" y="3959352"/>
            <a:ext cx="6126480" cy="320040"/>
          </a:xfrm>
          <a:prstGeom prst="rect">
            <a:avLst/>
          </a:prstGeom>
          <a:noFill/>
          <a:ln/>
        </p:spPr>
        <p:txBody>
          <a:bodyPr wrap="square" lIns="0" tIns="0" rIns="0" bIns="0" rtlCol="0" anchor="ctr"/>
          <a:lstStyle/>
          <a:p>
            <a:pPr marL="0" indent="0">
              <a:buNone/>
            </a:pPr>
            <a:r>
              <a:rPr lang="en-US" sz="1300" b="1" dirty="0">
                <a:solidFill>
                  <a:srgbClr val="FFFFFF"/>
                </a:solidFill>
              </a:rPr>
              <a:t>No corta conjuntos de información</a:t>
            </a:r>
            <a:endParaRPr lang="en-US" sz="1300" dirty="0"/>
          </a:p>
        </p:txBody>
      </p:sp>
      <p:sp>
        <p:nvSpPr>
          <p:cNvPr id="18" name="Text 16"/>
          <p:cNvSpPr/>
          <p:nvPr/>
        </p:nvSpPr>
        <p:spPr>
          <a:xfrm>
            <a:off x="502920" y="4279392"/>
            <a:ext cx="8183880" cy="384048"/>
          </a:xfrm>
          <a:prstGeom prst="rect">
            <a:avLst/>
          </a:prstGeom>
          <a:noFill/>
          <a:ln/>
        </p:spPr>
        <p:txBody>
          <a:bodyPr wrap="square" lIns="0" tIns="0" rIns="0" bIns="0" rtlCol="0" anchor="ctr"/>
          <a:lstStyle/>
          <a:p>
            <a:pPr marL="0" indent="0">
              <a:buNone/>
            </a:pPr>
            <a:r>
              <a:rPr lang="en-US" sz="1100" dirty="0">
                <a:solidFill>
                  <a:srgbClr val="B8D0E4"/>
                </a:solidFill>
              </a:rPr>
              <a:t>Si un nodo del árbol pertenece a un conjunto de información (h), entonces TODOS los nodos de ese conjunto deben estar dentro del subjuego, o todos fuera. Nunca parcialmente. Esto garantiza coherencia informacional.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9D2929A-9C25-1510-56CB-2CE5E0FD2172}"/>
              </a:ext>
            </a:extLst>
          </p:cNvPr>
          <p:cNvPicPr>
            <a:picLocks noChangeAspect="1"/>
          </p:cNvPicPr>
          <p:nvPr/>
        </p:nvPicPr>
        <p:blipFill>
          <a:blip r:embed="rId2"/>
          <a:stretch>
            <a:fillRect/>
          </a:stretch>
        </p:blipFill>
        <p:spPr>
          <a:xfrm>
            <a:off x="780257" y="225852"/>
            <a:ext cx="7327423" cy="4833827"/>
          </a:xfrm>
          <a:prstGeom prst="rect">
            <a:avLst/>
          </a:prstGeom>
        </p:spPr>
      </p:pic>
    </p:spTree>
    <p:extLst>
      <p:ext uri="{BB962C8B-B14F-4D97-AF65-F5344CB8AC3E}">
        <p14:creationId xmlns:p14="http://schemas.microsoft.com/office/powerpoint/2010/main" val="3941016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1463040"/>
            <a:ext cx="164592" cy="2194560"/>
          </a:xfrm>
          <a:prstGeom prst="rect">
            <a:avLst/>
          </a:prstGeom>
          <a:solidFill>
            <a:srgbClr val="F5A623"/>
          </a:solidFill>
          <a:ln w="12700">
            <a:solidFill>
              <a:srgbClr val="F5A623"/>
            </a:solidFill>
            <a:prstDash val="solid"/>
          </a:ln>
        </p:spPr>
        <p:txBody>
          <a:bodyPr/>
          <a:lstStyle/>
          <a:p>
            <a:endParaRPr lang="es-AR"/>
          </a:p>
        </p:txBody>
      </p:sp>
      <p:sp>
        <p:nvSpPr>
          <p:cNvPr id="3" name="Text 1"/>
          <p:cNvSpPr/>
          <p:nvPr/>
        </p:nvSpPr>
        <p:spPr>
          <a:xfrm>
            <a:off x="411480" y="1554480"/>
            <a:ext cx="8229600" cy="457200"/>
          </a:xfrm>
          <a:prstGeom prst="rect">
            <a:avLst/>
          </a:prstGeom>
          <a:noFill/>
          <a:ln/>
        </p:spPr>
        <p:txBody>
          <a:bodyPr wrap="square" lIns="0" tIns="0" rIns="0" bIns="0" rtlCol="0" anchor="ctr"/>
          <a:lstStyle/>
          <a:p>
            <a:pPr marL="0" indent="0">
              <a:buNone/>
            </a:pPr>
            <a:r>
              <a:rPr lang="en-US" sz="1200" b="1" kern="0" spc="400" dirty="0">
                <a:solidFill>
                  <a:srgbClr val="F5A623"/>
                </a:solidFill>
              </a:rPr>
              <a:t>SECCIÓN 2</a:t>
            </a:r>
            <a:endParaRPr lang="en-US" sz="1200" dirty="0"/>
          </a:p>
        </p:txBody>
      </p:sp>
      <p:sp>
        <p:nvSpPr>
          <p:cNvPr id="4" name="Text 2"/>
          <p:cNvSpPr/>
          <p:nvPr/>
        </p:nvSpPr>
        <p:spPr>
          <a:xfrm>
            <a:off x="411480" y="1920240"/>
            <a:ext cx="8229600" cy="914400"/>
          </a:xfrm>
          <a:prstGeom prst="rect">
            <a:avLst/>
          </a:prstGeom>
          <a:noFill/>
          <a:ln/>
        </p:spPr>
        <p:txBody>
          <a:bodyPr wrap="square" lIns="0" tIns="0" rIns="0" bIns="0" rtlCol="0" anchor="ctr"/>
          <a:lstStyle/>
          <a:p>
            <a:pPr marL="0" indent="0">
              <a:buNone/>
            </a:pPr>
            <a:r>
              <a:rPr lang="en-US" sz="3400" b="1" dirty="0">
                <a:solidFill>
                  <a:srgbClr val="FFFFFF"/>
                </a:solidFill>
              </a:rPr>
              <a:t>ENPS y Backward Induction</a:t>
            </a:r>
            <a:endParaRPr lang="en-US" sz="3400" dirty="0"/>
          </a:p>
        </p:txBody>
      </p:sp>
      <p:sp>
        <p:nvSpPr>
          <p:cNvPr id="5" name="Text 3"/>
          <p:cNvSpPr/>
          <p:nvPr/>
        </p:nvSpPr>
        <p:spPr>
          <a:xfrm>
            <a:off x="411480" y="2880360"/>
            <a:ext cx="7772400" cy="731520"/>
          </a:xfrm>
          <a:prstGeom prst="rect">
            <a:avLst/>
          </a:prstGeom>
          <a:noFill/>
          <a:ln/>
        </p:spPr>
        <p:txBody>
          <a:bodyPr wrap="square" lIns="0" tIns="0" rIns="0" bIns="0" rtlCol="0" anchor="ctr"/>
          <a:lstStyle/>
          <a:p>
            <a:pPr marL="0" indent="0">
              <a:buNone/>
            </a:pPr>
            <a:r>
              <a:rPr lang="en-US" sz="1400" i="1" dirty="0">
                <a:solidFill>
                  <a:srgbClr val="A8C0D0"/>
                </a:solidFill>
              </a:rPr>
              <a:t>Equilibrio Perfecto en Subjuegos y el procedimiento de inducción hacia atrás</a:t>
            </a:r>
            <a:endParaRPr lang="en-US" sz="1400" dirty="0"/>
          </a:p>
        </p:txBody>
      </p:sp>
      <p:sp>
        <p:nvSpPr>
          <p:cNvPr id="6" name="Shape 4"/>
          <p:cNvSpPr/>
          <p:nvPr/>
        </p:nvSpPr>
        <p:spPr>
          <a:xfrm>
            <a:off x="0" y="4754880"/>
            <a:ext cx="9144000" cy="393192"/>
          </a:xfrm>
          <a:prstGeom prst="rect">
            <a:avLst/>
          </a:prstGeom>
          <a:solidFill>
            <a:srgbClr val="0F7B6C"/>
          </a:solidFill>
          <a:ln w="12700">
            <a:solidFill>
              <a:srgbClr val="0F7B6C"/>
            </a:solidFill>
            <a:prstDash val="solid"/>
          </a:ln>
        </p:spPr>
        <p:txBody>
          <a:bodyPr/>
          <a:lstStyle/>
          <a:p>
            <a:endParaRPr lang="es-AR"/>
          </a:p>
        </p:txBody>
      </p:sp>
      <p:sp>
        <p:nvSpPr>
          <p:cNvPr id="7" name="Text 5"/>
          <p:cNvSpPr/>
          <p:nvPr/>
        </p:nvSpPr>
        <p:spPr>
          <a:xfrm>
            <a:off x="365760" y="4754880"/>
            <a:ext cx="8229600" cy="393192"/>
          </a:xfrm>
          <a:prstGeom prst="rect">
            <a:avLst/>
          </a:prstGeom>
          <a:noFill/>
          <a:ln/>
        </p:spPr>
        <p:txBody>
          <a:bodyPr wrap="square" lIns="0" tIns="0" rIns="0" bIns="0" rtlCol="0" anchor="ctr"/>
          <a:lstStyle/>
          <a:p>
            <a:pPr marL="0" indent="0">
              <a:buNone/>
            </a:pPr>
            <a:r>
              <a:rPr lang="en-US" sz="1000" dirty="0">
                <a:solidFill>
                  <a:srgbClr val="FFFFFF"/>
                </a:solidFill>
              </a:rPr>
              <a:t>Teoría de Juegos  •  Juegos Dinámicos y Repetidos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Equilibrio Perfecto en Subjuegos (ENPS)</a:t>
            </a:r>
            <a:endParaRPr lang="en-US" sz="2200" dirty="0"/>
          </a:p>
        </p:txBody>
      </p:sp>
      <p:sp>
        <p:nvSpPr>
          <p:cNvPr id="4" name="Shape 2"/>
          <p:cNvSpPr/>
          <p:nvPr/>
        </p:nvSpPr>
        <p:spPr>
          <a:xfrm>
            <a:off x="320040" y="960120"/>
            <a:ext cx="8503920" cy="914400"/>
          </a:xfrm>
          <a:prstGeom prst="rect">
            <a:avLst/>
          </a:prstGeom>
          <a:solidFill>
            <a:srgbClr val="0F3A2A"/>
          </a:solidFill>
          <a:ln w="12700">
            <a:solidFill>
              <a:srgbClr val="F5A623"/>
            </a:solidFill>
            <a:prstDash val="solid"/>
          </a:ln>
        </p:spPr>
        <p:txBody>
          <a:bodyPr/>
          <a:lstStyle/>
          <a:p>
            <a:endParaRPr lang="es-AR"/>
          </a:p>
        </p:txBody>
      </p:sp>
      <p:sp>
        <p:nvSpPr>
          <p:cNvPr id="5" name="Text 3"/>
          <p:cNvSpPr/>
          <p:nvPr/>
        </p:nvSpPr>
        <p:spPr>
          <a:xfrm>
            <a:off x="502920" y="1005840"/>
            <a:ext cx="8138160" cy="749808"/>
          </a:xfrm>
          <a:prstGeom prst="rect">
            <a:avLst/>
          </a:prstGeom>
          <a:noFill/>
          <a:ln/>
        </p:spPr>
        <p:txBody>
          <a:bodyPr wrap="square" lIns="0" tIns="0" rIns="0" bIns="0" rtlCol="0" anchor="ctr"/>
          <a:lstStyle/>
          <a:p>
            <a:pPr marL="0" indent="0">
              <a:buNone/>
            </a:pPr>
            <a:r>
              <a:rPr lang="en-US" sz="1400" b="1" dirty="0">
                <a:solidFill>
                  <a:srgbClr val="FFFFFF"/>
                </a:solidFill>
              </a:rPr>
              <a:t>Un perfil de estrategias es un ENPS si induce un Equilibrio de Nash en CADA subjuego del juego.</a:t>
            </a:r>
            <a:endParaRPr lang="en-US" sz="1400" dirty="0"/>
          </a:p>
        </p:txBody>
      </p:sp>
      <p:sp>
        <p:nvSpPr>
          <p:cNvPr id="6" name="Shape 4"/>
          <p:cNvSpPr/>
          <p:nvPr/>
        </p:nvSpPr>
        <p:spPr>
          <a:xfrm>
            <a:off x="320040" y="2057400"/>
            <a:ext cx="4069080" cy="1463040"/>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2148840"/>
            <a:ext cx="3749040" cy="347472"/>
          </a:xfrm>
          <a:prstGeom prst="rect">
            <a:avLst/>
          </a:prstGeom>
          <a:noFill/>
          <a:ln/>
        </p:spPr>
        <p:txBody>
          <a:bodyPr wrap="square" lIns="0" tIns="0" rIns="0" bIns="0" rtlCol="0" anchor="ctr"/>
          <a:lstStyle/>
          <a:p>
            <a:pPr marL="0" indent="0">
              <a:buNone/>
            </a:pPr>
            <a:r>
              <a:rPr lang="en-US" sz="1300" b="1" dirty="0">
                <a:solidFill>
                  <a:srgbClr val="FFFFFF"/>
                </a:solidFill>
              </a:rPr>
              <a:t>¿Qué agrega al EN?</a:t>
            </a:r>
            <a:endParaRPr lang="en-US" sz="1300" dirty="0"/>
          </a:p>
        </p:txBody>
      </p:sp>
      <p:sp>
        <p:nvSpPr>
          <p:cNvPr id="8" name="Text 6"/>
          <p:cNvSpPr/>
          <p:nvPr/>
        </p:nvSpPr>
        <p:spPr>
          <a:xfrm>
            <a:off x="502920" y="2514600"/>
            <a:ext cx="3749040" cy="914400"/>
          </a:xfrm>
          <a:prstGeom prst="rect">
            <a:avLst/>
          </a:prstGeom>
          <a:noFill/>
          <a:ln/>
        </p:spPr>
        <p:txBody>
          <a:bodyPr wrap="square" lIns="0" tIns="0" rIns="0" bIns="0" rtlCol="0" anchor="ctr"/>
          <a:lstStyle/>
          <a:p>
            <a:pPr marL="0" indent="0">
              <a:buNone/>
            </a:pPr>
            <a:r>
              <a:rPr lang="en-US" sz="1150" dirty="0">
                <a:solidFill>
                  <a:srgbClr val="C8D8E8"/>
                </a:solidFill>
              </a:rPr>
              <a:t>Un Equilibrio de Nash solo exige que nadie quiera desviarse en el juego completo. El ENPS exige que nadie quiera desviarse en NINGUNA continuación posible del juego, incluso en partes del árbol fuera del camino de equilibrio.</a:t>
            </a:r>
            <a:endParaRPr lang="en-US" sz="1150" dirty="0"/>
          </a:p>
        </p:txBody>
      </p:sp>
      <p:sp>
        <p:nvSpPr>
          <p:cNvPr id="9" name="Shape 7"/>
          <p:cNvSpPr/>
          <p:nvPr/>
        </p:nvSpPr>
        <p:spPr>
          <a:xfrm>
            <a:off x="4800600" y="2057400"/>
            <a:ext cx="4069080" cy="1463040"/>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8"/>
          <p:cNvSpPr/>
          <p:nvPr/>
        </p:nvSpPr>
        <p:spPr>
          <a:xfrm>
            <a:off x="4983480" y="2148840"/>
            <a:ext cx="3749040" cy="347472"/>
          </a:xfrm>
          <a:prstGeom prst="rect">
            <a:avLst/>
          </a:prstGeom>
          <a:noFill/>
          <a:ln/>
        </p:spPr>
        <p:txBody>
          <a:bodyPr wrap="square" lIns="0" tIns="0" rIns="0" bIns="0" rtlCol="0" anchor="ctr"/>
          <a:lstStyle/>
          <a:p>
            <a:pPr marL="0" indent="0">
              <a:buNone/>
            </a:pPr>
            <a:r>
              <a:rPr lang="en-US" sz="1300" b="1" dirty="0">
                <a:solidFill>
                  <a:srgbClr val="FFFFFF"/>
                </a:solidFill>
              </a:rPr>
              <a:t>Racionalidad secuencial</a:t>
            </a:r>
            <a:endParaRPr lang="en-US" sz="1300" dirty="0"/>
          </a:p>
        </p:txBody>
      </p:sp>
      <p:sp>
        <p:nvSpPr>
          <p:cNvPr id="11" name="Text 9"/>
          <p:cNvSpPr/>
          <p:nvPr/>
        </p:nvSpPr>
        <p:spPr>
          <a:xfrm>
            <a:off x="4983480" y="2514600"/>
            <a:ext cx="3749040" cy="914400"/>
          </a:xfrm>
          <a:prstGeom prst="rect">
            <a:avLst/>
          </a:prstGeom>
          <a:noFill/>
          <a:ln/>
        </p:spPr>
        <p:txBody>
          <a:bodyPr wrap="square" lIns="0" tIns="0" rIns="0" bIns="0" rtlCol="0" anchor="ctr"/>
          <a:lstStyle/>
          <a:p>
            <a:pPr marL="0" indent="0">
              <a:buNone/>
            </a:pPr>
            <a:r>
              <a:rPr lang="en-US" sz="1150" dirty="0">
                <a:solidFill>
                  <a:srgbClr val="C8D8E8"/>
                </a:solidFill>
              </a:rPr>
              <a:t>Cada jugador debe tomar decisiones óptimas en cada punto donde le toca decidir. No basta con que 'en promedio' la estrategia sea buena. Debe ser óptima localmente en cada nodo alcanzado.</a:t>
            </a:r>
            <a:endParaRPr lang="en-US" sz="1150" dirty="0"/>
          </a:p>
        </p:txBody>
      </p:sp>
      <p:sp>
        <p:nvSpPr>
          <p:cNvPr id="12" name="Shape 10"/>
          <p:cNvSpPr/>
          <p:nvPr/>
        </p:nvSpPr>
        <p:spPr>
          <a:xfrm>
            <a:off x="320040" y="3749040"/>
            <a:ext cx="8503920" cy="1463040"/>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3" name="Text 11"/>
          <p:cNvSpPr/>
          <p:nvPr/>
        </p:nvSpPr>
        <p:spPr>
          <a:xfrm>
            <a:off x="502920" y="3840480"/>
            <a:ext cx="8183880" cy="347472"/>
          </a:xfrm>
          <a:prstGeom prst="rect">
            <a:avLst/>
          </a:prstGeom>
          <a:noFill/>
          <a:ln/>
        </p:spPr>
        <p:txBody>
          <a:bodyPr wrap="square" lIns="0" tIns="0" rIns="0" bIns="0" rtlCol="0" anchor="ctr"/>
          <a:lstStyle/>
          <a:p>
            <a:pPr marL="0" indent="0">
              <a:buNone/>
            </a:pPr>
            <a:r>
              <a:rPr lang="en-US" sz="1300" b="1" dirty="0">
                <a:solidFill>
                  <a:srgbClr val="FFFFFF"/>
                </a:solidFill>
              </a:rPr>
              <a:t>¿Por qué es una refinación del EN?</a:t>
            </a:r>
            <a:endParaRPr lang="en-US" sz="1300" dirty="0"/>
          </a:p>
        </p:txBody>
      </p:sp>
      <p:sp>
        <p:nvSpPr>
          <p:cNvPr id="14" name="Text 12"/>
          <p:cNvSpPr/>
          <p:nvPr/>
        </p:nvSpPr>
        <p:spPr>
          <a:xfrm>
            <a:off x="502920" y="4206240"/>
            <a:ext cx="8183880" cy="914400"/>
          </a:xfrm>
          <a:prstGeom prst="rect">
            <a:avLst/>
          </a:prstGeom>
          <a:noFill/>
          <a:ln/>
        </p:spPr>
        <p:txBody>
          <a:bodyPr wrap="square" lIns="0" tIns="0" rIns="0" bIns="0" rtlCol="0" anchor="ctr"/>
          <a:lstStyle/>
          <a:p>
            <a:pPr marL="0" indent="0">
              <a:buNone/>
            </a:pPr>
            <a:r>
              <a:rPr lang="en-US" sz="1150" dirty="0">
                <a:solidFill>
                  <a:srgbClr val="C8D8E8"/>
                </a:solidFill>
              </a:rPr>
              <a:t>ENPS ⊂ EN  →  Todo ENPS es un EN, pero no todo EN es ENPS. El ENPS elimina estrategias que dependen de amenazas NO CREÍBLES en subjuegos que nunca se alcanzan.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Backward Induction — Inducción Hacia Atrás</a:t>
            </a:r>
            <a:endParaRPr lang="en-US" sz="2200" dirty="0"/>
          </a:p>
        </p:txBody>
      </p:sp>
      <p:sp>
        <p:nvSpPr>
          <p:cNvPr id="4" name="Text 2"/>
          <p:cNvSpPr/>
          <p:nvPr/>
        </p:nvSpPr>
        <p:spPr>
          <a:xfrm>
            <a:off x="320040" y="749808"/>
            <a:ext cx="8503920" cy="274320"/>
          </a:xfrm>
          <a:prstGeom prst="rect">
            <a:avLst/>
          </a:prstGeom>
          <a:noFill/>
          <a:ln/>
        </p:spPr>
        <p:txBody>
          <a:bodyPr wrap="square" lIns="0" tIns="0" rIns="0" bIns="0" rtlCol="0" anchor="ctr"/>
          <a:lstStyle/>
          <a:p>
            <a:pPr marL="0" indent="0">
              <a:buNone/>
            </a:pPr>
            <a:r>
              <a:rPr lang="en-US" sz="1000" i="1" dirty="0">
                <a:solidFill>
                  <a:srgbClr val="6B7A8D"/>
                </a:solidFill>
              </a:rPr>
              <a:t>Procedimiento para encontrar el ENPS en juegos con información perfecta</a:t>
            </a:r>
            <a:endParaRPr lang="en-US" sz="1000" dirty="0"/>
          </a:p>
        </p:txBody>
      </p:sp>
      <p:sp>
        <p:nvSpPr>
          <p:cNvPr id="5" name="Shape 3"/>
          <p:cNvSpPr/>
          <p:nvPr/>
        </p:nvSpPr>
        <p:spPr>
          <a:xfrm>
            <a:off x="320040" y="960120"/>
            <a:ext cx="8503920" cy="658368"/>
          </a:xfrm>
          <a:prstGeom prst="rect">
            <a:avLst/>
          </a:prstGeom>
          <a:solidFill>
            <a:srgbClr val="1A2744"/>
          </a:solidFill>
          <a:ln w="12700">
            <a:solidFill>
              <a:srgbClr val="1A2744"/>
            </a:solidFill>
            <a:prstDash val="solid"/>
          </a:ln>
        </p:spPr>
        <p:txBody>
          <a:bodyPr/>
          <a:lstStyle/>
          <a:p>
            <a:endParaRPr lang="es-AR"/>
          </a:p>
        </p:txBody>
      </p:sp>
      <p:sp>
        <p:nvSpPr>
          <p:cNvPr id="6" name="Text 4"/>
          <p:cNvSpPr/>
          <p:nvPr/>
        </p:nvSpPr>
        <p:spPr>
          <a:xfrm>
            <a:off x="502920" y="1005840"/>
            <a:ext cx="8138160" cy="566928"/>
          </a:xfrm>
          <a:prstGeom prst="rect">
            <a:avLst/>
          </a:prstGeom>
          <a:noFill/>
          <a:ln/>
        </p:spPr>
        <p:txBody>
          <a:bodyPr wrap="square" lIns="0" tIns="0" rIns="0" bIns="0" rtlCol="0" anchor="ctr"/>
          <a:lstStyle/>
          <a:p>
            <a:pPr marL="0" indent="0">
              <a:buNone/>
            </a:pPr>
            <a:r>
              <a:rPr lang="en-US" sz="1250" i="1" dirty="0">
                <a:solidFill>
                  <a:srgbClr val="FFFFFF"/>
                </a:solidFill>
              </a:rPr>
              <a:t>IDEA CENTRAL: Empezar por el FINAL del árbol y subir hacia el inicio. En cada paso, cada jugador elige su mejor respuesta.</a:t>
            </a:r>
            <a:endParaRPr lang="en-US" sz="1250" dirty="0"/>
          </a:p>
        </p:txBody>
      </p:sp>
      <p:sp>
        <p:nvSpPr>
          <p:cNvPr id="7" name="Shape 5"/>
          <p:cNvSpPr/>
          <p:nvPr/>
        </p:nvSpPr>
        <p:spPr>
          <a:xfrm>
            <a:off x="320040" y="1737360"/>
            <a:ext cx="8503920" cy="685800"/>
          </a:xfrm>
          <a:prstGeom prst="rect">
            <a:avLst/>
          </a:prstGeom>
          <a:solidFill>
            <a:srgbClr val="EBF3F8"/>
          </a:solidFill>
          <a:ln w="12700">
            <a:solidFill>
              <a:srgbClr val="C0D8E8"/>
            </a:solidFill>
            <a:prstDash val="solid"/>
          </a:ln>
        </p:spPr>
        <p:txBody>
          <a:bodyPr/>
          <a:lstStyle/>
          <a:p>
            <a:endParaRPr lang="es-AR"/>
          </a:p>
        </p:txBody>
      </p:sp>
      <p:sp>
        <p:nvSpPr>
          <p:cNvPr id="8" name="Shape 6"/>
          <p:cNvSpPr/>
          <p:nvPr/>
        </p:nvSpPr>
        <p:spPr>
          <a:xfrm>
            <a:off x="320040" y="1737360"/>
            <a:ext cx="960120" cy="685800"/>
          </a:xfrm>
          <a:prstGeom prst="rect">
            <a:avLst/>
          </a:prstGeom>
          <a:solidFill>
            <a:srgbClr val="1A2744"/>
          </a:solidFill>
          <a:ln w="12700">
            <a:solidFill>
              <a:srgbClr val="1A2744"/>
            </a:solidFill>
            <a:prstDash val="solid"/>
          </a:ln>
        </p:spPr>
        <p:txBody>
          <a:bodyPr/>
          <a:lstStyle/>
          <a:p>
            <a:endParaRPr lang="es-AR"/>
          </a:p>
        </p:txBody>
      </p:sp>
      <p:sp>
        <p:nvSpPr>
          <p:cNvPr id="9" name="Text 7"/>
          <p:cNvSpPr/>
          <p:nvPr/>
        </p:nvSpPr>
        <p:spPr>
          <a:xfrm>
            <a:off x="329184" y="1737360"/>
            <a:ext cx="941832" cy="685800"/>
          </a:xfrm>
          <a:prstGeom prst="rect">
            <a:avLst/>
          </a:prstGeom>
          <a:noFill/>
          <a:ln/>
        </p:spPr>
        <p:txBody>
          <a:bodyPr wrap="square" lIns="0" tIns="0" rIns="0" bIns="0" rtlCol="0" anchor="ctr"/>
          <a:lstStyle/>
          <a:p>
            <a:pPr marL="0" indent="0" algn="ctr">
              <a:buNone/>
            </a:pPr>
            <a:r>
              <a:rPr lang="en-US" sz="950" b="1" kern="0" spc="100" dirty="0">
                <a:solidFill>
                  <a:srgbClr val="FFFFFF"/>
                </a:solidFill>
              </a:rPr>
              <a:t>PASO 1</a:t>
            </a:r>
            <a:endParaRPr lang="en-US" sz="950" dirty="0"/>
          </a:p>
        </p:txBody>
      </p:sp>
      <p:sp>
        <p:nvSpPr>
          <p:cNvPr id="10" name="Text 8"/>
          <p:cNvSpPr/>
          <p:nvPr/>
        </p:nvSpPr>
        <p:spPr>
          <a:xfrm>
            <a:off x="1417320" y="1792224"/>
            <a:ext cx="2743200" cy="274320"/>
          </a:xfrm>
          <a:prstGeom prst="rect">
            <a:avLst/>
          </a:prstGeom>
          <a:noFill/>
          <a:ln/>
        </p:spPr>
        <p:txBody>
          <a:bodyPr wrap="square" lIns="0" tIns="0" rIns="0" bIns="0" rtlCol="0" anchor="ctr"/>
          <a:lstStyle/>
          <a:p>
            <a:pPr marL="0" indent="0">
              <a:buNone/>
            </a:pPr>
            <a:r>
              <a:rPr lang="en-US" sz="1200" b="1" dirty="0">
                <a:solidFill>
                  <a:srgbClr val="1A2744"/>
                </a:solidFill>
              </a:rPr>
              <a:t>Resolver los subjuegos terminales</a:t>
            </a:r>
            <a:endParaRPr lang="en-US" sz="1200" dirty="0"/>
          </a:p>
        </p:txBody>
      </p:sp>
      <p:sp>
        <p:nvSpPr>
          <p:cNvPr id="11" name="Text 9"/>
          <p:cNvSpPr/>
          <p:nvPr/>
        </p:nvSpPr>
        <p:spPr>
          <a:xfrm>
            <a:off x="1417320" y="2075688"/>
            <a:ext cx="7178040" cy="292608"/>
          </a:xfrm>
          <a:prstGeom prst="rect">
            <a:avLst/>
          </a:prstGeom>
          <a:noFill/>
          <a:ln/>
        </p:spPr>
        <p:txBody>
          <a:bodyPr wrap="square" lIns="0" tIns="0" rIns="0" bIns="0" rtlCol="0" anchor="ctr"/>
          <a:lstStyle/>
          <a:p>
            <a:pPr marL="0" indent="0">
              <a:buNone/>
            </a:pPr>
            <a:r>
              <a:rPr lang="en-US" sz="1100" dirty="0">
                <a:solidFill>
                  <a:srgbClr val="102030"/>
                </a:solidFill>
              </a:rPr>
              <a:t>Identificar los nodos de decisión más cercanos a los nodos terminales. En cada uno, el jugador que decide elige la acción que maximiza su pago. Reemplazar ese subjuego por los pagos resultantes.</a:t>
            </a:r>
            <a:endParaRPr lang="en-US" sz="1100" dirty="0"/>
          </a:p>
        </p:txBody>
      </p:sp>
      <p:sp>
        <p:nvSpPr>
          <p:cNvPr id="12" name="Shape 10"/>
          <p:cNvSpPr/>
          <p:nvPr/>
        </p:nvSpPr>
        <p:spPr>
          <a:xfrm>
            <a:off x="320040" y="2532888"/>
            <a:ext cx="8503920" cy="685800"/>
          </a:xfrm>
          <a:prstGeom prst="rect">
            <a:avLst/>
          </a:prstGeom>
          <a:solidFill>
            <a:srgbClr val="DDEEF6"/>
          </a:solidFill>
          <a:ln w="12700">
            <a:solidFill>
              <a:srgbClr val="C0D8E8"/>
            </a:solidFill>
            <a:prstDash val="solid"/>
          </a:ln>
        </p:spPr>
        <p:txBody>
          <a:bodyPr/>
          <a:lstStyle/>
          <a:p>
            <a:endParaRPr lang="es-AR"/>
          </a:p>
        </p:txBody>
      </p:sp>
      <p:sp>
        <p:nvSpPr>
          <p:cNvPr id="13" name="Shape 11"/>
          <p:cNvSpPr/>
          <p:nvPr/>
        </p:nvSpPr>
        <p:spPr>
          <a:xfrm>
            <a:off x="320040" y="2532888"/>
            <a:ext cx="960120" cy="685800"/>
          </a:xfrm>
          <a:prstGeom prst="rect">
            <a:avLst/>
          </a:prstGeom>
          <a:solidFill>
            <a:srgbClr val="1A2744"/>
          </a:solidFill>
          <a:ln w="12700">
            <a:solidFill>
              <a:srgbClr val="1A2744"/>
            </a:solidFill>
            <a:prstDash val="solid"/>
          </a:ln>
        </p:spPr>
        <p:txBody>
          <a:bodyPr/>
          <a:lstStyle/>
          <a:p>
            <a:endParaRPr lang="es-AR"/>
          </a:p>
        </p:txBody>
      </p:sp>
      <p:sp>
        <p:nvSpPr>
          <p:cNvPr id="14" name="Text 12"/>
          <p:cNvSpPr/>
          <p:nvPr/>
        </p:nvSpPr>
        <p:spPr>
          <a:xfrm>
            <a:off x="329184" y="2532888"/>
            <a:ext cx="941832" cy="685800"/>
          </a:xfrm>
          <a:prstGeom prst="rect">
            <a:avLst/>
          </a:prstGeom>
          <a:noFill/>
          <a:ln/>
        </p:spPr>
        <p:txBody>
          <a:bodyPr wrap="square" lIns="0" tIns="0" rIns="0" bIns="0" rtlCol="0" anchor="ctr"/>
          <a:lstStyle/>
          <a:p>
            <a:pPr marL="0" indent="0" algn="ctr">
              <a:buNone/>
            </a:pPr>
            <a:r>
              <a:rPr lang="en-US" sz="950" b="1" kern="0" spc="100" dirty="0">
                <a:solidFill>
                  <a:srgbClr val="FFFFFF"/>
                </a:solidFill>
              </a:rPr>
              <a:t>PASO 2</a:t>
            </a:r>
            <a:endParaRPr lang="en-US" sz="950" dirty="0"/>
          </a:p>
        </p:txBody>
      </p:sp>
      <p:sp>
        <p:nvSpPr>
          <p:cNvPr id="15" name="Text 13"/>
          <p:cNvSpPr/>
          <p:nvPr/>
        </p:nvSpPr>
        <p:spPr>
          <a:xfrm>
            <a:off x="1417320" y="2587752"/>
            <a:ext cx="2743200" cy="274320"/>
          </a:xfrm>
          <a:prstGeom prst="rect">
            <a:avLst/>
          </a:prstGeom>
          <a:noFill/>
          <a:ln/>
        </p:spPr>
        <p:txBody>
          <a:bodyPr wrap="square" lIns="0" tIns="0" rIns="0" bIns="0" rtlCol="0" anchor="ctr"/>
          <a:lstStyle/>
          <a:p>
            <a:pPr marL="0" indent="0">
              <a:buNone/>
            </a:pPr>
            <a:r>
              <a:rPr lang="en-US" sz="1200" b="1" dirty="0">
                <a:solidFill>
                  <a:srgbClr val="1A2744"/>
                </a:solidFill>
              </a:rPr>
              <a:t>Subir un nivel y repetir</a:t>
            </a:r>
            <a:endParaRPr lang="en-US" sz="1200" dirty="0"/>
          </a:p>
        </p:txBody>
      </p:sp>
      <p:sp>
        <p:nvSpPr>
          <p:cNvPr id="16" name="Text 14"/>
          <p:cNvSpPr/>
          <p:nvPr/>
        </p:nvSpPr>
        <p:spPr>
          <a:xfrm>
            <a:off x="1417320" y="2871216"/>
            <a:ext cx="7178040" cy="292608"/>
          </a:xfrm>
          <a:prstGeom prst="rect">
            <a:avLst/>
          </a:prstGeom>
          <a:noFill/>
          <a:ln/>
        </p:spPr>
        <p:txBody>
          <a:bodyPr wrap="square" lIns="0" tIns="0" rIns="0" bIns="0" rtlCol="0" anchor="ctr"/>
          <a:lstStyle/>
          <a:p>
            <a:pPr marL="0" indent="0">
              <a:buNone/>
            </a:pPr>
            <a:r>
              <a:rPr lang="en-US" sz="1100" dirty="0">
                <a:solidFill>
                  <a:srgbClr val="102030"/>
                </a:solidFill>
              </a:rPr>
              <a:t>Con los subjuegos terminales resueltos (sustituidos por pagos), el árbol se simplifica. Ahora hay nuevos nodos que son los más cercanos al final. Resolver esos también.</a:t>
            </a:r>
            <a:endParaRPr lang="en-US" sz="1100" dirty="0"/>
          </a:p>
        </p:txBody>
      </p:sp>
      <p:sp>
        <p:nvSpPr>
          <p:cNvPr id="17" name="Shape 15"/>
          <p:cNvSpPr/>
          <p:nvPr/>
        </p:nvSpPr>
        <p:spPr>
          <a:xfrm>
            <a:off x="320040" y="3328416"/>
            <a:ext cx="8503920" cy="685800"/>
          </a:xfrm>
          <a:prstGeom prst="rect">
            <a:avLst/>
          </a:prstGeom>
          <a:solidFill>
            <a:srgbClr val="EBF3F8"/>
          </a:solidFill>
          <a:ln w="12700">
            <a:solidFill>
              <a:srgbClr val="C0D8E8"/>
            </a:solidFill>
            <a:prstDash val="solid"/>
          </a:ln>
        </p:spPr>
        <p:txBody>
          <a:bodyPr/>
          <a:lstStyle/>
          <a:p>
            <a:endParaRPr lang="es-AR"/>
          </a:p>
        </p:txBody>
      </p:sp>
      <p:sp>
        <p:nvSpPr>
          <p:cNvPr id="18" name="Shape 16"/>
          <p:cNvSpPr/>
          <p:nvPr/>
        </p:nvSpPr>
        <p:spPr>
          <a:xfrm>
            <a:off x="320040" y="3328416"/>
            <a:ext cx="960120" cy="685800"/>
          </a:xfrm>
          <a:prstGeom prst="rect">
            <a:avLst/>
          </a:prstGeom>
          <a:solidFill>
            <a:srgbClr val="1A2744"/>
          </a:solidFill>
          <a:ln w="12700">
            <a:solidFill>
              <a:srgbClr val="1A2744"/>
            </a:solidFill>
            <a:prstDash val="solid"/>
          </a:ln>
        </p:spPr>
        <p:txBody>
          <a:bodyPr/>
          <a:lstStyle/>
          <a:p>
            <a:endParaRPr lang="es-AR"/>
          </a:p>
        </p:txBody>
      </p:sp>
      <p:sp>
        <p:nvSpPr>
          <p:cNvPr id="19" name="Text 17"/>
          <p:cNvSpPr/>
          <p:nvPr/>
        </p:nvSpPr>
        <p:spPr>
          <a:xfrm>
            <a:off x="329184" y="3328416"/>
            <a:ext cx="941832" cy="685800"/>
          </a:xfrm>
          <a:prstGeom prst="rect">
            <a:avLst/>
          </a:prstGeom>
          <a:noFill/>
          <a:ln/>
        </p:spPr>
        <p:txBody>
          <a:bodyPr wrap="square" lIns="0" tIns="0" rIns="0" bIns="0" rtlCol="0" anchor="ctr"/>
          <a:lstStyle/>
          <a:p>
            <a:pPr marL="0" indent="0" algn="ctr">
              <a:buNone/>
            </a:pPr>
            <a:r>
              <a:rPr lang="en-US" sz="950" b="1" kern="0" spc="100" dirty="0">
                <a:solidFill>
                  <a:srgbClr val="FFFFFF"/>
                </a:solidFill>
              </a:rPr>
              <a:t>PASO 3</a:t>
            </a:r>
            <a:endParaRPr lang="en-US" sz="950" dirty="0"/>
          </a:p>
        </p:txBody>
      </p:sp>
      <p:sp>
        <p:nvSpPr>
          <p:cNvPr id="20" name="Text 18"/>
          <p:cNvSpPr/>
          <p:nvPr/>
        </p:nvSpPr>
        <p:spPr>
          <a:xfrm>
            <a:off x="1417320" y="3383280"/>
            <a:ext cx="2743200" cy="274320"/>
          </a:xfrm>
          <a:prstGeom prst="rect">
            <a:avLst/>
          </a:prstGeom>
          <a:noFill/>
          <a:ln/>
        </p:spPr>
        <p:txBody>
          <a:bodyPr wrap="square" lIns="0" tIns="0" rIns="0" bIns="0" rtlCol="0" anchor="ctr"/>
          <a:lstStyle/>
          <a:p>
            <a:pPr marL="0" indent="0">
              <a:buNone/>
            </a:pPr>
            <a:r>
              <a:rPr lang="en-US" sz="1200" b="1" dirty="0">
                <a:solidFill>
                  <a:srgbClr val="1A2744"/>
                </a:solidFill>
              </a:rPr>
              <a:t>Continuar recursivamente hasta la raíz</a:t>
            </a:r>
            <a:endParaRPr lang="en-US" sz="1200" dirty="0"/>
          </a:p>
        </p:txBody>
      </p:sp>
      <p:sp>
        <p:nvSpPr>
          <p:cNvPr id="21" name="Text 19"/>
          <p:cNvSpPr/>
          <p:nvPr/>
        </p:nvSpPr>
        <p:spPr>
          <a:xfrm>
            <a:off x="1417320" y="3666744"/>
            <a:ext cx="7178040" cy="292608"/>
          </a:xfrm>
          <a:prstGeom prst="rect">
            <a:avLst/>
          </a:prstGeom>
          <a:noFill/>
          <a:ln/>
        </p:spPr>
        <p:txBody>
          <a:bodyPr wrap="square" lIns="0" tIns="0" rIns="0" bIns="0" rtlCol="0" anchor="ctr"/>
          <a:lstStyle/>
          <a:p>
            <a:pPr marL="0" indent="0">
              <a:buNone/>
            </a:pPr>
            <a:r>
              <a:rPr lang="en-US" sz="1100" dirty="0">
                <a:solidFill>
                  <a:srgbClr val="102030"/>
                </a:solidFill>
              </a:rPr>
              <a:t>Seguir sustituyendo y resolviendo hacia arriba hasta llegar al primer nodo del árbol. Cada decisión futura ya está optimizada, por lo que el jugador inicial puede anticipar perfectamente cómo se desarrollará el juego.</a:t>
            </a:r>
            <a:endParaRPr lang="en-US" sz="1100" dirty="0"/>
          </a:p>
        </p:txBody>
      </p:sp>
      <p:sp>
        <p:nvSpPr>
          <p:cNvPr id="22" name="Shape 20"/>
          <p:cNvSpPr/>
          <p:nvPr/>
        </p:nvSpPr>
        <p:spPr>
          <a:xfrm>
            <a:off x="320040" y="4123944"/>
            <a:ext cx="8503920" cy="685800"/>
          </a:xfrm>
          <a:prstGeom prst="rect">
            <a:avLst/>
          </a:prstGeom>
          <a:solidFill>
            <a:srgbClr val="DDEEF6"/>
          </a:solidFill>
          <a:ln w="12700">
            <a:solidFill>
              <a:srgbClr val="C0D8E8"/>
            </a:solidFill>
            <a:prstDash val="solid"/>
          </a:ln>
        </p:spPr>
        <p:txBody>
          <a:bodyPr/>
          <a:lstStyle/>
          <a:p>
            <a:endParaRPr lang="es-AR"/>
          </a:p>
        </p:txBody>
      </p:sp>
      <p:sp>
        <p:nvSpPr>
          <p:cNvPr id="23" name="Shape 21"/>
          <p:cNvSpPr/>
          <p:nvPr/>
        </p:nvSpPr>
        <p:spPr>
          <a:xfrm>
            <a:off x="320040" y="4123944"/>
            <a:ext cx="960120" cy="685800"/>
          </a:xfrm>
          <a:prstGeom prst="rect">
            <a:avLst/>
          </a:prstGeom>
          <a:solidFill>
            <a:srgbClr val="1A2744"/>
          </a:solidFill>
          <a:ln w="12700">
            <a:solidFill>
              <a:srgbClr val="1A2744"/>
            </a:solidFill>
            <a:prstDash val="solid"/>
          </a:ln>
        </p:spPr>
        <p:txBody>
          <a:bodyPr/>
          <a:lstStyle/>
          <a:p>
            <a:endParaRPr lang="es-AR"/>
          </a:p>
        </p:txBody>
      </p:sp>
      <p:sp>
        <p:nvSpPr>
          <p:cNvPr id="24" name="Text 22"/>
          <p:cNvSpPr/>
          <p:nvPr/>
        </p:nvSpPr>
        <p:spPr>
          <a:xfrm>
            <a:off x="329184" y="4123944"/>
            <a:ext cx="941832" cy="685800"/>
          </a:xfrm>
          <a:prstGeom prst="rect">
            <a:avLst/>
          </a:prstGeom>
          <a:noFill/>
          <a:ln/>
        </p:spPr>
        <p:txBody>
          <a:bodyPr wrap="square" lIns="0" tIns="0" rIns="0" bIns="0" rtlCol="0" anchor="ctr"/>
          <a:lstStyle/>
          <a:p>
            <a:pPr marL="0" indent="0" algn="ctr">
              <a:buNone/>
            </a:pPr>
            <a:r>
              <a:rPr lang="en-US" sz="950" b="1" kern="0" spc="100" dirty="0">
                <a:solidFill>
                  <a:srgbClr val="FFFFFF"/>
                </a:solidFill>
              </a:rPr>
              <a:t>RESULT.</a:t>
            </a:r>
            <a:endParaRPr lang="en-US" sz="950" dirty="0"/>
          </a:p>
        </p:txBody>
      </p:sp>
      <p:sp>
        <p:nvSpPr>
          <p:cNvPr id="25" name="Text 23"/>
          <p:cNvSpPr/>
          <p:nvPr/>
        </p:nvSpPr>
        <p:spPr>
          <a:xfrm>
            <a:off x="1417320" y="4178808"/>
            <a:ext cx="2743200" cy="274320"/>
          </a:xfrm>
          <a:prstGeom prst="rect">
            <a:avLst/>
          </a:prstGeom>
          <a:noFill/>
          <a:ln/>
        </p:spPr>
        <p:txBody>
          <a:bodyPr wrap="square" lIns="0" tIns="0" rIns="0" bIns="0" rtlCol="0" anchor="ctr"/>
          <a:lstStyle/>
          <a:p>
            <a:pPr marL="0" indent="0">
              <a:buNone/>
            </a:pPr>
            <a:r>
              <a:rPr lang="en-US" sz="1200" b="1" dirty="0">
                <a:solidFill>
                  <a:srgbClr val="1A2744"/>
                </a:solidFill>
              </a:rPr>
              <a:t>El camino de equilibrio</a:t>
            </a:r>
            <a:endParaRPr lang="en-US" sz="1200" dirty="0"/>
          </a:p>
        </p:txBody>
      </p:sp>
      <p:sp>
        <p:nvSpPr>
          <p:cNvPr id="26" name="Text 24"/>
          <p:cNvSpPr/>
          <p:nvPr/>
        </p:nvSpPr>
        <p:spPr>
          <a:xfrm>
            <a:off x="1417320" y="4462272"/>
            <a:ext cx="7178040" cy="292608"/>
          </a:xfrm>
          <a:prstGeom prst="rect">
            <a:avLst/>
          </a:prstGeom>
          <a:noFill/>
          <a:ln/>
        </p:spPr>
        <p:txBody>
          <a:bodyPr wrap="square" lIns="0" tIns="0" rIns="0" bIns="0" rtlCol="0" anchor="ctr"/>
          <a:lstStyle/>
          <a:p>
            <a:pPr marL="0" indent="0">
              <a:buNone/>
            </a:pPr>
            <a:r>
              <a:rPr lang="en-US" sz="1100" dirty="0">
                <a:solidFill>
                  <a:srgbClr val="102030"/>
                </a:solidFill>
              </a:rPr>
              <a:t>La secuencia de acciones que resulta de este proceso es el Resultado Perfecto en Subjuegos (RPS). El conjunto completo de estrategias es el ENPS.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7FAF3F6-6A4C-556D-D9FD-9A904751AEC2}"/>
              </a:ext>
            </a:extLst>
          </p:cNvPr>
          <p:cNvPicPr>
            <a:picLocks noChangeAspect="1"/>
          </p:cNvPicPr>
          <p:nvPr/>
        </p:nvPicPr>
        <p:blipFill>
          <a:blip r:embed="rId2"/>
          <a:stretch>
            <a:fillRect/>
          </a:stretch>
        </p:blipFill>
        <p:spPr>
          <a:xfrm>
            <a:off x="835313" y="394526"/>
            <a:ext cx="6962488" cy="4672774"/>
          </a:xfrm>
          <a:prstGeom prst="rect">
            <a:avLst/>
          </a:prstGeom>
        </p:spPr>
      </p:pic>
    </p:spTree>
    <p:extLst>
      <p:ext uri="{BB962C8B-B14F-4D97-AF65-F5344CB8AC3E}">
        <p14:creationId xmlns:p14="http://schemas.microsoft.com/office/powerpoint/2010/main" val="409507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A62A59F-668D-38D4-9FA8-2BBA5D68E986}"/>
              </a:ext>
            </a:extLst>
          </p:cNvPr>
          <p:cNvPicPr>
            <a:picLocks noChangeAspect="1"/>
          </p:cNvPicPr>
          <p:nvPr/>
        </p:nvPicPr>
        <p:blipFill>
          <a:blip r:embed="rId2"/>
          <a:srcRect b="57778"/>
          <a:stretch>
            <a:fillRect/>
          </a:stretch>
        </p:blipFill>
        <p:spPr>
          <a:xfrm>
            <a:off x="0" y="628649"/>
            <a:ext cx="4807618" cy="3314701"/>
          </a:xfrm>
          <a:prstGeom prst="rect">
            <a:avLst/>
          </a:prstGeom>
        </p:spPr>
      </p:pic>
      <p:pic>
        <p:nvPicPr>
          <p:cNvPr id="4" name="Imagen 3">
            <a:extLst>
              <a:ext uri="{FF2B5EF4-FFF2-40B4-BE49-F238E27FC236}">
                <a16:creationId xmlns:a16="http://schemas.microsoft.com/office/drawing/2014/main" id="{DBC92F1A-BF34-0E0E-6372-287DC6CCEC31}"/>
              </a:ext>
            </a:extLst>
          </p:cNvPr>
          <p:cNvPicPr>
            <a:picLocks noChangeAspect="1"/>
          </p:cNvPicPr>
          <p:nvPr/>
        </p:nvPicPr>
        <p:blipFill>
          <a:blip r:embed="rId2"/>
          <a:srcRect t="42469"/>
          <a:stretch>
            <a:fillRect/>
          </a:stretch>
        </p:blipFill>
        <p:spPr>
          <a:xfrm>
            <a:off x="5137150" y="755649"/>
            <a:ext cx="3956718" cy="3414501"/>
          </a:xfrm>
          <a:prstGeom prst="rect">
            <a:avLst/>
          </a:prstGeom>
        </p:spPr>
      </p:pic>
      <p:cxnSp>
        <p:nvCxnSpPr>
          <p:cNvPr id="6" name="Conector recto de flecha 5">
            <a:extLst>
              <a:ext uri="{FF2B5EF4-FFF2-40B4-BE49-F238E27FC236}">
                <a16:creationId xmlns:a16="http://schemas.microsoft.com/office/drawing/2014/main" id="{C8A12094-2785-396F-CE1B-C82C10AE2AED}"/>
              </a:ext>
            </a:extLst>
          </p:cNvPr>
          <p:cNvCxnSpPr>
            <a:cxnSpLocks/>
          </p:cNvCxnSpPr>
          <p:nvPr/>
        </p:nvCxnSpPr>
        <p:spPr>
          <a:xfrm>
            <a:off x="4622800" y="2667211"/>
            <a:ext cx="5143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10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FEF2AB7-054D-FAB9-4CE5-1C0557DAC168}"/>
              </a:ext>
            </a:extLst>
          </p:cNvPr>
          <p:cNvPicPr>
            <a:picLocks noChangeAspect="1"/>
          </p:cNvPicPr>
          <p:nvPr/>
        </p:nvPicPr>
        <p:blipFill>
          <a:blip r:embed="rId2"/>
          <a:srcRect b="20929"/>
          <a:stretch>
            <a:fillRect/>
          </a:stretch>
        </p:blipFill>
        <p:spPr>
          <a:xfrm>
            <a:off x="264425" y="369332"/>
            <a:ext cx="4000500" cy="4744872"/>
          </a:xfrm>
          <a:prstGeom prst="rect">
            <a:avLst/>
          </a:prstGeom>
        </p:spPr>
      </p:pic>
      <p:pic>
        <p:nvPicPr>
          <p:cNvPr id="9" name="Imagen 8">
            <a:extLst>
              <a:ext uri="{FF2B5EF4-FFF2-40B4-BE49-F238E27FC236}">
                <a16:creationId xmlns:a16="http://schemas.microsoft.com/office/drawing/2014/main" id="{24E25AC4-D1B8-AF74-6FBE-7E72BCD08B1E}"/>
              </a:ext>
            </a:extLst>
          </p:cNvPr>
          <p:cNvPicPr>
            <a:picLocks noChangeAspect="1"/>
          </p:cNvPicPr>
          <p:nvPr/>
        </p:nvPicPr>
        <p:blipFill>
          <a:blip r:embed="rId2"/>
          <a:srcRect t="79392"/>
          <a:stretch>
            <a:fillRect/>
          </a:stretch>
        </p:blipFill>
        <p:spPr>
          <a:xfrm>
            <a:off x="4440640" y="1555846"/>
            <a:ext cx="4591619" cy="1419366"/>
          </a:xfrm>
          <a:prstGeom prst="rect">
            <a:avLst/>
          </a:prstGeom>
        </p:spPr>
      </p:pic>
      <p:sp>
        <p:nvSpPr>
          <p:cNvPr id="10" name="CuadroTexto 9">
            <a:extLst>
              <a:ext uri="{FF2B5EF4-FFF2-40B4-BE49-F238E27FC236}">
                <a16:creationId xmlns:a16="http://schemas.microsoft.com/office/drawing/2014/main" id="{3D3F1912-2EB7-985E-BF95-CF9C4F17A9CF}"/>
              </a:ext>
            </a:extLst>
          </p:cNvPr>
          <p:cNvSpPr txBox="1"/>
          <p:nvPr/>
        </p:nvSpPr>
        <p:spPr>
          <a:xfrm>
            <a:off x="504965" y="0"/>
            <a:ext cx="1815153" cy="369332"/>
          </a:xfrm>
          <a:prstGeom prst="rect">
            <a:avLst/>
          </a:prstGeom>
          <a:noFill/>
        </p:spPr>
        <p:txBody>
          <a:bodyPr wrap="square" rtlCol="0">
            <a:spAutoFit/>
          </a:bodyPr>
          <a:lstStyle/>
          <a:p>
            <a:r>
              <a:rPr lang="es-US" b="1" dirty="0"/>
              <a:t>Ejemplo 2</a:t>
            </a:r>
            <a:endParaRPr lang="es-AR" b="1" dirty="0"/>
          </a:p>
        </p:txBody>
      </p:sp>
    </p:spTree>
    <p:extLst>
      <p:ext uri="{BB962C8B-B14F-4D97-AF65-F5344CB8AC3E}">
        <p14:creationId xmlns:p14="http://schemas.microsoft.com/office/powerpoint/2010/main" val="1858349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46F02036-9927-32F8-68ED-2D6BF594D4B6}"/>
              </a:ext>
            </a:extLst>
          </p:cNvPr>
          <p:cNvPicPr>
            <a:picLocks noChangeAspect="1"/>
          </p:cNvPicPr>
          <p:nvPr/>
        </p:nvPicPr>
        <p:blipFill>
          <a:blip r:embed="rId2"/>
          <a:srcRect b="40431"/>
          <a:stretch>
            <a:fillRect/>
          </a:stretch>
        </p:blipFill>
        <p:spPr>
          <a:xfrm>
            <a:off x="237128" y="556092"/>
            <a:ext cx="4062869" cy="3747394"/>
          </a:xfrm>
          <a:prstGeom prst="rect">
            <a:avLst/>
          </a:prstGeom>
        </p:spPr>
      </p:pic>
      <p:pic>
        <p:nvPicPr>
          <p:cNvPr id="15" name="Imagen 14">
            <a:extLst>
              <a:ext uri="{FF2B5EF4-FFF2-40B4-BE49-F238E27FC236}">
                <a16:creationId xmlns:a16="http://schemas.microsoft.com/office/drawing/2014/main" id="{4B225D6E-8425-2AA6-CDD7-D56E69E7767F}"/>
              </a:ext>
            </a:extLst>
          </p:cNvPr>
          <p:cNvPicPr>
            <a:picLocks noChangeAspect="1"/>
          </p:cNvPicPr>
          <p:nvPr/>
        </p:nvPicPr>
        <p:blipFill>
          <a:blip r:embed="rId2"/>
          <a:srcRect t="59569"/>
          <a:stretch>
            <a:fillRect/>
          </a:stretch>
        </p:blipFill>
        <p:spPr>
          <a:xfrm>
            <a:off x="4572000" y="962167"/>
            <a:ext cx="4365716" cy="2647666"/>
          </a:xfrm>
          <a:prstGeom prst="rect">
            <a:avLst/>
          </a:prstGeom>
        </p:spPr>
      </p:pic>
      <p:sp>
        <p:nvSpPr>
          <p:cNvPr id="16" name="CuadroTexto 15">
            <a:extLst>
              <a:ext uri="{FF2B5EF4-FFF2-40B4-BE49-F238E27FC236}">
                <a16:creationId xmlns:a16="http://schemas.microsoft.com/office/drawing/2014/main" id="{83519E06-7211-92C4-BC60-3CD1C541ED39}"/>
              </a:ext>
            </a:extLst>
          </p:cNvPr>
          <p:cNvSpPr txBox="1"/>
          <p:nvPr/>
        </p:nvSpPr>
        <p:spPr>
          <a:xfrm>
            <a:off x="453409" y="133866"/>
            <a:ext cx="1815153" cy="369332"/>
          </a:xfrm>
          <a:prstGeom prst="rect">
            <a:avLst/>
          </a:prstGeom>
          <a:noFill/>
        </p:spPr>
        <p:txBody>
          <a:bodyPr wrap="square" rtlCol="0">
            <a:spAutoFit/>
          </a:bodyPr>
          <a:lstStyle/>
          <a:p>
            <a:r>
              <a:rPr lang="es-US" b="1" dirty="0"/>
              <a:t>Ejemplo 3</a:t>
            </a:r>
            <a:endParaRPr lang="es-AR" b="1" dirty="0"/>
          </a:p>
        </p:txBody>
      </p:sp>
    </p:spTree>
    <p:extLst>
      <p:ext uri="{BB962C8B-B14F-4D97-AF65-F5344CB8AC3E}">
        <p14:creationId xmlns:p14="http://schemas.microsoft.com/office/powerpoint/2010/main" val="2189046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B7955B9-428D-AF03-90FE-45D4756009BF}"/>
              </a:ext>
            </a:extLst>
          </p:cNvPr>
          <p:cNvPicPr>
            <a:picLocks noChangeAspect="1"/>
          </p:cNvPicPr>
          <p:nvPr/>
        </p:nvPicPr>
        <p:blipFill>
          <a:blip r:embed="rId2"/>
          <a:stretch>
            <a:fillRect/>
          </a:stretch>
        </p:blipFill>
        <p:spPr>
          <a:xfrm>
            <a:off x="159657" y="0"/>
            <a:ext cx="3423557" cy="5135336"/>
          </a:xfrm>
          <a:prstGeom prst="rect">
            <a:avLst/>
          </a:prstGeom>
        </p:spPr>
      </p:pic>
      <p:pic>
        <p:nvPicPr>
          <p:cNvPr id="7" name="Imagen 6">
            <a:extLst>
              <a:ext uri="{FF2B5EF4-FFF2-40B4-BE49-F238E27FC236}">
                <a16:creationId xmlns:a16="http://schemas.microsoft.com/office/drawing/2014/main" id="{77811522-19DC-B593-4FD1-66077702DCB3}"/>
              </a:ext>
            </a:extLst>
          </p:cNvPr>
          <p:cNvPicPr>
            <a:picLocks noChangeAspect="1"/>
          </p:cNvPicPr>
          <p:nvPr/>
        </p:nvPicPr>
        <p:blipFill>
          <a:blip r:embed="rId3"/>
          <a:stretch>
            <a:fillRect/>
          </a:stretch>
        </p:blipFill>
        <p:spPr>
          <a:xfrm>
            <a:off x="3825437" y="762282"/>
            <a:ext cx="5158906" cy="3553914"/>
          </a:xfrm>
          <a:prstGeom prst="rect">
            <a:avLst/>
          </a:prstGeom>
        </p:spPr>
      </p:pic>
    </p:spTree>
    <p:extLst>
      <p:ext uri="{BB962C8B-B14F-4D97-AF65-F5344CB8AC3E}">
        <p14:creationId xmlns:p14="http://schemas.microsoft.com/office/powerpoint/2010/main" val="1949805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D269730-5D5E-357E-21FE-48E06BA3EE2C}"/>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3498100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7F0F762-C255-BE91-B999-4EEDFC0AD2F7}"/>
              </a:ext>
            </a:extLst>
          </p:cNvPr>
          <p:cNvPicPr>
            <a:picLocks noChangeAspect="1"/>
          </p:cNvPicPr>
          <p:nvPr/>
        </p:nvPicPr>
        <p:blipFill>
          <a:blip r:embed="rId2"/>
          <a:stretch>
            <a:fillRect/>
          </a:stretch>
        </p:blipFill>
        <p:spPr>
          <a:xfrm>
            <a:off x="2087885" y="0"/>
            <a:ext cx="4968230" cy="5143500"/>
          </a:xfrm>
          <a:prstGeom prst="rect">
            <a:avLst/>
          </a:prstGeom>
        </p:spPr>
      </p:pic>
    </p:spTree>
    <p:extLst>
      <p:ext uri="{BB962C8B-B14F-4D97-AF65-F5344CB8AC3E}">
        <p14:creationId xmlns:p14="http://schemas.microsoft.com/office/powerpoint/2010/main" val="3197964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1463040"/>
            <a:ext cx="164592" cy="2194560"/>
          </a:xfrm>
          <a:prstGeom prst="rect">
            <a:avLst/>
          </a:prstGeom>
          <a:solidFill>
            <a:srgbClr val="F5A623"/>
          </a:solidFill>
          <a:ln w="12700">
            <a:solidFill>
              <a:srgbClr val="F5A623"/>
            </a:solidFill>
            <a:prstDash val="solid"/>
          </a:ln>
        </p:spPr>
        <p:txBody>
          <a:bodyPr/>
          <a:lstStyle/>
          <a:p>
            <a:endParaRPr lang="es-AR"/>
          </a:p>
        </p:txBody>
      </p:sp>
      <p:sp>
        <p:nvSpPr>
          <p:cNvPr id="3" name="Text 1"/>
          <p:cNvSpPr/>
          <p:nvPr/>
        </p:nvSpPr>
        <p:spPr>
          <a:xfrm>
            <a:off x="411480" y="1554480"/>
            <a:ext cx="8229600" cy="457200"/>
          </a:xfrm>
          <a:prstGeom prst="rect">
            <a:avLst/>
          </a:prstGeom>
          <a:noFill/>
          <a:ln/>
        </p:spPr>
        <p:txBody>
          <a:bodyPr wrap="square" lIns="0" tIns="0" rIns="0" bIns="0" rtlCol="0" anchor="ctr"/>
          <a:lstStyle/>
          <a:p>
            <a:pPr marL="0" indent="0">
              <a:buNone/>
            </a:pPr>
            <a:r>
              <a:rPr lang="en-US" sz="1200" b="1" kern="0" spc="400" dirty="0">
                <a:solidFill>
                  <a:srgbClr val="F5A623"/>
                </a:solidFill>
              </a:rPr>
              <a:t>SECCIÓN 3</a:t>
            </a:r>
            <a:endParaRPr lang="en-US" sz="1200" dirty="0"/>
          </a:p>
        </p:txBody>
      </p:sp>
      <p:sp>
        <p:nvSpPr>
          <p:cNvPr id="4" name="Text 2"/>
          <p:cNvSpPr/>
          <p:nvPr/>
        </p:nvSpPr>
        <p:spPr>
          <a:xfrm>
            <a:off x="411480" y="1920240"/>
            <a:ext cx="8229600" cy="914400"/>
          </a:xfrm>
          <a:prstGeom prst="rect">
            <a:avLst/>
          </a:prstGeom>
          <a:noFill/>
          <a:ln/>
        </p:spPr>
        <p:txBody>
          <a:bodyPr wrap="square" lIns="0" tIns="0" rIns="0" bIns="0" rtlCol="0" anchor="ctr"/>
          <a:lstStyle/>
          <a:p>
            <a:pPr marL="0" indent="0">
              <a:buNone/>
            </a:pPr>
            <a:r>
              <a:rPr lang="en-US" sz="3400" b="1" dirty="0">
                <a:solidFill>
                  <a:srgbClr val="FFFFFF"/>
                </a:solidFill>
              </a:rPr>
              <a:t>Juegos de Negociación</a:t>
            </a:r>
            <a:endParaRPr lang="en-US" sz="3400" dirty="0"/>
          </a:p>
        </p:txBody>
      </p:sp>
      <p:sp>
        <p:nvSpPr>
          <p:cNvPr id="5" name="Text 3"/>
          <p:cNvSpPr/>
          <p:nvPr/>
        </p:nvSpPr>
        <p:spPr>
          <a:xfrm>
            <a:off x="411480" y="2880360"/>
            <a:ext cx="7772400" cy="731520"/>
          </a:xfrm>
          <a:prstGeom prst="rect">
            <a:avLst/>
          </a:prstGeom>
          <a:noFill/>
          <a:ln/>
        </p:spPr>
        <p:txBody>
          <a:bodyPr wrap="square" lIns="0" tIns="0" rIns="0" bIns="0" rtlCol="0" anchor="ctr"/>
          <a:lstStyle/>
          <a:p>
            <a:pPr marL="0" indent="0">
              <a:buNone/>
            </a:pPr>
            <a:r>
              <a:rPr lang="en-US" sz="1400" i="1" dirty="0">
                <a:solidFill>
                  <a:srgbClr val="A8C0D0"/>
                </a:solidFill>
              </a:rPr>
              <a:t>Ultimátum, Doble Ultimátum y el modelo de Rubinstein</a:t>
            </a:r>
            <a:endParaRPr lang="en-US" sz="1400" dirty="0"/>
          </a:p>
        </p:txBody>
      </p:sp>
      <p:sp>
        <p:nvSpPr>
          <p:cNvPr id="6" name="Shape 4"/>
          <p:cNvSpPr/>
          <p:nvPr/>
        </p:nvSpPr>
        <p:spPr>
          <a:xfrm>
            <a:off x="0" y="4754880"/>
            <a:ext cx="9144000" cy="393192"/>
          </a:xfrm>
          <a:prstGeom prst="rect">
            <a:avLst/>
          </a:prstGeom>
          <a:solidFill>
            <a:srgbClr val="0F7B6C"/>
          </a:solidFill>
          <a:ln w="12700">
            <a:solidFill>
              <a:srgbClr val="0F7B6C"/>
            </a:solidFill>
            <a:prstDash val="solid"/>
          </a:ln>
        </p:spPr>
        <p:txBody>
          <a:bodyPr/>
          <a:lstStyle/>
          <a:p>
            <a:endParaRPr lang="es-AR"/>
          </a:p>
        </p:txBody>
      </p:sp>
      <p:sp>
        <p:nvSpPr>
          <p:cNvPr id="7" name="Text 5"/>
          <p:cNvSpPr/>
          <p:nvPr/>
        </p:nvSpPr>
        <p:spPr>
          <a:xfrm>
            <a:off x="365760" y="4754880"/>
            <a:ext cx="8229600" cy="393192"/>
          </a:xfrm>
          <a:prstGeom prst="rect">
            <a:avLst/>
          </a:prstGeom>
          <a:noFill/>
          <a:ln/>
        </p:spPr>
        <p:txBody>
          <a:bodyPr wrap="square" lIns="0" tIns="0" rIns="0" bIns="0" rtlCol="0" anchor="ctr"/>
          <a:lstStyle/>
          <a:p>
            <a:pPr marL="0" indent="0">
              <a:buNone/>
            </a:pPr>
            <a:r>
              <a:rPr lang="en-US" sz="1000" dirty="0">
                <a:solidFill>
                  <a:srgbClr val="FFFFFF"/>
                </a:solidFill>
              </a:rPr>
              <a:t>Teoría de Juegos  •  Juegos Dinámicos y Repetidos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El Juego del Ultimátum</a:t>
            </a:r>
            <a:endParaRPr lang="en-US" sz="2200" dirty="0"/>
          </a:p>
        </p:txBody>
      </p:sp>
      <p:sp>
        <p:nvSpPr>
          <p:cNvPr id="4" name="Text 2"/>
          <p:cNvSpPr/>
          <p:nvPr/>
        </p:nvSpPr>
        <p:spPr>
          <a:xfrm>
            <a:off x="320040" y="1005840"/>
            <a:ext cx="4114800" cy="320040"/>
          </a:xfrm>
          <a:prstGeom prst="rect">
            <a:avLst/>
          </a:prstGeom>
          <a:noFill/>
          <a:ln/>
        </p:spPr>
        <p:txBody>
          <a:bodyPr wrap="square" lIns="0" tIns="0" rIns="0" bIns="0" rtlCol="0" anchor="ctr"/>
          <a:lstStyle/>
          <a:p>
            <a:pPr marL="0" indent="0">
              <a:buNone/>
            </a:pPr>
            <a:r>
              <a:rPr lang="en-US" sz="1100" b="1" kern="0" spc="300" dirty="0">
                <a:solidFill>
                  <a:srgbClr val="F5A623"/>
                </a:solidFill>
              </a:rPr>
              <a:t>ESTRUCTURA</a:t>
            </a:r>
            <a:endParaRPr lang="en-US" sz="1100" dirty="0"/>
          </a:p>
        </p:txBody>
      </p:sp>
      <p:sp>
        <p:nvSpPr>
          <p:cNvPr id="5" name="Shape 3"/>
          <p:cNvSpPr/>
          <p:nvPr/>
        </p:nvSpPr>
        <p:spPr>
          <a:xfrm>
            <a:off x="320040" y="1325880"/>
            <a:ext cx="4114800" cy="324612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6" name="Text 4"/>
          <p:cNvSpPr/>
          <p:nvPr/>
        </p:nvSpPr>
        <p:spPr>
          <a:xfrm>
            <a:off x="502920" y="1463040"/>
            <a:ext cx="3749040" cy="2926080"/>
          </a:xfrm>
          <a:prstGeom prst="rect">
            <a:avLst/>
          </a:prstGeom>
          <a:noFill/>
          <a:ln/>
        </p:spPr>
        <p:txBody>
          <a:bodyPr wrap="square" rtlCol="0" anchor="ctr"/>
          <a:lstStyle/>
          <a:p>
            <a:pPr marL="0" indent="0">
              <a:buNone/>
            </a:pPr>
            <a:r>
              <a:rPr lang="en-US" sz="1200" dirty="0">
                <a:solidFill>
                  <a:srgbClr val="FFFFFF"/>
                </a:solidFill>
              </a:rPr>
              <a:t>Jugadores: Proponente (J1) y Respondedor (J2)
</a:t>
            </a:r>
            <a:r>
              <a:rPr lang="en-US" sz="1200" b="1" dirty="0">
                <a:solidFill>
                  <a:srgbClr val="F5A623"/>
                </a:solidFill>
              </a:rPr>
              <a:t>Etapa 1: </a:t>
            </a:r>
            <a:r>
              <a:rPr lang="en-US" sz="1200" dirty="0">
                <a:solidFill>
                  <a:srgbClr val="FFFFFF"/>
                </a:solidFill>
              </a:rPr>
              <a:t>J1 recibe una cantidad (ej: 12 galletas) y propone una división: 'Me quedo X, te doy Y.'
</a:t>
            </a:r>
            <a:r>
              <a:rPr lang="en-US" sz="1200" b="1" dirty="0">
                <a:solidFill>
                  <a:srgbClr val="F5A623"/>
                </a:solidFill>
              </a:rPr>
              <a:t>Etapa 2: </a:t>
            </a:r>
            <a:r>
              <a:rPr lang="en-US" sz="1200" dirty="0">
                <a:solidFill>
                  <a:srgbClr val="FFFFFF"/>
                </a:solidFill>
              </a:rPr>
              <a:t>J2 decide:</a:t>
            </a:r>
            <a:endParaRPr lang="en-US" sz="1200" dirty="0"/>
          </a:p>
          <a:p>
            <a:pPr marL="0" indent="0">
              <a:buNone/>
            </a:pPr>
            <a:r>
              <a:rPr lang="en-US" sz="1200" dirty="0">
                <a:solidFill>
                  <a:srgbClr val="FFFFFF"/>
                </a:solidFill>
              </a:rPr>
              <a:t>• Aceptar → se implementa la división</a:t>
            </a:r>
            <a:endParaRPr lang="en-US" sz="1200" dirty="0"/>
          </a:p>
          <a:p>
            <a:pPr marL="0" indent="0">
              <a:buNone/>
            </a:pPr>
            <a:r>
              <a:rPr lang="en-US" sz="1200" dirty="0">
                <a:solidFill>
                  <a:srgbClr val="FFFFFF"/>
                </a:solidFill>
              </a:rPr>
              <a:t>• Rechazar → ambos reciben 0</a:t>
            </a:r>
            <a:endParaRPr lang="en-US" sz="1200" dirty="0"/>
          </a:p>
        </p:txBody>
      </p:sp>
      <p:sp>
        <p:nvSpPr>
          <p:cNvPr id="7" name="Text 5"/>
          <p:cNvSpPr/>
          <p:nvPr/>
        </p:nvSpPr>
        <p:spPr>
          <a:xfrm>
            <a:off x="4800600" y="1005840"/>
            <a:ext cx="4114800" cy="320040"/>
          </a:xfrm>
          <a:prstGeom prst="rect">
            <a:avLst/>
          </a:prstGeom>
          <a:noFill/>
          <a:ln/>
        </p:spPr>
        <p:txBody>
          <a:bodyPr wrap="square" lIns="0" tIns="0" rIns="0" bIns="0" rtlCol="0" anchor="ctr"/>
          <a:lstStyle/>
          <a:p>
            <a:pPr marL="0" indent="0">
              <a:buNone/>
            </a:pPr>
            <a:r>
              <a:rPr lang="en-US" sz="1100" b="1" kern="0" spc="100" dirty="0">
                <a:solidFill>
                  <a:srgbClr val="F5A623"/>
                </a:solidFill>
              </a:rPr>
              <a:t>SOLUCIÓN POR BACKWARD INDUCTION</a:t>
            </a:r>
            <a:endParaRPr lang="en-US" sz="1100" dirty="0"/>
          </a:p>
        </p:txBody>
      </p:sp>
      <p:sp>
        <p:nvSpPr>
          <p:cNvPr id="8" name="Shape 6"/>
          <p:cNvSpPr/>
          <p:nvPr/>
        </p:nvSpPr>
        <p:spPr>
          <a:xfrm>
            <a:off x="4800600" y="1325880"/>
            <a:ext cx="4069080" cy="960120"/>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9" name="Text 7"/>
          <p:cNvSpPr/>
          <p:nvPr/>
        </p:nvSpPr>
        <p:spPr>
          <a:xfrm>
            <a:off x="4983480" y="1389888"/>
            <a:ext cx="3657600" cy="292608"/>
          </a:xfrm>
          <a:prstGeom prst="rect">
            <a:avLst/>
          </a:prstGeom>
          <a:noFill/>
          <a:ln/>
        </p:spPr>
        <p:txBody>
          <a:bodyPr wrap="square" lIns="0" tIns="0" rIns="0" bIns="0" rtlCol="0" anchor="ctr"/>
          <a:lstStyle/>
          <a:p>
            <a:pPr marL="0" indent="0">
              <a:buNone/>
            </a:pPr>
            <a:r>
              <a:rPr lang="en-US" sz="1200" b="1" dirty="0">
                <a:solidFill>
                  <a:srgbClr val="FFFFFF"/>
                </a:solidFill>
              </a:rPr>
              <a:t>J2 decide:</a:t>
            </a:r>
            <a:endParaRPr lang="en-US" sz="1200" dirty="0"/>
          </a:p>
        </p:txBody>
      </p:sp>
      <p:sp>
        <p:nvSpPr>
          <p:cNvPr id="10" name="Text 8"/>
          <p:cNvSpPr/>
          <p:nvPr/>
        </p:nvSpPr>
        <p:spPr>
          <a:xfrm>
            <a:off x="4983480" y="1682496"/>
            <a:ext cx="3657600" cy="502920"/>
          </a:xfrm>
          <a:prstGeom prst="rect">
            <a:avLst/>
          </a:prstGeom>
          <a:noFill/>
          <a:ln/>
        </p:spPr>
        <p:txBody>
          <a:bodyPr wrap="square" lIns="0" tIns="0" rIns="0" bIns="0" rtlCol="0" anchor="ctr"/>
          <a:lstStyle/>
          <a:p>
            <a:pPr marL="0" indent="0">
              <a:buNone/>
            </a:pPr>
            <a:r>
              <a:rPr lang="en-US" sz="1100" dirty="0">
                <a:solidFill>
                  <a:srgbClr val="B8D0E4"/>
                </a:solidFill>
              </a:rPr>
              <a:t>Si acepta → recibe x &gt; 0.</a:t>
            </a:r>
            <a:endParaRPr lang="en-US" sz="1100" dirty="0"/>
          </a:p>
          <a:p>
            <a:pPr marL="0" indent="0">
              <a:buNone/>
            </a:pPr>
            <a:r>
              <a:rPr lang="en-US" sz="1100" dirty="0">
                <a:solidFill>
                  <a:srgbClr val="B8D0E4"/>
                </a:solidFill>
              </a:rPr>
              <a:t>Si rechaza → recibe 0.</a:t>
            </a:r>
            <a:endParaRPr lang="en-US" sz="1100" dirty="0"/>
          </a:p>
          <a:p>
            <a:pPr marL="0" indent="0">
              <a:buNone/>
            </a:pPr>
            <a:r>
              <a:rPr lang="en-US" sz="1100" dirty="0">
                <a:solidFill>
                  <a:srgbClr val="B8D0E4"/>
                </a:solidFill>
              </a:rPr>
              <a:t>→ J2 racional acepta cualquier x &gt; 0.</a:t>
            </a:r>
            <a:endParaRPr lang="en-US" sz="1100" dirty="0"/>
          </a:p>
        </p:txBody>
      </p:sp>
      <p:sp>
        <p:nvSpPr>
          <p:cNvPr id="11" name="Shape 9"/>
          <p:cNvSpPr/>
          <p:nvPr/>
        </p:nvSpPr>
        <p:spPr>
          <a:xfrm>
            <a:off x="4800600" y="2404872"/>
            <a:ext cx="4069080" cy="960120"/>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2" name="Text 10"/>
          <p:cNvSpPr/>
          <p:nvPr/>
        </p:nvSpPr>
        <p:spPr>
          <a:xfrm>
            <a:off x="4983480" y="2468880"/>
            <a:ext cx="3657600" cy="292608"/>
          </a:xfrm>
          <a:prstGeom prst="rect">
            <a:avLst/>
          </a:prstGeom>
          <a:noFill/>
          <a:ln/>
        </p:spPr>
        <p:txBody>
          <a:bodyPr wrap="square" lIns="0" tIns="0" rIns="0" bIns="0" rtlCol="0" anchor="ctr"/>
          <a:lstStyle/>
          <a:p>
            <a:pPr marL="0" indent="0">
              <a:buNone/>
            </a:pPr>
            <a:r>
              <a:rPr lang="en-US" sz="1200" b="1" dirty="0">
                <a:solidFill>
                  <a:srgbClr val="FFFFFF"/>
                </a:solidFill>
              </a:rPr>
              <a:t>J1 anticipa:</a:t>
            </a:r>
            <a:endParaRPr lang="en-US" sz="1200" dirty="0"/>
          </a:p>
        </p:txBody>
      </p:sp>
      <p:sp>
        <p:nvSpPr>
          <p:cNvPr id="13" name="Text 11"/>
          <p:cNvSpPr/>
          <p:nvPr/>
        </p:nvSpPr>
        <p:spPr>
          <a:xfrm>
            <a:off x="4983480" y="2761488"/>
            <a:ext cx="3657600" cy="502920"/>
          </a:xfrm>
          <a:prstGeom prst="rect">
            <a:avLst/>
          </a:prstGeom>
          <a:noFill/>
          <a:ln/>
        </p:spPr>
        <p:txBody>
          <a:bodyPr wrap="square" lIns="0" tIns="0" rIns="0" bIns="0" rtlCol="0" anchor="ctr"/>
          <a:lstStyle/>
          <a:p>
            <a:pPr marL="0" indent="0">
              <a:buNone/>
            </a:pPr>
            <a:r>
              <a:rPr lang="en-US" sz="1100" dirty="0">
                <a:solidFill>
                  <a:srgbClr val="B8D0E4"/>
                </a:solidFill>
              </a:rPr>
              <a:t>Sabe que J2 aceptará cualquier oferta positiva.</a:t>
            </a:r>
            <a:endParaRPr lang="en-US" sz="1100" dirty="0"/>
          </a:p>
          <a:p>
            <a:pPr marL="0" indent="0">
              <a:buNone/>
            </a:pPr>
            <a:r>
              <a:rPr lang="en-US" sz="1100" dirty="0">
                <a:solidFill>
                  <a:srgbClr val="B8D0E4"/>
                </a:solidFill>
              </a:rPr>
              <a:t>→ J1 ofrece el mínimo posible: x = 1.</a:t>
            </a:r>
            <a:endParaRPr lang="en-US" sz="1100" dirty="0"/>
          </a:p>
        </p:txBody>
      </p:sp>
      <p:sp>
        <p:nvSpPr>
          <p:cNvPr id="14" name="Shape 12"/>
          <p:cNvSpPr/>
          <p:nvPr/>
        </p:nvSpPr>
        <p:spPr>
          <a:xfrm>
            <a:off x="4800600" y="3483864"/>
            <a:ext cx="4069080" cy="960120"/>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5" name="Text 13"/>
          <p:cNvSpPr/>
          <p:nvPr/>
        </p:nvSpPr>
        <p:spPr>
          <a:xfrm>
            <a:off x="4983480" y="3547872"/>
            <a:ext cx="3657600" cy="292608"/>
          </a:xfrm>
          <a:prstGeom prst="rect">
            <a:avLst/>
          </a:prstGeom>
          <a:noFill/>
          <a:ln/>
        </p:spPr>
        <p:txBody>
          <a:bodyPr wrap="square" lIns="0" tIns="0" rIns="0" bIns="0" rtlCol="0" anchor="ctr"/>
          <a:lstStyle/>
          <a:p>
            <a:pPr marL="0" indent="0">
              <a:buNone/>
            </a:pPr>
            <a:r>
              <a:rPr lang="en-US" sz="1200" b="1" dirty="0">
                <a:solidFill>
                  <a:srgbClr val="FFFFFF"/>
                </a:solidFill>
              </a:rPr>
              <a:t>Resultado (ENPS):</a:t>
            </a:r>
            <a:endParaRPr lang="en-US" sz="1200" dirty="0"/>
          </a:p>
        </p:txBody>
      </p:sp>
      <p:sp>
        <p:nvSpPr>
          <p:cNvPr id="16" name="Text 14"/>
          <p:cNvSpPr/>
          <p:nvPr/>
        </p:nvSpPr>
        <p:spPr>
          <a:xfrm>
            <a:off x="4983480" y="3840480"/>
            <a:ext cx="3657600" cy="502920"/>
          </a:xfrm>
          <a:prstGeom prst="rect">
            <a:avLst/>
          </a:prstGeom>
          <a:noFill/>
          <a:ln/>
        </p:spPr>
        <p:txBody>
          <a:bodyPr wrap="square" lIns="0" tIns="0" rIns="0" bIns="0" rtlCol="0" anchor="ctr"/>
          <a:lstStyle/>
          <a:p>
            <a:pPr marL="0" indent="0">
              <a:buNone/>
            </a:pPr>
            <a:r>
              <a:rPr lang="en-US" sz="1100" dirty="0">
                <a:solidFill>
                  <a:srgbClr val="B8D0E4"/>
                </a:solidFill>
              </a:rPr>
              <a:t>J1 se queda con casi todo (11 galletas).</a:t>
            </a:r>
            <a:endParaRPr lang="en-US" sz="1100" dirty="0"/>
          </a:p>
          <a:p>
            <a:pPr marL="0" indent="0">
              <a:buNone/>
            </a:pPr>
            <a:r>
              <a:rPr lang="en-US" sz="1100" dirty="0">
                <a:solidFill>
                  <a:srgbClr val="B8D0E4"/>
                </a:solidFill>
              </a:rPr>
              <a:t>J2 acepta la oferta mínima (1 galleta).</a:t>
            </a:r>
            <a:endParaRPr lang="en-US" sz="1100" dirty="0"/>
          </a:p>
        </p:txBody>
      </p:sp>
      <p:sp>
        <p:nvSpPr>
          <p:cNvPr id="17" name="Shape 15"/>
          <p:cNvSpPr/>
          <p:nvPr/>
        </p:nvSpPr>
        <p:spPr>
          <a:xfrm>
            <a:off x="4800600" y="4572000"/>
            <a:ext cx="4069080" cy="475488"/>
          </a:xfrm>
          <a:prstGeom prst="rect">
            <a:avLst/>
          </a:prstGeom>
          <a:solidFill>
            <a:srgbClr val="0F7B6C"/>
          </a:solidFill>
          <a:ln w="12700">
            <a:solidFill>
              <a:srgbClr val="0F7B6C"/>
            </a:solidFill>
            <a:prstDash val="solid"/>
          </a:ln>
        </p:spPr>
        <p:txBody>
          <a:bodyPr/>
          <a:lstStyle/>
          <a:p>
            <a:endParaRPr lang="es-AR"/>
          </a:p>
        </p:txBody>
      </p:sp>
      <p:sp>
        <p:nvSpPr>
          <p:cNvPr id="18" name="Text 16"/>
          <p:cNvSpPr/>
          <p:nvPr/>
        </p:nvSpPr>
        <p:spPr>
          <a:xfrm>
            <a:off x="4983480" y="4608576"/>
            <a:ext cx="3794760" cy="402336"/>
          </a:xfrm>
          <a:prstGeom prst="rect">
            <a:avLst/>
          </a:prstGeom>
          <a:noFill/>
          <a:ln/>
        </p:spPr>
        <p:txBody>
          <a:bodyPr wrap="square" lIns="0" tIns="0" rIns="0" bIns="0" rtlCol="0" anchor="ctr"/>
          <a:lstStyle/>
          <a:p>
            <a:pPr marL="0" indent="0">
              <a:buNone/>
            </a:pPr>
            <a:r>
              <a:rPr lang="en-US" sz="1000" i="1" dirty="0">
                <a:solidFill>
                  <a:srgbClr val="FFFFFF"/>
                </a:solidFill>
              </a:rPr>
              <a:t>⚠  Paradoja: la teoría predice un resultado muy desigual, pero experimentos reales muestran que las personas rechazan ofertas 'injustas' aunque sean &gt; 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El Doble Ultimátum — Cómo cambia el poder de negociación</a:t>
            </a:r>
            <a:endParaRPr lang="en-US" sz="2200" dirty="0"/>
          </a:p>
        </p:txBody>
      </p:sp>
      <p:sp>
        <p:nvSpPr>
          <p:cNvPr id="4" name="Shape 2"/>
          <p:cNvSpPr/>
          <p:nvPr/>
        </p:nvSpPr>
        <p:spPr>
          <a:xfrm>
            <a:off x="320040" y="960120"/>
            <a:ext cx="8503920" cy="658368"/>
          </a:xfrm>
          <a:prstGeom prst="rect">
            <a:avLst/>
          </a:prstGeom>
          <a:solidFill>
            <a:srgbClr val="0F3A2A"/>
          </a:solidFill>
          <a:ln w="12700">
            <a:solidFill>
              <a:srgbClr val="F5A623"/>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300" b="1" dirty="0">
                <a:solidFill>
                  <a:srgbClr val="FFFFFF"/>
                </a:solidFill>
              </a:rPr>
              <a:t>DIFERENCIA CLAVE: Tommy ahora tiene una TERCERA opción: hacer una contraoferta. Eso le da poder estratégico.</a:t>
            </a:r>
            <a:endParaRPr lang="en-US" sz="1300" dirty="0"/>
          </a:p>
        </p:txBody>
      </p:sp>
      <p:sp>
        <p:nvSpPr>
          <p:cNvPr id="6" name="Shape 4"/>
          <p:cNvSpPr/>
          <p:nvPr/>
        </p:nvSpPr>
        <p:spPr>
          <a:xfrm>
            <a:off x="320040" y="1737360"/>
            <a:ext cx="4114800" cy="841248"/>
          </a:xfrm>
          <a:prstGeom prst="rect">
            <a:avLst/>
          </a:prstGeom>
          <a:solidFill>
            <a:srgbClr val="132235"/>
          </a:solidFill>
          <a:ln w="12700">
            <a:solidFill>
              <a:srgbClr val="14A896"/>
            </a:solidFill>
            <a:prstDash val="solid"/>
          </a:ln>
        </p:spPr>
        <p:txBody>
          <a:bodyPr/>
          <a:lstStyle/>
          <a:p>
            <a:endParaRPr lang="es-AR"/>
          </a:p>
        </p:txBody>
      </p:sp>
      <p:sp>
        <p:nvSpPr>
          <p:cNvPr id="7" name="Text 5"/>
          <p:cNvSpPr/>
          <p:nvPr/>
        </p:nvSpPr>
        <p:spPr>
          <a:xfrm>
            <a:off x="502920" y="1810512"/>
            <a:ext cx="3749040" cy="292608"/>
          </a:xfrm>
          <a:prstGeom prst="rect">
            <a:avLst/>
          </a:prstGeom>
          <a:noFill/>
          <a:ln/>
        </p:spPr>
        <p:txBody>
          <a:bodyPr wrap="square" lIns="0" tIns="0" rIns="0" bIns="0" rtlCol="0" anchor="ctr"/>
          <a:lstStyle/>
          <a:p>
            <a:pPr marL="0" indent="0">
              <a:buNone/>
            </a:pPr>
            <a:r>
              <a:rPr lang="en-US" sz="1200" b="1" dirty="0">
                <a:solidFill>
                  <a:srgbClr val="FFFFFF"/>
                </a:solidFill>
              </a:rPr>
              <a:t>Etapa 1</a:t>
            </a:r>
            <a:endParaRPr lang="en-US" sz="1200" dirty="0"/>
          </a:p>
        </p:txBody>
      </p:sp>
      <p:sp>
        <p:nvSpPr>
          <p:cNvPr id="8" name="Text 6"/>
          <p:cNvSpPr/>
          <p:nvPr/>
        </p:nvSpPr>
        <p:spPr>
          <a:xfrm>
            <a:off x="502920" y="2121408"/>
            <a:ext cx="3749040" cy="384048"/>
          </a:xfrm>
          <a:prstGeom prst="rect">
            <a:avLst/>
          </a:prstGeom>
          <a:noFill/>
          <a:ln/>
        </p:spPr>
        <p:txBody>
          <a:bodyPr wrap="square" lIns="0" tIns="0" rIns="0" bIns="0" rtlCol="0" anchor="ctr"/>
          <a:lstStyle/>
          <a:p>
            <a:pPr marL="0" indent="0">
              <a:buNone/>
            </a:pPr>
            <a:r>
              <a:rPr lang="en-US" sz="1100" dirty="0">
                <a:solidFill>
                  <a:srgbClr val="B8D0E4"/>
                </a:solidFill>
              </a:rPr>
              <a:t>Angélica propone: 'Tomo X, te doy (12−X)' a Tommy.</a:t>
            </a:r>
            <a:endParaRPr lang="en-US" sz="1100" dirty="0"/>
          </a:p>
        </p:txBody>
      </p:sp>
      <p:sp>
        <p:nvSpPr>
          <p:cNvPr id="9" name="Shape 7"/>
          <p:cNvSpPr/>
          <p:nvPr/>
        </p:nvSpPr>
        <p:spPr>
          <a:xfrm>
            <a:off x="4754880" y="1737360"/>
            <a:ext cx="4114800" cy="841248"/>
          </a:xfrm>
          <a:prstGeom prst="rect">
            <a:avLst/>
          </a:prstGeom>
          <a:solidFill>
            <a:srgbClr val="132235"/>
          </a:solidFill>
          <a:ln w="12700">
            <a:solidFill>
              <a:srgbClr val="14A896"/>
            </a:solidFill>
            <a:prstDash val="solid"/>
          </a:ln>
        </p:spPr>
        <p:txBody>
          <a:bodyPr/>
          <a:lstStyle/>
          <a:p>
            <a:endParaRPr lang="es-AR"/>
          </a:p>
        </p:txBody>
      </p:sp>
      <p:sp>
        <p:nvSpPr>
          <p:cNvPr id="10" name="Text 8"/>
          <p:cNvSpPr/>
          <p:nvPr/>
        </p:nvSpPr>
        <p:spPr>
          <a:xfrm>
            <a:off x="4937760" y="1810512"/>
            <a:ext cx="3749040" cy="292608"/>
          </a:xfrm>
          <a:prstGeom prst="rect">
            <a:avLst/>
          </a:prstGeom>
          <a:noFill/>
          <a:ln/>
        </p:spPr>
        <p:txBody>
          <a:bodyPr wrap="square" lIns="0" tIns="0" rIns="0" bIns="0" rtlCol="0" anchor="ctr"/>
          <a:lstStyle/>
          <a:p>
            <a:pPr marL="0" indent="0">
              <a:buNone/>
            </a:pPr>
            <a:r>
              <a:rPr lang="en-US" sz="1200" b="1" dirty="0">
                <a:solidFill>
                  <a:srgbClr val="FFFFFF"/>
                </a:solidFill>
              </a:rPr>
              <a:t>Etapa 2a — Tommy acepta</a:t>
            </a:r>
            <a:endParaRPr lang="en-US" sz="1200" dirty="0"/>
          </a:p>
        </p:txBody>
      </p:sp>
      <p:sp>
        <p:nvSpPr>
          <p:cNvPr id="11" name="Text 9"/>
          <p:cNvSpPr/>
          <p:nvPr/>
        </p:nvSpPr>
        <p:spPr>
          <a:xfrm>
            <a:off x="4937760" y="2121408"/>
            <a:ext cx="3749040" cy="384048"/>
          </a:xfrm>
          <a:prstGeom prst="rect">
            <a:avLst/>
          </a:prstGeom>
          <a:noFill/>
          <a:ln/>
        </p:spPr>
        <p:txBody>
          <a:bodyPr wrap="square" lIns="0" tIns="0" rIns="0" bIns="0" rtlCol="0" anchor="ctr"/>
          <a:lstStyle/>
          <a:p>
            <a:pPr marL="0" indent="0">
              <a:buNone/>
            </a:pPr>
            <a:r>
              <a:rPr lang="en-US" sz="1100" dirty="0">
                <a:solidFill>
                  <a:srgbClr val="B8D0E4"/>
                </a:solidFill>
              </a:rPr>
              <a:t>Se implementa la oferta. Angélica: X, Tommy: 12−X.</a:t>
            </a:r>
            <a:endParaRPr lang="en-US" sz="1100" dirty="0"/>
          </a:p>
        </p:txBody>
      </p:sp>
      <p:sp>
        <p:nvSpPr>
          <p:cNvPr id="12" name="Shape 10"/>
          <p:cNvSpPr/>
          <p:nvPr/>
        </p:nvSpPr>
        <p:spPr>
          <a:xfrm>
            <a:off x="320040" y="2761488"/>
            <a:ext cx="4114800" cy="841248"/>
          </a:xfrm>
          <a:prstGeom prst="rect">
            <a:avLst/>
          </a:prstGeom>
          <a:solidFill>
            <a:srgbClr val="132235"/>
          </a:solidFill>
          <a:ln w="12700">
            <a:solidFill>
              <a:srgbClr val="14A896"/>
            </a:solidFill>
            <a:prstDash val="solid"/>
          </a:ln>
        </p:spPr>
        <p:txBody>
          <a:bodyPr/>
          <a:lstStyle/>
          <a:p>
            <a:endParaRPr lang="es-AR"/>
          </a:p>
        </p:txBody>
      </p:sp>
      <p:sp>
        <p:nvSpPr>
          <p:cNvPr id="13" name="Text 11"/>
          <p:cNvSpPr/>
          <p:nvPr/>
        </p:nvSpPr>
        <p:spPr>
          <a:xfrm>
            <a:off x="502920" y="2834640"/>
            <a:ext cx="3749040" cy="292608"/>
          </a:xfrm>
          <a:prstGeom prst="rect">
            <a:avLst/>
          </a:prstGeom>
          <a:noFill/>
          <a:ln/>
        </p:spPr>
        <p:txBody>
          <a:bodyPr wrap="square" lIns="0" tIns="0" rIns="0" bIns="0" rtlCol="0" anchor="ctr"/>
          <a:lstStyle/>
          <a:p>
            <a:pPr marL="0" indent="0">
              <a:buNone/>
            </a:pPr>
            <a:r>
              <a:rPr lang="en-US" sz="1200" b="1" dirty="0">
                <a:solidFill>
                  <a:srgbClr val="FFFFFF"/>
                </a:solidFill>
              </a:rPr>
              <a:t>Etapa 2b — Tommy rechaza directamente</a:t>
            </a:r>
            <a:endParaRPr lang="en-US" sz="1200" dirty="0"/>
          </a:p>
        </p:txBody>
      </p:sp>
      <p:sp>
        <p:nvSpPr>
          <p:cNvPr id="14" name="Text 12"/>
          <p:cNvSpPr/>
          <p:nvPr/>
        </p:nvSpPr>
        <p:spPr>
          <a:xfrm>
            <a:off x="502920" y="3145536"/>
            <a:ext cx="3749040" cy="384048"/>
          </a:xfrm>
          <a:prstGeom prst="rect">
            <a:avLst/>
          </a:prstGeom>
          <a:noFill/>
          <a:ln/>
        </p:spPr>
        <p:txBody>
          <a:bodyPr wrap="square" lIns="0" tIns="0" rIns="0" bIns="0" rtlCol="0" anchor="ctr"/>
          <a:lstStyle/>
          <a:p>
            <a:pPr marL="0" indent="0">
              <a:buNone/>
            </a:pPr>
            <a:r>
              <a:rPr lang="en-US" sz="1100" dirty="0">
                <a:solidFill>
                  <a:srgbClr val="B8D0E4"/>
                </a:solidFill>
              </a:rPr>
              <a:t>Ambos reciben 0.</a:t>
            </a:r>
            <a:endParaRPr lang="en-US" sz="1100" dirty="0"/>
          </a:p>
        </p:txBody>
      </p:sp>
      <p:sp>
        <p:nvSpPr>
          <p:cNvPr id="15" name="Shape 13"/>
          <p:cNvSpPr/>
          <p:nvPr/>
        </p:nvSpPr>
        <p:spPr>
          <a:xfrm>
            <a:off x="4754880" y="2761488"/>
            <a:ext cx="4114800" cy="841248"/>
          </a:xfrm>
          <a:prstGeom prst="rect">
            <a:avLst/>
          </a:prstGeom>
          <a:solidFill>
            <a:srgbClr val="132235"/>
          </a:solidFill>
          <a:ln w="12700">
            <a:solidFill>
              <a:srgbClr val="14A896"/>
            </a:solidFill>
            <a:prstDash val="solid"/>
          </a:ln>
        </p:spPr>
        <p:txBody>
          <a:bodyPr/>
          <a:lstStyle/>
          <a:p>
            <a:endParaRPr lang="es-AR"/>
          </a:p>
        </p:txBody>
      </p:sp>
      <p:sp>
        <p:nvSpPr>
          <p:cNvPr id="16" name="Text 14"/>
          <p:cNvSpPr/>
          <p:nvPr/>
        </p:nvSpPr>
        <p:spPr>
          <a:xfrm>
            <a:off x="4937760" y="2834640"/>
            <a:ext cx="3749040" cy="292608"/>
          </a:xfrm>
          <a:prstGeom prst="rect">
            <a:avLst/>
          </a:prstGeom>
          <a:noFill/>
          <a:ln/>
        </p:spPr>
        <p:txBody>
          <a:bodyPr wrap="square" lIns="0" tIns="0" rIns="0" bIns="0" rtlCol="0" anchor="ctr"/>
          <a:lstStyle/>
          <a:p>
            <a:pPr marL="0" indent="0">
              <a:buNone/>
            </a:pPr>
            <a:r>
              <a:rPr lang="en-US" sz="1200" b="1" dirty="0">
                <a:solidFill>
                  <a:srgbClr val="FFFFFF"/>
                </a:solidFill>
              </a:rPr>
              <a:t>Etapa 2c — Tommy contraoferta</a:t>
            </a:r>
            <a:endParaRPr lang="en-US" sz="1200" dirty="0"/>
          </a:p>
        </p:txBody>
      </p:sp>
      <p:sp>
        <p:nvSpPr>
          <p:cNvPr id="17" name="Text 15"/>
          <p:cNvSpPr/>
          <p:nvPr/>
        </p:nvSpPr>
        <p:spPr>
          <a:xfrm>
            <a:off x="4937760" y="3145536"/>
            <a:ext cx="3749040" cy="384048"/>
          </a:xfrm>
          <a:prstGeom prst="rect">
            <a:avLst/>
          </a:prstGeom>
          <a:noFill/>
          <a:ln/>
        </p:spPr>
        <p:txBody>
          <a:bodyPr wrap="square" lIns="0" tIns="0" rIns="0" bIns="0" rtlCol="0" anchor="ctr"/>
          <a:lstStyle/>
          <a:p>
            <a:pPr marL="0" indent="0">
              <a:buNone/>
            </a:pPr>
            <a:r>
              <a:rPr lang="en-US" sz="1100" dirty="0">
                <a:solidFill>
                  <a:srgbClr val="B8D0E4"/>
                </a:solidFill>
              </a:rPr>
              <a:t>Tommy propone: 'Me quedo (12−Y), te doy Y' a Angélica.</a:t>
            </a:r>
            <a:endParaRPr lang="en-US" sz="1100" dirty="0"/>
          </a:p>
        </p:txBody>
      </p:sp>
      <p:sp>
        <p:nvSpPr>
          <p:cNvPr id="18" name="Shape 16"/>
          <p:cNvSpPr/>
          <p:nvPr/>
        </p:nvSpPr>
        <p:spPr>
          <a:xfrm>
            <a:off x="320040" y="3785616"/>
            <a:ext cx="4114800" cy="841248"/>
          </a:xfrm>
          <a:prstGeom prst="rect">
            <a:avLst/>
          </a:prstGeom>
          <a:solidFill>
            <a:srgbClr val="132235"/>
          </a:solidFill>
          <a:ln w="12700">
            <a:solidFill>
              <a:srgbClr val="14A896"/>
            </a:solidFill>
            <a:prstDash val="solid"/>
          </a:ln>
        </p:spPr>
        <p:txBody>
          <a:bodyPr/>
          <a:lstStyle/>
          <a:p>
            <a:endParaRPr lang="es-AR"/>
          </a:p>
        </p:txBody>
      </p:sp>
      <p:sp>
        <p:nvSpPr>
          <p:cNvPr id="19" name="Text 17"/>
          <p:cNvSpPr/>
          <p:nvPr/>
        </p:nvSpPr>
        <p:spPr>
          <a:xfrm>
            <a:off x="502920" y="3858768"/>
            <a:ext cx="3749040" cy="292608"/>
          </a:xfrm>
          <a:prstGeom prst="rect">
            <a:avLst/>
          </a:prstGeom>
          <a:noFill/>
          <a:ln/>
        </p:spPr>
        <p:txBody>
          <a:bodyPr wrap="square" lIns="0" tIns="0" rIns="0" bIns="0" rtlCol="0" anchor="ctr"/>
          <a:lstStyle/>
          <a:p>
            <a:pPr marL="0" indent="0">
              <a:buNone/>
            </a:pPr>
            <a:r>
              <a:rPr lang="en-US" sz="1200" b="1" dirty="0">
                <a:solidFill>
                  <a:srgbClr val="FFFFFF"/>
                </a:solidFill>
              </a:rPr>
              <a:t>Etapa 3a — Angélica acepta la contra</a:t>
            </a:r>
            <a:endParaRPr lang="en-US" sz="1200" dirty="0"/>
          </a:p>
        </p:txBody>
      </p:sp>
      <p:sp>
        <p:nvSpPr>
          <p:cNvPr id="20" name="Text 18"/>
          <p:cNvSpPr/>
          <p:nvPr/>
        </p:nvSpPr>
        <p:spPr>
          <a:xfrm>
            <a:off x="502920" y="4169664"/>
            <a:ext cx="3749040" cy="384048"/>
          </a:xfrm>
          <a:prstGeom prst="rect">
            <a:avLst/>
          </a:prstGeom>
          <a:noFill/>
          <a:ln/>
        </p:spPr>
        <p:txBody>
          <a:bodyPr wrap="square" lIns="0" tIns="0" rIns="0" bIns="0" rtlCol="0" anchor="ctr"/>
          <a:lstStyle/>
          <a:p>
            <a:pPr marL="0" indent="0">
              <a:buNone/>
            </a:pPr>
            <a:r>
              <a:rPr lang="en-US" sz="1100" dirty="0">
                <a:solidFill>
                  <a:srgbClr val="B8D0E4"/>
                </a:solidFill>
              </a:rPr>
              <a:t>Tommy: 12−Y, Angélica: Y.</a:t>
            </a:r>
            <a:endParaRPr lang="en-US" sz="1100" dirty="0"/>
          </a:p>
        </p:txBody>
      </p:sp>
      <p:sp>
        <p:nvSpPr>
          <p:cNvPr id="21" name="Shape 19"/>
          <p:cNvSpPr/>
          <p:nvPr/>
        </p:nvSpPr>
        <p:spPr>
          <a:xfrm>
            <a:off x="4754880" y="3785616"/>
            <a:ext cx="4114800" cy="841248"/>
          </a:xfrm>
          <a:prstGeom prst="rect">
            <a:avLst/>
          </a:prstGeom>
          <a:solidFill>
            <a:srgbClr val="132235"/>
          </a:solidFill>
          <a:ln w="12700">
            <a:solidFill>
              <a:srgbClr val="14A896"/>
            </a:solidFill>
            <a:prstDash val="solid"/>
          </a:ln>
        </p:spPr>
        <p:txBody>
          <a:bodyPr/>
          <a:lstStyle/>
          <a:p>
            <a:endParaRPr lang="es-AR"/>
          </a:p>
        </p:txBody>
      </p:sp>
      <p:sp>
        <p:nvSpPr>
          <p:cNvPr id="22" name="Text 20"/>
          <p:cNvSpPr/>
          <p:nvPr/>
        </p:nvSpPr>
        <p:spPr>
          <a:xfrm>
            <a:off x="4937760" y="3858768"/>
            <a:ext cx="3749040" cy="292608"/>
          </a:xfrm>
          <a:prstGeom prst="rect">
            <a:avLst/>
          </a:prstGeom>
          <a:noFill/>
          <a:ln/>
        </p:spPr>
        <p:txBody>
          <a:bodyPr wrap="square" lIns="0" tIns="0" rIns="0" bIns="0" rtlCol="0" anchor="ctr"/>
          <a:lstStyle/>
          <a:p>
            <a:pPr marL="0" indent="0">
              <a:buNone/>
            </a:pPr>
            <a:r>
              <a:rPr lang="en-US" sz="1200" b="1" dirty="0">
                <a:solidFill>
                  <a:srgbClr val="FFFFFF"/>
                </a:solidFill>
              </a:rPr>
              <a:t>Etapa 3b — Angélica rechaza</a:t>
            </a:r>
            <a:endParaRPr lang="en-US" sz="1200" dirty="0"/>
          </a:p>
        </p:txBody>
      </p:sp>
      <p:sp>
        <p:nvSpPr>
          <p:cNvPr id="23" name="Text 21"/>
          <p:cNvSpPr/>
          <p:nvPr/>
        </p:nvSpPr>
        <p:spPr>
          <a:xfrm>
            <a:off x="4937760" y="4169664"/>
            <a:ext cx="3749040" cy="384048"/>
          </a:xfrm>
          <a:prstGeom prst="rect">
            <a:avLst/>
          </a:prstGeom>
          <a:noFill/>
          <a:ln/>
        </p:spPr>
        <p:txBody>
          <a:bodyPr wrap="square" lIns="0" tIns="0" rIns="0" bIns="0" rtlCol="0" anchor="ctr"/>
          <a:lstStyle/>
          <a:p>
            <a:pPr marL="0" indent="0">
              <a:buNone/>
            </a:pPr>
            <a:r>
              <a:rPr lang="en-US" sz="1100" dirty="0">
                <a:solidFill>
                  <a:srgbClr val="B8D0E4"/>
                </a:solidFill>
              </a:rPr>
              <a:t>Ambos reciben 0.</a:t>
            </a:r>
            <a:endParaRPr lang="en-US" sz="1100" dirty="0"/>
          </a:p>
        </p:txBody>
      </p:sp>
      <p:sp>
        <p:nvSpPr>
          <p:cNvPr id="24" name="Shape 22"/>
          <p:cNvSpPr/>
          <p:nvPr/>
        </p:nvSpPr>
        <p:spPr>
          <a:xfrm>
            <a:off x="320040" y="4617720"/>
            <a:ext cx="8503920" cy="475488"/>
          </a:xfrm>
          <a:prstGeom prst="rect">
            <a:avLst/>
          </a:prstGeom>
          <a:solidFill>
            <a:srgbClr val="0F7B6C"/>
          </a:solidFill>
          <a:ln w="12700">
            <a:solidFill>
              <a:srgbClr val="0F7B6C"/>
            </a:solidFill>
            <a:prstDash val="solid"/>
          </a:ln>
        </p:spPr>
        <p:txBody>
          <a:bodyPr/>
          <a:lstStyle/>
          <a:p>
            <a:endParaRPr lang="es-AR"/>
          </a:p>
        </p:txBody>
      </p:sp>
      <p:sp>
        <p:nvSpPr>
          <p:cNvPr id="25" name="Text 23"/>
          <p:cNvSpPr/>
          <p:nvPr/>
        </p:nvSpPr>
        <p:spPr>
          <a:xfrm>
            <a:off x="502920" y="4654296"/>
            <a:ext cx="8138160" cy="402336"/>
          </a:xfrm>
          <a:prstGeom prst="rect">
            <a:avLst/>
          </a:prstGeom>
          <a:noFill/>
          <a:ln/>
        </p:spPr>
        <p:txBody>
          <a:bodyPr wrap="square" lIns="0" tIns="0" rIns="0" bIns="0" rtlCol="0" anchor="ctr"/>
          <a:lstStyle/>
          <a:p>
            <a:pPr marL="0" indent="0">
              <a:buNone/>
            </a:pPr>
            <a:r>
              <a:rPr lang="en-US" sz="1100" b="1" dirty="0">
                <a:solidFill>
                  <a:srgbClr val="FFFFFF"/>
                </a:solidFill>
              </a:rPr>
              <a:t>RESULTADO: Resolviendo hacia atrás → Tommy puede garantizarse 11 galletas. Por eso Angélica debe ofrecerle 11 (se queda con 1). ¡El poder se invierte!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Comparación: Ultimátum vs. Doble Ultimátum</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3977638"/>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68234">
                <a:tc>
                  <a:txBody>
                    <a:bodyPr/>
                    <a:lstStyle/>
                    <a:p>
                      <a:pPr marL="0" indent="0" algn="l">
                        <a:buNone/>
                      </a:pPr>
                      <a:r>
                        <a:rPr lang="en-US" sz="1100" b="1" dirty="0">
                          <a:solidFill>
                            <a:srgbClr val="FFFFFF"/>
                          </a:solidFill>
                        </a:rPr>
                        <a:t>ASPECTO</a:t>
                      </a:r>
                      <a:endParaRPr lang="en-US" sz="11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tc>
                  <a:txBody>
                    <a:bodyPr/>
                    <a:lstStyle/>
                    <a:p>
                      <a:pPr marL="0" indent="0" algn="ctr">
                        <a:buNone/>
                      </a:pPr>
                      <a:r>
                        <a:rPr lang="en-US" sz="1100" b="1" dirty="0">
                          <a:solidFill>
                            <a:srgbClr val="FFFFFF"/>
                          </a:solidFill>
                        </a:rPr>
                        <a:t>ULTIMÁTUM SIMPLE</a:t>
                      </a:r>
                      <a:endParaRPr lang="en-US" sz="11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tc>
                  <a:txBody>
                    <a:bodyPr/>
                    <a:lstStyle/>
                    <a:p>
                      <a:pPr marL="0" indent="0" algn="ctr">
                        <a:buNone/>
                      </a:pPr>
                      <a:r>
                        <a:rPr lang="en-US" sz="1100" b="1" dirty="0">
                          <a:solidFill>
                            <a:srgbClr val="FFFFFF"/>
                          </a:solidFill>
                        </a:rPr>
                        <a:t>DOBLE ULTIMÁTUM</a:t>
                      </a:r>
                      <a:endParaRPr lang="en-US" sz="11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68234">
                <a:tc>
                  <a:txBody>
                    <a:bodyPr/>
                    <a:lstStyle/>
                    <a:p>
                      <a:pPr marL="0" indent="0" algn="l">
                        <a:buNone/>
                      </a:pPr>
                      <a:r>
                        <a:rPr lang="en-US" sz="1200" b="1" dirty="0">
                          <a:solidFill>
                            <a:srgbClr val="1A2744"/>
                          </a:solidFill>
                        </a:rPr>
                        <a:t>Opciones de J2 (Tommy)</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2030"/>
                          </a:solidFill>
                        </a:rPr>
                        <a:t>Aceptar o Rechazar</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2030"/>
                          </a:solidFill>
                        </a:rPr>
                        <a:t>Aceptar, Rechazar, o Contraofertar</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8234">
                <a:tc>
                  <a:txBody>
                    <a:bodyPr/>
                    <a:lstStyle/>
                    <a:p>
                      <a:pPr marL="0" indent="0" algn="l">
                        <a:buNone/>
                      </a:pPr>
                      <a:r>
                        <a:rPr lang="en-US" sz="1200" b="1" dirty="0">
                          <a:solidFill>
                            <a:srgbClr val="1A2744"/>
                          </a:solidFill>
                        </a:rPr>
                        <a:t>Poder de J2</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lgn="ctr">
                        <a:buNone/>
                      </a:pPr>
                      <a:r>
                        <a:rPr lang="en-US" sz="1200" dirty="0">
                          <a:solidFill>
                            <a:srgbClr val="102030"/>
                          </a:solidFill>
                        </a:rPr>
                        <a:t>Ninguno (solo amenaza vacía)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lgn="ctr">
                        <a:buNone/>
                      </a:pPr>
                      <a:r>
                        <a:rPr lang="en-US" sz="1200" dirty="0">
                          <a:solidFill>
                            <a:srgbClr val="102030"/>
                          </a:solidFill>
                        </a:rPr>
                        <a:t>Alto: puede contraofertar y quedarse con 11</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extLst>
                  <a:ext uri="{0D108BD9-81ED-4DB2-BD59-A6C34878D82A}">
                    <a16:rowId xmlns:a16="http://schemas.microsoft.com/office/drawing/2014/main" val="10002"/>
                  </a:ext>
                </a:extLst>
              </a:tr>
              <a:tr h="568234">
                <a:tc>
                  <a:txBody>
                    <a:bodyPr/>
                    <a:lstStyle/>
                    <a:p>
                      <a:pPr marL="0" indent="0" algn="l">
                        <a:buNone/>
                      </a:pPr>
                      <a:r>
                        <a:rPr lang="en-US" sz="1200" b="1" dirty="0">
                          <a:solidFill>
                            <a:srgbClr val="1A2744"/>
                          </a:solidFill>
                        </a:rPr>
                        <a:t>Amenaza de J2</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2030"/>
                          </a:solidFill>
                        </a:rPr>
                        <a:t>Rechazar → 0 para ambos (poco creíble)</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2030"/>
                          </a:solidFill>
                        </a:rPr>
                        <a:t>Contraofertar → 11 para sí mismo (MUY creíble)</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8234">
                <a:tc>
                  <a:txBody>
                    <a:bodyPr/>
                    <a:lstStyle/>
                    <a:p>
                      <a:pPr marL="0" indent="0" algn="l">
                        <a:buNone/>
                      </a:pPr>
                      <a:r>
                        <a:rPr lang="en-US" sz="1200" b="1" dirty="0">
                          <a:solidFill>
                            <a:srgbClr val="1A2744"/>
                          </a:solidFill>
                        </a:rPr>
                        <a:t>Resultado ENPS</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lgn="ctr">
                        <a:buNone/>
                      </a:pPr>
                      <a:r>
                        <a:rPr lang="en-US" sz="1200" dirty="0">
                          <a:solidFill>
                            <a:srgbClr val="102030"/>
                          </a:solidFill>
                        </a:rPr>
                        <a:t>Angélica: 11 · Tommy: 1</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lgn="ctr">
                        <a:buNone/>
                      </a:pPr>
                      <a:r>
                        <a:rPr lang="en-US" sz="1200" dirty="0">
                          <a:solidFill>
                            <a:srgbClr val="102030"/>
                          </a:solidFill>
                        </a:rPr>
                        <a:t>Angélica: 1 · Tommy: 11</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extLst>
                  <a:ext uri="{0D108BD9-81ED-4DB2-BD59-A6C34878D82A}">
                    <a16:rowId xmlns:a16="http://schemas.microsoft.com/office/drawing/2014/main" val="10004"/>
                  </a:ext>
                </a:extLst>
              </a:tr>
              <a:tr h="568234">
                <a:tc>
                  <a:txBody>
                    <a:bodyPr/>
                    <a:lstStyle/>
                    <a:p>
                      <a:pPr marL="0" indent="0" algn="l">
                        <a:buNone/>
                      </a:pPr>
                      <a:r>
                        <a:rPr lang="en-US" sz="1200" b="1" dirty="0">
                          <a:solidFill>
                            <a:srgbClr val="1A2744"/>
                          </a:solidFill>
                        </a:rPr>
                        <a:t>¿Quién manda?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2030"/>
                          </a:solidFill>
                        </a:rPr>
                        <a:t>Proponente (J1)</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02030"/>
                          </a:solidFill>
                        </a:rPr>
                        <a:t>Respondedor (J2) por contraoferta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8234">
                <a:tc>
                  <a:txBody>
                    <a:bodyPr/>
                    <a:lstStyle/>
                    <a:p>
                      <a:pPr marL="0" indent="0" algn="l">
                        <a:buNone/>
                      </a:pPr>
                      <a:r>
                        <a:rPr lang="en-US" sz="1200" b="1" dirty="0">
                          <a:solidFill>
                            <a:srgbClr val="1A2744"/>
                          </a:solidFill>
                        </a:rPr>
                        <a:t>Lección</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lgn="ctr">
                        <a:buNone/>
                      </a:pPr>
                      <a:r>
                        <a:rPr lang="en-US" sz="1200" dirty="0">
                          <a:solidFill>
                            <a:srgbClr val="102030"/>
                          </a:solidFill>
                        </a:rPr>
                        <a:t>Moverse primero = ventaja enorme</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lgn="ctr">
                        <a:buNone/>
                      </a:pPr>
                      <a:r>
                        <a:rPr lang="en-US" sz="1200" dirty="0">
                          <a:solidFill>
                            <a:srgbClr val="102030"/>
                          </a:solidFill>
                        </a:rPr>
                        <a:t>Tener alternativas = poder de negociación</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extLst>
                  <a:ext uri="{0D108BD9-81ED-4DB2-BD59-A6C34878D82A}">
                    <a16:rowId xmlns:a16="http://schemas.microsoft.com/office/drawing/2014/main" val="10006"/>
                  </a:ext>
                </a:extLst>
              </a:tr>
            </a:tbl>
          </a:graphicData>
        </a:graphic>
      </p:graphicFrame>
      <p:sp>
        <p:nvSpPr>
          <p:cNvPr id="5" name="Text 2"/>
          <p:cNvSpPr/>
          <p:nvPr/>
        </p:nvSpPr>
        <p:spPr>
          <a:xfrm>
            <a:off x="320040" y="5029200"/>
            <a:ext cx="8503920" cy="0"/>
          </a:xfrm>
          <a:prstGeom prst="rect">
            <a:avLst/>
          </a:prstGeom>
          <a:noFill/>
          <a:ln/>
        </p:spPr>
        <p:txBody>
          <a:bodyPr wrap="square" rtlCol="0" anchor="ctr"/>
          <a:lstStyle/>
          <a:p>
            <a:pPr marL="0" indent="0">
              <a:buNone/>
            </a:pPr>
            <a:r>
              <a:rPr lang="en-US" sz="1100" b="1" i="1" dirty="0">
                <a:solidFill>
                  <a:srgbClr val="C0392B"/>
                </a:solidFill>
              </a:rPr>
              <a:t>💡  TRAMPA CONCEPTUAL: 'Quien mueve primero siempre tiene ventaja' — FALSO. Depende de qué opciones tiene el rival.</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Modelo de Rubinstein — Negociación con Rondas Infinitas</a:t>
            </a:r>
            <a:endParaRPr lang="en-US" sz="2200" dirty="0"/>
          </a:p>
        </p:txBody>
      </p:sp>
      <p:sp>
        <p:nvSpPr>
          <p:cNvPr id="4" name="Shape 2"/>
          <p:cNvSpPr/>
          <p:nvPr/>
        </p:nvSpPr>
        <p:spPr>
          <a:xfrm>
            <a:off x="320040" y="960120"/>
            <a:ext cx="8503920" cy="658368"/>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250" i="1" dirty="0">
                <a:solidFill>
                  <a:srgbClr val="FFFFFF"/>
                </a:solidFill>
              </a:rPr>
              <a:t>IDEA CENTRAL: Cuando las negociaciones pueden durar infinitamente, el poder no viene de quién habla primero, sino de quién puede permitirse ESPERAR (la paciencia).</a:t>
            </a:r>
            <a:endParaRPr lang="en-US" sz="1250" dirty="0"/>
          </a:p>
        </p:txBody>
      </p:sp>
      <p:sp>
        <p:nvSpPr>
          <p:cNvPr id="6" name="Shape 4"/>
          <p:cNvSpPr/>
          <p:nvPr/>
        </p:nvSpPr>
        <p:spPr>
          <a:xfrm>
            <a:off x="320040" y="1783080"/>
            <a:ext cx="8503920" cy="841248"/>
          </a:xfrm>
          <a:prstGeom prst="rect">
            <a:avLst/>
          </a:prstGeom>
          <a:solidFill>
            <a:srgbClr val="132235"/>
          </a:solidFill>
          <a:ln w="12700">
            <a:solidFill>
              <a:srgbClr val="C05050"/>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1847088"/>
            <a:ext cx="3657600" cy="320040"/>
          </a:xfrm>
          <a:prstGeom prst="rect">
            <a:avLst/>
          </a:prstGeom>
          <a:noFill/>
          <a:ln/>
        </p:spPr>
        <p:txBody>
          <a:bodyPr wrap="square" lIns="0" tIns="0" rIns="0" bIns="0" rtlCol="0" anchor="ctr"/>
          <a:lstStyle/>
          <a:p>
            <a:pPr marL="0" indent="0">
              <a:buNone/>
            </a:pPr>
            <a:r>
              <a:rPr lang="en-US" sz="1300" b="1" dirty="0">
                <a:solidFill>
                  <a:srgbClr val="FFFFFF"/>
                </a:solidFill>
              </a:rPr>
              <a:t>Ultimátum (1 turno)</a:t>
            </a:r>
            <a:endParaRPr lang="en-US" sz="1300" dirty="0"/>
          </a:p>
        </p:txBody>
      </p:sp>
      <p:sp>
        <p:nvSpPr>
          <p:cNvPr id="8" name="Text 6"/>
          <p:cNvSpPr/>
          <p:nvPr/>
        </p:nvSpPr>
        <p:spPr>
          <a:xfrm>
            <a:off x="502920" y="2176272"/>
            <a:ext cx="7955280" cy="384048"/>
          </a:xfrm>
          <a:prstGeom prst="rect">
            <a:avLst/>
          </a:prstGeom>
          <a:noFill/>
          <a:ln/>
        </p:spPr>
        <p:txBody>
          <a:bodyPr wrap="square" lIns="0" tIns="0" rIns="0" bIns="0" rtlCol="0" anchor="ctr"/>
          <a:lstStyle/>
          <a:p>
            <a:pPr marL="0" indent="0">
              <a:buNone/>
            </a:pPr>
            <a:r>
              <a:rPr lang="en-US" sz="1200" dirty="0">
                <a:solidFill>
                  <a:srgbClr val="B8D0E4"/>
                </a:solidFill>
              </a:rPr>
              <a:t>J2 no tiene poder. Resultado: reparto extremo (casi todo para J1).</a:t>
            </a:r>
            <a:endParaRPr lang="en-US" sz="1200" dirty="0"/>
          </a:p>
        </p:txBody>
      </p:sp>
      <p:sp>
        <p:nvSpPr>
          <p:cNvPr id="9" name="Shape 7"/>
          <p:cNvSpPr/>
          <p:nvPr/>
        </p:nvSpPr>
        <p:spPr>
          <a:xfrm>
            <a:off x="320040" y="2788920"/>
            <a:ext cx="8503920" cy="841248"/>
          </a:xfrm>
          <a:prstGeom prst="rect">
            <a:avLst/>
          </a:prstGeom>
          <a:solidFill>
            <a:srgbClr val="132235"/>
          </a:solidFill>
          <a:ln w="12700">
            <a:solidFill>
              <a:srgbClr val="B07030"/>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8"/>
          <p:cNvSpPr/>
          <p:nvPr/>
        </p:nvSpPr>
        <p:spPr>
          <a:xfrm>
            <a:off x="502920" y="2852928"/>
            <a:ext cx="3657600" cy="320040"/>
          </a:xfrm>
          <a:prstGeom prst="rect">
            <a:avLst/>
          </a:prstGeom>
          <a:noFill/>
          <a:ln/>
        </p:spPr>
        <p:txBody>
          <a:bodyPr wrap="square" lIns="0" tIns="0" rIns="0" bIns="0" rtlCol="0" anchor="ctr"/>
          <a:lstStyle/>
          <a:p>
            <a:pPr marL="0" indent="0">
              <a:buNone/>
            </a:pPr>
            <a:r>
              <a:rPr lang="en-US" sz="1300" b="1" dirty="0">
                <a:solidFill>
                  <a:srgbClr val="FFFFFF"/>
                </a:solidFill>
              </a:rPr>
              <a:t>Doble Ultimátum (2 turnos)</a:t>
            </a:r>
            <a:endParaRPr lang="en-US" sz="1300" dirty="0"/>
          </a:p>
        </p:txBody>
      </p:sp>
      <p:sp>
        <p:nvSpPr>
          <p:cNvPr id="11" name="Text 9"/>
          <p:cNvSpPr/>
          <p:nvPr/>
        </p:nvSpPr>
        <p:spPr>
          <a:xfrm>
            <a:off x="502920" y="3182112"/>
            <a:ext cx="7955280" cy="384048"/>
          </a:xfrm>
          <a:prstGeom prst="rect">
            <a:avLst/>
          </a:prstGeom>
          <a:noFill/>
          <a:ln/>
        </p:spPr>
        <p:txBody>
          <a:bodyPr wrap="square" lIns="0" tIns="0" rIns="0" bIns="0" rtlCol="0" anchor="ctr"/>
          <a:lstStyle/>
          <a:p>
            <a:pPr marL="0" indent="0">
              <a:buNone/>
            </a:pPr>
            <a:r>
              <a:rPr lang="en-US" sz="1200" dirty="0">
                <a:solidFill>
                  <a:srgbClr val="B8D0E4"/>
                </a:solidFill>
              </a:rPr>
              <a:t>J2 contraoferta → poder se invierte. Resultado cambia drásticamente.</a:t>
            </a:r>
            <a:endParaRPr lang="en-US" sz="1200" dirty="0"/>
          </a:p>
        </p:txBody>
      </p:sp>
      <p:sp>
        <p:nvSpPr>
          <p:cNvPr id="12" name="Shape 10"/>
          <p:cNvSpPr/>
          <p:nvPr/>
        </p:nvSpPr>
        <p:spPr>
          <a:xfrm>
            <a:off x="320040" y="3794760"/>
            <a:ext cx="8503920" cy="841248"/>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3" name="Text 11"/>
          <p:cNvSpPr/>
          <p:nvPr/>
        </p:nvSpPr>
        <p:spPr>
          <a:xfrm>
            <a:off x="502920" y="3858768"/>
            <a:ext cx="3657600" cy="320040"/>
          </a:xfrm>
          <a:prstGeom prst="rect">
            <a:avLst/>
          </a:prstGeom>
          <a:noFill/>
          <a:ln/>
        </p:spPr>
        <p:txBody>
          <a:bodyPr wrap="square" lIns="0" tIns="0" rIns="0" bIns="0" rtlCol="0" anchor="ctr"/>
          <a:lstStyle/>
          <a:p>
            <a:pPr marL="0" indent="0">
              <a:buNone/>
            </a:pPr>
            <a:r>
              <a:rPr lang="en-US" sz="1300" b="1" dirty="0">
                <a:solidFill>
                  <a:srgbClr val="FFFFFF"/>
                </a:solidFill>
              </a:rPr>
              <a:t>Rubinstein (∞ turnos)</a:t>
            </a:r>
            <a:endParaRPr lang="en-US" sz="1300" dirty="0"/>
          </a:p>
        </p:txBody>
      </p:sp>
      <p:sp>
        <p:nvSpPr>
          <p:cNvPr id="14" name="Text 12"/>
          <p:cNvSpPr/>
          <p:nvPr/>
        </p:nvSpPr>
        <p:spPr>
          <a:xfrm>
            <a:off x="502920" y="4187952"/>
            <a:ext cx="7955280" cy="384048"/>
          </a:xfrm>
          <a:prstGeom prst="rect">
            <a:avLst/>
          </a:prstGeom>
          <a:noFill/>
          <a:ln/>
        </p:spPr>
        <p:txBody>
          <a:bodyPr wrap="square" lIns="0" tIns="0" rIns="0" bIns="0" rtlCol="0" anchor="ctr"/>
          <a:lstStyle/>
          <a:p>
            <a:pPr marL="0" indent="0">
              <a:buNone/>
            </a:pPr>
            <a:r>
              <a:rPr lang="en-US" sz="1200" dirty="0">
                <a:solidFill>
                  <a:srgbClr val="B8D0E4"/>
                </a:solidFill>
              </a:rPr>
              <a:t>Nadie tiene 'última palabra'. El poder depende de la paciencia (δ). Resultado equilibrado.</a:t>
            </a:r>
            <a:endParaRPr lang="en-US" sz="1200" dirty="0"/>
          </a:p>
        </p:txBody>
      </p:sp>
      <p:sp>
        <p:nvSpPr>
          <p:cNvPr id="15" name="Shape 13"/>
          <p:cNvSpPr/>
          <p:nvPr/>
        </p:nvSpPr>
        <p:spPr>
          <a:xfrm>
            <a:off x="320040" y="4828032"/>
            <a:ext cx="8503920" cy="228600"/>
          </a:xfrm>
          <a:prstGeom prst="rect">
            <a:avLst/>
          </a:prstGeom>
          <a:solidFill>
            <a:srgbClr val="0F7B6C"/>
          </a:solidFill>
          <a:ln w="12700">
            <a:solidFill>
              <a:srgbClr val="0F7B6C"/>
            </a:solidFill>
            <a:prstDash val="solid"/>
          </a:ln>
        </p:spPr>
        <p:txBody>
          <a:bodyPr/>
          <a:lstStyle/>
          <a:p>
            <a:endParaRPr 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Rubinstein — El Factor de Descuento δ (delta)</a:t>
            </a:r>
            <a:endParaRPr lang="en-US" sz="2200" dirty="0"/>
          </a:p>
        </p:txBody>
      </p:sp>
      <p:sp>
        <p:nvSpPr>
          <p:cNvPr id="4" name="Shape 2"/>
          <p:cNvSpPr/>
          <p:nvPr/>
        </p:nvSpPr>
        <p:spPr>
          <a:xfrm>
            <a:off x="320040" y="960120"/>
            <a:ext cx="8503920" cy="685800"/>
          </a:xfrm>
          <a:prstGeom prst="rect">
            <a:avLst/>
          </a:prstGeom>
          <a:solidFill>
            <a:srgbClr val="162840"/>
          </a:solidFill>
          <a:ln w="12700">
            <a:solidFill>
              <a:srgbClr val="F5A623"/>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300" dirty="0">
                <a:solidFill>
                  <a:srgbClr val="FFFFFF"/>
                </a:solidFill>
              </a:rPr>
              <a:t>δ ∈ (0,1)  →  mide cuánto valora un jugador recibir algo MAÑANA en comparación con HOY. No es probabilidad, es preferencia temporal.</a:t>
            </a:r>
            <a:endParaRPr lang="en-US" sz="1300" dirty="0"/>
          </a:p>
        </p:txBody>
      </p:sp>
      <p:sp>
        <p:nvSpPr>
          <p:cNvPr id="6" name="Shape 4"/>
          <p:cNvSpPr/>
          <p:nvPr/>
        </p:nvSpPr>
        <p:spPr>
          <a:xfrm>
            <a:off x="822960" y="1828800"/>
            <a:ext cx="7498080" cy="182880"/>
          </a:xfrm>
          <a:prstGeom prst="rect">
            <a:avLst/>
          </a:prstGeom>
          <a:solidFill>
            <a:srgbClr val="2A4060"/>
          </a:solidFill>
          <a:ln w="12700">
            <a:solidFill>
              <a:srgbClr val="2A4060"/>
            </a:solidFill>
            <a:prstDash val="solid"/>
          </a:ln>
        </p:spPr>
        <p:txBody>
          <a:bodyPr/>
          <a:lstStyle/>
          <a:p>
            <a:endParaRPr lang="es-AR"/>
          </a:p>
        </p:txBody>
      </p:sp>
      <p:sp>
        <p:nvSpPr>
          <p:cNvPr id="7" name="Shape 5"/>
          <p:cNvSpPr/>
          <p:nvPr/>
        </p:nvSpPr>
        <p:spPr>
          <a:xfrm>
            <a:off x="713232" y="1773936"/>
            <a:ext cx="219456" cy="292608"/>
          </a:xfrm>
          <a:prstGeom prst="ellipse">
            <a:avLst/>
          </a:prstGeom>
          <a:solidFill>
            <a:srgbClr val="C0392B"/>
          </a:solidFill>
          <a:ln w="12700">
            <a:solidFill>
              <a:srgbClr val="C0392B"/>
            </a:solidFill>
            <a:prstDash val="solid"/>
          </a:ln>
        </p:spPr>
        <p:txBody>
          <a:bodyPr/>
          <a:lstStyle/>
          <a:p>
            <a:endParaRPr lang="es-AR"/>
          </a:p>
        </p:txBody>
      </p:sp>
      <p:sp>
        <p:nvSpPr>
          <p:cNvPr id="8" name="Text 6"/>
          <p:cNvSpPr/>
          <p:nvPr/>
        </p:nvSpPr>
        <p:spPr>
          <a:xfrm>
            <a:off x="274320" y="2148840"/>
            <a:ext cx="1097280" cy="320040"/>
          </a:xfrm>
          <a:prstGeom prst="rect">
            <a:avLst/>
          </a:prstGeom>
          <a:noFill/>
          <a:ln/>
        </p:spPr>
        <p:txBody>
          <a:bodyPr wrap="square" lIns="0" tIns="0" rIns="0" bIns="0" rtlCol="0" anchor="ctr"/>
          <a:lstStyle/>
          <a:p>
            <a:pPr marL="0" indent="0" algn="ctr">
              <a:buNone/>
            </a:pPr>
            <a:r>
              <a:rPr lang="en-US" sz="1300" b="1" dirty="0">
                <a:solidFill>
                  <a:srgbClr val="C0392B"/>
                </a:solidFill>
              </a:rPr>
              <a:t>δ → 0</a:t>
            </a:r>
            <a:endParaRPr lang="en-US" sz="1300" dirty="0"/>
          </a:p>
        </p:txBody>
      </p:sp>
      <p:sp>
        <p:nvSpPr>
          <p:cNvPr id="9" name="Text 7"/>
          <p:cNvSpPr/>
          <p:nvPr/>
        </p:nvSpPr>
        <p:spPr>
          <a:xfrm>
            <a:off x="137160" y="2487168"/>
            <a:ext cx="1371600" cy="502920"/>
          </a:xfrm>
          <a:prstGeom prst="rect">
            <a:avLst/>
          </a:prstGeom>
          <a:noFill/>
          <a:ln/>
        </p:spPr>
        <p:txBody>
          <a:bodyPr wrap="square" lIns="0" tIns="0" rIns="0" bIns="0" rtlCol="0" anchor="ctr"/>
          <a:lstStyle/>
          <a:p>
            <a:pPr marL="0" indent="0" algn="ctr">
              <a:buNone/>
            </a:pPr>
            <a:r>
              <a:rPr lang="en-US" sz="1000" dirty="0">
                <a:solidFill>
                  <a:srgbClr val="A8C0D0"/>
                </a:solidFill>
              </a:rPr>
              <a:t>MUY IMPACIENTE</a:t>
            </a:r>
            <a:endParaRPr lang="en-US" sz="1000" dirty="0"/>
          </a:p>
          <a:p>
            <a:pPr marL="0" indent="0" algn="ctr">
              <a:buNone/>
            </a:pPr>
            <a:r>
              <a:rPr lang="en-US" sz="1000" dirty="0">
                <a:solidFill>
                  <a:srgbClr val="A8C0D0"/>
                </a:solidFill>
              </a:rPr>
              <a:t>quiere acuerdo ya</a:t>
            </a:r>
            <a:endParaRPr lang="en-US" sz="1000" dirty="0"/>
          </a:p>
        </p:txBody>
      </p:sp>
      <p:sp>
        <p:nvSpPr>
          <p:cNvPr id="10" name="Shape 8"/>
          <p:cNvSpPr/>
          <p:nvPr/>
        </p:nvSpPr>
        <p:spPr>
          <a:xfrm>
            <a:off x="4325112" y="1773936"/>
            <a:ext cx="219456" cy="292608"/>
          </a:xfrm>
          <a:prstGeom prst="ellipse">
            <a:avLst/>
          </a:prstGeom>
          <a:solidFill>
            <a:srgbClr val="F5A623"/>
          </a:solidFill>
          <a:ln w="12700">
            <a:solidFill>
              <a:srgbClr val="F5A623"/>
            </a:solidFill>
            <a:prstDash val="solid"/>
          </a:ln>
        </p:spPr>
        <p:txBody>
          <a:bodyPr/>
          <a:lstStyle/>
          <a:p>
            <a:endParaRPr lang="es-AR"/>
          </a:p>
        </p:txBody>
      </p:sp>
      <p:sp>
        <p:nvSpPr>
          <p:cNvPr id="11" name="Text 9"/>
          <p:cNvSpPr/>
          <p:nvPr/>
        </p:nvSpPr>
        <p:spPr>
          <a:xfrm>
            <a:off x="3886200" y="2148840"/>
            <a:ext cx="1097280" cy="320040"/>
          </a:xfrm>
          <a:prstGeom prst="rect">
            <a:avLst/>
          </a:prstGeom>
          <a:noFill/>
          <a:ln/>
        </p:spPr>
        <p:txBody>
          <a:bodyPr wrap="square" lIns="0" tIns="0" rIns="0" bIns="0" rtlCol="0" anchor="ctr"/>
          <a:lstStyle/>
          <a:p>
            <a:pPr marL="0" indent="0" algn="ctr">
              <a:buNone/>
            </a:pPr>
            <a:r>
              <a:rPr lang="en-US" sz="1300" b="1" dirty="0">
                <a:solidFill>
                  <a:srgbClr val="F5A623"/>
                </a:solidFill>
              </a:rPr>
              <a:t>δ = 0.5</a:t>
            </a:r>
            <a:endParaRPr lang="en-US" sz="1300" dirty="0"/>
          </a:p>
        </p:txBody>
      </p:sp>
      <p:sp>
        <p:nvSpPr>
          <p:cNvPr id="12" name="Text 10"/>
          <p:cNvSpPr/>
          <p:nvPr/>
        </p:nvSpPr>
        <p:spPr>
          <a:xfrm>
            <a:off x="3749040" y="2487168"/>
            <a:ext cx="1371600" cy="502920"/>
          </a:xfrm>
          <a:prstGeom prst="rect">
            <a:avLst/>
          </a:prstGeom>
          <a:noFill/>
          <a:ln/>
        </p:spPr>
        <p:txBody>
          <a:bodyPr wrap="square" lIns="0" tIns="0" rIns="0" bIns="0" rtlCol="0" anchor="ctr"/>
          <a:lstStyle/>
          <a:p>
            <a:pPr marL="0" indent="0" algn="ctr">
              <a:buNone/>
            </a:pPr>
            <a:r>
              <a:rPr lang="en-US" sz="1000" dirty="0">
                <a:solidFill>
                  <a:srgbClr val="A8C0D0"/>
                </a:solidFill>
              </a:rPr>
              <a:t>NEUTRAL</a:t>
            </a:r>
            <a:endParaRPr lang="en-US" sz="1000" dirty="0"/>
          </a:p>
          <a:p>
            <a:pPr marL="0" indent="0" algn="ctr">
              <a:buNone/>
            </a:pPr>
            <a:r>
              <a:rPr lang="en-US" sz="1000" dirty="0">
                <a:solidFill>
                  <a:srgbClr val="A8C0D0"/>
                </a:solidFill>
              </a:rPr>
              <a:t>umbrales habituales</a:t>
            </a:r>
            <a:endParaRPr lang="en-US" sz="1000" dirty="0"/>
          </a:p>
        </p:txBody>
      </p:sp>
      <p:sp>
        <p:nvSpPr>
          <p:cNvPr id="13" name="Shape 11"/>
          <p:cNvSpPr/>
          <p:nvPr/>
        </p:nvSpPr>
        <p:spPr>
          <a:xfrm>
            <a:off x="7845552" y="1773936"/>
            <a:ext cx="219456" cy="292608"/>
          </a:xfrm>
          <a:prstGeom prst="ellipse">
            <a:avLst/>
          </a:prstGeom>
          <a:solidFill>
            <a:srgbClr val="0F7B6C"/>
          </a:solidFill>
          <a:ln w="12700">
            <a:solidFill>
              <a:srgbClr val="0F7B6C"/>
            </a:solidFill>
            <a:prstDash val="solid"/>
          </a:ln>
        </p:spPr>
        <p:txBody>
          <a:bodyPr/>
          <a:lstStyle/>
          <a:p>
            <a:endParaRPr lang="es-AR"/>
          </a:p>
        </p:txBody>
      </p:sp>
      <p:sp>
        <p:nvSpPr>
          <p:cNvPr id="14" name="Text 12"/>
          <p:cNvSpPr/>
          <p:nvPr/>
        </p:nvSpPr>
        <p:spPr>
          <a:xfrm>
            <a:off x="7406640" y="2148840"/>
            <a:ext cx="1097280" cy="320040"/>
          </a:xfrm>
          <a:prstGeom prst="rect">
            <a:avLst/>
          </a:prstGeom>
          <a:noFill/>
          <a:ln/>
        </p:spPr>
        <p:txBody>
          <a:bodyPr wrap="square" lIns="0" tIns="0" rIns="0" bIns="0" rtlCol="0" anchor="ctr"/>
          <a:lstStyle/>
          <a:p>
            <a:pPr marL="0" indent="0" algn="ctr">
              <a:buNone/>
            </a:pPr>
            <a:r>
              <a:rPr lang="en-US" sz="1300" b="1" dirty="0">
                <a:solidFill>
                  <a:srgbClr val="0F7B6C"/>
                </a:solidFill>
              </a:rPr>
              <a:t>δ → 1</a:t>
            </a:r>
            <a:endParaRPr lang="en-US" sz="1300" dirty="0"/>
          </a:p>
        </p:txBody>
      </p:sp>
      <p:sp>
        <p:nvSpPr>
          <p:cNvPr id="15" name="Text 13"/>
          <p:cNvSpPr/>
          <p:nvPr/>
        </p:nvSpPr>
        <p:spPr>
          <a:xfrm>
            <a:off x="7269480" y="2487168"/>
            <a:ext cx="1371600" cy="502920"/>
          </a:xfrm>
          <a:prstGeom prst="rect">
            <a:avLst/>
          </a:prstGeom>
          <a:noFill/>
          <a:ln/>
        </p:spPr>
        <p:txBody>
          <a:bodyPr wrap="square" lIns="0" tIns="0" rIns="0" bIns="0" rtlCol="0" anchor="ctr"/>
          <a:lstStyle/>
          <a:p>
            <a:pPr marL="0" indent="0" algn="ctr">
              <a:buNone/>
            </a:pPr>
            <a:r>
              <a:rPr lang="en-US" sz="1000" dirty="0">
                <a:solidFill>
                  <a:srgbClr val="A8C0D0"/>
                </a:solidFill>
              </a:rPr>
              <a:t>MUY PACIENTE</a:t>
            </a:r>
            <a:endParaRPr lang="en-US" sz="1000" dirty="0"/>
          </a:p>
          <a:p>
            <a:pPr marL="0" indent="0" algn="ctr">
              <a:buNone/>
            </a:pPr>
            <a:r>
              <a:rPr lang="en-US" sz="1000" dirty="0">
                <a:solidFill>
                  <a:srgbClr val="A8C0D0"/>
                </a:solidFill>
              </a:rPr>
              <a:t>esperar no le molesta</a:t>
            </a:r>
            <a:endParaRPr lang="en-US" sz="1000" dirty="0"/>
          </a:p>
        </p:txBody>
      </p:sp>
      <p:sp>
        <p:nvSpPr>
          <p:cNvPr id="16" name="Shape 14"/>
          <p:cNvSpPr/>
          <p:nvPr/>
        </p:nvSpPr>
        <p:spPr>
          <a:xfrm>
            <a:off x="320040" y="3200400"/>
            <a:ext cx="4069080" cy="141732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7" name="Text 15"/>
          <p:cNvSpPr/>
          <p:nvPr/>
        </p:nvSpPr>
        <p:spPr>
          <a:xfrm>
            <a:off x="502920" y="3273552"/>
            <a:ext cx="3703320" cy="347472"/>
          </a:xfrm>
          <a:prstGeom prst="rect">
            <a:avLst/>
          </a:prstGeom>
          <a:noFill/>
          <a:ln/>
        </p:spPr>
        <p:txBody>
          <a:bodyPr wrap="square" lIns="0" tIns="0" rIns="0" bIns="0" rtlCol="0" anchor="ctr"/>
          <a:lstStyle/>
          <a:p>
            <a:pPr marL="0" indent="0">
              <a:buNone/>
            </a:pPr>
            <a:r>
              <a:rPr lang="en-US" sz="1200" b="1" dirty="0">
                <a:solidFill>
                  <a:srgbClr val="FFFFFF"/>
                </a:solidFill>
              </a:rPr>
              <a:t>RESULTADO con 12 galletas</a:t>
            </a:r>
            <a:endParaRPr lang="en-US" sz="1200" dirty="0"/>
          </a:p>
        </p:txBody>
      </p:sp>
      <p:sp>
        <p:nvSpPr>
          <p:cNvPr id="18" name="Text 16"/>
          <p:cNvSpPr/>
          <p:nvPr/>
        </p:nvSpPr>
        <p:spPr>
          <a:xfrm>
            <a:off x="502920" y="3657600"/>
            <a:ext cx="3703320" cy="822960"/>
          </a:xfrm>
          <a:prstGeom prst="rect">
            <a:avLst/>
          </a:prstGeom>
          <a:noFill/>
          <a:ln/>
        </p:spPr>
        <p:txBody>
          <a:bodyPr wrap="square" lIns="0" tIns="0" rIns="0" bIns="0" rtlCol="0" anchor="ctr"/>
          <a:lstStyle/>
          <a:p>
            <a:pPr marL="0" indent="0">
              <a:buNone/>
            </a:pPr>
            <a:r>
              <a:rPr lang="en-US" sz="1300" dirty="0">
                <a:solidFill>
                  <a:srgbClr val="F5A623"/>
                </a:solidFill>
              </a:rPr>
              <a:t>Albert (J1) recibe:  12(1 − δ₂)</a:t>
            </a:r>
            <a:endParaRPr lang="en-US" sz="1300" dirty="0"/>
          </a:p>
          <a:p>
            <a:pPr marL="0" indent="0">
              <a:buNone/>
            </a:pPr>
            <a:r>
              <a:rPr lang="en-US" sz="1300" dirty="0">
                <a:solidFill>
                  <a:srgbClr val="F5A623"/>
                </a:solidFill>
              </a:rPr>
              <a:t>Barbara (J2) recibe: 12 · δ₂</a:t>
            </a:r>
            <a:endParaRPr lang="en-US" sz="1300" dirty="0"/>
          </a:p>
        </p:txBody>
      </p:sp>
      <p:sp>
        <p:nvSpPr>
          <p:cNvPr id="19" name="Shape 17"/>
          <p:cNvSpPr/>
          <p:nvPr/>
        </p:nvSpPr>
        <p:spPr>
          <a:xfrm>
            <a:off x="4800600" y="3200400"/>
            <a:ext cx="4069080" cy="1417320"/>
          </a:xfrm>
          <a:prstGeom prst="rect">
            <a:avLst/>
          </a:prstGeom>
          <a:solidFill>
            <a:srgbClr val="162840"/>
          </a:solidFill>
          <a:ln w="12700">
            <a:solidFill>
              <a:srgbClr val="F5A623"/>
            </a:solidFill>
            <a:prstDash val="solid"/>
          </a:ln>
          <a:effectLst>
            <a:outerShdw blurRad="101600" dist="38100" dir="8100000" algn="bl" rotWithShape="0">
              <a:srgbClr val="000000">
                <a:alpha val="13000"/>
              </a:srgbClr>
            </a:outerShdw>
          </a:effectLst>
        </p:spPr>
        <p:txBody>
          <a:bodyPr/>
          <a:lstStyle/>
          <a:p>
            <a:endParaRPr lang="es-AR"/>
          </a:p>
        </p:txBody>
      </p:sp>
      <p:sp>
        <p:nvSpPr>
          <p:cNvPr id="20" name="Text 18"/>
          <p:cNvSpPr/>
          <p:nvPr/>
        </p:nvSpPr>
        <p:spPr>
          <a:xfrm>
            <a:off x="4983480" y="3273552"/>
            <a:ext cx="3703320" cy="347472"/>
          </a:xfrm>
          <a:prstGeom prst="rect">
            <a:avLst/>
          </a:prstGeom>
          <a:noFill/>
          <a:ln/>
        </p:spPr>
        <p:txBody>
          <a:bodyPr wrap="square" lIns="0" tIns="0" rIns="0" bIns="0" rtlCol="0" anchor="ctr"/>
          <a:lstStyle/>
          <a:p>
            <a:pPr marL="0" indent="0">
              <a:buNone/>
            </a:pPr>
            <a:r>
              <a:rPr lang="en-US" sz="1200" b="1" dirty="0">
                <a:solidFill>
                  <a:srgbClr val="FFFFFF"/>
                </a:solidFill>
              </a:rPr>
              <a:t>CASOS EXTREMOS</a:t>
            </a:r>
            <a:endParaRPr lang="en-US" sz="1200" dirty="0"/>
          </a:p>
        </p:txBody>
      </p:sp>
      <p:sp>
        <p:nvSpPr>
          <p:cNvPr id="21" name="Text 19"/>
          <p:cNvSpPr/>
          <p:nvPr/>
        </p:nvSpPr>
        <p:spPr>
          <a:xfrm>
            <a:off x="4983480" y="3657600"/>
            <a:ext cx="3703320" cy="822960"/>
          </a:xfrm>
          <a:prstGeom prst="rect">
            <a:avLst/>
          </a:prstGeom>
          <a:noFill/>
          <a:ln/>
        </p:spPr>
        <p:txBody>
          <a:bodyPr wrap="square" lIns="0" tIns="0" rIns="0" bIns="0" rtlCol="0" anchor="ctr"/>
          <a:lstStyle/>
          <a:p>
            <a:pPr marL="0" indent="0">
              <a:buNone/>
            </a:pPr>
            <a:r>
              <a:rPr lang="en-US" sz="1150" dirty="0">
                <a:solidFill>
                  <a:srgbClr val="B8D0E4"/>
                </a:solidFill>
              </a:rPr>
              <a:t>δ₂ = 0.2 → Barbara: 2.4 · Albert: 9.6 (≈ ultimátum)</a:t>
            </a:r>
            <a:endParaRPr lang="en-US" sz="1150" dirty="0"/>
          </a:p>
          <a:p>
            <a:pPr marL="0" indent="0">
              <a:buNone/>
            </a:pPr>
            <a:r>
              <a:rPr lang="en-US" sz="1150" dirty="0">
                <a:solidFill>
                  <a:srgbClr val="B8D0E4"/>
                </a:solidFill>
              </a:rPr>
              <a:t>δ₂ = 0.5 → Barbara: 6 · Albert: 6 (reparto igualitario)</a:t>
            </a:r>
            <a:endParaRPr lang="en-US" sz="1150" dirty="0"/>
          </a:p>
          <a:p>
            <a:pPr marL="0" indent="0">
              <a:buNone/>
            </a:pPr>
            <a:r>
              <a:rPr lang="en-US" sz="1150" dirty="0">
                <a:solidFill>
                  <a:srgbClr val="B8D0E4"/>
                </a:solidFill>
              </a:rPr>
              <a:t>δ₂ → 1 → Barbara domina (casi todo para ella)</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1463040"/>
            <a:ext cx="164592" cy="2194560"/>
          </a:xfrm>
          <a:prstGeom prst="rect">
            <a:avLst/>
          </a:prstGeom>
          <a:solidFill>
            <a:srgbClr val="F5A623"/>
          </a:solidFill>
          <a:ln w="12700">
            <a:solidFill>
              <a:srgbClr val="F5A623"/>
            </a:solidFill>
            <a:prstDash val="solid"/>
          </a:ln>
        </p:spPr>
        <p:txBody>
          <a:bodyPr/>
          <a:lstStyle/>
          <a:p>
            <a:endParaRPr lang="es-AR"/>
          </a:p>
        </p:txBody>
      </p:sp>
      <p:sp>
        <p:nvSpPr>
          <p:cNvPr id="3" name="Text 1"/>
          <p:cNvSpPr/>
          <p:nvPr/>
        </p:nvSpPr>
        <p:spPr>
          <a:xfrm>
            <a:off x="411480" y="1554480"/>
            <a:ext cx="8229600" cy="457200"/>
          </a:xfrm>
          <a:prstGeom prst="rect">
            <a:avLst/>
          </a:prstGeom>
          <a:noFill/>
          <a:ln/>
        </p:spPr>
        <p:txBody>
          <a:bodyPr wrap="square" lIns="0" tIns="0" rIns="0" bIns="0" rtlCol="0" anchor="ctr"/>
          <a:lstStyle/>
          <a:p>
            <a:pPr marL="0" indent="0">
              <a:buNone/>
            </a:pPr>
            <a:r>
              <a:rPr lang="en-US" sz="1200" b="1" kern="0" spc="400" dirty="0">
                <a:solidFill>
                  <a:srgbClr val="F5A623"/>
                </a:solidFill>
              </a:rPr>
              <a:t>SECCIÓN 4</a:t>
            </a:r>
            <a:endParaRPr lang="en-US" sz="1200" dirty="0"/>
          </a:p>
        </p:txBody>
      </p:sp>
      <p:sp>
        <p:nvSpPr>
          <p:cNvPr id="4" name="Text 2"/>
          <p:cNvSpPr/>
          <p:nvPr/>
        </p:nvSpPr>
        <p:spPr>
          <a:xfrm>
            <a:off x="411480" y="1920240"/>
            <a:ext cx="8229600" cy="914400"/>
          </a:xfrm>
          <a:prstGeom prst="rect">
            <a:avLst/>
          </a:prstGeom>
          <a:noFill/>
          <a:ln/>
        </p:spPr>
        <p:txBody>
          <a:bodyPr wrap="square" lIns="0" tIns="0" rIns="0" bIns="0" rtlCol="0" anchor="ctr"/>
          <a:lstStyle/>
          <a:p>
            <a:pPr marL="0" indent="0">
              <a:buNone/>
            </a:pPr>
            <a:r>
              <a:rPr lang="en-US" sz="3400" b="1" dirty="0">
                <a:solidFill>
                  <a:srgbClr val="FFFFFF"/>
                </a:solidFill>
              </a:rPr>
              <a:t>Modelo de Stackelberg</a:t>
            </a:r>
            <a:endParaRPr lang="en-US" sz="3400" dirty="0"/>
          </a:p>
        </p:txBody>
      </p:sp>
      <p:sp>
        <p:nvSpPr>
          <p:cNvPr id="5" name="Text 3"/>
          <p:cNvSpPr/>
          <p:nvPr/>
        </p:nvSpPr>
        <p:spPr>
          <a:xfrm>
            <a:off x="411480" y="2880360"/>
            <a:ext cx="7772400" cy="731520"/>
          </a:xfrm>
          <a:prstGeom prst="rect">
            <a:avLst/>
          </a:prstGeom>
          <a:noFill/>
          <a:ln/>
        </p:spPr>
        <p:txBody>
          <a:bodyPr wrap="square" lIns="0" tIns="0" rIns="0" bIns="0" rtlCol="0" anchor="ctr"/>
          <a:lstStyle/>
          <a:p>
            <a:pPr marL="0" indent="0">
              <a:buNone/>
            </a:pPr>
            <a:r>
              <a:rPr lang="en-US" sz="1400" i="1" dirty="0">
                <a:solidFill>
                  <a:srgbClr val="A8C0D0"/>
                </a:solidFill>
              </a:rPr>
              <a:t>Duopolio con movimientos secuenciales — liderazgo en cantidades</a:t>
            </a:r>
            <a:endParaRPr lang="en-US" sz="1400" dirty="0"/>
          </a:p>
        </p:txBody>
      </p:sp>
      <p:sp>
        <p:nvSpPr>
          <p:cNvPr id="6" name="Shape 4"/>
          <p:cNvSpPr/>
          <p:nvPr/>
        </p:nvSpPr>
        <p:spPr>
          <a:xfrm>
            <a:off x="0" y="4754880"/>
            <a:ext cx="9144000" cy="393192"/>
          </a:xfrm>
          <a:prstGeom prst="rect">
            <a:avLst/>
          </a:prstGeom>
          <a:solidFill>
            <a:srgbClr val="0F7B6C"/>
          </a:solidFill>
          <a:ln w="12700">
            <a:solidFill>
              <a:srgbClr val="0F7B6C"/>
            </a:solidFill>
            <a:prstDash val="solid"/>
          </a:ln>
        </p:spPr>
        <p:txBody>
          <a:bodyPr/>
          <a:lstStyle/>
          <a:p>
            <a:endParaRPr lang="es-AR"/>
          </a:p>
        </p:txBody>
      </p:sp>
      <p:sp>
        <p:nvSpPr>
          <p:cNvPr id="7" name="Text 5"/>
          <p:cNvSpPr/>
          <p:nvPr/>
        </p:nvSpPr>
        <p:spPr>
          <a:xfrm>
            <a:off x="365760" y="4754880"/>
            <a:ext cx="8229600" cy="393192"/>
          </a:xfrm>
          <a:prstGeom prst="rect">
            <a:avLst/>
          </a:prstGeom>
          <a:noFill/>
          <a:ln/>
        </p:spPr>
        <p:txBody>
          <a:bodyPr wrap="square" lIns="0" tIns="0" rIns="0" bIns="0" rtlCol="0" anchor="ctr"/>
          <a:lstStyle/>
          <a:p>
            <a:pPr marL="0" indent="0">
              <a:buNone/>
            </a:pPr>
            <a:r>
              <a:rPr lang="en-US" sz="1000" dirty="0">
                <a:solidFill>
                  <a:srgbClr val="FFFFFF"/>
                </a:solidFill>
              </a:rPr>
              <a:t>Teoría de Juegos  •  Juegos Dinámicos y Repetidos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Stackelberg — Idea Central y Supuestos</a:t>
            </a:r>
            <a:endParaRPr lang="en-US" sz="2200" dirty="0"/>
          </a:p>
        </p:txBody>
      </p:sp>
      <p:sp>
        <p:nvSpPr>
          <p:cNvPr id="4" name="Shape 2"/>
          <p:cNvSpPr/>
          <p:nvPr/>
        </p:nvSpPr>
        <p:spPr>
          <a:xfrm>
            <a:off x="320040" y="960120"/>
            <a:ext cx="8503920" cy="685800"/>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300" i="1" dirty="0">
                <a:solidFill>
                  <a:srgbClr val="FFFFFF"/>
                </a:solidFill>
              </a:rPr>
              <a:t>Cournot pero SECUENCIAL: Firma Líder mueve primero → Firma Seguidora observa y reacciona. El poder viene de comprometerse primero.</a:t>
            </a:r>
            <a:endParaRPr lang="en-US" sz="1300" dirty="0"/>
          </a:p>
        </p:txBody>
      </p:sp>
      <p:sp>
        <p:nvSpPr>
          <p:cNvPr id="6" name="Shape 4"/>
          <p:cNvSpPr/>
          <p:nvPr/>
        </p:nvSpPr>
        <p:spPr>
          <a:xfrm>
            <a:off x="320040" y="1828800"/>
            <a:ext cx="4114800" cy="12984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1920240"/>
            <a:ext cx="3749040" cy="292608"/>
          </a:xfrm>
          <a:prstGeom prst="rect">
            <a:avLst/>
          </a:prstGeom>
          <a:noFill/>
          <a:ln/>
        </p:spPr>
        <p:txBody>
          <a:bodyPr wrap="square" lIns="0" tIns="0" rIns="0" bIns="0" rtlCol="0" anchor="ctr"/>
          <a:lstStyle/>
          <a:p>
            <a:pPr marL="0" indent="0">
              <a:buNone/>
            </a:pPr>
            <a:r>
              <a:rPr lang="en-US" sz="1100" b="1" kern="0" spc="200" dirty="0">
                <a:solidFill>
                  <a:srgbClr val="F5A623"/>
                </a:solidFill>
              </a:rPr>
              <a:t>MERCADO</a:t>
            </a:r>
            <a:endParaRPr lang="en-US" sz="1100" dirty="0"/>
          </a:p>
        </p:txBody>
      </p:sp>
      <p:sp>
        <p:nvSpPr>
          <p:cNvPr id="8" name="Text 6"/>
          <p:cNvSpPr/>
          <p:nvPr/>
        </p:nvSpPr>
        <p:spPr>
          <a:xfrm>
            <a:off x="502920" y="2286000"/>
            <a:ext cx="3749040" cy="731520"/>
          </a:xfrm>
          <a:prstGeom prst="rect">
            <a:avLst/>
          </a:prstGeom>
          <a:noFill/>
          <a:ln/>
        </p:spPr>
        <p:txBody>
          <a:bodyPr wrap="square" lIns="0" tIns="0" rIns="0" bIns="0" rtlCol="0" anchor="ctr"/>
          <a:lstStyle/>
          <a:p>
            <a:pPr marL="0" indent="0">
              <a:buNone/>
            </a:pPr>
            <a:r>
              <a:rPr lang="en-US" sz="1200" dirty="0">
                <a:solidFill>
                  <a:srgbClr val="C8D8E4"/>
                </a:solidFill>
              </a:rPr>
              <a:t>2 firmas: Líder (T=1) y Seguidora (T=2). Bien homogéneo. Costos marginales iguales = c.</a:t>
            </a:r>
            <a:endParaRPr lang="en-US" sz="1200" dirty="0"/>
          </a:p>
        </p:txBody>
      </p:sp>
      <p:sp>
        <p:nvSpPr>
          <p:cNvPr id="9" name="Shape 7"/>
          <p:cNvSpPr/>
          <p:nvPr/>
        </p:nvSpPr>
        <p:spPr>
          <a:xfrm>
            <a:off x="4754880" y="1828800"/>
            <a:ext cx="4114800" cy="12984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8"/>
          <p:cNvSpPr/>
          <p:nvPr/>
        </p:nvSpPr>
        <p:spPr>
          <a:xfrm>
            <a:off x="4937760" y="1920240"/>
            <a:ext cx="3749040" cy="292608"/>
          </a:xfrm>
          <a:prstGeom prst="rect">
            <a:avLst/>
          </a:prstGeom>
          <a:noFill/>
          <a:ln/>
        </p:spPr>
        <p:txBody>
          <a:bodyPr wrap="square" lIns="0" tIns="0" rIns="0" bIns="0" rtlCol="0" anchor="ctr"/>
          <a:lstStyle/>
          <a:p>
            <a:pPr marL="0" indent="0">
              <a:buNone/>
            </a:pPr>
            <a:r>
              <a:rPr lang="en-US" sz="1100" b="1" kern="0" spc="200" dirty="0">
                <a:solidFill>
                  <a:srgbClr val="F5A623"/>
                </a:solidFill>
              </a:rPr>
              <a:t>DEMANDA</a:t>
            </a:r>
            <a:endParaRPr lang="en-US" sz="1100" dirty="0"/>
          </a:p>
        </p:txBody>
      </p:sp>
      <p:sp>
        <p:nvSpPr>
          <p:cNvPr id="11" name="Text 9"/>
          <p:cNvSpPr/>
          <p:nvPr/>
        </p:nvSpPr>
        <p:spPr>
          <a:xfrm>
            <a:off x="4937760" y="2286000"/>
            <a:ext cx="3749040" cy="731520"/>
          </a:xfrm>
          <a:prstGeom prst="rect">
            <a:avLst/>
          </a:prstGeom>
          <a:noFill/>
          <a:ln/>
        </p:spPr>
        <p:txBody>
          <a:bodyPr wrap="square" lIns="0" tIns="0" rIns="0" bIns="0" rtlCol="0" anchor="ctr"/>
          <a:lstStyle/>
          <a:p>
            <a:pPr marL="0" indent="0">
              <a:buNone/>
            </a:pPr>
            <a:r>
              <a:rPr lang="en-US" sz="1200" dirty="0">
                <a:solidFill>
                  <a:srgbClr val="C8D8E4"/>
                </a:solidFill>
              </a:rPr>
              <a:t>Inversa lineal: P(Q) = a − bQ, donde Q = qL + qS. Supuesto: a, b &gt; 0 y a &gt; c.</a:t>
            </a:r>
            <a:endParaRPr lang="en-US" sz="1200" dirty="0"/>
          </a:p>
        </p:txBody>
      </p:sp>
      <p:sp>
        <p:nvSpPr>
          <p:cNvPr id="12" name="Shape 10"/>
          <p:cNvSpPr/>
          <p:nvPr/>
        </p:nvSpPr>
        <p:spPr>
          <a:xfrm>
            <a:off x="320040" y="3291840"/>
            <a:ext cx="4114800" cy="12984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3" name="Text 11"/>
          <p:cNvSpPr/>
          <p:nvPr/>
        </p:nvSpPr>
        <p:spPr>
          <a:xfrm>
            <a:off x="502920" y="3383280"/>
            <a:ext cx="3749040" cy="292608"/>
          </a:xfrm>
          <a:prstGeom prst="rect">
            <a:avLst/>
          </a:prstGeom>
          <a:noFill/>
          <a:ln/>
        </p:spPr>
        <p:txBody>
          <a:bodyPr wrap="square" lIns="0" tIns="0" rIns="0" bIns="0" rtlCol="0" anchor="ctr"/>
          <a:lstStyle/>
          <a:p>
            <a:pPr marL="0" indent="0">
              <a:buNone/>
            </a:pPr>
            <a:r>
              <a:rPr lang="en-US" sz="1100" b="1" kern="0" spc="200" dirty="0">
                <a:solidFill>
                  <a:srgbClr val="F5A623"/>
                </a:solidFill>
              </a:rPr>
              <a:t>DINÁMICA</a:t>
            </a:r>
            <a:endParaRPr lang="en-US" sz="1100" dirty="0"/>
          </a:p>
        </p:txBody>
      </p:sp>
      <p:sp>
        <p:nvSpPr>
          <p:cNvPr id="14" name="Text 12"/>
          <p:cNvSpPr/>
          <p:nvPr/>
        </p:nvSpPr>
        <p:spPr>
          <a:xfrm>
            <a:off x="502920" y="3749040"/>
            <a:ext cx="3749040" cy="731520"/>
          </a:xfrm>
          <a:prstGeom prst="rect">
            <a:avLst/>
          </a:prstGeom>
          <a:noFill/>
          <a:ln/>
        </p:spPr>
        <p:txBody>
          <a:bodyPr wrap="square" lIns="0" tIns="0" rIns="0" bIns="0" rtlCol="0" anchor="ctr"/>
          <a:lstStyle/>
          <a:p>
            <a:pPr marL="0" indent="0">
              <a:buNone/>
            </a:pPr>
            <a:r>
              <a:rPr lang="en-US" sz="1200" dirty="0">
                <a:solidFill>
                  <a:srgbClr val="C8D8E4"/>
                </a:solidFill>
              </a:rPr>
              <a:t>T=1: Líder elige qL. T=2: Seguidora OBSERVA qL y elige qS. Información perfecta entre períodos.</a:t>
            </a:r>
            <a:endParaRPr lang="en-US" sz="1200" dirty="0"/>
          </a:p>
        </p:txBody>
      </p:sp>
      <p:sp>
        <p:nvSpPr>
          <p:cNvPr id="15" name="Shape 13"/>
          <p:cNvSpPr/>
          <p:nvPr/>
        </p:nvSpPr>
        <p:spPr>
          <a:xfrm>
            <a:off x="4754880" y="3291840"/>
            <a:ext cx="4114800" cy="12984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6" name="Text 14"/>
          <p:cNvSpPr/>
          <p:nvPr/>
        </p:nvSpPr>
        <p:spPr>
          <a:xfrm>
            <a:off x="4937760" y="3383280"/>
            <a:ext cx="3749040" cy="292608"/>
          </a:xfrm>
          <a:prstGeom prst="rect">
            <a:avLst/>
          </a:prstGeom>
          <a:noFill/>
          <a:ln/>
        </p:spPr>
        <p:txBody>
          <a:bodyPr wrap="square" lIns="0" tIns="0" rIns="0" bIns="0" rtlCol="0" anchor="ctr"/>
          <a:lstStyle/>
          <a:p>
            <a:pPr marL="0" indent="0">
              <a:buNone/>
            </a:pPr>
            <a:r>
              <a:rPr lang="en-US" sz="1100" b="1" kern="0" spc="200" dirty="0">
                <a:solidFill>
                  <a:srgbClr val="F5A623"/>
                </a:solidFill>
              </a:rPr>
              <a:t>EQUILIBRIO</a:t>
            </a:r>
            <a:endParaRPr lang="en-US" sz="1100" dirty="0"/>
          </a:p>
        </p:txBody>
      </p:sp>
      <p:sp>
        <p:nvSpPr>
          <p:cNvPr id="17" name="Text 15"/>
          <p:cNvSpPr/>
          <p:nvPr/>
        </p:nvSpPr>
        <p:spPr>
          <a:xfrm>
            <a:off x="4937760" y="3749040"/>
            <a:ext cx="3749040" cy="731520"/>
          </a:xfrm>
          <a:prstGeom prst="rect">
            <a:avLst/>
          </a:prstGeom>
          <a:noFill/>
          <a:ln/>
        </p:spPr>
        <p:txBody>
          <a:bodyPr wrap="square" lIns="0" tIns="0" rIns="0" bIns="0" rtlCol="0" anchor="ctr"/>
          <a:lstStyle/>
          <a:p>
            <a:pPr marL="0" indent="0">
              <a:buNone/>
            </a:pPr>
            <a:r>
              <a:rPr lang="en-US" sz="1200" dirty="0">
                <a:solidFill>
                  <a:srgbClr val="C8D8E4"/>
                </a:solidFill>
              </a:rPr>
              <a:t>ENPS por backward induction. Se descartan amenazas no creíbles de la seguidora.</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Resolución por Backward Induction — Paso a Paso</a:t>
            </a:r>
            <a:endParaRPr lang="en-US" sz="2200" dirty="0"/>
          </a:p>
        </p:txBody>
      </p:sp>
      <p:sp>
        <p:nvSpPr>
          <p:cNvPr id="4" name="Shape 2"/>
          <p:cNvSpPr/>
          <p:nvPr/>
        </p:nvSpPr>
        <p:spPr>
          <a:xfrm>
            <a:off x="320040" y="960120"/>
            <a:ext cx="8503920" cy="868680"/>
          </a:xfrm>
          <a:prstGeom prst="rect">
            <a:avLst/>
          </a:prstGeom>
          <a:solidFill>
            <a:srgbClr val="EBF3F8"/>
          </a:solidFill>
          <a:ln w="12700">
            <a:solidFill>
              <a:srgbClr val="C0D8E8"/>
            </a:solidFill>
            <a:prstDash val="solid"/>
          </a:ln>
        </p:spPr>
        <p:txBody>
          <a:bodyPr/>
          <a:lstStyle/>
          <a:p>
            <a:endParaRPr lang="es-AR"/>
          </a:p>
        </p:txBody>
      </p:sp>
      <p:sp>
        <p:nvSpPr>
          <p:cNvPr id="5" name="Shape 3"/>
          <p:cNvSpPr/>
          <p:nvPr/>
        </p:nvSpPr>
        <p:spPr>
          <a:xfrm>
            <a:off x="320040" y="960120"/>
            <a:ext cx="1143000" cy="868680"/>
          </a:xfrm>
          <a:prstGeom prst="rect">
            <a:avLst/>
          </a:prstGeom>
          <a:solidFill>
            <a:srgbClr val="1A2744"/>
          </a:solidFill>
          <a:ln w="12700">
            <a:solidFill>
              <a:srgbClr val="1A2744"/>
            </a:solidFill>
            <a:prstDash val="solid"/>
          </a:ln>
        </p:spPr>
        <p:txBody>
          <a:bodyPr/>
          <a:lstStyle/>
          <a:p>
            <a:endParaRPr lang="es-AR"/>
          </a:p>
        </p:txBody>
      </p:sp>
      <p:sp>
        <p:nvSpPr>
          <p:cNvPr id="6" name="Text 4"/>
          <p:cNvSpPr/>
          <p:nvPr/>
        </p:nvSpPr>
        <p:spPr>
          <a:xfrm>
            <a:off x="329184" y="960120"/>
            <a:ext cx="1124712" cy="868680"/>
          </a:xfrm>
          <a:prstGeom prst="rect">
            <a:avLst/>
          </a:prstGeom>
          <a:noFill/>
          <a:ln/>
        </p:spPr>
        <p:txBody>
          <a:bodyPr wrap="square" lIns="0" tIns="0" rIns="0" bIns="0" rtlCol="0" anchor="ctr"/>
          <a:lstStyle/>
          <a:p>
            <a:pPr marL="0" indent="0" algn="ctr">
              <a:buNone/>
            </a:pPr>
            <a:r>
              <a:rPr lang="en-US" sz="1000" b="1" dirty="0">
                <a:solidFill>
                  <a:srgbClr val="FFFFFF"/>
                </a:solidFill>
              </a:rPr>
              <a:t>PASO 1</a:t>
            </a:r>
            <a:endParaRPr lang="en-US" sz="1000" dirty="0"/>
          </a:p>
          <a:p>
            <a:pPr marL="0" indent="0" algn="ctr">
              <a:buNone/>
            </a:pPr>
            <a:r>
              <a:rPr lang="en-US" sz="1000" b="1" dirty="0">
                <a:solidFill>
                  <a:srgbClr val="FFFFFF"/>
                </a:solidFill>
              </a:rPr>
              <a:t>T=2</a:t>
            </a:r>
            <a:endParaRPr lang="en-US" sz="1000" dirty="0"/>
          </a:p>
        </p:txBody>
      </p:sp>
      <p:sp>
        <p:nvSpPr>
          <p:cNvPr id="7" name="Text 5"/>
          <p:cNvSpPr/>
          <p:nvPr/>
        </p:nvSpPr>
        <p:spPr>
          <a:xfrm>
            <a:off x="1600200" y="1005840"/>
            <a:ext cx="2743200" cy="292608"/>
          </a:xfrm>
          <a:prstGeom prst="rect">
            <a:avLst/>
          </a:prstGeom>
          <a:noFill/>
          <a:ln/>
        </p:spPr>
        <p:txBody>
          <a:bodyPr wrap="square" lIns="0" tIns="0" rIns="0" bIns="0" rtlCol="0" anchor="ctr"/>
          <a:lstStyle/>
          <a:p>
            <a:pPr marL="0" indent="0">
              <a:buNone/>
            </a:pPr>
            <a:r>
              <a:rPr lang="en-US" sz="1250" b="1" dirty="0">
                <a:solidFill>
                  <a:srgbClr val="1A2744"/>
                </a:solidFill>
              </a:rPr>
              <a:t>Problema de la Seguidora</a:t>
            </a:r>
            <a:endParaRPr lang="en-US" sz="1250" dirty="0"/>
          </a:p>
        </p:txBody>
      </p:sp>
      <p:sp>
        <p:nvSpPr>
          <p:cNvPr id="8" name="Text 6"/>
          <p:cNvSpPr/>
          <p:nvPr/>
        </p:nvSpPr>
        <p:spPr>
          <a:xfrm>
            <a:off x="1600200" y="1298448"/>
            <a:ext cx="6995160" cy="457200"/>
          </a:xfrm>
          <a:prstGeom prst="rect">
            <a:avLst/>
          </a:prstGeom>
          <a:noFill/>
          <a:ln/>
        </p:spPr>
        <p:txBody>
          <a:bodyPr wrap="square" lIns="0" tIns="0" rIns="0" bIns="0" rtlCol="0" anchor="ctr"/>
          <a:lstStyle/>
          <a:p>
            <a:pPr marL="0" indent="0">
              <a:buNone/>
            </a:pPr>
            <a:r>
              <a:rPr lang="en-US" sz="1100" dirty="0">
                <a:solidFill>
                  <a:srgbClr val="102030"/>
                </a:solidFill>
              </a:rPr>
              <a:t>La seguidora maximiza πS = [a − b·qL − b·qS]·qS − c·qS</a:t>
            </a:r>
            <a:endParaRPr lang="en-US" sz="1100" dirty="0"/>
          </a:p>
          <a:p>
            <a:pPr marL="0" indent="0">
              <a:buNone/>
            </a:pPr>
            <a:r>
              <a:rPr lang="en-US" sz="1100" dirty="0">
                <a:solidFill>
                  <a:srgbClr val="102030"/>
                </a:solidFill>
              </a:rPr>
              <a:t>→ Función de reacción: qS(qL) = (a−c)/(2b) − qL/2</a:t>
            </a:r>
            <a:endParaRPr lang="en-US" sz="1100" dirty="0"/>
          </a:p>
          <a:p>
            <a:pPr marL="0" indent="0">
              <a:buNone/>
            </a:pPr>
            <a:r>
              <a:rPr lang="en-US" sz="1100" dirty="0">
                <a:solidFill>
                  <a:srgbClr val="102030"/>
                </a:solidFill>
              </a:rPr>
              <a:t>Interpretación: por cada unidad extra de la líder, la seguidora reduce ½ unidad.</a:t>
            </a:r>
            <a:endParaRPr lang="en-US" sz="1100" dirty="0"/>
          </a:p>
        </p:txBody>
      </p:sp>
      <p:sp>
        <p:nvSpPr>
          <p:cNvPr id="9" name="Shape 7"/>
          <p:cNvSpPr/>
          <p:nvPr/>
        </p:nvSpPr>
        <p:spPr>
          <a:xfrm>
            <a:off x="320040" y="1965960"/>
            <a:ext cx="8503920" cy="868680"/>
          </a:xfrm>
          <a:prstGeom prst="rect">
            <a:avLst/>
          </a:prstGeom>
          <a:solidFill>
            <a:srgbClr val="DDEEF6"/>
          </a:solidFill>
          <a:ln w="12700">
            <a:solidFill>
              <a:srgbClr val="C0D8E8"/>
            </a:solidFill>
            <a:prstDash val="solid"/>
          </a:ln>
        </p:spPr>
        <p:txBody>
          <a:bodyPr/>
          <a:lstStyle/>
          <a:p>
            <a:endParaRPr lang="es-AR"/>
          </a:p>
        </p:txBody>
      </p:sp>
      <p:sp>
        <p:nvSpPr>
          <p:cNvPr id="10" name="Shape 8"/>
          <p:cNvSpPr/>
          <p:nvPr/>
        </p:nvSpPr>
        <p:spPr>
          <a:xfrm>
            <a:off x="320040" y="1965960"/>
            <a:ext cx="1143000" cy="868680"/>
          </a:xfrm>
          <a:prstGeom prst="rect">
            <a:avLst/>
          </a:prstGeom>
          <a:solidFill>
            <a:srgbClr val="1A2744"/>
          </a:solidFill>
          <a:ln w="12700">
            <a:solidFill>
              <a:srgbClr val="1A2744"/>
            </a:solidFill>
            <a:prstDash val="solid"/>
          </a:ln>
        </p:spPr>
        <p:txBody>
          <a:bodyPr/>
          <a:lstStyle/>
          <a:p>
            <a:endParaRPr lang="es-AR"/>
          </a:p>
        </p:txBody>
      </p:sp>
      <p:sp>
        <p:nvSpPr>
          <p:cNvPr id="11" name="Text 9"/>
          <p:cNvSpPr/>
          <p:nvPr/>
        </p:nvSpPr>
        <p:spPr>
          <a:xfrm>
            <a:off x="329184" y="1965960"/>
            <a:ext cx="1124712" cy="868680"/>
          </a:xfrm>
          <a:prstGeom prst="rect">
            <a:avLst/>
          </a:prstGeom>
          <a:noFill/>
          <a:ln/>
        </p:spPr>
        <p:txBody>
          <a:bodyPr wrap="square" lIns="0" tIns="0" rIns="0" bIns="0" rtlCol="0" anchor="ctr"/>
          <a:lstStyle/>
          <a:p>
            <a:pPr marL="0" indent="0" algn="ctr">
              <a:buNone/>
            </a:pPr>
            <a:r>
              <a:rPr lang="en-US" sz="1000" b="1" dirty="0">
                <a:solidFill>
                  <a:srgbClr val="FFFFFF"/>
                </a:solidFill>
              </a:rPr>
              <a:t>PASO 2</a:t>
            </a:r>
            <a:endParaRPr lang="en-US" sz="1000" dirty="0"/>
          </a:p>
          <a:p>
            <a:pPr marL="0" indent="0" algn="ctr">
              <a:buNone/>
            </a:pPr>
            <a:r>
              <a:rPr lang="en-US" sz="1000" b="1" dirty="0">
                <a:solidFill>
                  <a:srgbClr val="FFFFFF"/>
                </a:solidFill>
              </a:rPr>
              <a:t>T=1</a:t>
            </a:r>
            <a:endParaRPr lang="en-US" sz="1000" dirty="0"/>
          </a:p>
        </p:txBody>
      </p:sp>
      <p:sp>
        <p:nvSpPr>
          <p:cNvPr id="12" name="Text 10"/>
          <p:cNvSpPr/>
          <p:nvPr/>
        </p:nvSpPr>
        <p:spPr>
          <a:xfrm>
            <a:off x="1600200" y="2011680"/>
            <a:ext cx="2743200" cy="292608"/>
          </a:xfrm>
          <a:prstGeom prst="rect">
            <a:avLst/>
          </a:prstGeom>
          <a:noFill/>
          <a:ln/>
        </p:spPr>
        <p:txBody>
          <a:bodyPr wrap="square" lIns="0" tIns="0" rIns="0" bIns="0" rtlCol="0" anchor="ctr"/>
          <a:lstStyle/>
          <a:p>
            <a:pPr marL="0" indent="0">
              <a:buNone/>
            </a:pPr>
            <a:r>
              <a:rPr lang="en-US" sz="1250" b="1" dirty="0">
                <a:solidFill>
                  <a:srgbClr val="1A2744"/>
                </a:solidFill>
              </a:rPr>
              <a:t>Problema de la Líder</a:t>
            </a:r>
            <a:endParaRPr lang="en-US" sz="1250" dirty="0"/>
          </a:p>
        </p:txBody>
      </p:sp>
      <p:sp>
        <p:nvSpPr>
          <p:cNvPr id="13" name="Text 11"/>
          <p:cNvSpPr/>
          <p:nvPr/>
        </p:nvSpPr>
        <p:spPr>
          <a:xfrm>
            <a:off x="1600200" y="2304288"/>
            <a:ext cx="6995160" cy="457200"/>
          </a:xfrm>
          <a:prstGeom prst="rect">
            <a:avLst/>
          </a:prstGeom>
          <a:noFill/>
          <a:ln/>
        </p:spPr>
        <p:txBody>
          <a:bodyPr wrap="square" lIns="0" tIns="0" rIns="0" bIns="0" rtlCol="0" anchor="ctr"/>
          <a:lstStyle/>
          <a:p>
            <a:pPr marL="0" indent="0">
              <a:buNone/>
            </a:pPr>
            <a:r>
              <a:rPr lang="en-US" sz="1100" dirty="0">
                <a:solidFill>
                  <a:srgbClr val="102030"/>
                </a:solidFill>
              </a:rPr>
              <a:t>La líder sustituye qS(qL) en su propio beneficio y maximiza.</a:t>
            </a:r>
            <a:endParaRPr lang="en-US" sz="1100" dirty="0"/>
          </a:p>
          <a:p>
            <a:pPr marL="0" indent="0">
              <a:buNone/>
            </a:pPr>
            <a:r>
              <a:rPr lang="en-US" sz="1100" dirty="0">
                <a:solidFill>
                  <a:srgbClr val="102030"/>
                </a:solidFill>
              </a:rPr>
              <a:t>→ Resultado: qL* = (a−c)/(2b)  [la cantidad MONOPÓLICA]</a:t>
            </a:r>
            <a:endParaRPr lang="en-US" sz="1100" dirty="0"/>
          </a:p>
          <a:p>
            <a:pPr marL="0" indent="0">
              <a:buNone/>
            </a:pPr>
            <a:r>
              <a:rPr lang="en-US" sz="1100" dirty="0">
                <a:solidFill>
                  <a:srgbClr val="102030"/>
                </a:solidFill>
              </a:rPr>
              <a:t>Intuición: la líder se 'come' la mitad del mercado sabiendo que la seguidora reaccionará.</a:t>
            </a:r>
            <a:endParaRPr lang="en-US" sz="1100" dirty="0"/>
          </a:p>
        </p:txBody>
      </p:sp>
      <p:sp>
        <p:nvSpPr>
          <p:cNvPr id="14" name="Shape 12"/>
          <p:cNvSpPr/>
          <p:nvPr/>
        </p:nvSpPr>
        <p:spPr>
          <a:xfrm>
            <a:off x="320040" y="2971800"/>
            <a:ext cx="8503920" cy="868680"/>
          </a:xfrm>
          <a:prstGeom prst="rect">
            <a:avLst/>
          </a:prstGeom>
          <a:solidFill>
            <a:srgbClr val="EBF3F8"/>
          </a:solidFill>
          <a:ln w="12700">
            <a:solidFill>
              <a:srgbClr val="C0D8E8"/>
            </a:solidFill>
            <a:prstDash val="solid"/>
          </a:ln>
        </p:spPr>
        <p:txBody>
          <a:bodyPr/>
          <a:lstStyle/>
          <a:p>
            <a:endParaRPr lang="es-AR"/>
          </a:p>
        </p:txBody>
      </p:sp>
      <p:sp>
        <p:nvSpPr>
          <p:cNvPr id="15" name="Shape 13"/>
          <p:cNvSpPr/>
          <p:nvPr/>
        </p:nvSpPr>
        <p:spPr>
          <a:xfrm>
            <a:off x="320040" y="2971800"/>
            <a:ext cx="1143000" cy="868680"/>
          </a:xfrm>
          <a:prstGeom prst="rect">
            <a:avLst/>
          </a:prstGeom>
          <a:solidFill>
            <a:srgbClr val="1A2744"/>
          </a:solidFill>
          <a:ln w="12700">
            <a:solidFill>
              <a:srgbClr val="1A2744"/>
            </a:solidFill>
            <a:prstDash val="solid"/>
          </a:ln>
        </p:spPr>
        <p:txBody>
          <a:bodyPr/>
          <a:lstStyle/>
          <a:p>
            <a:endParaRPr lang="es-AR"/>
          </a:p>
        </p:txBody>
      </p:sp>
      <p:sp>
        <p:nvSpPr>
          <p:cNvPr id="16" name="Text 14"/>
          <p:cNvSpPr/>
          <p:nvPr/>
        </p:nvSpPr>
        <p:spPr>
          <a:xfrm>
            <a:off x="329184" y="2971800"/>
            <a:ext cx="1124712" cy="868680"/>
          </a:xfrm>
          <a:prstGeom prst="rect">
            <a:avLst/>
          </a:prstGeom>
          <a:noFill/>
          <a:ln/>
        </p:spPr>
        <p:txBody>
          <a:bodyPr wrap="square" lIns="0" tIns="0" rIns="0" bIns="0" rtlCol="0" anchor="ctr"/>
          <a:lstStyle/>
          <a:p>
            <a:pPr marL="0" indent="0" algn="ctr">
              <a:buNone/>
            </a:pPr>
            <a:r>
              <a:rPr lang="en-US" sz="1000" b="1" dirty="0">
                <a:solidFill>
                  <a:srgbClr val="FFFFFF"/>
                </a:solidFill>
              </a:rPr>
              <a:t>PASO 3</a:t>
            </a:r>
            <a:endParaRPr lang="en-US" sz="1000" dirty="0"/>
          </a:p>
          <a:p>
            <a:pPr marL="0" indent="0" algn="ctr">
              <a:buNone/>
            </a:pPr>
            <a:r>
              <a:rPr lang="en-US" sz="1000" b="1" dirty="0">
                <a:solidFill>
                  <a:srgbClr val="FFFFFF"/>
                </a:solidFill>
              </a:rPr>
              <a:t>RPS</a:t>
            </a:r>
            <a:endParaRPr lang="en-US" sz="1000" dirty="0"/>
          </a:p>
        </p:txBody>
      </p:sp>
      <p:sp>
        <p:nvSpPr>
          <p:cNvPr id="17" name="Text 15"/>
          <p:cNvSpPr/>
          <p:nvPr/>
        </p:nvSpPr>
        <p:spPr>
          <a:xfrm>
            <a:off x="1600200" y="3017520"/>
            <a:ext cx="2743200" cy="292608"/>
          </a:xfrm>
          <a:prstGeom prst="rect">
            <a:avLst/>
          </a:prstGeom>
          <a:noFill/>
          <a:ln/>
        </p:spPr>
        <p:txBody>
          <a:bodyPr wrap="square" lIns="0" tIns="0" rIns="0" bIns="0" rtlCol="0" anchor="ctr"/>
          <a:lstStyle/>
          <a:p>
            <a:pPr marL="0" indent="0">
              <a:buNone/>
            </a:pPr>
            <a:r>
              <a:rPr lang="en-US" sz="1250" b="1" dirty="0">
                <a:solidFill>
                  <a:srgbClr val="1A2744"/>
                </a:solidFill>
              </a:rPr>
              <a:t>Sustitución final</a:t>
            </a:r>
            <a:endParaRPr lang="en-US" sz="1250" dirty="0"/>
          </a:p>
        </p:txBody>
      </p:sp>
      <p:sp>
        <p:nvSpPr>
          <p:cNvPr id="18" name="Text 16"/>
          <p:cNvSpPr/>
          <p:nvPr/>
        </p:nvSpPr>
        <p:spPr>
          <a:xfrm>
            <a:off x="1600200" y="3310128"/>
            <a:ext cx="6995160" cy="457200"/>
          </a:xfrm>
          <a:prstGeom prst="rect">
            <a:avLst/>
          </a:prstGeom>
          <a:noFill/>
          <a:ln/>
        </p:spPr>
        <p:txBody>
          <a:bodyPr wrap="square" lIns="0" tIns="0" rIns="0" bIns="0" rtlCol="0" anchor="ctr"/>
          <a:lstStyle/>
          <a:p>
            <a:pPr marL="0" indent="0">
              <a:buNone/>
            </a:pPr>
            <a:r>
              <a:rPr lang="en-US" sz="1100" dirty="0">
                <a:solidFill>
                  <a:srgbClr val="102030"/>
                </a:solidFill>
              </a:rPr>
              <a:t>qS* = qS(qL*) = (a−c)/(2b) − (a−c)/(4b) = (a−c)/(4b)</a:t>
            </a:r>
            <a:endParaRPr lang="en-US" sz="1100" dirty="0"/>
          </a:p>
          <a:p>
            <a:pPr marL="0" indent="0">
              <a:buNone/>
            </a:pPr>
            <a:r>
              <a:rPr lang="en-US" sz="1100" dirty="0">
                <a:solidFill>
                  <a:srgbClr val="102030"/>
                </a:solidFill>
              </a:rPr>
              <a:t>Resultado: la seguidora produce LA MITAD de lo que produce la líder.</a:t>
            </a:r>
            <a:endParaRPr lang="en-US" sz="1100" dirty="0"/>
          </a:p>
        </p:txBody>
      </p:sp>
      <p:sp>
        <p:nvSpPr>
          <p:cNvPr id="19" name="Shape 17"/>
          <p:cNvSpPr/>
          <p:nvPr/>
        </p:nvSpPr>
        <p:spPr>
          <a:xfrm>
            <a:off x="320040" y="3977640"/>
            <a:ext cx="8503920" cy="868680"/>
          </a:xfrm>
          <a:prstGeom prst="rect">
            <a:avLst/>
          </a:prstGeom>
          <a:solidFill>
            <a:srgbClr val="DDEEF6"/>
          </a:solidFill>
          <a:ln w="12700">
            <a:solidFill>
              <a:srgbClr val="C0D8E8"/>
            </a:solidFill>
            <a:prstDash val="solid"/>
          </a:ln>
        </p:spPr>
        <p:txBody>
          <a:bodyPr/>
          <a:lstStyle/>
          <a:p>
            <a:endParaRPr lang="es-AR"/>
          </a:p>
        </p:txBody>
      </p:sp>
      <p:sp>
        <p:nvSpPr>
          <p:cNvPr id="20" name="Shape 18"/>
          <p:cNvSpPr/>
          <p:nvPr/>
        </p:nvSpPr>
        <p:spPr>
          <a:xfrm>
            <a:off x="320040" y="3977640"/>
            <a:ext cx="1143000" cy="868680"/>
          </a:xfrm>
          <a:prstGeom prst="rect">
            <a:avLst/>
          </a:prstGeom>
          <a:solidFill>
            <a:srgbClr val="1A2744"/>
          </a:solidFill>
          <a:ln w="12700">
            <a:solidFill>
              <a:srgbClr val="1A2744"/>
            </a:solidFill>
            <a:prstDash val="solid"/>
          </a:ln>
        </p:spPr>
        <p:txBody>
          <a:bodyPr/>
          <a:lstStyle/>
          <a:p>
            <a:endParaRPr lang="es-AR"/>
          </a:p>
        </p:txBody>
      </p:sp>
      <p:sp>
        <p:nvSpPr>
          <p:cNvPr id="21" name="Text 19"/>
          <p:cNvSpPr/>
          <p:nvPr/>
        </p:nvSpPr>
        <p:spPr>
          <a:xfrm>
            <a:off x="329184" y="3977640"/>
            <a:ext cx="1124712" cy="868680"/>
          </a:xfrm>
          <a:prstGeom prst="rect">
            <a:avLst/>
          </a:prstGeom>
          <a:noFill/>
          <a:ln/>
        </p:spPr>
        <p:txBody>
          <a:bodyPr wrap="square" lIns="0" tIns="0" rIns="0" bIns="0" rtlCol="0" anchor="ctr"/>
          <a:lstStyle/>
          <a:p>
            <a:pPr marL="0" indent="0" algn="ctr">
              <a:buNone/>
            </a:pPr>
            <a:r>
              <a:rPr lang="en-US" sz="1000" b="1" dirty="0">
                <a:solidFill>
                  <a:srgbClr val="FFFFFF"/>
                </a:solidFill>
              </a:rPr>
              <a:t>BENEF.</a:t>
            </a:r>
            <a:endParaRPr lang="en-US" sz="1000" dirty="0"/>
          </a:p>
        </p:txBody>
      </p:sp>
      <p:sp>
        <p:nvSpPr>
          <p:cNvPr id="22" name="Text 20"/>
          <p:cNvSpPr/>
          <p:nvPr/>
        </p:nvSpPr>
        <p:spPr>
          <a:xfrm>
            <a:off x="1600200" y="4023360"/>
            <a:ext cx="2743200" cy="292608"/>
          </a:xfrm>
          <a:prstGeom prst="rect">
            <a:avLst/>
          </a:prstGeom>
          <a:noFill/>
          <a:ln/>
        </p:spPr>
        <p:txBody>
          <a:bodyPr wrap="square" lIns="0" tIns="0" rIns="0" bIns="0" rtlCol="0" anchor="ctr"/>
          <a:lstStyle/>
          <a:p>
            <a:pPr marL="0" indent="0">
              <a:buNone/>
            </a:pPr>
            <a:r>
              <a:rPr lang="en-US" sz="1250" b="1" dirty="0">
                <a:solidFill>
                  <a:srgbClr val="1A2744"/>
                </a:solidFill>
              </a:rPr>
              <a:t>Beneficios de equilibrio</a:t>
            </a:r>
            <a:endParaRPr lang="en-US" sz="1250" dirty="0"/>
          </a:p>
        </p:txBody>
      </p:sp>
      <p:sp>
        <p:nvSpPr>
          <p:cNvPr id="23" name="Text 21"/>
          <p:cNvSpPr/>
          <p:nvPr/>
        </p:nvSpPr>
        <p:spPr>
          <a:xfrm>
            <a:off x="1600200" y="4315968"/>
            <a:ext cx="6995160" cy="457200"/>
          </a:xfrm>
          <a:prstGeom prst="rect">
            <a:avLst/>
          </a:prstGeom>
          <a:noFill/>
          <a:ln/>
        </p:spPr>
        <p:txBody>
          <a:bodyPr wrap="square" lIns="0" tIns="0" rIns="0" bIns="0" rtlCol="0" anchor="ctr"/>
          <a:lstStyle/>
          <a:p>
            <a:pPr marL="0" indent="0">
              <a:buNone/>
            </a:pPr>
            <a:r>
              <a:rPr lang="en-US" sz="1100" dirty="0">
                <a:solidFill>
                  <a:srgbClr val="102030"/>
                </a:solidFill>
              </a:rPr>
              <a:t>πL = (a−c)²/(8b)     [doble que la seguidora]</a:t>
            </a:r>
            <a:endParaRPr lang="en-US" sz="1100" dirty="0"/>
          </a:p>
          <a:p>
            <a:pPr marL="0" indent="0">
              <a:buNone/>
            </a:pPr>
            <a:r>
              <a:rPr lang="en-US" sz="1100" dirty="0">
                <a:solidFill>
                  <a:srgbClr val="102030"/>
                </a:solidFill>
              </a:rPr>
              <a:t>πS = (a−c)²/(16b)   [la mitad de la líder]</a:t>
            </a:r>
            <a:endParaRPr lang="en-US" sz="1100" dirty="0"/>
          </a:p>
        </p:txBody>
      </p:sp>
      <p:sp>
        <p:nvSpPr>
          <p:cNvPr id="24" name="Shape 22"/>
          <p:cNvSpPr/>
          <p:nvPr/>
        </p:nvSpPr>
        <p:spPr>
          <a:xfrm>
            <a:off x="320040" y="4983480"/>
            <a:ext cx="8503920" cy="137160"/>
          </a:xfrm>
          <a:prstGeom prst="rect">
            <a:avLst/>
          </a:prstGeom>
          <a:solidFill>
            <a:srgbClr val="0F7B6C"/>
          </a:solidFill>
          <a:ln w="12700">
            <a:solidFill>
              <a:srgbClr val="0F7B6C"/>
            </a:solidFill>
            <a:prstDash val="solid"/>
          </a:ln>
        </p:spPr>
        <p:txBody>
          <a:bodyPr/>
          <a:lstStyle/>
          <a:p>
            <a:endParaRPr 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ENPS vs. RPS — Una Distinción Clave para Examen</a:t>
            </a:r>
            <a:endParaRPr lang="en-US" sz="2200" dirty="0"/>
          </a:p>
        </p:txBody>
      </p:sp>
      <p:sp>
        <p:nvSpPr>
          <p:cNvPr id="4" name="Shape 2"/>
          <p:cNvSpPr/>
          <p:nvPr/>
        </p:nvSpPr>
        <p:spPr>
          <a:xfrm>
            <a:off x="320040" y="960120"/>
            <a:ext cx="8503920" cy="658368"/>
          </a:xfrm>
          <a:prstGeom prst="rect">
            <a:avLst/>
          </a:prstGeom>
          <a:solidFill>
            <a:srgbClr val="2B1010"/>
          </a:solidFill>
          <a:ln w="12700">
            <a:solidFill>
              <a:srgbClr val="C0392B"/>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250" b="1" dirty="0">
                <a:solidFill>
                  <a:srgbClr val="FFFFFF"/>
                </a:solidFill>
              </a:rPr>
              <a:t>⚠  TRAMPA: Confundir el Equilibrio Perfecto en Subjuegos (ENPS) con el Resultado Perfecto en Subjuegos (RPS) es un error frecuente de examen.</a:t>
            </a:r>
            <a:endParaRPr lang="en-US" sz="1250" dirty="0"/>
          </a:p>
        </p:txBody>
      </p:sp>
      <p:sp>
        <p:nvSpPr>
          <p:cNvPr id="6" name="Shape 4"/>
          <p:cNvSpPr/>
          <p:nvPr/>
        </p:nvSpPr>
        <p:spPr>
          <a:xfrm>
            <a:off x="320040" y="1737360"/>
            <a:ext cx="4069080" cy="306324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1810512"/>
            <a:ext cx="3703320" cy="411480"/>
          </a:xfrm>
          <a:prstGeom prst="rect">
            <a:avLst/>
          </a:prstGeom>
          <a:noFill/>
          <a:ln/>
        </p:spPr>
        <p:txBody>
          <a:bodyPr wrap="square" lIns="0" tIns="0" rIns="0" bIns="0" rtlCol="0" anchor="ctr"/>
          <a:lstStyle/>
          <a:p>
            <a:pPr marL="0" indent="0">
              <a:buNone/>
            </a:pPr>
            <a:r>
              <a:rPr lang="en-US" sz="1800" b="1" dirty="0">
                <a:solidFill>
                  <a:srgbClr val="0F7B6C"/>
                </a:solidFill>
              </a:rPr>
              <a:t>ENPS</a:t>
            </a:r>
            <a:endParaRPr lang="en-US" sz="1800" dirty="0"/>
          </a:p>
        </p:txBody>
      </p:sp>
      <p:sp>
        <p:nvSpPr>
          <p:cNvPr id="8" name="Text 6"/>
          <p:cNvSpPr/>
          <p:nvPr/>
        </p:nvSpPr>
        <p:spPr>
          <a:xfrm>
            <a:off x="502920" y="2194560"/>
            <a:ext cx="3703320" cy="320040"/>
          </a:xfrm>
          <a:prstGeom prst="rect">
            <a:avLst/>
          </a:prstGeom>
          <a:noFill/>
          <a:ln/>
        </p:spPr>
        <p:txBody>
          <a:bodyPr wrap="square" lIns="0" tIns="0" rIns="0" bIns="0" rtlCol="0" anchor="ctr"/>
          <a:lstStyle/>
          <a:p>
            <a:pPr marL="0" indent="0">
              <a:buNone/>
            </a:pPr>
            <a:r>
              <a:rPr lang="en-US" sz="1200" dirty="0">
                <a:solidFill>
                  <a:srgbClr val="FFFFFF"/>
                </a:solidFill>
              </a:rPr>
              <a:t>Equilibrio Perfecto en Subjuegos</a:t>
            </a:r>
            <a:endParaRPr lang="en-US" sz="1200" dirty="0"/>
          </a:p>
        </p:txBody>
      </p:sp>
      <p:sp>
        <p:nvSpPr>
          <p:cNvPr id="9" name="Text 7"/>
          <p:cNvSpPr/>
          <p:nvPr/>
        </p:nvSpPr>
        <p:spPr>
          <a:xfrm>
            <a:off x="502920" y="2606040"/>
            <a:ext cx="3703320" cy="2057400"/>
          </a:xfrm>
          <a:prstGeom prst="rect">
            <a:avLst/>
          </a:prstGeom>
          <a:noFill/>
          <a:ln/>
        </p:spPr>
        <p:txBody>
          <a:bodyPr wrap="square" lIns="0" tIns="0" rIns="0" bIns="0" rtlCol="0" anchor="ctr"/>
          <a:lstStyle/>
          <a:p>
            <a:pPr marL="0" indent="0">
              <a:buNone/>
            </a:pPr>
            <a:r>
              <a:rPr lang="en-US" sz="1150" dirty="0">
                <a:solidFill>
                  <a:srgbClr val="C8D8E8"/>
                </a:solidFill>
              </a:rPr>
              <a:t>Incluye la ESTRATEGIA COMPLETA de la seguidora:</a:t>
            </a:r>
            <a:endParaRPr lang="en-US" sz="1150" dirty="0"/>
          </a:p>
          <a:p>
            <a:pPr marL="0" indent="0">
              <a:buNone/>
            </a:pPr>
            <a:r>
              <a:rPr lang="en-US" sz="1150" dirty="0">
                <a:solidFill>
                  <a:srgbClr val="C8D8E8"/>
                </a:solidFill>
              </a:rPr>
              <a:t>qS(qL) = (a−c)/(2b) − qL/2</a:t>
            </a:r>
            <a:endParaRPr lang="en-US" sz="1150" dirty="0"/>
          </a:p>
          <a:p>
            <a:pPr marL="0" indent="0">
              <a:buNone/>
            </a:pPr>
            <a:endParaRPr lang="en-US" sz="1150" dirty="0"/>
          </a:p>
          <a:p>
            <a:pPr marL="0" indent="0">
              <a:buNone/>
            </a:pPr>
            <a:r>
              <a:rPr lang="en-US" sz="1150" dirty="0">
                <a:solidFill>
                  <a:srgbClr val="C8D8E8"/>
                </a:solidFill>
              </a:rPr>
              <a:t>Esto especifica qué haría la seguidora ante CUALQUIER cantidad posible de la líder (incluso las fuera del equilibrio).</a:t>
            </a:r>
            <a:endParaRPr lang="en-US" sz="1150" dirty="0"/>
          </a:p>
          <a:p>
            <a:pPr marL="0" indent="0">
              <a:buNone/>
            </a:pPr>
            <a:endParaRPr lang="en-US" sz="1150" dirty="0"/>
          </a:p>
          <a:p>
            <a:pPr marL="0" indent="0">
              <a:buNone/>
            </a:pPr>
            <a:r>
              <a:rPr lang="en-US" sz="1150" dirty="0">
                <a:solidFill>
                  <a:srgbClr val="C8D8E8"/>
                </a:solidFill>
              </a:rPr>
              <a:t>Es una FUNCIÓN, no un número.</a:t>
            </a:r>
            <a:endParaRPr lang="en-US" sz="1150" dirty="0"/>
          </a:p>
        </p:txBody>
      </p:sp>
      <p:sp>
        <p:nvSpPr>
          <p:cNvPr id="10" name="Shape 8"/>
          <p:cNvSpPr/>
          <p:nvPr/>
        </p:nvSpPr>
        <p:spPr>
          <a:xfrm>
            <a:off x="4754880" y="1737360"/>
            <a:ext cx="4069080" cy="3063240"/>
          </a:xfrm>
          <a:prstGeom prst="rect">
            <a:avLst/>
          </a:prstGeom>
          <a:solidFill>
            <a:srgbClr val="162840"/>
          </a:solidFill>
          <a:ln w="12700">
            <a:solidFill>
              <a:srgbClr val="F5A623"/>
            </a:solidFill>
            <a:prstDash val="solid"/>
          </a:ln>
          <a:effectLst>
            <a:outerShdw blurRad="101600" dist="38100" dir="8100000" algn="bl" rotWithShape="0">
              <a:srgbClr val="000000">
                <a:alpha val="13000"/>
              </a:srgbClr>
            </a:outerShdw>
          </a:effectLst>
        </p:spPr>
        <p:txBody>
          <a:bodyPr/>
          <a:lstStyle/>
          <a:p>
            <a:endParaRPr lang="es-AR"/>
          </a:p>
        </p:txBody>
      </p:sp>
      <p:sp>
        <p:nvSpPr>
          <p:cNvPr id="11" name="Text 9"/>
          <p:cNvSpPr/>
          <p:nvPr/>
        </p:nvSpPr>
        <p:spPr>
          <a:xfrm>
            <a:off x="4937760" y="1810512"/>
            <a:ext cx="3703320" cy="411480"/>
          </a:xfrm>
          <a:prstGeom prst="rect">
            <a:avLst/>
          </a:prstGeom>
          <a:noFill/>
          <a:ln/>
        </p:spPr>
        <p:txBody>
          <a:bodyPr wrap="square" lIns="0" tIns="0" rIns="0" bIns="0" rtlCol="0" anchor="ctr"/>
          <a:lstStyle/>
          <a:p>
            <a:pPr marL="0" indent="0">
              <a:buNone/>
            </a:pPr>
            <a:r>
              <a:rPr lang="en-US" sz="1800" b="1" dirty="0">
                <a:solidFill>
                  <a:srgbClr val="F5A623"/>
                </a:solidFill>
              </a:rPr>
              <a:t>RPS</a:t>
            </a:r>
            <a:endParaRPr lang="en-US" sz="1800" dirty="0"/>
          </a:p>
        </p:txBody>
      </p:sp>
      <p:sp>
        <p:nvSpPr>
          <p:cNvPr id="12" name="Text 10"/>
          <p:cNvSpPr/>
          <p:nvPr/>
        </p:nvSpPr>
        <p:spPr>
          <a:xfrm>
            <a:off x="4937760" y="2194560"/>
            <a:ext cx="3703320" cy="320040"/>
          </a:xfrm>
          <a:prstGeom prst="rect">
            <a:avLst/>
          </a:prstGeom>
          <a:noFill/>
          <a:ln/>
        </p:spPr>
        <p:txBody>
          <a:bodyPr wrap="square" lIns="0" tIns="0" rIns="0" bIns="0" rtlCol="0" anchor="ctr"/>
          <a:lstStyle/>
          <a:p>
            <a:pPr marL="0" indent="0">
              <a:buNone/>
            </a:pPr>
            <a:r>
              <a:rPr lang="en-US" sz="1200" dirty="0">
                <a:solidFill>
                  <a:srgbClr val="FFFFFF"/>
                </a:solidFill>
              </a:rPr>
              <a:t>Resultado Perfecto en Subjuegos</a:t>
            </a:r>
            <a:endParaRPr lang="en-US" sz="1200" dirty="0"/>
          </a:p>
        </p:txBody>
      </p:sp>
      <p:sp>
        <p:nvSpPr>
          <p:cNvPr id="13" name="Text 11"/>
          <p:cNvSpPr/>
          <p:nvPr/>
        </p:nvSpPr>
        <p:spPr>
          <a:xfrm>
            <a:off x="4937760" y="2606040"/>
            <a:ext cx="3703320" cy="2057400"/>
          </a:xfrm>
          <a:prstGeom prst="rect">
            <a:avLst/>
          </a:prstGeom>
          <a:noFill/>
          <a:ln/>
        </p:spPr>
        <p:txBody>
          <a:bodyPr wrap="square" lIns="0" tIns="0" rIns="0" bIns="0" rtlCol="0" anchor="ctr"/>
          <a:lstStyle/>
          <a:p>
            <a:pPr marL="0" indent="0">
              <a:buNone/>
            </a:pPr>
            <a:r>
              <a:rPr lang="en-US" sz="1150" dirty="0">
                <a:solidFill>
                  <a:srgbClr val="C8D8E8"/>
                </a:solidFill>
              </a:rPr>
              <a:t>Reporta solo lo que EFECTIVAMENTE ocurre:</a:t>
            </a:r>
            <a:endParaRPr lang="en-US" sz="1150" dirty="0"/>
          </a:p>
          <a:p>
            <a:pPr marL="0" indent="0">
              <a:buNone/>
            </a:pPr>
            <a:r>
              <a:rPr lang="en-US" sz="1150" dirty="0">
                <a:solidFill>
                  <a:srgbClr val="C8D8E8"/>
                </a:solidFill>
              </a:rPr>
              <a:t>qL* = (a−c)/(2b)</a:t>
            </a:r>
            <a:endParaRPr lang="en-US" sz="1150" dirty="0"/>
          </a:p>
          <a:p>
            <a:pPr marL="0" indent="0">
              <a:buNone/>
            </a:pPr>
            <a:r>
              <a:rPr lang="en-US" sz="1150" dirty="0">
                <a:solidFill>
                  <a:srgbClr val="C8D8E8"/>
                </a:solidFill>
              </a:rPr>
              <a:t>qS* = (a−c)/(4b)</a:t>
            </a:r>
            <a:endParaRPr lang="en-US" sz="1150" dirty="0"/>
          </a:p>
          <a:p>
            <a:pPr marL="0" indent="0">
              <a:buNone/>
            </a:pPr>
            <a:endParaRPr lang="en-US" sz="1150" dirty="0"/>
          </a:p>
          <a:p>
            <a:pPr marL="0" indent="0">
              <a:buNone/>
            </a:pPr>
            <a:r>
              <a:rPr lang="en-US" sz="1150" dirty="0">
                <a:solidFill>
                  <a:srgbClr val="C8D8E8"/>
                </a:solidFill>
              </a:rPr>
              <a:t>Es el camino de equilibrio concreto. Es lo que se observa en el juego cuando se llega al equilibrio.</a:t>
            </a:r>
            <a:endParaRPr lang="en-US" sz="1150" dirty="0"/>
          </a:p>
          <a:p>
            <a:pPr marL="0" indent="0">
              <a:buNone/>
            </a:pPr>
            <a:endParaRPr lang="en-US" sz="1150" dirty="0"/>
          </a:p>
          <a:p>
            <a:pPr marL="0" indent="0">
              <a:buNone/>
            </a:pPr>
            <a:r>
              <a:rPr lang="en-US" sz="1150" dirty="0">
                <a:solidFill>
                  <a:srgbClr val="C8D8E8"/>
                </a:solidFill>
              </a:rPr>
              <a:t>Es un PAR DE NÚMEROS.</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Comparación de los 4 Modelos de Organización Industrial</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3337560"/>
        </p:xfrm>
        <a:graphic>
          <a:graphicData uri="http://schemas.openxmlformats.org/drawingml/2006/table">
            <a:tbl>
              <a:tblPr/>
              <a:tblGrid>
                <a:gridCol w="19202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556260">
                <a:tc>
                  <a:txBody>
                    <a:bodyPr/>
                    <a:lstStyle/>
                    <a:p>
                      <a:pPr marL="0" indent="0">
                        <a:buNone/>
                      </a:pPr>
                      <a:r>
                        <a:rPr lang="en-US" sz="1150" b="1" dirty="0">
                          <a:solidFill>
                            <a:srgbClr val="FFFFFF"/>
                          </a:solidFill>
                        </a:rPr>
                        <a:t>MODELO</a:t>
                      </a:r>
                      <a:endParaRPr lang="en-US" sz="115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tc>
                  <a:txBody>
                    <a:bodyPr/>
                    <a:lstStyle/>
                    <a:p>
                      <a:pPr marL="0" indent="0">
                        <a:buNone/>
                      </a:pPr>
                      <a:r>
                        <a:rPr lang="en-US" sz="1150" b="1" dirty="0">
                          <a:solidFill>
                            <a:srgbClr val="FFFFFF"/>
                          </a:solidFill>
                        </a:rPr>
                        <a:t>Cantidad Total Q</a:t>
                      </a:r>
                      <a:endParaRPr lang="en-US" sz="115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tc>
                  <a:txBody>
                    <a:bodyPr/>
                    <a:lstStyle/>
                    <a:p>
                      <a:pPr marL="0" indent="0">
                        <a:buNone/>
                      </a:pPr>
                      <a:r>
                        <a:rPr lang="en-US" sz="1150" b="1" dirty="0">
                          <a:solidFill>
                            <a:srgbClr val="FFFFFF"/>
                          </a:solidFill>
                        </a:rPr>
                        <a:t>Precio P</a:t>
                      </a:r>
                      <a:endParaRPr lang="en-US" sz="115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tc>
                  <a:txBody>
                    <a:bodyPr/>
                    <a:lstStyle/>
                    <a:p>
                      <a:pPr marL="0" indent="0">
                        <a:buNone/>
                      </a:pPr>
                      <a:r>
                        <a:rPr lang="en-US" sz="1150" b="1" dirty="0">
                          <a:solidFill>
                            <a:srgbClr val="FFFFFF"/>
                          </a:solidFill>
                        </a:rPr>
                        <a:t>Beneficio Firma</a:t>
                      </a:r>
                      <a:endParaRPr lang="en-US" sz="115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tc>
                  <a:txBody>
                    <a:bodyPr/>
                    <a:lstStyle/>
                    <a:p>
                      <a:pPr marL="0" indent="0">
                        <a:buNone/>
                      </a:pPr>
                      <a:r>
                        <a:rPr lang="en-US" sz="1150" b="1" dirty="0">
                          <a:solidFill>
                            <a:srgbClr val="FFFFFF"/>
                          </a:solidFill>
                        </a:rPr>
                        <a:t>Notas</a:t>
                      </a:r>
                      <a:endParaRPr lang="en-US" sz="115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56260">
                <a:tc>
                  <a:txBody>
                    <a:bodyPr/>
                    <a:lstStyle/>
                    <a:p>
                      <a:pPr marL="0" indent="0">
                        <a:buNone/>
                      </a:pPr>
                      <a:r>
                        <a:rPr lang="en-US" sz="1200" b="1" dirty="0">
                          <a:solidFill>
                            <a:srgbClr val="1A2744"/>
                          </a:solidFill>
                        </a:rPr>
                        <a:t>Competencia Perfecta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MAYOR (max)</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MENOR (= c)</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 0</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Referencia eficiente</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6260">
                <a:tc>
                  <a:txBody>
                    <a:bodyPr/>
                    <a:lstStyle/>
                    <a:p>
                      <a:pPr marL="0" indent="0">
                        <a:buNone/>
                      </a:pPr>
                      <a:r>
                        <a:rPr lang="en-US" sz="1200" b="1" dirty="0">
                          <a:solidFill>
                            <a:srgbClr val="1A2744"/>
                          </a:solidFill>
                        </a:rPr>
                        <a:t>Stackelberg (Seguidora)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(a−c)²/(16b)</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Peor de todos excepto CP</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extLst>
                  <a:ext uri="{0D108BD9-81ED-4DB2-BD59-A6C34878D82A}">
                    <a16:rowId xmlns:a16="http://schemas.microsoft.com/office/drawing/2014/main" val="10002"/>
                  </a:ext>
                </a:extLst>
              </a:tr>
              <a:tr h="556260">
                <a:tc>
                  <a:txBody>
                    <a:bodyPr/>
                    <a:lstStyle/>
                    <a:p>
                      <a:pPr marL="0" indent="0">
                        <a:buNone/>
                      </a:pPr>
                      <a:r>
                        <a:rPr lang="en-US" sz="1200" b="1" dirty="0">
                          <a:solidFill>
                            <a:srgbClr val="1A2744"/>
                          </a:solidFill>
                        </a:rPr>
                        <a:t>Cournot</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Intermedia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Intermedia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(a−c)²/(9b) cada una</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Simétrico, sin líder</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260">
                <a:tc>
                  <a:txBody>
                    <a:bodyPr/>
                    <a:lstStyle/>
                    <a:p>
                      <a:pPr marL="0" indent="0">
                        <a:buNone/>
                      </a:pPr>
                      <a:r>
                        <a:rPr lang="en-US" sz="1200" b="1" dirty="0">
                          <a:solidFill>
                            <a:srgbClr val="1A2744"/>
                          </a:solidFill>
                        </a:rPr>
                        <a:t>Stackelberg (Líder)</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(a−c)²/(8b)</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tc>
                  <a:txBody>
                    <a:bodyPr/>
                    <a:lstStyle/>
                    <a:p>
                      <a:pPr marL="0" indent="0">
                        <a:buNone/>
                      </a:pPr>
                      <a:r>
                        <a:rPr lang="en-US" sz="1200" dirty="0">
                          <a:solidFill>
                            <a:srgbClr val="102030"/>
                          </a:solidFill>
                        </a:rPr>
                        <a:t>Mejor que Cournot</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0F6FA"/>
                    </a:solidFill>
                  </a:tcPr>
                </a:tc>
                <a:extLst>
                  <a:ext uri="{0D108BD9-81ED-4DB2-BD59-A6C34878D82A}">
                    <a16:rowId xmlns:a16="http://schemas.microsoft.com/office/drawing/2014/main" val="10004"/>
                  </a:ext>
                </a:extLst>
              </a:tr>
              <a:tr h="556260">
                <a:tc>
                  <a:txBody>
                    <a:bodyPr/>
                    <a:lstStyle/>
                    <a:p>
                      <a:pPr marL="0" indent="0">
                        <a:buNone/>
                      </a:pPr>
                      <a:r>
                        <a:rPr lang="en-US" sz="1200" b="1" dirty="0">
                          <a:solidFill>
                            <a:srgbClr val="1A2744"/>
                          </a:solidFill>
                        </a:rPr>
                        <a:t>Monopolio</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MENOR (min)</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MAYOR</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(a−c)²/(4b)</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tc>
                  <a:txBody>
                    <a:bodyPr/>
                    <a:lstStyle/>
                    <a:p>
                      <a:pPr marL="0" indent="0">
                        <a:buNone/>
                      </a:pPr>
                      <a:r>
                        <a:rPr lang="en-US" sz="1200" dirty="0">
                          <a:solidFill>
                            <a:srgbClr val="102030"/>
                          </a:solidFill>
                        </a:rPr>
                        <a:t>Máximo beneficio único</a:t>
                      </a:r>
                      <a:endParaRPr lang="en-US" sz="1200" dirty="0"/>
                    </a:p>
                  </a:txBody>
                  <a:tcPr anchor="ctr">
                    <a:lnL w="8890" cap="flat" cmpd="sng" algn="ctr">
                      <a:solidFill>
                        <a:srgbClr val="C0D8E8"/>
                      </a:solidFill>
                      <a:prstDash val="solid"/>
                      <a:round/>
                      <a:headEnd type="none" w="med" len="med"/>
                      <a:tailEnd type="none" w="med" len="med"/>
                    </a:lnL>
                    <a:lnR w="8890" cap="flat" cmpd="sng" algn="ctr">
                      <a:solidFill>
                        <a:srgbClr val="C0D8E8"/>
                      </a:solidFill>
                      <a:prstDash val="solid"/>
                      <a:round/>
                      <a:headEnd type="none" w="med" len="med"/>
                      <a:tailEnd type="none" w="med" len="med"/>
                    </a:lnR>
                    <a:lnT w="8890" cap="flat" cmpd="sng" algn="ctr">
                      <a:solidFill>
                        <a:srgbClr val="C0D8E8"/>
                      </a:solidFill>
                      <a:prstDash val="solid"/>
                      <a:round/>
                      <a:headEnd type="none" w="med" len="med"/>
                      <a:tailEnd type="none" w="med" len="med"/>
                    </a:lnT>
                    <a:lnB w="8890" cap="flat" cmpd="sng" algn="ctr">
                      <a:solidFill>
                        <a:srgbClr val="C0D8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320040" y="4434840"/>
            <a:ext cx="8503920" cy="594360"/>
          </a:xfrm>
          <a:prstGeom prst="rect">
            <a:avLst/>
          </a:prstGeom>
          <a:solidFill>
            <a:srgbClr val="1A2744"/>
          </a:solidFill>
          <a:ln w="12700">
            <a:solidFill>
              <a:srgbClr val="1A2744"/>
            </a:solidFill>
            <a:prstDash val="solid"/>
          </a:ln>
        </p:spPr>
        <p:txBody>
          <a:bodyPr/>
          <a:lstStyle/>
          <a:p>
            <a:endParaRPr lang="es-AR"/>
          </a:p>
        </p:txBody>
      </p:sp>
      <p:sp>
        <p:nvSpPr>
          <p:cNvPr id="6" name="Text 3"/>
          <p:cNvSpPr/>
          <p:nvPr/>
        </p:nvSpPr>
        <p:spPr>
          <a:xfrm>
            <a:off x="502920" y="4453128"/>
            <a:ext cx="8138160" cy="566928"/>
          </a:xfrm>
          <a:prstGeom prst="rect">
            <a:avLst/>
          </a:prstGeom>
          <a:noFill/>
          <a:ln/>
        </p:spPr>
        <p:txBody>
          <a:bodyPr wrap="square" lIns="0" tIns="0" rIns="0" bIns="0" rtlCol="0" anchor="ctr"/>
          <a:lstStyle/>
          <a:p>
            <a:pPr marL="0" indent="0" algn="ctr">
              <a:buNone/>
            </a:pPr>
            <a:r>
              <a:rPr lang="en-US" sz="1100" b="1" dirty="0">
                <a:solidFill>
                  <a:srgbClr val="F5A623"/>
                </a:solidFill>
              </a:rPr>
              <a:t>ORDEN CANTIDAD: QCP &gt; QStack &gt; QCou &gt; QM    |    ORDEN PRECIO: PM &gt; PCou &gt; PStack &gt; PCP    |    ORDEN BENEFICIO: ΠM &gt; ΠL_Stack &gt; ΠCou &gt; ΠS_Stack &gt; ΠCP</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Stackelberg con Múltiples Seguidoras (3 firmas)</a:t>
            </a:r>
            <a:endParaRPr lang="en-US" sz="2200" dirty="0"/>
          </a:p>
        </p:txBody>
      </p:sp>
      <p:sp>
        <p:nvSpPr>
          <p:cNvPr id="4" name="Shape 2"/>
          <p:cNvSpPr/>
          <p:nvPr/>
        </p:nvSpPr>
        <p:spPr>
          <a:xfrm>
            <a:off x="320040" y="960120"/>
            <a:ext cx="8503920" cy="658368"/>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250" dirty="0">
                <a:solidFill>
                  <a:srgbClr val="FFFFFF"/>
                </a:solidFill>
              </a:rPr>
              <a:t>ESTRUCTURA: Firma 1 = Líder (mueve en T=1). Firmas 2 y 3 = Seguidoras (eligen SIMULTÁNEAMENTE en T=2, es decir, juegan Cournot entre ellas).</a:t>
            </a:r>
            <a:endParaRPr lang="en-US" sz="1250" dirty="0"/>
          </a:p>
        </p:txBody>
      </p:sp>
      <p:sp>
        <p:nvSpPr>
          <p:cNvPr id="6" name="Shape 4"/>
          <p:cNvSpPr/>
          <p:nvPr/>
        </p:nvSpPr>
        <p:spPr>
          <a:xfrm>
            <a:off x="320040" y="1783080"/>
            <a:ext cx="8503920" cy="987552"/>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1847088"/>
            <a:ext cx="8229600" cy="292608"/>
          </a:xfrm>
          <a:prstGeom prst="rect">
            <a:avLst/>
          </a:prstGeom>
          <a:noFill/>
          <a:ln/>
        </p:spPr>
        <p:txBody>
          <a:bodyPr wrap="square" lIns="0" tIns="0" rIns="0" bIns="0" rtlCol="0" anchor="ctr"/>
          <a:lstStyle/>
          <a:p>
            <a:pPr marL="0" indent="0">
              <a:buNone/>
            </a:pPr>
            <a:r>
              <a:rPr lang="en-US" sz="1300" b="1" dirty="0">
                <a:solidFill>
                  <a:srgbClr val="FFFFFF"/>
                </a:solidFill>
              </a:rPr>
              <a:t>T=2: Cournot entre seguidoras</a:t>
            </a:r>
            <a:endParaRPr lang="en-US" sz="1300" dirty="0"/>
          </a:p>
        </p:txBody>
      </p:sp>
      <p:sp>
        <p:nvSpPr>
          <p:cNvPr id="8" name="Text 6"/>
          <p:cNvSpPr/>
          <p:nvPr/>
        </p:nvSpPr>
        <p:spPr>
          <a:xfrm>
            <a:off x="502920" y="2176272"/>
            <a:ext cx="8229600" cy="395478"/>
          </a:xfrm>
          <a:prstGeom prst="rect">
            <a:avLst/>
          </a:prstGeom>
          <a:noFill/>
          <a:ln/>
        </p:spPr>
        <p:txBody>
          <a:bodyPr wrap="square" lIns="0" tIns="0" rIns="0" bIns="0" rtlCol="0" anchor="ctr"/>
          <a:lstStyle/>
          <a:p>
            <a:pPr marL="0" indent="0">
              <a:buNone/>
            </a:pPr>
            <a:r>
              <a:rPr lang="en-US" sz="1150" dirty="0">
                <a:solidFill>
                  <a:srgbClr val="B8D0E4"/>
                </a:solidFill>
              </a:rPr>
              <a:t>Función de reacción de cada seguidora:</a:t>
            </a:r>
            <a:endParaRPr lang="en-US" sz="1150" dirty="0"/>
          </a:p>
          <a:p>
            <a:pPr marL="0" indent="0">
              <a:buNone/>
            </a:pPr>
            <a:r>
              <a:rPr lang="en-US" sz="1150" dirty="0">
                <a:solidFill>
                  <a:srgbClr val="B8D0E4"/>
                </a:solidFill>
              </a:rPr>
              <a:t>q*(q1) = (a−c)/(3b) − q1/3</a:t>
            </a:r>
            <a:endParaRPr lang="en-US" sz="1150" dirty="0"/>
          </a:p>
          <a:p>
            <a:pPr marL="0" indent="0">
              <a:buNone/>
            </a:pPr>
            <a:endParaRPr lang="en-US" sz="1150" dirty="0"/>
          </a:p>
          <a:p>
            <a:pPr marL="0" indent="0">
              <a:buNone/>
            </a:pPr>
            <a:r>
              <a:rPr lang="en-US" sz="1150" dirty="0">
                <a:solidFill>
                  <a:srgbClr val="B8D0E4"/>
                </a:solidFill>
              </a:rPr>
              <a:t>Nota: ahora cada seguidora reduce 1/3 por unidad de la líder (antes 1/2). Hay más competencia entre ellas.</a:t>
            </a:r>
            <a:endParaRPr lang="en-US" sz="1150" dirty="0"/>
          </a:p>
        </p:txBody>
      </p:sp>
      <p:sp>
        <p:nvSpPr>
          <p:cNvPr id="9" name="Shape 7"/>
          <p:cNvSpPr/>
          <p:nvPr/>
        </p:nvSpPr>
        <p:spPr>
          <a:xfrm>
            <a:off x="320040" y="2807208"/>
            <a:ext cx="8503920" cy="987552"/>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8"/>
          <p:cNvSpPr/>
          <p:nvPr/>
        </p:nvSpPr>
        <p:spPr>
          <a:xfrm>
            <a:off x="502920" y="2871216"/>
            <a:ext cx="8229600" cy="292608"/>
          </a:xfrm>
          <a:prstGeom prst="rect">
            <a:avLst/>
          </a:prstGeom>
          <a:noFill/>
          <a:ln/>
        </p:spPr>
        <p:txBody>
          <a:bodyPr wrap="square" lIns="0" tIns="0" rIns="0" bIns="0" rtlCol="0" anchor="ctr"/>
          <a:lstStyle/>
          <a:p>
            <a:pPr marL="0" indent="0">
              <a:buNone/>
            </a:pPr>
            <a:r>
              <a:rPr lang="en-US" sz="1300" b="1" dirty="0">
                <a:solidFill>
                  <a:srgbClr val="FFFFFF"/>
                </a:solidFill>
              </a:rPr>
              <a:t>T=1: Problema de la Líder</a:t>
            </a:r>
            <a:endParaRPr lang="en-US" sz="1300" dirty="0"/>
          </a:p>
        </p:txBody>
      </p:sp>
      <p:sp>
        <p:nvSpPr>
          <p:cNvPr id="11" name="Text 9"/>
          <p:cNvSpPr/>
          <p:nvPr/>
        </p:nvSpPr>
        <p:spPr>
          <a:xfrm>
            <a:off x="502920" y="3200400"/>
            <a:ext cx="8229600" cy="475488"/>
          </a:xfrm>
          <a:prstGeom prst="rect">
            <a:avLst/>
          </a:prstGeom>
          <a:noFill/>
          <a:ln/>
        </p:spPr>
        <p:txBody>
          <a:bodyPr wrap="square" lIns="0" tIns="0" rIns="0" bIns="0" rtlCol="0" anchor="ctr"/>
          <a:lstStyle/>
          <a:p>
            <a:pPr marL="0" indent="0">
              <a:buNone/>
            </a:pPr>
            <a:r>
              <a:rPr lang="en-US" sz="1150" dirty="0">
                <a:solidFill>
                  <a:srgbClr val="B8D0E4"/>
                </a:solidFill>
              </a:rPr>
              <a:t>La líder anticipa que habrá DOS seguidoras respondiendo.</a:t>
            </a:r>
            <a:endParaRPr lang="en-US" sz="1150" dirty="0"/>
          </a:p>
          <a:p>
            <a:pPr marL="0" indent="0">
              <a:buNone/>
            </a:pPr>
            <a:r>
              <a:rPr lang="en-US" sz="1150" dirty="0">
                <a:solidFill>
                  <a:srgbClr val="B8D0E4"/>
                </a:solidFill>
              </a:rPr>
              <a:t>Condición de primer orden → q1* = (a−c)/(2b)</a:t>
            </a:r>
            <a:endParaRPr lang="en-US" sz="1150" dirty="0"/>
          </a:p>
          <a:p>
            <a:pPr marL="0" indent="0">
              <a:buNone/>
            </a:pPr>
            <a:endParaRPr lang="en-US" sz="1150" dirty="0"/>
          </a:p>
          <a:p>
            <a:pPr marL="0" indent="0">
              <a:buNone/>
            </a:pPr>
            <a:r>
              <a:rPr lang="en-US" sz="1150" dirty="0">
                <a:solidFill>
                  <a:srgbClr val="B8D0E4"/>
                </a:solidFill>
              </a:rPr>
              <a:t>¡Igual que en el caso básico! La líder siempre elige la cantidad monopólica.</a:t>
            </a:r>
            <a:endParaRPr lang="en-US" sz="1150" dirty="0"/>
          </a:p>
        </p:txBody>
      </p:sp>
      <p:sp>
        <p:nvSpPr>
          <p:cNvPr id="12" name="Shape 10"/>
          <p:cNvSpPr/>
          <p:nvPr/>
        </p:nvSpPr>
        <p:spPr>
          <a:xfrm>
            <a:off x="320040" y="3831336"/>
            <a:ext cx="8503920" cy="987552"/>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3" name="Text 11"/>
          <p:cNvSpPr/>
          <p:nvPr/>
        </p:nvSpPr>
        <p:spPr>
          <a:xfrm>
            <a:off x="502920" y="3895344"/>
            <a:ext cx="8229600" cy="292608"/>
          </a:xfrm>
          <a:prstGeom prst="rect">
            <a:avLst/>
          </a:prstGeom>
          <a:noFill/>
          <a:ln/>
        </p:spPr>
        <p:txBody>
          <a:bodyPr wrap="square" lIns="0" tIns="0" rIns="0" bIns="0" rtlCol="0" anchor="ctr"/>
          <a:lstStyle/>
          <a:p>
            <a:pPr marL="0" indent="0">
              <a:buNone/>
            </a:pPr>
            <a:r>
              <a:rPr lang="en-US" sz="1300" b="1" dirty="0">
                <a:solidFill>
                  <a:srgbClr val="FFFFFF"/>
                </a:solidFill>
              </a:rPr>
              <a:t>Conclusiones clave</a:t>
            </a:r>
            <a:endParaRPr lang="en-US" sz="1300" dirty="0"/>
          </a:p>
        </p:txBody>
      </p:sp>
      <p:sp>
        <p:nvSpPr>
          <p:cNvPr id="14" name="Text 12"/>
          <p:cNvSpPr/>
          <p:nvPr/>
        </p:nvSpPr>
        <p:spPr>
          <a:xfrm>
            <a:off x="502920" y="4224528"/>
            <a:ext cx="8229600" cy="475488"/>
          </a:xfrm>
          <a:prstGeom prst="rect">
            <a:avLst/>
          </a:prstGeom>
          <a:noFill/>
          <a:ln/>
        </p:spPr>
        <p:txBody>
          <a:bodyPr wrap="square" lIns="0" tIns="0" rIns="0" bIns="0" rtlCol="0" anchor="ctr"/>
          <a:lstStyle/>
          <a:p>
            <a:pPr marL="0" indent="0">
              <a:buNone/>
            </a:pPr>
            <a:r>
              <a:rPr lang="en-US" sz="1150" dirty="0">
                <a:solidFill>
                  <a:srgbClr val="B8D0E4"/>
                </a:solidFill>
              </a:rPr>
              <a:t>• La líder produce IGUAL con 1 o 2 seguidoras.</a:t>
            </a:r>
            <a:endParaRPr lang="en-US" sz="1150" dirty="0"/>
          </a:p>
          <a:p>
            <a:pPr marL="0" indent="0">
              <a:buNone/>
            </a:pPr>
            <a:r>
              <a:rPr lang="en-US" sz="1150" dirty="0">
                <a:solidFill>
                  <a:srgbClr val="B8D0E4"/>
                </a:solidFill>
              </a:rPr>
              <a:t>• Cada seguidora produce MENOS (compiten entre sí).</a:t>
            </a:r>
            <a:endParaRPr lang="en-US" sz="1150" dirty="0"/>
          </a:p>
          <a:p>
            <a:pPr marL="0" indent="0">
              <a:buNone/>
            </a:pPr>
            <a:r>
              <a:rPr lang="en-US" sz="1150" dirty="0">
                <a:solidFill>
                  <a:srgbClr val="B8D0E4"/>
                </a:solidFill>
              </a:rPr>
              <a:t>• Precio de mercado BAJA más (más oferta total).</a:t>
            </a:r>
            <a:endParaRPr lang="en-US" sz="1150" dirty="0"/>
          </a:p>
          <a:p>
            <a:pPr marL="0" indent="0">
              <a:buNone/>
            </a:pPr>
            <a:r>
              <a:rPr lang="en-US" sz="1150" dirty="0">
                <a:solidFill>
                  <a:srgbClr val="B8D0E4"/>
                </a:solidFill>
              </a:rPr>
              <a:t>• Líder gana MENOS porque el precio cae.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1463040"/>
            <a:ext cx="164592" cy="2194560"/>
          </a:xfrm>
          <a:prstGeom prst="rect">
            <a:avLst/>
          </a:prstGeom>
          <a:solidFill>
            <a:srgbClr val="F5A623"/>
          </a:solidFill>
          <a:ln w="12700">
            <a:solidFill>
              <a:srgbClr val="F5A623"/>
            </a:solidFill>
            <a:prstDash val="solid"/>
          </a:ln>
        </p:spPr>
        <p:txBody>
          <a:bodyPr/>
          <a:lstStyle/>
          <a:p>
            <a:endParaRPr lang="es-AR"/>
          </a:p>
        </p:txBody>
      </p:sp>
      <p:sp>
        <p:nvSpPr>
          <p:cNvPr id="3" name="Text 1"/>
          <p:cNvSpPr/>
          <p:nvPr/>
        </p:nvSpPr>
        <p:spPr>
          <a:xfrm>
            <a:off x="411480" y="1554480"/>
            <a:ext cx="8229600" cy="457200"/>
          </a:xfrm>
          <a:prstGeom prst="rect">
            <a:avLst/>
          </a:prstGeom>
          <a:noFill/>
          <a:ln/>
        </p:spPr>
        <p:txBody>
          <a:bodyPr wrap="square" lIns="0" tIns="0" rIns="0" bIns="0" rtlCol="0" anchor="ctr"/>
          <a:lstStyle/>
          <a:p>
            <a:pPr marL="0" indent="0">
              <a:buNone/>
            </a:pPr>
            <a:r>
              <a:rPr lang="en-US" sz="1200" b="1" kern="0" spc="400" dirty="0">
                <a:solidFill>
                  <a:srgbClr val="F5A623"/>
                </a:solidFill>
              </a:rPr>
              <a:t>SECCIÓN 5</a:t>
            </a:r>
            <a:endParaRPr lang="en-US" sz="1200" dirty="0"/>
          </a:p>
        </p:txBody>
      </p:sp>
      <p:sp>
        <p:nvSpPr>
          <p:cNvPr id="4" name="Text 2"/>
          <p:cNvSpPr/>
          <p:nvPr/>
        </p:nvSpPr>
        <p:spPr>
          <a:xfrm>
            <a:off x="411480" y="1920240"/>
            <a:ext cx="8229600" cy="914400"/>
          </a:xfrm>
          <a:prstGeom prst="rect">
            <a:avLst/>
          </a:prstGeom>
          <a:noFill/>
          <a:ln/>
        </p:spPr>
        <p:txBody>
          <a:bodyPr wrap="square" lIns="0" tIns="0" rIns="0" bIns="0" rtlCol="0" anchor="ctr"/>
          <a:lstStyle/>
          <a:p>
            <a:pPr marL="0" indent="0">
              <a:buNone/>
            </a:pPr>
            <a:r>
              <a:rPr lang="en-US" sz="3400" b="1" dirty="0">
                <a:solidFill>
                  <a:srgbClr val="FFFFFF"/>
                </a:solidFill>
              </a:rPr>
              <a:t>Juegos Repetidos</a:t>
            </a:r>
            <a:endParaRPr lang="en-US" sz="3400" dirty="0"/>
          </a:p>
        </p:txBody>
      </p:sp>
      <p:sp>
        <p:nvSpPr>
          <p:cNvPr id="5" name="Text 3"/>
          <p:cNvSpPr/>
          <p:nvPr/>
        </p:nvSpPr>
        <p:spPr>
          <a:xfrm>
            <a:off x="411480" y="2880360"/>
            <a:ext cx="7772400" cy="731520"/>
          </a:xfrm>
          <a:prstGeom prst="rect">
            <a:avLst/>
          </a:prstGeom>
          <a:noFill/>
          <a:ln/>
        </p:spPr>
        <p:txBody>
          <a:bodyPr wrap="square" lIns="0" tIns="0" rIns="0" bIns="0" rtlCol="0" anchor="ctr"/>
          <a:lstStyle/>
          <a:p>
            <a:pPr marL="0" indent="0">
              <a:buNone/>
            </a:pPr>
            <a:r>
              <a:rPr lang="en-US" sz="1400" i="1" dirty="0">
                <a:solidFill>
                  <a:srgbClr val="A8C0D0"/>
                </a:solidFill>
              </a:rPr>
              <a:t>¿Cómo genera cooperación la repetición de un juego estático?</a:t>
            </a:r>
            <a:endParaRPr lang="en-US" sz="1400" dirty="0"/>
          </a:p>
        </p:txBody>
      </p:sp>
      <p:sp>
        <p:nvSpPr>
          <p:cNvPr id="6" name="Shape 4"/>
          <p:cNvSpPr/>
          <p:nvPr/>
        </p:nvSpPr>
        <p:spPr>
          <a:xfrm>
            <a:off x="0" y="4754880"/>
            <a:ext cx="9144000" cy="393192"/>
          </a:xfrm>
          <a:prstGeom prst="rect">
            <a:avLst/>
          </a:prstGeom>
          <a:solidFill>
            <a:srgbClr val="0F7B6C"/>
          </a:solidFill>
          <a:ln w="12700">
            <a:solidFill>
              <a:srgbClr val="0F7B6C"/>
            </a:solidFill>
            <a:prstDash val="solid"/>
          </a:ln>
        </p:spPr>
        <p:txBody>
          <a:bodyPr/>
          <a:lstStyle/>
          <a:p>
            <a:endParaRPr lang="es-AR"/>
          </a:p>
        </p:txBody>
      </p:sp>
      <p:sp>
        <p:nvSpPr>
          <p:cNvPr id="7" name="Text 5"/>
          <p:cNvSpPr/>
          <p:nvPr/>
        </p:nvSpPr>
        <p:spPr>
          <a:xfrm>
            <a:off x="365760" y="4754880"/>
            <a:ext cx="8229600" cy="393192"/>
          </a:xfrm>
          <a:prstGeom prst="rect">
            <a:avLst/>
          </a:prstGeom>
          <a:noFill/>
          <a:ln/>
        </p:spPr>
        <p:txBody>
          <a:bodyPr wrap="square" lIns="0" tIns="0" rIns="0" bIns="0" rtlCol="0" anchor="ctr"/>
          <a:lstStyle/>
          <a:p>
            <a:pPr marL="0" indent="0">
              <a:buNone/>
            </a:pPr>
            <a:r>
              <a:rPr lang="en-US" sz="1000" dirty="0">
                <a:solidFill>
                  <a:srgbClr val="FFFFFF"/>
                </a:solidFill>
              </a:rPr>
              <a:t>Teoría de Juegos  •  Juegos Dinámicos y Repetidos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0060" y="377190"/>
            <a:ext cx="4114800" cy="205740"/>
          </a:xfrm>
          <a:prstGeom prst="rect">
            <a:avLst/>
          </a:prstGeom>
          <a:noFill/>
          <a:ln/>
        </p:spPr>
        <p:txBody>
          <a:bodyPr wrap="square" lIns="0" tIns="0" rIns="0" bIns="0" rtlCol="0" anchor="ctr"/>
          <a:lstStyle/>
          <a:p>
            <a:r>
              <a:rPr lang="en-US" sz="750" b="1" kern="0" spc="300" dirty="0">
                <a:solidFill>
                  <a:srgbClr val="C2410C"/>
                </a:solidFill>
                <a:latin typeface="Calibri" pitchFamily="34" charset="0"/>
                <a:ea typeface="Calibri" pitchFamily="34" charset="-122"/>
                <a:cs typeface="Calibri" pitchFamily="34" charset="-120"/>
              </a:rPr>
              <a:t>JUEGOS REPETIDOS</a:t>
            </a:r>
            <a:endParaRPr lang="en-US" sz="750" dirty="0"/>
          </a:p>
        </p:txBody>
      </p:sp>
      <p:sp>
        <p:nvSpPr>
          <p:cNvPr id="3" name="Text 1"/>
          <p:cNvSpPr/>
          <p:nvPr/>
        </p:nvSpPr>
        <p:spPr>
          <a:xfrm>
            <a:off x="480060" y="582930"/>
            <a:ext cx="8229600" cy="480060"/>
          </a:xfrm>
          <a:prstGeom prst="rect">
            <a:avLst/>
          </a:prstGeom>
          <a:noFill/>
          <a:ln/>
        </p:spPr>
        <p:txBody>
          <a:bodyPr wrap="square" lIns="0" tIns="0" rIns="0" bIns="0" rtlCol="0" anchor="ctr"/>
          <a:lstStyle/>
          <a:p>
            <a:r>
              <a:rPr lang="en-US" sz="2550" dirty="0">
                <a:solidFill>
                  <a:srgbClr val="1A1A1A"/>
                </a:solidFill>
                <a:latin typeface="Georgia" pitchFamily="34" charset="0"/>
                <a:ea typeface="Georgia" pitchFamily="34" charset="-122"/>
                <a:cs typeface="Georgia" pitchFamily="34" charset="-120"/>
              </a:rPr>
              <a:t>Simultaneidad  +  memoria</a:t>
            </a:r>
            <a:endParaRPr lang="en-US" sz="2550" dirty="0"/>
          </a:p>
        </p:txBody>
      </p:sp>
      <p:sp>
        <p:nvSpPr>
          <p:cNvPr id="4" name="Text 2"/>
          <p:cNvSpPr/>
          <p:nvPr/>
        </p:nvSpPr>
        <p:spPr>
          <a:xfrm>
            <a:off x="480060" y="1028700"/>
            <a:ext cx="8229600" cy="274320"/>
          </a:xfrm>
          <a:prstGeom prst="rect">
            <a:avLst/>
          </a:prstGeom>
          <a:noFill/>
          <a:ln/>
        </p:spPr>
        <p:txBody>
          <a:bodyPr wrap="square" lIns="0" tIns="0" rIns="0" bIns="0" rtlCol="0" anchor="ctr"/>
          <a:lstStyle/>
          <a:p>
            <a:r>
              <a:rPr lang="en-US" sz="1050" i="1" dirty="0">
                <a:solidFill>
                  <a:srgbClr val="6B7280"/>
                </a:solidFill>
                <a:latin typeface="Calibri" pitchFamily="34" charset="0"/>
                <a:ea typeface="Calibri" pitchFamily="34" charset="-122"/>
                <a:cs typeface="Calibri" pitchFamily="34" charset="-120"/>
              </a:rPr>
              <a:t>Qué cambia cuando el juego se repite período tras período</a:t>
            </a:r>
            <a:endParaRPr lang="en-US" sz="1050" dirty="0"/>
          </a:p>
        </p:txBody>
      </p:sp>
      <p:sp>
        <p:nvSpPr>
          <p:cNvPr id="5" name="Shape 3"/>
          <p:cNvSpPr/>
          <p:nvPr/>
        </p:nvSpPr>
        <p:spPr>
          <a:xfrm>
            <a:off x="1440180" y="2468880"/>
            <a:ext cx="5692140" cy="0"/>
          </a:xfrm>
          <a:prstGeom prst="line">
            <a:avLst/>
          </a:prstGeom>
          <a:noFill/>
          <a:ln w="12700">
            <a:solidFill>
              <a:srgbClr val="E5E7EB"/>
            </a:solidFill>
            <a:prstDash val="solid"/>
          </a:ln>
        </p:spPr>
        <p:txBody>
          <a:bodyPr/>
          <a:lstStyle/>
          <a:p>
            <a:endParaRPr lang="es-AR" sz="1350"/>
          </a:p>
        </p:txBody>
      </p:sp>
      <p:sp>
        <p:nvSpPr>
          <p:cNvPr id="6" name="Text 4"/>
          <p:cNvSpPr/>
          <p:nvPr/>
        </p:nvSpPr>
        <p:spPr>
          <a:xfrm>
            <a:off x="7200900" y="2331720"/>
            <a:ext cx="411480" cy="274320"/>
          </a:xfrm>
          <a:prstGeom prst="rect">
            <a:avLst/>
          </a:prstGeom>
          <a:noFill/>
          <a:ln/>
        </p:spPr>
        <p:txBody>
          <a:bodyPr wrap="square" lIns="0" tIns="0" rIns="0" bIns="0" rtlCol="0" anchor="ctr"/>
          <a:lstStyle/>
          <a:p>
            <a:r>
              <a:rPr lang="en-US" sz="1350" dirty="0">
                <a:solidFill>
                  <a:srgbClr val="9CA3AF"/>
                </a:solidFill>
                <a:latin typeface="Calibri" pitchFamily="34" charset="0"/>
                <a:ea typeface="Calibri" pitchFamily="34" charset="-122"/>
                <a:cs typeface="Calibri" pitchFamily="34" charset="-120"/>
              </a:rPr>
              <a:t>→</a:t>
            </a:r>
            <a:endParaRPr lang="en-US" sz="1350" dirty="0"/>
          </a:p>
        </p:txBody>
      </p:sp>
      <p:sp>
        <p:nvSpPr>
          <p:cNvPr id="7" name="Shape 5"/>
          <p:cNvSpPr/>
          <p:nvPr/>
        </p:nvSpPr>
        <p:spPr>
          <a:xfrm>
            <a:off x="1563624" y="2318004"/>
            <a:ext cx="301752" cy="301752"/>
          </a:xfrm>
          <a:prstGeom prst="ellipse">
            <a:avLst/>
          </a:prstGeom>
          <a:solidFill>
            <a:srgbClr val="FFFFFF"/>
          </a:solidFill>
          <a:ln w="19050">
            <a:solidFill>
              <a:srgbClr val="9CA3AF"/>
            </a:solidFill>
            <a:prstDash val="solid"/>
          </a:ln>
        </p:spPr>
        <p:txBody>
          <a:bodyPr/>
          <a:lstStyle/>
          <a:p>
            <a:endParaRPr lang="es-AR" sz="1350"/>
          </a:p>
        </p:txBody>
      </p:sp>
      <p:sp>
        <p:nvSpPr>
          <p:cNvPr id="8" name="Text 6"/>
          <p:cNvSpPr/>
          <p:nvPr/>
        </p:nvSpPr>
        <p:spPr>
          <a:xfrm>
            <a:off x="1165860" y="2674620"/>
            <a:ext cx="1097280" cy="240030"/>
          </a:xfrm>
          <a:prstGeom prst="rect">
            <a:avLst/>
          </a:prstGeom>
          <a:noFill/>
          <a:ln/>
        </p:spPr>
        <p:txBody>
          <a:bodyPr wrap="square" lIns="0" tIns="0" rIns="0" bIns="0" rtlCol="0" anchor="ctr"/>
          <a:lstStyle/>
          <a:p>
            <a:pPr algn="ctr"/>
            <a:r>
              <a:rPr lang="en-US" sz="1050" i="1" dirty="0">
                <a:solidFill>
                  <a:srgbClr val="9CA3AF"/>
                </a:solidFill>
                <a:latin typeface="Georgia" pitchFamily="34" charset="0"/>
                <a:ea typeface="Georgia" pitchFamily="34" charset="-122"/>
                <a:cs typeface="Georgia" pitchFamily="34" charset="-120"/>
              </a:rPr>
              <a:t>t − 2</a:t>
            </a:r>
            <a:endParaRPr lang="en-US" sz="1050" dirty="0"/>
          </a:p>
        </p:txBody>
      </p:sp>
      <p:sp>
        <p:nvSpPr>
          <p:cNvPr id="9" name="Shape 7"/>
          <p:cNvSpPr/>
          <p:nvPr/>
        </p:nvSpPr>
        <p:spPr>
          <a:xfrm>
            <a:off x="3278124" y="2318004"/>
            <a:ext cx="301752" cy="301752"/>
          </a:xfrm>
          <a:prstGeom prst="ellipse">
            <a:avLst/>
          </a:prstGeom>
          <a:solidFill>
            <a:srgbClr val="FFFFFF"/>
          </a:solidFill>
          <a:ln w="19050">
            <a:solidFill>
              <a:srgbClr val="9CA3AF"/>
            </a:solidFill>
            <a:prstDash val="solid"/>
          </a:ln>
        </p:spPr>
        <p:txBody>
          <a:bodyPr/>
          <a:lstStyle/>
          <a:p>
            <a:endParaRPr lang="es-AR" sz="1350"/>
          </a:p>
        </p:txBody>
      </p:sp>
      <p:sp>
        <p:nvSpPr>
          <p:cNvPr id="10" name="Text 8"/>
          <p:cNvSpPr/>
          <p:nvPr/>
        </p:nvSpPr>
        <p:spPr>
          <a:xfrm>
            <a:off x="2880360" y="2674620"/>
            <a:ext cx="1097280" cy="240030"/>
          </a:xfrm>
          <a:prstGeom prst="rect">
            <a:avLst/>
          </a:prstGeom>
          <a:noFill/>
          <a:ln/>
        </p:spPr>
        <p:txBody>
          <a:bodyPr wrap="square" lIns="0" tIns="0" rIns="0" bIns="0" rtlCol="0" anchor="ctr"/>
          <a:lstStyle/>
          <a:p>
            <a:pPr algn="ctr"/>
            <a:r>
              <a:rPr lang="en-US" sz="1050" i="1" dirty="0">
                <a:solidFill>
                  <a:srgbClr val="9CA3AF"/>
                </a:solidFill>
                <a:latin typeface="Georgia" pitchFamily="34" charset="0"/>
                <a:ea typeface="Georgia" pitchFamily="34" charset="-122"/>
                <a:cs typeface="Georgia" pitchFamily="34" charset="-120"/>
              </a:rPr>
              <a:t>t − 1</a:t>
            </a:r>
            <a:endParaRPr lang="en-US" sz="1050" dirty="0"/>
          </a:p>
        </p:txBody>
      </p:sp>
      <p:sp>
        <p:nvSpPr>
          <p:cNvPr id="11" name="Shape 9"/>
          <p:cNvSpPr/>
          <p:nvPr/>
        </p:nvSpPr>
        <p:spPr>
          <a:xfrm>
            <a:off x="4992624" y="2318004"/>
            <a:ext cx="301752" cy="301752"/>
          </a:xfrm>
          <a:prstGeom prst="ellipse">
            <a:avLst/>
          </a:prstGeom>
          <a:solidFill>
            <a:srgbClr val="C2410C"/>
          </a:solidFill>
          <a:ln w="19050">
            <a:solidFill>
              <a:srgbClr val="C2410C"/>
            </a:solidFill>
            <a:prstDash val="solid"/>
          </a:ln>
        </p:spPr>
        <p:txBody>
          <a:bodyPr/>
          <a:lstStyle/>
          <a:p>
            <a:endParaRPr lang="es-AR" sz="1350"/>
          </a:p>
        </p:txBody>
      </p:sp>
      <p:sp>
        <p:nvSpPr>
          <p:cNvPr id="12" name="Text 10"/>
          <p:cNvSpPr/>
          <p:nvPr/>
        </p:nvSpPr>
        <p:spPr>
          <a:xfrm>
            <a:off x="4594860" y="2674620"/>
            <a:ext cx="1097280" cy="240030"/>
          </a:xfrm>
          <a:prstGeom prst="rect">
            <a:avLst/>
          </a:prstGeom>
          <a:noFill/>
          <a:ln/>
        </p:spPr>
        <p:txBody>
          <a:bodyPr wrap="square" lIns="0" tIns="0" rIns="0" bIns="0" rtlCol="0" anchor="ctr"/>
          <a:lstStyle/>
          <a:p>
            <a:pPr algn="ctr"/>
            <a:r>
              <a:rPr lang="en-US" sz="1050" i="1" dirty="0">
                <a:solidFill>
                  <a:srgbClr val="C2410C"/>
                </a:solidFill>
                <a:latin typeface="Georgia" pitchFamily="34" charset="0"/>
                <a:ea typeface="Georgia" pitchFamily="34" charset="-122"/>
                <a:cs typeface="Georgia" pitchFamily="34" charset="-120"/>
              </a:rPr>
              <a:t>t</a:t>
            </a:r>
            <a:endParaRPr lang="en-US" sz="1050" dirty="0"/>
          </a:p>
        </p:txBody>
      </p:sp>
      <p:sp>
        <p:nvSpPr>
          <p:cNvPr id="13" name="Shape 11"/>
          <p:cNvSpPr/>
          <p:nvPr/>
        </p:nvSpPr>
        <p:spPr>
          <a:xfrm>
            <a:off x="6707124" y="2318004"/>
            <a:ext cx="301752" cy="301752"/>
          </a:xfrm>
          <a:prstGeom prst="ellipse">
            <a:avLst/>
          </a:prstGeom>
          <a:solidFill>
            <a:srgbClr val="FFFFFF"/>
          </a:solidFill>
          <a:ln w="19050">
            <a:solidFill>
              <a:srgbClr val="9CA3AF"/>
            </a:solidFill>
            <a:prstDash val="solid"/>
          </a:ln>
        </p:spPr>
        <p:txBody>
          <a:bodyPr/>
          <a:lstStyle/>
          <a:p>
            <a:endParaRPr lang="es-AR" sz="1350"/>
          </a:p>
        </p:txBody>
      </p:sp>
      <p:sp>
        <p:nvSpPr>
          <p:cNvPr id="14" name="Text 12"/>
          <p:cNvSpPr/>
          <p:nvPr/>
        </p:nvSpPr>
        <p:spPr>
          <a:xfrm>
            <a:off x="6309360" y="2674620"/>
            <a:ext cx="1097280" cy="240030"/>
          </a:xfrm>
          <a:prstGeom prst="rect">
            <a:avLst/>
          </a:prstGeom>
          <a:noFill/>
          <a:ln/>
        </p:spPr>
        <p:txBody>
          <a:bodyPr wrap="square" lIns="0" tIns="0" rIns="0" bIns="0" rtlCol="0" anchor="ctr"/>
          <a:lstStyle/>
          <a:p>
            <a:pPr algn="ctr"/>
            <a:r>
              <a:rPr lang="en-US" sz="1050" i="1" dirty="0">
                <a:solidFill>
                  <a:srgbClr val="9CA3AF"/>
                </a:solidFill>
                <a:latin typeface="Georgia" pitchFamily="34" charset="0"/>
                <a:ea typeface="Georgia" pitchFamily="34" charset="-122"/>
                <a:cs typeface="Georgia" pitchFamily="34" charset="-120"/>
              </a:rPr>
              <a:t>t + 1</a:t>
            </a:r>
            <a:endParaRPr lang="en-US" sz="1050" dirty="0"/>
          </a:p>
        </p:txBody>
      </p:sp>
      <p:sp>
        <p:nvSpPr>
          <p:cNvPr id="15" name="Text 13"/>
          <p:cNvSpPr/>
          <p:nvPr/>
        </p:nvSpPr>
        <p:spPr>
          <a:xfrm>
            <a:off x="1165860" y="2914650"/>
            <a:ext cx="1097280" cy="205740"/>
          </a:xfrm>
          <a:prstGeom prst="rect">
            <a:avLst/>
          </a:prstGeom>
          <a:noFill/>
          <a:ln/>
        </p:spPr>
        <p:txBody>
          <a:bodyPr wrap="square" lIns="0" tIns="0" rIns="0" bIns="0" rtlCol="0" anchor="ctr"/>
          <a:lstStyle/>
          <a:p>
            <a:pPr algn="ctr"/>
            <a:r>
              <a:rPr lang="en-US" sz="750" i="1" dirty="0">
                <a:solidFill>
                  <a:srgbClr val="6B7280"/>
                </a:solidFill>
                <a:latin typeface="Calibri" pitchFamily="34" charset="0"/>
                <a:ea typeface="Calibri" pitchFamily="34" charset="-122"/>
                <a:cs typeface="Calibri" pitchFamily="34" charset="-120"/>
              </a:rPr>
              <a:t>(a₁ , a₂)</a:t>
            </a:r>
            <a:endParaRPr lang="en-US" sz="750" dirty="0"/>
          </a:p>
        </p:txBody>
      </p:sp>
      <p:sp>
        <p:nvSpPr>
          <p:cNvPr id="16" name="Text 14"/>
          <p:cNvSpPr/>
          <p:nvPr/>
        </p:nvSpPr>
        <p:spPr>
          <a:xfrm>
            <a:off x="2880360" y="2914650"/>
            <a:ext cx="1097280" cy="205740"/>
          </a:xfrm>
          <a:prstGeom prst="rect">
            <a:avLst/>
          </a:prstGeom>
          <a:noFill/>
          <a:ln/>
        </p:spPr>
        <p:txBody>
          <a:bodyPr wrap="square" lIns="0" tIns="0" rIns="0" bIns="0" rtlCol="0" anchor="ctr"/>
          <a:lstStyle/>
          <a:p>
            <a:pPr algn="ctr"/>
            <a:r>
              <a:rPr lang="en-US" sz="750" i="1" dirty="0">
                <a:solidFill>
                  <a:srgbClr val="6B7280"/>
                </a:solidFill>
                <a:latin typeface="Calibri" pitchFamily="34" charset="0"/>
                <a:ea typeface="Calibri" pitchFamily="34" charset="-122"/>
                <a:cs typeface="Calibri" pitchFamily="34" charset="-120"/>
              </a:rPr>
              <a:t>(a₁ , a₂)</a:t>
            </a:r>
            <a:endParaRPr lang="en-US" sz="750" dirty="0"/>
          </a:p>
        </p:txBody>
      </p:sp>
      <p:sp>
        <p:nvSpPr>
          <p:cNvPr id="17" name="Text 15"/>
          <p:cNvSpPr/>
          <p:nvPr/>
        </p:nvSpPr>
        <p:spPr>
          <a:xfrm>
            <a:off x="4594860" y="2914650"/>
            <a:ext cx="1097280" cy="205740"/>
          </a:xfrm>
          <a:prstGeom prst="rect">
            <a:avLst/>
          </a:prstGeom>
          <a:noFill/>
          <a:ln/>
        </p:spPr>
        <p:txBody>
          <a:bodyPr wrap="square" lIns="0" tIns="0" rIns="0" bIns="0" rtlCol="0" anchor="ctr"/>
          <a:lstStyle/>
          <a:p>
            <a:pPr algn="ctr"/>
            <a:r>
              <a:rPr lang="en-US" sz="750" i="1" dirty="0">
                <a:solidFill>
                  <a:srgbClr val="1A1A1A"/>
                </a:solidFill>
                <a:latin typeface="Calibri" pitchFamily="34" charset="0"/>
                <a:ea typeface="Calibri" pitchFamily="34" charset="-122"/>
                <a:cs typeface="Calibri" pitchFamily="34" charset="-120"/>
              </a:rPr>
              <a:t>(a₁ , a₂)</a:t>
            </a:r>
            <a:endParaRPr lang="en-US" sz="750" dirty="0"/>
          </a:p>
        </p:txBody>
      </p:sp>
      <p:sp>
        <p:nvSpPr>
          <p:cNvPr id="18" name="Text 16"/>
          <p:cNvSpPr/>
          <p:nvPr/>
        </p:nvSpPr>
        <p:spPr>
          <a:xfrm>
            <a:off x="6309360" y="2914650"/>
            <a:ext cx="1097280" cy="205740"/>
          </a:xfrm>
          <a:prstGeom prst="rect">
            <a:avLst/>
          </a:prstGeom>
          <a:noFill/>
          <a:ln/>
        </p:spPr>
        <p:txBody>
          <a:bodyPr wrap="square" lIns="0" tIns="0" rIns="0" bIns="0" rtlCol="0" anchor="ctr"/>
          <a:lstStyle/>
          <a:p>
            <a:pPr algn="ctr"/>
            <a:r>
              <a:rPr lang="en-US" sz="900" i="1" dirty="0">
                <a:solidFill>
                  <a:srgbClr val="9CA3AF"/>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3429000" y="1817370"/>
            <a:ext cx="1714500" cy="0"/>
          </a:xfrm>
          <a:prstGeom prst="line">
            <a:avLst/>
          </a:prstGeom>
          <a:noFill/>
          <a:ln w="15875">
            <a:solidFill>
              <a:srgbClr val="C2410C"/>
            </a:solidFill>
            <a:prstDash val="dash"/>
          </a:ln>
        </p:spPr>
        <p:txBody>
          <a:bodyPr/>
          <a:lstStyle/>
          <a:p>
            <a:endParaRPr lang="es-AR" sz="1350"/>
          </a:p>
        </p:txBody>
      </p:sp>
      <p:sp>
        <p:nvSpPr>
          <p:cNvPr id="20" name="Shape 18"/>
          <p:cNvSpPr/>
          <p:nvPr/>
        </p:nvSpPr>
        <p:spPr>
          <a:xfrm>
            <a:off x="1714500" y="1817370"/>
            <a:ext cx="3429000" cy="0"/>
          </a:xfrm>
          <a:prstGeom prst="line">
            <a:avLst/>
          </a:prstGeom>
          <a:noFill/>
          <a:ln w="15875">
            <a:solidFill>
              <a:srgbClr val="C2410C"/>
            </a:solidFill>
            <a:prstDash val="dash"/>
          </a:ln>
        </p:spPr>
        <p:txBody>
          <a:bodyPr/>
          <a:lstStyle/>
          <a:p>
            <a:endParaRPr lang="es-AR" sz="1350"/>
          </a:p>
        </p:txBody>
      </p:sp>
      <p:sp>
        <p:nvSpPr>
          <p:cNvPr id="21" name="Shape 19"/>
          <p:cNvSpPr/>
          <p:nvPr/>
        </p:nvSpPr>
        <p:spPr>
          <a:xfrm>
            <a:off x="1714500" y="1817370"/>
            <a:ext cx="0" cy="500634"/>
          </a:xfrm>
          <a:prstGeom prst="line">
            <a:avLst/>
          </a:prstGeom>
          <a:noFill/>
          <a:ln w="15875">
            <a:solidFill>
              <a:srgbClr val="C2410C"/>
            </a:solidFill>
            <a:prstDash val="dash"/>
          </a:ln>
        </p:spPr>
        <p:txBody>
          <a:bodyPr/>
          <a:lstStyle/>
          <a:p>
            <a:endParaRPr lang="es-AR" sz="1350"/>
          </a:p>
        </p:txBody>
      </p:sp>
      <p:sp>
        <p:nvSpPr>
          <p:cNvPr id="22" name="Shape 20"/>
          <p:cNvSpPr/>
          <p:nvPr/>
        </p:nvSpPr>
        <p:spPr>
          <a:xfrm>
            <a:off x="3429000" y="1817370"/>
            <a:ext cx="0" cy="500634"/>
          </a:xfrm>
          <a:prstGeom prst="line">
            <a:avLst/>
          </a:prstGeom>
          <a:noFill/>
          <a:ln w="15875">
            <a:solidFill>
              <a:srgbClr val="C2410C"/>
            </a:solidFill>
            <a:prstDash val="dash"/>
          </a:ln>
        </p:spPr>
        <p:txBody>
          <a:bodyPr/>
          <a:lstStyle/>
          <a:p>
            <a:endParaRPr lang="es-AR" sz="1350"/>
          </a:p>
        </p:txBody>
      </p:sp>
      <p:sp>
        <p:nvSpPr>
          <p:cNvPr id="23" name="Shape 21"/>
          <p:cNvSpPr/>
          <p:nvPr/>
        </p:nvSpPr>
        <p:spPr>
          <a:xfrm>
            <a:off x="5143500" y="1817370"/>
            <a:ext cx="0" cy="500634"/>
          </a:xfrm>
          <a:prstGeom prst="line">
            <a:avLst/>
          </a:prstGeom>
          <a:noFill/>
          <a:ln w="15875">
            <a:solidFill>
              <a:srgbClr val="C2410C"/>
            </a:solidFill>
            <a:prstDash val="dash"/>
          </a:ln>
        </p:spPr>
        <p:txBody>
          <a:bodyPr/>
          <a:lstStyle/>
          <a:p>
            <a:endParaRPr lang="es-AR" sz="1350"/>
          </a:p>
        </p:txBody>
      </p:sp>
      <p:sp>
        <p:nvSpPr>
          <p:cNvPr id="24" name="Text 22"/>
          <p:cNvSpPr/>
          <p:nvPr/>
        </p:nvSpPr>
        <p:spPr>
          <a:xfrm>
            <a:off x="2743200" y="1508760"/>
            <a:ext cx="1371600" cy="240030"/>
          </a:xfrm>
          <a:prstGeom prst="rect">
            <a:avLst/>
          </a:prstGeom>
          <a:noFill/>
          <a:ln/>
        </p:spPr>
        <p:txBody>
          <a:bodyPr wrap="square" lIns="0" tIns="0" rIns="0" bIns="0" rtlCol="0" anchor="ctr"/>
          <a:lstStyle/>
          <a:p>
            <a:pPr algn="ctr"/>
            <a:r>
              <a:rPr lang="en-US" sz="1050" i="1" dirty="0">
                <a:solidFill>
                  <a:srgbClr val="C2410C"/>
                </a:solidFill>
                <a:latin typeface="Georgia" pitchFamily="34" charset="0"/>
                <a:ea typeface="Georgia" pitchFamily="34" charset="-122"/>
                <a:cs typeface="Georgia" pitchFamily="34" charset="-120"/>
              </a:rPr>
              <a:t>memoria</a:t>
            </a:r>
            <a:endParaRPr lang="en-US" sz="1050" dirty="0"/>
          </a:p>
        </p:txBody>
      </p:sp>
      <p:sp>
        <p:nvSpPr>
          <p:cNvPr id="25" name="Shape 23"/>
          <p:cNvSpPr/>
          <p:nvPr/>
        </p:nvSpPr>
        <p:spPr>
          <a:xfrm>
            <a:off x="480060" y="3497580"/>
            <a:ext cx="41148" cy="1062990"/>
          </a:xfrm>
          <a:prstGeom prst="rect">
            <a:avLst/>
          </a:prstGeom>
          <a:solidFill>
            <a:srgbClr val="C2410C"/>
          </a:solidFill>
          <a:ln/>
        </p:spPr>
        <p:txBody>
          <a:bodyPr/>
          <a:lstStyle/>
          <a:p>
            <a:endParaRPr lang="es-AR" sz="1350"/>
          </a:p>
        </p:txBody>
      </p:sp>
      <p:sp>
        <p:nvSpPr>
          <p:cNvPr id="26" name="Text 24"/>
          <p:cNvSpPr/>
          <p:nvPr/>
        </p:nvSpPr>
        <p:spPr>
          <a:xfrm>
            <a:off x="651510" y="3497580"/>
            <a:ext cx="3840480" cy="205740"/>
          </a:xfrm>
          <a:prstGeom prst="rect">
            <a:avLst/>
          </a:prstGeom>
          <a:noFill/>
          <a:ln/>
        </p:spPr>
        <p:txBody>
          <a:bodyPr wrap="square" lIns="0" tIns="0" rIns="0" bIns="0" rtlCol="0" anchor="ctr"/>
          <a:lstStyle/>
          <a:p>
            <a:r>
              <a:rPr lang="en-US" sz="750" b="1" kern="0" spc="225" dirty="0">
                <a:solidFill>
                  <a:srgbClr val="C2410C"/>
                </a:solidFill>
                <a:latin typeface="Calibri" pitchFamily="34" charset="0"/>
                <a:ea typeface="Calibri" pitchFamily="34" charset="-122"/>
                <a:cs typeface="Calibri" pitchFamily="34" charset="-120"/>
              </a:rPr>
              <a:t>DENTRO DE CADA PERÍODO</a:t>
            </a:r>
            <a:endParaRPr lang="en-US" sz="750" dirty="0"/>
          </a:p>
        </p:txBody>
      </p:sp>
      <p:sp>
        <p:nvSpPr>
          <p:cNvPr id="27" name="Text 25"/>
          <p:cNvSpPr/>
          <p:nvPr/>
        </p:nvSpPr>
        <p:spPr>
          <a:xfrm>
            <a:off x="651510" y="3703320"/>
            <a:ext cx="3840480" cy="342900"/>
          </a:xfrm>
          <a:prstGeom prst="rect">
            <a:avLst/>
          </a:prstGeom>
          <a:noFill/>
          <a:ln/>
        </p:spPr>
        <p:txBody>
          <a:bodyPr wrap="square" lIns="0" tIns="0" rIns="0" bIns="0" rtlCol="0" anchor="ctr"/>
          <a:lstStyle/>
          <a:p>
            <a:r>
              <a:rPr lang="en-US" sz="1650" dirty="0">
                <a:solidFill>
                  <a:srgbClr val="1A1A1A"/>
                </a:solidFill>
                <a:latin typeface="Georgia" pitchFamily="34" charset="0"/>
                <a:ea typeface="Georgia" pitchFamily="34" charset="-122"/>
                <a:cs typeface="Georgia" pitchFamily="34" charset="-120"/>
              </a:rPr>
              <a:t>Eligen al mismo tiempo</a:t>
            </a:r>
            <a:endParaRPr lang="en-US" sz="1650" dirty="0"/>
          </a:p>
        </p:txBody>
      </p:sp>
      <p:sp>
        <p:nvSpPr>
          <p:cNvPr id="28" name="Text 26"/>
          <p:cNvSpPr/>
          <p:nvPr/>
        </p:nvSpPr>
        <p:spPr>
          <a:xfrm>
            <a:off x="651510" y="4114800"/>
            <a:ext cx="3840480" cy="411480"/>
          </a:xfrm>
          <a:prstGeom prst="rect">
            <a:avLst/>
          </a:prstGeom>
          <a:noFill/>
          <a:ln/>
        </p:spPr>
        <p:txBody>
          <a:bodyPr wrap="square" lIns="0" tIns="0" rIns="0" bIns="0" rtlCol="0" anchor="t"/>
          <a:lstStyle/>
          <a:p>
            <a:pPr>
              <a:lnSpc>
                <a:spcPct val="140000"/>
              </a:lnSpc>
            </a:pPr>
            <a:r>
              <a:rPr lang="en-US" sz="975" dirty="0">
                <a:solidFill>
                  <a:srgbClr val="1A1A1A"/>
                </a:solidFill>
                <a:latin typeface="Calibri" pitchFamily="34" charset="0"/>
                <a:ea typeface="Calibri" pitchFamily="34" charset="-122"/>
                <a:cs typeface="Calibri" pitchFamily="34" charset="-120"/>
              </a:rPr>
              <a:t>Los jugadores actúan </a:t>
            </a:r>
            <a:r>
              <a:rPr lang="en-US" sz="975" b="1" dirty="0">
                <a:solidFill>
                  <a:srgbClr val="1A1A1A"/>
                </a:solidFill>
                <a:latin typeface="Calibri" pitchFamily="34" charset="0"/>
                <a:ea typeface="Calibri" pitchFamily="34" charset="-122"/>
                <a:cs typeface="Calibri" pitchFamily="34" charset="-120"/>
              </a:rPr>
              <a:t>simultáneamente</a:t>
            </a:r>
            <a:r>
              <a:rPr lang="en-US" sz="975" dirty="0">
                <a:solidFill>
                  <a:srgbClr val="1A1A1A"/>
                </a:solidFill>
                <a:latin typeface="Calibri" pitchFamily="34" charset="0"/>
                <a:ea typeface="Calibri" pitchFamily="34" charset="-122"/>
                <a:cs typeface="Calibri" pitchFamily="34" charset="-120"/>
              </a:rPr>
              <a:t>: ninguno conoce la jugada del otro en ese período.</a:t>
            </a:r>
            <a:endParaRPr lang="en-US" sz="975" dirty="0"/>
          </a:p>
        </p:txBody>
      </p:sp>
      <p:sp>
        <p:nvSpPr>
          <p:cNvPr id="29" name="Shape 27"/>
          <p:cNvSpPr/>
          <p:nvPr/>
        </p:nvSpPr>
        <p:spPr>
          <a:xfrm>
            <a:off x="4697730" y="3497580"/>
            <a:ext cx="41148" cy="1062990"/>
          </a:xfrm>
          <a:prstGeom prst="rect">
            <a:avLst/>
          </a:prstGeom>
          <a:solidFill>
            <a:srgbClr val="C2410C"/>
          </a:solidFill>
          <a:ln/>
        </p:spPr>
        <p:txBody>
          <a:bodyPr/>
          <a:lstStyle/>
          <a:p>
            <a:endParaRPr lang="es-AR" sz="1350"/>
          </a:p>
        </p:txBody>
      </p:sp>
      <p:sp>
        <p:nvSpPr>
          <p:cNvPr id="30" name="Text 28"/>
          <p:cNvSpPr/>
          <p:nvPr/>
        </p:nvSpPr>
        <p:spPr>
          <a:xfrm>
            <a:off x="4869180" y="3497580"/>
            <a:ext cx="3840480" cy="205740"/>
          </a:xfrm>
          <a:prstGeom prst="rect">
            <a:avLst/>
          </a:prstGeom>
          <a:noFill/>
          <a:ln/>
        </p:spPr>
        <p:txBody>
          <a:bodyPr wrap="square" lIns="0" tIns="0" rIns="0" bIns="0" rtlCol="0" anchor="ctr"/>
          <a:lstStyle/>
          <a:p>
            <a:r>
              <a:rPr lang="en-US" sz="750" b="1" kern="0" spc="225" dirty="0">
                <a:solidFill>
                  <a:srgbClr val="C2410C"/>
                </a:solidFill>
                <a:latin typeface="Calibri" pitchFamily="34" charset="0"/>
                <a:ea typeface="Calibri" pitchFamily="34" charset="-122"/>
                <a:cs typeface="Calibri" pitchFamily="34" charset="-120"/>
              </a:rPr>
              <a:t>ENTRE PERÍODOS</a:t>
            </a:r>
            <a:endParaRPr lang="en-US" sz="750" dirty="0"/>
          </a:p>
        </p:txBody>
      </p:sp>
      <p:sp>
        <p:nvSpPr>
          <p:cNvPr id="31" name="Text 29"/>
          <p:cNvSpPr/>
          <p:nvPr/>
        </p:nvSpPr>
        <p:spPr>
          <a:xfrm>
            <a:off x="4869180" y="3703320"/>
            <a:ext cx="3840480" cy="342900"/>
          </a:xfrm>
          <a:prstGeom prst="rect">
            <a:avLst/>
          </a:prstGeom>
          <a:noFill/>
          <a:ln/>
        </p:spPr>
        <p:txBody>
          <a:bodyPr wrap="square" lIns="0" tIns="0" rIns="0" bIns="0" rtlCol="0" anchor="ctr"/>
          <a:lstStyle/>
          <a:p>
            <a:r>
              <a:rPr lang="en-US" sz="1650" dirty="0">
                <a:solidFill>
                  <a:srgbClr val="1A1A1A"/>
                </a:solidFill>
                <a:latin typeface="Georgia" pitchFamily="34" charset="0"/>
                <a:ea typeface="Georgia" pitchFamily="34" charset="-122"/>
                <a:cs typeface="Georgia" pitchFamily="34" charset="-120"/>
              </a:rPr>
              <a:t>Tienen memoria</a:t>
            </a:r>
            <a:endParaRPr lang="en-US" sz="1650" dirty="0"/>
          </a:p>
        </p:txBody>
      </p:sp>
      <p:sp>
        <p:nvSpPr>
          <p:cNvPr id="32" name="Text 30"/>
          <p:cNvSpPr/>
          <p:nvPr/>
        </p:nvSpPr>
        <p:spPr>
          <a:xfrm>
            <a:off x="4869180" y="4114800"/>
            <a:ext cx="3840480" cy="411480"/>
          </a:xfrm>
          <a:prstGeom prst="rect">
            <a:avLst/>
          </a:prstGeom>
          <a:noFill/>
          <a:ln/>
        </p:spPr>
        <p:txBody>
          <a:bodyPr wrap="square" lIns="0" tIns="0" rIns="0" bIns="0" rtlCol="0" anchor="t"/>
          <a:lstStyle/>
          <a:p>
            <a:pPr>
              <a:lnSpc>
                <a:spcPct val="140000"/>
              </a:lnSpc>
            </a:pPr>
            <a:r>
              <a:rPr lang="en-US" sz="975" dirty="0">
                <a:solidFill>
                  <a:srgbClr val="1A1A1A"/>
                </a:solidFill>
                <a:latin typeface="Calibri" pitchFamily="34" charset="0"/>
                <a:ea typeface="Calibri" pitchFamily="34" charset="-122"/>
                <a:cs typeface="Calibri" pitchFamily="34" charset="-120"/>
              </a:rPr>
              <a:t>Observan </a:t>
            </a:r>
            <a:r>
              <a:rPr lang="en-US" sz="975" b="1" dirty="0">
                <a:solidFill>
                  <a:srgbClr val="1A1A1A"/>
                </a:solidFill>
                <a:latin typeface="Calibri" pitchFamily="34" charset="0"/>
                <a:ea typeface="Calibri" pitchFamily="34" charset="-122"/>
                <a:cs typeface="Calibri" pitchFamily="34" charset="-120"/>
              </a:rPr>
              <a:t>lo que pasó antes</a:t>
            </a:r>
            <a:r>
              <a:rPr lang="en-US" sz="975" dirty="0">
                <a:solidFill>
                  <a:srgbClr val="1A1A1A"/>
                </a:solidFill>
                <a:latin typeface="Calibri" pitchFamily="34" charset="0"/>
                <a:ea typeface="Calibri" pitchFamily="34" charset="-122"/>
                <a:cs typeface="Calibri" pitchFamily="34" charset="-120"/>
              </a:rPr>
              <a:t> y condicionan su estrategia a esa historia.</a:t>
            </a:r>
            <a:endParaRPr lang="en-US" sz="9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El Punto de Partida — El Dilema del Prisionero</a:t>
            </a:r>
            <a:endParaRPr lang="en-US" sz="2200" dirty="0"/>
          </a:p>
        </p:txBody>
      </p:sp>
      <p:sp>
        <p:nvSpPr>
          <p:cNvPr id="4" name="Shape 2"/>
          <p:cNvSpPr/>
          <p:nvPr/>
        </p:nvSpPr>
        <p:spPr>
          <a:xfrm>
            <a:off x="320040" y="1005840"/>
            <a:ext cx="4114800" cy="3474720"/>
          </a:xfrm>
          <a:prstGeom prst="rect">
            <a:avLst/>
          </a:prstGeom>
          <a:solidFill>
            <a:srgbClr val="162840"/>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5" name="Text 3"/>
          <p:cNvSpPr/>
          <p:nvPr/>
        </p:nvSpPr>
        <p:spPr>
          <a:xfrm>
            <a:off x="502920" y="1078992"/>
            <a:ext cx="3749040" cy="320040"/>
          </a:xfrm>
          <a:prstGeom prst="rect">
            <a:avLst/>
          </a:prstGeom>
          <a:noFill/>
          <a:ln/>
        </p:spPr>
        <p:txBody>
          <a:bodyPr wrap="square" lIns="0" tIns="0" rIns="0" bIns="0" rtlCol="0" anchor="ctr"/>
          <a:lstStyle/>
          <a:p>
            <a:pPr marL="0" indent="0">
              <a:buNone/>
            </a:pPr>
            <a:r>
              <a:rPr lang="en-US" sz="1100" b="1" kern="0" spc="200" dirty="0">
                <a:solidFill>
                  <a:srgbClr val="F5A623"/>
                </a:solidFill>
              </a:rPr>
              <a:t>DILEMA DEL PRISIONERO</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3204561659"/>
              </p:ext>
            </p:extLst>
          </p:nvPr>
        </p:nvGraphicFramePr>
        <p:xfrm>
          <a:off x="548640" y="1508760"/>
          <a:ext cx="3657600" cy="1645920"/>
        </p:xfrm>
        <a:graphic>
          <a:graphicData uri="http://schemas.openxmlformats.org/drawingml/2006/table">
            <a:tbl>
              <a:tblPr/>
              <a:tblGrid>
                <a:gridCol w="11887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548640">
                <a:tc>
                  <a:txBody>
                    <a:bodyPr/>
                    <a:lstStyle/>
                    <a:p>
                      <a:pPr marL="0" indent="0">
                        <a:buNone/>
                      </a:pPr>
                      <a:endParaRPr lang="en-US" sz="12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rPr>
                        <a:t>J2: C</a:t>
                      </a:r>
                      <a:endParaRPr lang="en-US" sz="12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rPr>
                        <a:t>J2: NC̄</a:t>
                      </a:r>
                      <a:endParaRPr lang="en-US" sz="12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FFFFFF"/>
                          </a:solidFill>
                        </a:rPr>
                        <a:t>J1: C</a:t>
                      </a:r>
                      <a:endParaRPr lang="en-US" sz="12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rPr>
                        <a:t>2, 2</a:t>
                      </a:r>
                      <a:endParaRPr lang="en-US" sz="16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1A4A30"/>
                    </a:solidFill>
                  </a:tcPr>
                </a:tc>
                <a:tc>
                  <a:txBody>
                    <a:bodyPr/>
                    <a:lstStyle/>
                    <a:p>
                      <a:pPr marL="0" indent="0">
                        <a:buNone/>
                      </a:pPr>
                      <a:r>
                        <a:rPr lang="en-US" sz="1500" dirty="0">
                          <a:solidFill>
                            <a:srgbClr val="FFFFFF"/>
                          </a:solidFill>
                        </a:rPr>
                        <a:t>0, 3</a:t>
                      </a:r>
                      <a:endParaRPr lang="en-US" sz="15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3A2010"/>
                    </a:solidFill>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FFFFFF"/>
                          </a:solidFill>
                        </a:rPr>
                        <a:t>J1: NC̄</a:t>
                      </a:r>
                      <a:endParaRPr lang="en-US" sz="12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1A2744"/>
                    </a:solidFill>
                  </a:tcPr>
                </a:tc>
                <a:tc>
                  <a:txBody>
                    <a:bodyPr/>
                    <a:lstStyle/>
                    <a:p>
                      <a:pPr marL="0" indent="0">
                        <a:buNone/>
                      </a:pPr>
                      <a:r>
                        <a:rPr lang="en-US" sz="1500" dirty="0">
                          <a:solidFill>
                            <a:srgbClr val="FFFFFF"/>
                          </a:solidFill>
                        </a:rPr>
                        <a:t>3, 0</a:t>
                      </a:r>
                      <a:endParaRPr lang="en-US" sz="15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3A2010"/>
                    </a:solidFill>
                  </a:tcPr>
                </a:tc>
                <a:tc>
                  <a:txBody>
                    <a:bodyPr/>
                    <a:lstStyle/>
                    <a:p>
                      <a:pPr marL="0" indent="0">
                        <a:buNone/>
                      </a:pPr>
                      <a:r>
                        <a:rPr lang="en-US" sz="1600" b="1" dirty="0">
                          <a:solidFill>
                            <a:srgbClr val="FFFFFF"/>
                          </a:solidFill>
                        </a:rPr>
                        <a:t>1, 1</a:t>
                      </a:r>
                      <a:endParaRPr lang="en-US" sz="1600" dirty="0"/>
                    </a:p>
                  </a:txBody>
                  <a:tcPr>
                    <a:lnL w="12700" cap="flat" cmpd="sng" algn="ctr">
                      <a:solidFill>
                        <a:srgbClr val="2A6090"/>
                      </a:solidFill>
                      <a:prstDash val="solid"/>
                      <a:round/>
                      <a:headEnd type="none" w="med" len="med"/>
                      <a:tailEnd type="none" w="med" len="med"/>
                    </a:lnL>
                    <a:lnR w="12700" cap="flat" cmpd="sng" algn="ctr">
                      <a:solidFill>
                        <a:srgbClr val="2A6090"/>
                      </a:solidFill>
                      <a:prstDash val="solid"/>
                      <a:round/>
                      <a:headEnd type="none" w="med" len="med"/>
                      <a:tailEnd type="none" w="med" len="med"/>
                    </a:lnR>
                    <a:lnT w="12700" cap="flat" cmpd="sng" algn="ctr">
                      <a:solidFill>
                        <a:srgbClr val="2A6090"/>
                      </a:solidFill>
                      <a:prstDash val="solid"/>
                      <a:round/>
                      <a:headEnd type="none" w="med" len="med"/>
                      <a:tailEnd type="none" w="med" len="med"/>
                    </a:lnT>
                    <a:lnB w="12700" cap="flat" cmpd="sng" algn="ctr">
                      <a:solidFill>
                        <a:srgbClr val="2A6090"/>
                      </a:solidFill>
                      <a:prstDash val="solid"/>
                      <a:round/>
                      <a:headEnd type="none" w="med" len="med"/>
                      <a:tailEnd type="none" w="med" len="med"/>
                    </a:lnB>
                    <a:solidFill>
                      <a:srgbClr val="4A1010"/>
                    </a:solidFill>
                  </a:tcPr>
                </a:tc>
                <a:extLst>
                  <a:ext uri="{0D108BD9-81ED-4DB2-BD59-A6C34878D82A}">
                    <a16:rowId xmlns:a16="http://schemas.microsoft.com/office/drawing/2014/main" val="10002"/>
                  </a:ext>
                </a:extLst>
              </a:tr>
            </a:tbl>
          </a:graphicData>
        </a:graphic>
      </p:graphicFrame>
      <p:sp>
        <p:nvSpPr>
          <p:cNvPr id="7" name="Text 4"/>
          <p:cNvSpPr/>
          <p:nvPr/>
        </p:nvSpPr>
        <p:spPr>
          <a:xfrm>
            <a:off x="502920" y="3246120"/>
            <a:ext cx="3749040" cy="320040"/>
          </a:xfrm>
          <a:prstGeom prst="rect">
            <a:avLst/>
          </a:prstGeom>
          <a:noFill/>
          <a:ln/>
        </p:spPr>
        <p:txBody>
          <a:bodyPr wrap="square" lIns="0" tIns="0" rIns="0" bIns="0" rtlCol="0" anchor="ctr"/>
          <a:lstStyle/>
          <a:p>
            <a:pPr marL="0" indent="0">
              <a:buNone/>
            </a:pPr>
            <a:r>
              <a:rPr lang="en-US" sz="1200" b="1" dirty="0">
                <a:solidFill>
                  <a:srgbClr val="C0392B"/>
                </a:solidFill>
              </a:rPr>
              <a:t>Equilibrio de Nash: {NC, NC} → pagos: (1, 1)</a:t>
            </a:r>
            <a:endParaRPr lang="en-US" sz="1200" dirty="0"/>
          </a:p>
        </p:txBody>
      </p:sp>
      <p:sp>
        <p:nvSpPr>
          <p:cNvPr id="8" name="Text 5"/>
          <p:cNvSpPr/>
          <p:nvPr/>
        </p:nvSpPr>
        <p:spPr>
          <a:xfrm>
            <a:off x="502920" y="3566160"/>
            <a:ext cx="3749040" cy="685800"/>
          </a:xfrm>
          <a:prstGeom prst="rect">
            <a:avLst/>
          </a:prstGeom>
          <a:noFill/>
          <a:ln/>
        </p:spPr>
        <p:txBody>
          <a:bodyPr wrap="square" lIns="0" tIns="0" rIns="0" bIns="0" rtlCol="0" anchor="ctr"/>
          <a:lstStyle/>
          <a:p>
            <a:pPr marL="0" indent="0">
              <a:buNone/>
            </a:pPr>
            <a:r>
              <a:rPr lang="en-US" sz="1150" dirty="0">
                <a:solidFill>
                  <a:srgbClr val="B8D0E4"/>
                </a:solidFill>
              </a:rPr>
              <a:t>¡PERO si cooperaran: (2, 2) &gt; (1, 1)!</a:t>
            </a:r>
            <a:endParaRPr lang="en-US" sz="1150" dirty="0"/>
          </a:p>
          <a:p>
            <a:pPr marL="0" indent="0">
              <a:buNone/>
            </a:pPr>
            <a:r>
              <a:rPr lang="en-US" sz="1150" dirty="0">
                <a:solidFill>
                  <a:srgbClr val="B8D0E4"/>
                </a:solidFill>
              </a:rPr>
              <a:t>El EN es ineficiente. El problema: individualmente conviene traicionar.</a:t>
            </a:r>
            <a:endParaRPr lang="en-US" sz="1150" dirty="0"/>
          </a:p>
        </p:txBody>
      </p:sp>
      <p:sp>
        <p:nvSpPr>
          <p:cNvPr id="9" name="Shape 6"/>
          <p:cNvSpPr/>
          <p:nvPr/>
        </p:nvSpPr>
        <p:spPr>
          <a:xfrm>
            <a:off x="4754880" y="1005840"/>
            <a:ext cx="4069080" cy="3474720"/>
          </a:xfrm>
          <a:prstGeom prst="rect">
            <a:avLst/>
          </a:prstGeom>
          <a:solidFill>
            <a:srgbClr val="0F2A3A"/>
          </a:solidFill>
          <a:ln w="12700">
            <a:solidFill>
              <a:srgbClr val="F5A623"/>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7"/>
          <p:cNvSpPr/>
          <p:nvPr/>
        </p:nvSpPr>
        <p:spPr>
          <a:xfrm>
            <a:off x="4937760" y="1078992"/>
            <a:ext cx="3703320" cy="320040"/>
          </a:xfrm>
          <a:prstGeom prst="rect">
            <a:avLst/>
          </a:prstGeom>
          <a:noFill/>
          <a:ln/>
        </p:spPr>
        <p:txBody>
          <a:bodyPr wrap="square" lIns="0" tIns="0" rIns="0" bIns="0" rtlCol="0" anchor="ctr"/>
          <a:lstStyle/>
          <a:p>
            <a:pPr marL="0" indent="0">
              <a:buNone/>
            </a:pPr>
            <a:r>
              <a:rPr lang="en-US" sz="1100" b="1" kern="0" spc="200" dirty="0">
                <a:solidFill>
                  <a:srgbClr val="F5A623"/>
                </a:solidFill>
              </a:rPr>
              <a:t>LA PREGUNTA CENTRAL</a:t>
            </a:r>
            <a:endParaRPr lang="en-US" sz="1100" dirty="0"/>
          </a:p>
        </p:txBody>
      </p:sp>
      <p:sp>
        <p:nvSpPr>
          <p:cNvPr id="11" name="Text 8"/>
          <p:cNvSpPr/>
          <p:nvPr/>
        </p:nvSpPr>
        <p:spPr>
          <a:xfrm>
            <a:off x="4937760" y="1481328"/>
            <a:ext cx="3703320" cy="914400"/>
          </a:xfrm>
          <a:prstGeom prst="rect">
            <a:avLst/>
          </a:prstGeom>
          <a:noFill/>
          <a:ln/>
        </p:spPr>
        <p:txBody>
          <a:bodyPr wrap="square" lIns="0" tIns="0" rIns="0" bIns="0" rtlCol="0" anchor="ctr"/>
          <a:lstStyle/>
          <a:p>
            <a:pPr marL="0" indent="0">
              <a:buNone/>
            </a:pPr>
            <a:r>
              <a:rPr lang="en-US" sz="1400" b="1" dirty="0">
                <a:solidFill>
                  <a:srgbClr val="FFFFFF"/>
                </a:solidFill>
              </a:rPr>
              <a:t>¿Existe algún mecanismo que genere COOPERACIÓN en situaciones donde el EN estático predice NO cooperación?</a:t>
            </a:r>
            <a:endParaRPr lang="en-US" sz="1400" dirty="0"/>
          </a:p>
        </p:txBody>
      </p:sp>
      <p:sp>
        <p:nvSpPr>
          <p:cNvPr id="12" name="Text 9"/>
          <p:cNvSpPr/>
          <p:nvPr/>
        </p:nvSpPr>
        <p:spPr>
          <a:xfrm>
            <a:off x="4937760" y="2514600"/>
            <a:ext cx="3703320" cy="320040"/>
          </a:xfrm>
          <a:prstGeom prst="rect">
            <a:avLst/>
          </a:prstGeom>
          <a:noFill/>
          <a:ln/>
        </p:spPr>
        <p:txBody>
          <a:bodyPr wrap="square" lIns="0" tIns="0" rIns="0" bIns="0" rtlCol="0" anchor="ctr"/>
          <a:lstStyle/>
          <a:p>
            <a:pPr marL="0" indent="0">
              <a:buNone/>
            </a:pPr>
            <a:r>
              <a:rPr lang="en-US" sz="1200" b="1" dirty="0">
                <a:solidFill>
                  <a:srgbClr val="14A896"/>
                </a:solidFill>
              </a:rPr>
              <a:t>RESPUESTA:</a:t>
            </a:r>
            <a:endParaRPr lang="en-US" sz="1200" dirty="0"/>
          </a:p>
        </p:txBody>
      </p:sp>
      <p:sp>
        <p:nvSpPr>
          <p:cNvPr id="13" name="Text 10"/>
          <p:cNvSpPr/>
          <p:nvPr/>
        </p:nvSpPr>
        <p:spPr>
          <a:xfrm>
            <a:off x="4937760" y="2834640"/>
            <a:ext cx="3703320" cy="1417320"/>
          </a:xfrm>
          <a:prstGeom prst="rect">
            <a:avLst/>
          </a:prstGeom>
          <a:noFill/>
          <a:ln/>
        </p:spPr>
        <p:txBody>
          <a:bodyPr wrap="square" lIns="0" tIns="0" rIns="0" bIns="0" rtlCol="0" anchor="ctr"/>
          <a:lstStyle/>
          <a:p>
            <a:pPr marL="0" indent="0">
              <a:buNone/>
            </a:pPr>
            <a:r>
              <a:rPr lang="en-US" sz="1300" dirty="0">
                <a:solidFill>
                  <a:srgbClr val="FFFFFF"/>
                </a:solidFill>
              </a:rPr>
              <a:t>Sí, cuando el juego se REPITE. La repetición crea incentivos para no traicionar, porque existe la amenaza de castigo futuro.</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La Estrategia Trigger (Gatillo) — El Contrato Implícito</a:t>
            </a:r>
            <a:endParaRPr lang="en-US" sz="2200" dirty="0"/>
          </a:p>
        </p:txBody>
      </p:sp>
      <p:sp>
        <p:nvSpPr>
          <p:cNvPr id="4" name="Shape 2"/>
          <p:cNvSpPr/>
          <p:nvPr/>
        </p:nvSpPr>
        <p:spPr>
          <a:xfrm>
            <a:off x="320040" y="960120"/>
            <a:ext cx="8503920" cy="868680"/>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749808"/>
          </a:xfrm>
          <a:prstGeom prst="rect">
            <a:avLst/>
          </a:prstGeom>
          <a:noFill/>
          <a:ln/>
        </p:spPr>
        <p:txBody>
          <a:bodyPr wrap="square" lIns="0" tIns="0" rIns="0" bIns="0" rtlCol="0" anchor="ctr"/>
          <a:lstStyle/>
          <a:p>
            <a:pPr marL="0" indent="0">
              <a:buNone/>
            </a:pPr>
            <a:r>
              <a:rPr lang="en-US" sz="1300" i="1" dirty="0">
                <a:solidFill>
                  <a:srgbClr val="FFFFFF"/>
                </a:solidFill>
              </a:rPr>
              <a:t>La estrategia trigger funciona como una amenaza creíble: 'Si me traicionás UNA vez, te castigo PARA SIEMPRE.' Eso puede hacer que no valga la pena desviarse.</a:t>
            </a:r>
            <a:endParaRPr lang="en-US" sz="1300" dirty="0"/>
          </a:p>
        </p:txBody>
      </p:sp>
      <p:sp>
        <p:nvSpPr>
          <p:cNvPr id="6" name="Shape 4"/>
          <p:cNvSpPr/>
          <p:nvPr/>
        </p:nvSpPr>
        <p:spPr>
          <a:xfrm>
            <a:off x="320040" y="1965960"/>
            <a:ext cx="8503920" cy="640080"/>
          </a:xfrm>
          <a:prstGeom prst="rect">
            <a:avLst/>
          </a:prstGeom>
          <a:solidFill>
            <a:srgbClr val="132235"/>
          </a:solidFill>
          <a:ln w="12700">
            <a:solidFill>
              <a:srgbClr val="14A896"/>
            </a:solidFill>
            <a:prstDash val="solid"/>
          </a:ln>
        </p:spPr>
        <p:txBody>
          <a:bodyPr/>
          <a:lstStyle/>
          <a:p>
            <a:endParaRPr lang="es-AR"/>
          </a:p>
        </p:txBody>
      </p:sp>
      <p:sp>
        <p:nvSpPr>
          <p:cNvPr id="7" name="Shape 5"/>
          <p:cNvSpPr/>
          <p:nvPr/>
        </p:nvSpPr>
        <p:spPr>
          <a:xfrm>
            <a:off x="320040" y="1965960"/>
            <a:ext cx="1143000" cy="640080"/>
          </a:xfrm>
          <a:prstGeom prst="rect">
            <a:avLst/>
          </a:prstGeom>
          <a:solidFill>
            <a:srgbClr val="0F7B6C"/>
          </a:solidFill>
          <a:ln w="12700">
            <a:solidFill>
              <a:srgbClr val="0F7B6C"/>
            </a:solidFill>
            <a:prstDash val="solid"/>
          </a:ln>
        </p:spPr>
        <p:txBody>
          <a:bodyPr/>
          <a:lstStyle/>
          <a:p>
            <a:endParaRPr lang="es-AR"/>
          </a:p>
        </p:txBody>
      </p:sp>
      <p:sp>
        <p:nvSpPr>
          <p:cNvPr id="8" name="Text 6"/>
          <p:cNvSpPr/>
          <p:nvPr/>
        </p:nvSpPr>
        <p:spPr>
          <a:xfrm>
            <a:off x="329184" y="1965960"/>
            <a:ext cx="1124712" cy="640080"/>
          </a:xfrm>
          <a:prstGeom prst="rect">
            <a:avLst/>
          </a:prstGeom>
          <a:noFill/>
          <a:ln/>
        </p:spPr>
        <p:txBody>
          <a:bodyPr wrap="square" lIns="0" tIns="0" rIns="0" bIns="0" rtlCol="0" anchor="ctr"/>
          <a:lstStyle/>
          <a:p>
            <a:pPr marL="0" indent="0" algn="ctr">
              <a:buNone/>
            </a:pPr>
            <a:r>
              <a:rPr lang="en-US" sz="950" b="1" kern="0" spc="50" dirty="0">
                <a:solidFill>
                  <a:srgbClr val="FFFFFF"/>
                </a:solidFill>
              </a:rPr>
              <a:t>PERÍODO 1</a:t>
            </a:r>
            <a:endParaRPr lang="en-US" sz="950" dirty="0"/>
          </a:p>
        </p:txBody>
      </p:sp>
      <p:sp>
        <p:nvSpPr>
          <p:cNvPr id="9" name="Text 7"/>
          <p:cNvSpPr/>
          <p:nvPr/>
        </p:nvSpPr>
        <p:spPr>
          <a:xfrm>
            <a:off x="1572768" y="2011680"/>
            <a:ext cx="2560320" cy="274320"/>
          </a:xfrm>
          <a:prstGeom prst="rect">
            <a:avLst/>
          </a:prstGeom>
          <a:noFill/>
          <a:ln/>
        </p:spPr>
        <p:txBody>
          <a:bodyPr wrap="square" lIns="0" tIns="0" rIns="0" bIns="0" rtlCol="0" anchor="ctr"/>
          <a:lstStyle/>
          <a:p>
            <a:pPr marL="0" indent="0">
              <a:buNone/>
            </a:pPr>
            <a:r>
              <a:rPr lang="en-US" sz="1250" b="1" dirty="0">
                <a:solidFill>
                  <a:srgbClr val="FFFFFF"/>
                </a:solidFill>
              </a:rPr>
              <a:t>Empezar cooperando</a:t>
            </a:r>
            <a:endParaRPr lang="en-US" sz="1250" dirty="0"/>
          </a:p>
        </p:txBody>
      </p:sp>
      <p:sp>
        <p:nvSpPr>
          <p:cNvPr id="10" name="Text 8"/>
          <p:cNvSpPr/>
          <p:nvPr/>
        </p:nvSpPr>
        <p:spPr>
          <a:xfrm>
            <a:off x="1572768" y="2286000"/>
            <a:ext cx="7040880" cy="256032"/>
          </a:xfrm>
          <a:prstGeom prst="rect">
            <a:avLst/>
          </a:prstGeom>
          <a:noFill/>
          <a:ln/>
        </p:spPr>
        <p:txBody>
          <a:bodyPr wrap="square" lIns="0" tIns="0" rIns="0" bIns="0" rtlCol="0" anchor="ctr"/>
          <a:lstStyle/>
          <a:p>
            <a:pPr marL="0" indent="0">
              <a:buNone/>
            </a:pPr>
            <a:r>
              <a:rPr lang="en-US" sz="1150" dirty="0">
                <a:solidFill>
                  <a:srgbClr val="B8D0E4"/>
                </a:solidFill>
              </a:rPr>
              <a:t>Ambos jugadores inician jugando C (cooperar). El juego arranca con 'buena fe'.</a:t>
            </a:r>
            <a:endParaRPr lang="en-US" sz="1150" dirty="0"/>
          </a:p>
        </p:txBody>
      </p:sp>
      <p:sp>
        <p:nvSpPr>
          <p:cNvPr id="11" name="Shape 9"/>
          <p:cNvSpPr/>
          <p:nvPr/>
        </p:nvSpPr>
        <p:spPr>
          <a:xfrm>
            <a:off x="320040" y="2715768"/>
            <a:ext cx="8503920" cy="640080"/>
          </a:xfrm>
          <a:prstGeom prst="rect">
            <a:avLst/>
          </a:prstGeom>
          <a:solidFill>
            <a:srgbClr val="132235"/>
          </a:solidFill>
          <a:ln w="12700">
            <a:solidFill>
              <a:srgbClr val="14A896"/>
            </a:solidFill>
            <a:prstDash val="solid"/>
          </a:ln>
        </p:spPr>
        <p:txBody>
          <a:bodyPr/>
          <a:lstStyle/>
          <a:p>
            <a:endParaRPr lang="es-AR"/>
          </a:p>
        </p:txBody>
      </p:sp>
      <p:sp>
        <p:nvSpPr>
          <p:cNvPr id="12" name="Shape 10"/>
          <p:cNvSpPr/>
          <p:nvPr/>
        </p:nvSpPr>
        <p:spPr>
          <a:xfrm>
            <a:off x="320040" y="2715768"/>
            <a:ext cx="1143000" cy="640080"/>
          </a:xfrm>
          <a:prstGeom prst="rect">
            <a:avLst/>
          </a:prstGeom>
          <a:solidFill>
            <a:srgbClr val="0F7B6C"/>
          </a:solidFill>
          <a:ln w="12700">
            <a:solidFill>
              <a:srgbClr val="0F7B6C"/>
            </a:solidFill>
            <a:prstDash val="solid"/>
          </a:ln>
        </p:spPr>
        <p:txBody>
          <a:bodyPr/>
          <a:lstStyle/>
          <a:p>
            <a:endParaRPr lang="es-AR"/>
          </a:p>
        </p:txBody>
      </p:sp>
      <p:sp>
        <p:nvSpPr>
          <p:cNvPr id="13" name="Text 11"/>
          <p:cNvSpPr/>
          <p:nvPr/>
        </p:nvSpPr>
        <p:spPr>
          <a:xfrm>
            <a:off x="329184" y="2715768"/>
            <a:ext cx="1124712" cy="640080"/>
          </a:xfrm>
          <a:prstGeom prst="rect">
            <a:avLst/>
          </a:prstGeom>
          <a:noFill/>
          <a:ln/>
        </p:spPr>
        <p:txBody>
          <a:bodyPr wrap="square" lIns="0" tIns="0" rIns="0" bIns="0" rtlCol="0" anchor="ctr"/>
          <a:lstStyle/>
          <a:p>
            <a:pPr marL="0" indent="0" algn="ctr">
              <a:buNone/>
            </a:pPr>
            <a:r>
              <a:rPr lang="en-US" sz="950" b="1" kern="0" spc="50" dirty="0">
                <a:solidFill>
                  <a:srgbClr val="FFFFFF"/>
                </a:solidFill>
              </a:rPr>
              <a:t>CADA PERÍODO</a:t>
            </a:r>
            <a:endParaRPr lang="en-US" sz="950" dirty="0"/>
          </a:p>
        </p:txBody>
      </p:sp>
      <p:sp>
        <p:nvSpPr>
          <p:cNvPr id="14" name="Text 12"/>
          <p:cNvSpPr/>
          <p:nvPr/>
        </p:nvSpPr>
        <p:spPr>
          <a:xfrm>
            <a:off x="1572768" y="2761488"/>
            <a:ext cx="2560320" cy="274320"/>
          </a:xfrm>
          <a:prstGeom prst="rect">
            <a:avLst/>
          </a:prstGeom>
          <a:noFill/>
          <a:ln/>
        </p:spPr>
        <p:txBody>
          <a:bodyPr wrap="square" lIns="0" tIns="0" rIns="0" bIns="0" rtlCol="0" anchor="ctr"/>
          <a:lstStyle/>
          <a:p>
            <a:pPr marL="0" indent="0">
              <a:buNone/>
            </a:pPr>
            <a:r>
              <a:rPr lang="en-US" sz="1250" b="1" dirty="0">
                <a:solidFill>
                  <a:srgbClr val="FFFFFF"/>
                </a:solidFill>
              </a:rPr>
              <a:t>Condición de continuación</a:t>
            </a:r>
            <a:endParaRPr lang="en-US" sz="1250" dirty="0"/>
          </a:p>
        </p:txBody>
      </p:sp>
      <p:sp>
        <p:nvSpPr>
          <p:cNvPr id="15" name="Text 13"/>
          <p:cNvSpPr/>
          <p:nvPr/>
        </p:nvSpPr>
        <p:spPr>
          <a:xfrm>
            <a:off x="1572768" y="3035808"/>
            <a:ext cx="7040880" cy="256032"/>
          </a:xfrm>
          <a:prstGeom prst="rect">
            <a:avLst/>
          </a:prstGeom>
          <a:noFill/>
          <a:ln/>
        </p:spPr>
        <p:txBody>
          <a:bodyPr wrap="square" lIns="0" tIns="0" rIns="0" bIns="0" rtlCol="0" anchor="ctr"/>
          <a:lstStyle/>
          <a:p>
            <a:pPr marL="0" indent="0">
              <a:buNone/>
            </a:pPr>
            <a:r>
              <a:rPr lang="en-US" sz="1150" dirty="0">
                <a:solidFill>
                  <a:srgbClr val="B8D0E4"/>
                </a:solidFill>
              </a:rPr>
              <a:t>Mientras el OTRO jugador coopere → yo sigo cooperando. El estado de cooperación se mantiene mientras nadie se desvíe.</a:t>
            </a:r>
            <a:endParaRPr lang="en-US" sz="1150" dirty="0"/>
          </a:p>
        </p:txBody>
      </p:sp>
      <p:sp>
        <p:nvSpPr>
          <p:cNvPr id="16" name="Shape 14"/>
          <p:cNvSpPr/>
          <p:nvPr/>
        </p:nvSpPr>
        <p:spPr>
          <a:xfrm>
            <a:off x="320040" y="3465576"/>
            <a:ext cx="8503920" cy="640080"/>
          </a:xfrm>
          <a:prstGeom prst="rect">
            <a:avLst/>
          </a:prstGeom>
          <a:solidFill>
            <a:srgbClr val="132235"/>
          </a:solidFill>
          <a:ln w="12700">
            <a:solidFill>
              <a:srgbClr val="14A896"/>
            </a:solidFill>
            <a:prstDash val="solid"/>
          </a:ln>
        </p:spPr>
        <p:txBody>
          <a:bodyPr/>
          <a:lstStyle/>
          <a:p>
            <a:endParaRPr lang="es-AR"/>
          </a:p>
        </p:txBody>
      </p:sp>
      <p:sp>
        <p:nvSpPr>
          <p:cNvPr id="17" name="Shape 15"/>
          <p:cNvSpPr/>
          <p:nvPr/>
        </p:nvSpPr>
        <p:spPr>
          <a:xfrm>
            <a:off x="320040" y="3465576"/>
            <a:ext cx="1143000" cy="640080"/>
          </a:xfrm>
          <a:prstGeom prst="rect">
            <a:avLst/>
          </a:prstGeom>
          <a:solidFill>
            <a:srgbClr val="0F7B6C"/>
          </a:solidFill>
          <a:ln w="12700">
            <a:solidFill>
              <a:srgbClr val="0F7B6C"/>
            </a:solidFill>
            <a:prstDash val="solid"/>
          </a:ln>
        </p:spPr>
        <p:txBody>
          <a:bodyPr/>
          <a:lstStyle/>
          <a:p>
            <a:endParaRPr lang="es-AR"/>
          </a:p>
        </p:txBody>
      </p:sp>
      <p:sp>
        <p:nvSpPr>
          <p:cNvPr id="18" name="Text 16"/>
          <p:cNvSpPr/>
          <p:nvPr/>
        </p:nvSpPr>
        <p:spPr>
          <a:xfrm>
            <a:off x="329184" y="3465576"/>
            <a:ext cx="1124712" cy="640080"/>
          </a:xfrm>
          <a:prstGeom prst="rect">
            <a:avLst/>
          </a:prstGeom>
          <a:noFill/>
          <a:ln/>
        </p:spPr>
        <p:txBody>
          <a:bodyPr wrap="square" lIns="0" tIns="0" rIns="0" bIns="0" rtlCol="0" anchor="ctr"/>
          <a:lstStyle/>
          <a:p>
            <a:pPr marL="0" indent="0" algn="ctr">
              <a:buNone/>
            </a:pPr>
            <a:r>
              <a:rPr lang="en-US" sz="950" b="1" kern="0" spc="50" dirty="0">
                <a:solidFill>
                  <a:srgbClr val="FFFFFF"/>
                </a:solidFill>
              </a:rPr>
              <a:t>DESVIACIÓN</a:t>
            </a:r>
            <a:endParaRPr lang="en-US" sz="950" dirty="0"/>
          </a:p>
        </p:txBody>
      </p:sp>
      <p:sp>
        <p:nvSpPr>
          <p:cNvPr id="19" name="Text 17"/>
          <p:cNvSpPr/>
          <p:nvPr/>
        </p:nvSpPr>
        <p:spPr>
          <a:xfrm>
            <a:off x="1572768" y="3511296"/>
            <a:ext cx="2560320" cy="274320"/>
          </a:xfrm>
          <a:prstGeom prst="rect">
            <a:avLst/>
          </a:prstGeom>
          <a:noFill/>
          <a:ln/>
        </p:spPr>
        <p:txBody>
          <a:bodyPr wrap="square" lIns="0" tIns="0" rIns="0" bIns="0" rtlCol="0" anchor="ctr"/>
          <a:lstStyle/>
          <a:p>
            <a:pPr marL="0" indent="0">
              <a:buNone/>
            </a:pPr>
            <a:r>
              <a:rPr lang="en-US" sz="1250" b="1" dirty="0">
                <a:solidFill>
                  <a:srgbClr val="FFFFFF"/>
                </a:solidFill>
              </a:rPr>
              <a:t>Si el otro juega C̄ en algún período</a:t>
            </a:r>
            <a:endParaRPr lang="en-US" sz="1250" dirty="0"/>
          </a:p>
        </p:txBody>
      </p:sp>
      <p:sp>
        <p:nvSpPr>
          <p:cNvPr id="20" name="Text 18"/>
          <p:cNvSpPr/>
          <p:nvPr/>
        </p:nvSpPr>
        <p:spPr>
          <a:xfrm>
            <a:off x="1572768" y="3785616"/>
            <a:ext cx="7040880" cy="256032"/>
          </a:xfrm>
          <a:prstGeom prst="rect">
            <a:avLst/>
          </a:prstGeom>
          <a:noFill/>
          <a:ln/>
        </p:spPr>
        <p:txBody>
          <a:bodyPr wrap="square" lIns="0" tIns="0" rIns="0" bIns="0" rtlCol="0" anchor="ctr"/>
          <a:lstStyle/>
          <a:p>
            <a:pPr marL="0" indent="0">
              <a:buNone/>
            </a:pPr>
            <a:r>
              <a:rPr lang="en-US" sz="1150" dirty="0">
                <a:solidFill>
                  <a:srgbClr val="B8D0E4"/>
                </a:solidFill>
              </a:rPr>
              <a:t>A partir de ese momento: yo juego C̄ para SIEMPRE, sin importar lo que haga el otro. El castigo es permanente e implacable.</a:t>
            </a:r>
            <a:endParaRPr lang="en-US" sz="1150" dirty="0"/>
          </a:p>
        </p:txBody>
      </p:sp>
      <p:sp>
        <p:nvSpPr>
          <p:cNvPr id="21" name="Shape 19"/>
          <p:cNvSpPr/>
          <p:nvPr/>
        </p:nvSpPr>
        <p:spPr>
          <a:xfrm>
            <a:off x="320040" y="4215384"/>
            <a:ext cx="8503920" cy="640080"/>
          </a:xfrm>
          <a:prstGeom prst="rect">
            <a:avLst/>
          </a:prstGeom>
          <a:solidFill>
            <a:srgbClr val="132235"/>
          </a:solidFill>
          <a:ln w="12700">
            <a:solidFill>
              <a:srgbClr val="14A896"/>
            </a:solidFill>
            <a:prstDash val="solid"/>
          </a:ln>
        </p:spPr>
        <p:txBody>
          <a:bodyPr/>
          <a:lstStyle/>
          <a:p>
            <a:endParaRPr lang="es-AR"/>
          </a:p>
        </p:txBody>
      </p:sp>
      <p:sp>
        <p:nvSpPr>
          <p:cNvPr id="22" name="Shape 20"/>
          <p:cNvSpPr/>
          <p:nvPr/>
        </p:nvSpPr>
        <p:spPr>
          <a:xfrm>
            <a:off x="320040" y="4215384"/>
            <a:ext cx="1143000" cy="640080"/>
          </a:xfrm>
          <a:prstGeom prst="rect">
            <a:avLst/>
          </a:prstGeom>
          <a:solidFill>
            <a:srgbClr val="0F7B6C"/>
          </a:solidFill>
          <a:ln w="12700">
            <a:solidFill>
              <a:srgbClr val="0F7B6C"/>
            </a:solidFill>
            <a:prstDash val="solid"/>
          </a:ln>
        </p:spPr>
        <p:txBody>
          <a:bodyPr/>
          <a:lstStyle/>
          <a:p>
            <a:endParaRPr lang="es-AR"/>
          </a:p>
        </p:txBody>
      </p:sp>
      <p:sp>
        <p:nvSpPr>
          <p:cNvPr id="23" name="Text 21"/>
          <p:cNvSpPr/>
          <p:nvPr/>
        </p:nvSpPr>
        <p:spPr>
          <a:xfrm>
            <a:off x="329184" y="4215384"/>
            <a:ext cx="1124712" cy="640080"/>
          </a:xfrm>
          <a:prstGeom prst="rect">
            <a:avLst/>
          </a:prstGeom>
          <a:noFill/>
          <a:ln/>
        </p:spPr>
        <p:txBody>
          <a:bodyPr wrap="square" lIns="0" tIns="0" rIns="0" bIns="0" rtlCol="0" anchor="ctr"/>
          <a:lstStyle/>
          <a:p>
            <a:pPr marL="0" indent="0" algn="ctr">
              <a:buNone/>
            </a:pPr>
            <a:r>
              <a:rPr lang="en-US" sz="950" b="1" kern="0" spc="50" dirty="0">
                <a:solidFill>
                  <a:srgbClr val="FFFFFF"/>
                </a:solidFill>
              </a:rPr>
              <a:t>MECANISMO</a:t>
            </a:r>
            <a:endParaRPr lang="en-US" sz="950" dirty="0"/>
          </a:p>
        </p:txBody>
      </p:sp>
      <p:sp>
        <p:nvSpPr>
          <p:cNvPr id="24" name="Text 22"/>
          <p:cNvSpPr/>
          <p:nvPr/>
        </p:nvSpPr>
        <p:spPr>
          <a:xfrm>
            <a:off x="1572768" y="4261104"/>
            <a:ext cx="2560320" cy="274320"/>
          </a:xfrm>
          <a:prstGeom prst="rect">
            <a:avLst/>
          </a:prstGeom>
          <a:noFill/>
          <a:ln/>
        </p:spPr>
        <p:txBody>
          <a:bodyPr wrap="square" lIns="0" tIns="0" rIns="0" bIns="0" rtlCol="0" anchor="ctr"/>
          <a:lstStyle/>
          <a:p>
            <a:pPr marL="0" indent="0">
              <a:buNone/>
            </a:pPr>
            <a:r>
              <a:rPr lang="en-US" sz="1250" b="1" dirty="0">
                <a:solidFill>
                  <a:srgbClr val="FFFFFF"/>
                </a:solidFill>
              </a:rPr>
              <a:t>¿Por qué funciona?</a:t>
            </a:r>
            <a:endParaRPr lang="en-US" sz="1250" dirty="0"/>
          </a:p>
        </p:txBody>
      </p:sp>
      <p:sp>
        <p:nvSpPr>
          <p:cNvPr id="25" name="Text 23"/>
          <p:cNvSpPr/>
          <p:nvPr/>
        </p:nvSpPr>
        <p:spPr>
          <a:xfrm>
            <a:off x="1572768" y="4535424"/>
            <a:ext cx="7040880" cy="256032"/>
          </a:xfrm>
          <a:prstGeom prst="rect">
            <a:avLst/>
          </a:prstGeom>
          <a:noFill/>
          <a:ln/>
        </p:spPr>
        <p:txBody>
          <a:bodyPr wrap="square" lIns="0" tIns="0" rIns="0" bIns="0" rtlCol="0" anchor="ctr"/>
          <a:lstStyle/>
          <a:p>
            <a:pPr marL="0" indent="0">
              <a:buNone/>
            </a:pPr>
            <a:r>
              <a:rPr lang="en-US" sz="1150" dirty="0">
                <a:solidFill>
                  <a:srgbClr val="B8D0E4"/>
                </a:solidFill>
              </a:rPr>
              <a:t>La amenaza del castigo futuro reduce el atractivo de desviarse hoy. Si el jugador valora suficientemente el futuro (es paciente), prefiere mantener la cooperación a conseguir la ganancia inmediata de traicionar.</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8">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Juego Repetido FINITO — Por qué Falla el Trigger</a:t>
            </a:r>
            <a:endParaRPr lang="en-US" sz="2200" dirty="0"/>
          </a:p>
        </p:txBody>
      </p:sp>
      <p:sp>
        <p:nvSpPr>
          <p:cNvPr id="4" name="Shape 2"/>
          <p:cNvSpPr/>
          <p:nvPr/>
        </p:nvSpPr>
        <p:spPr>
          <a:xfrm>
            <a:off x="320040" y="960120"/>
            <a:ext cx="8503920" cy="685800"/>
          </a:xfrm>
          <a:prstGeom prst="rect">
            <a:avLst/>
          </a:prstGeom>
          <a:solidFill>
            <a:srgbClr val="2B1010"/>
          </a:solidFill>
          <a:ln w="12700">
            <a:solidFill>
              <a:srgbClr val="C0392B"/>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300" b="1" dirty="0">
                <a:solidFill>
                  <a:srgbClr val="FFFFFF"/>
                </a:solidFill>
              </a:rPr>
              <a:t>RESULTADO: Si la fecha de fin del juego es CONOCIDA, la estrategia trigger NUNCA funciona → No hay cooperación en ningún período.</a:t>
            </a:r>
            <a:endParaRPr lang="en-US" sz="1300" dirty="0"/>
          </a:p>
        </p:txBody>
      </p:sp>
      <p:sp>
        <p:nvSpPr>
          <p:cNvPr id="6" name="Shape 4"/>
          <p:cNvSpPr/>
          <p:nvPr/>
        </p:nvSpPr>
        <p:spPr>
          <a:xfrm>
            <a:off x="320040" y="1828800"/>
            <a:ext cx="8503920" cy="685800"/>
          </a:xfrm>
          <a:prstGeom prst="rect">
            <a:avLst/>
          </a:prstGeom>
          <a:solidFill>
            <a:srgbClr val="162840"/>
          </a:solidFill>
          <a:ln w="12700">
            <a:solidFill>
              <a:srgbClr val="C0392B"/>
            </a:solidFill>
            <a:prstDash val="solid"/>
          </a:ln>
        </p:spPr>
        <p:txBody>
          <a:bodyPr/>
          <a:lstStyle/>
          <a:p>
            <a:endParaRPr lang="es-AR"/>
          </a:p>
        </p:txBody>
      </p:sp>
      <p:sp>
        <p:nvSpPr>
          <p:cNvPr id="7" name="Text 5"/>
          <p:cNvSpPr/>
          <p:nvPr/>
        </p:nvSpPr>
        <p:spPr>
          <a:xfrm>
            <a:off x="502920" y="1892808"/>
            <a:ext cx="2743200" cy="274320"/>
          </a:xfrm>
          <a:prstGeom prst="rect">
            <a:avLst/>
          </a:prstGeom>
          <a:noFill/>
          <a:ln/>
        </p:spPr>
        <p:txBody>
          <a:bodyPr wrap="square" lIns="0" tIns="0" rIns="0" bIns="0" rtlCol="0" anchor="ctr"/>
          <a:lstStyle/>
          <a:p>
            <a:pPr marL="0" indent="0">
              <a:buNone/>
            </a:pPr>
            <a:r>
              <a:rPr lang="en-US" sz="1200" b="1" dirty="0">
                <a:solidFill>
                  <a:srgbClr val="FFFFFF"/>
                </a:solidFill>
              </a:rPr>
              <a:t>Período n (el ÚLTIMO)</a:t>
            </a:r>
            <a:endParaRPr lang="en-US" sz="1200" dirty="0"/>
          </a:p>
        </p:txBody>
      </p:sp>
      <p:sp>
        <p:nvSpPr>
          <p:cNvPr id="8" name="Text 6"/>
          <p:cNvSpPr/>
          <p:nvPr/>
        </p:nvSpPr>
        <p:spPr>
          <a:xfrm>
            <a:off x="502920" y="2176272"/>
            <a:ext cx="8138160" cy="274320"/>
          </a:xfrm>
          <a:prstGeom prst="rect">
            <a:avLst/>
          </a:prstGeom>
          <a:noFill/>
          <a:ln/>
        </p:spPr>
        <p:txBody>
          <a:bodyPr wrap="square" lIns="0" tIns="0" rIns="0" bIns="0" rtlCol="0" anchor="ctr"/>
          <a:lstStyle/>
          <a:p>
            <a:pPr marL="0" indent="0">
              <a:buNone/>
            </a:pPr>
            <a:r>
              <a:rPr lang="en-US" sz="1150" dirty="0">
                <a:solidFill>
                  <a:srgbClr val="C8A0A0"/>
                </a:solidFill>
              </a:rPr>
              <a:t>No hay futuro. La amenaza del trigger no intimida a nadie. No hay castigo posible después. → Ambos </a:t>
            </a:r>
            <a:r>
              <a:rPr lang="en-US" sz="1150" dirty="0" err="1">
                <a:solidFill>
                  <a:srgbClr val="C8A0A0"/>
                </a:solidFill>
              </a:rPr>
              <a:t>juegan</a:t>
            </a:r>
            <a:r>
              <a:rPr lang="en-US" sz="1150" dirty="0">
                <a:solidFill>
                  <a:srgbClr val="C8A0A0"/>
                </a:solidFill>
              </a:rPr>
              <a:t> NC̄.</a:t>
            </a:r>
            <a:endParaRPr lang="en-US" sz="1150" dirty="0"/>
          </a:p>
        </p:txBody>
      </p:sp>
      <p:sp>
        <p:nvSpPr>
          <p:cNvPr id="9" name="Shape 7"/>
          <p:cNvSpPr/>
          <p:nvPr/>
        </p:nvSpPr>
        <p:spPr>
          <a:xfrm>
            <a:off x="320040" y="2633472"/>
            <a:ext cx="8503920" cy="685800"/>
          </a:xfrm>
          <a:prstGeom prst="rect">
            <a:avLst/>
          </a:prstGeom>
          <a:solidFill>
            <a:srgbClr val="162840"/>
          </a:solidFill>
          <a:ln w="12700">
            <a:solidFill>
              <a:srgbClr val="C0392B"/>
            </a:solidFill>
            <a:prstDash val="solid"/>
          </a:ln>
        </p:spPr>
        <p:txBody>
          <a:bodyPr/>
          <a:lstStyle/>
          <a:p>
            <a:endParaRPr lang="es-AR"/>
          </a:p>
        </p:txBody>
      </p:sp>
      <p:sp>
        <p:nvSpPr>
          <p:cNvPr id="10" name="Text 8"/>
          <p:cNvSpPr/>
          <p:nvPr/>
        </p:nvSpPr>
        <p:spPr>
          <a:xfrm>
            <a:off x="502920" y="2697480"/>
            <a:ext cx="2743200" cy="274320"/>
          </a:xfrm>
          <a:prstGeom prst="rect">
            <a:avLst/>
          </a:prstGeom>
          <a:noFill/>
          <a:ln/>
        </p:spPr>
        <p:txBody>
          <a:bodyPr wrap="square" lIns="0" tIns="0" rIns="0" bIns="0" rtlCol="0" anchor="ctr"/>
          <a:lstStyle/>
          <a:p>
            <a:pPr marL="0" indent="0">
              <a:buNone/>
            </a:pPr>
            <a:r>
              <a:rPr lang="en-US" sz="1200" b="1" dirty="0">
                <a:solidFill>
                  <a:srgbClr val="FFFFFF"/>
                </a:solidFill>
              </a:rPr>
              <a:t>Período n−1</a:t>
            </a:r>
            <a:endParaRPr lang="en-US" sz="1200" dirty="0"/>
          </a:p>
        </p:txBody>
      </p:sp>
      <p:sp>
        <p:nvSpPr>
          <p:cNvPr id="11" name="Text 9"/>
          <p:cNvSpPr/>
          <p:nvPr/>
        </p:nvSpPr>
        <p:spPr>
          <a:xfrm>
            <a:off x="502920" y="2980944"/>
            <a:ext cx="8138160" cy="274320"/>
          </a:xfrm>
          <a:prstGeom prst="rect">
            <a:avLst/>
          </a:prstGeom>
          <a:noFill/>
          <a:ln/>
        </p:spPr>
        <p:txBody>
          <a:bodyPr wrap="square" lIns="0" tIns="0" rIns="0" bIns="0" rtlCol="0" anchor="ctr"/>
          <a:lstStyle/>
          <a:p>
            <a:pPr marL="0" indent="0">
              <a:buNone/>
            </a:pPr>
            <a:r>
              <a:rPr lang="en-US" sz="1150" dirty="0">
                <a:solidFill>
                  <a:srgbClr val="C8A0A0"/>
                </a:solidFill>
              </a:rPr>
              <a:t>Ambos SABEN que en el período n </a:t>
            </a:r>
            <a:r>
              <a:rPr lang="en-US" sz="1150" dirty="0" err="1">
                <a:solidFill>
                  <a:srgbClr val="C8A0A0"/>
                </a:solidFill>
              </a:rPr>
              <a:t>jugarán</a:t>
            </a:r>
            <a:r>
              <a:rPr lang="en-US" sz="1150" dirty="0">
                <a:solidFill>
                  <a:srgbClr val="C8A0A0"/>
                </a:solidFill>
              </a:rPr>
              <a:t> NC pase lo que pase. El 'futuro' ya está arruinado. → No hay incentivo a cooperar ahora. Ambos </a:t>
            </a:r>
            <a:r>
              <a:rPr lang="en-US" sz="1150" dirty="0" err="1">
                <a:solidFill>
                  <a:srgbClr val="C8A0A0"/>
                </a:solidFill>
              </a:rPr>
              <a:t>juegan</a:t>
            </a:r>
            <a:r>
              <a:rPr lang="en-US" sz="1150" dirty="0">
                <a:solidFill>
                  <a:srgbClr val="C8A0A0"/>
                </a:solidFill>
              </a:rPr>
              <a:t> NC</a:t>
            </a:r>
            <a:r>
              <a:rPr lang="en-US" sz="1000" dirty="0">
                <a:solidFill>
                  <a:srgbClr val="C8A0A0"/>
                </a:solidFill>
              </a:rPr>
              <a:t>.</a:t>
            </a:r>
            <a:endParaRPr lang="en-US" sz="1150" dirty="0"/>
          </a:p>
        </p:txBody>
      </p:sp>
      <p:sp>
        <p:nvSpPr>
          <p:cNvPr id="12" name="Shape 10"/>
          <p:cNvSpPr/>
          <p:nvPr/>
        </p:nvSpPr>
        <p:spPr>
          <a:xfrm>
            <a:off x="320040" y="3438144"/>
            <a:ext cx="8503920" cy="685800"/>
          </a:xfrm>
          <a:prstGeom prst="rect">
            <a:avLst/>
          </a:prstGeom>
          <a:solidFill>
            <a:srgbClr val="162840"/>
          </a:solidFill>
          <a:ln w="12700">
            <a:solidFill>
              <a:srgbClr val="C0392B"/>
            </a:solidFill>
            <a:prstDash val="solid"/>
          </a:ln>
        </p:spPr>
        <p:txBody>
          <a:bodyPr/>
          <a:lstStyle/>
          <a:p>
            <a:endParaRPr lang="es-AR"/>
          </a:p>
        </p:txBody>
      </p:sp>
      <p:sp>
        <p:nvSpPr>
          <p:cNvPr id="13" name="Text 11"/>
          <p:cNvSpPr/>
          <p:nvPr/>
        </p:nvSpPr>
        <p:spPr>
          <a:xfrm>
            <a:off x="502920" y="3502152"/>
            <a:ext cx="2743200" cy="274320"/>
          </a:xfrm>
          <a:prstGeom prst="rect">
            <a:avLst/>
          </a:prstGeom>
          <a:noFill/>
          <a:ln/>
        </p:spPr>
        <p:txBody>
          <a:bodyPr wrap="square" lIns="0" tIns="0" rIns="0" bIns="0" rtlCol="0" anchor="ctr"/>
          <a:lstStyle/>
          <a:p>
            <a:pPr marL="0" indent="0">
              <a:buNone/>
            </a:pPr>
            <a:r>
              <a:rPr lang="en-US" sz="1200" b="1" dirty="0">
                <a:solidFill>
                  <a:srgbClr val="FFFFFF"/>
                </a:solidFill>
              </a:rPr>
              <a:t>Período n−2, n−3, ...</a:t>
            </a:r>
            <a:endParaRPr lang="en-US" sz="1200" dirty="0"/>
          </a:p>
        </p:txBody>
      </p:sp>
      <p:sp>
        <p:nvSpPr>
          <p:cNvPr id="14" name="Text 12"/>
          <p:cNvSpPr/>
          <p:nvPr/>
        </p:nvSpPr>
        <p:spPr>
          <a:xfrm>
            <a:off x="502920" y="3785616"/>
            <a:ext cx="8138160" cy="274320"/>
          </a:xfrm>
          <a:prstGeom prst="rect">
            <a:avLst/>
          </a:prstGeom>
          <a:noFill/>
          <a:ln/>
        </p:spPr>
        <p:txBody>
          <a:bodyPr wrap="square" lIns="0" tIns="0" rIns="0" bIns="0" rtlCol="0" anchor="ctr"/>
          <a:lstStyle/>
          <a:p>
            <a:pPr marL="0" indent="0">
              <a:buNone/>
            </a:pPr>
            <a:r>
              <a:rPr lang="en-US" sz="1150" dirty="0">
                <a:solidFill>
                  <a:srgbClr val="C8A0A0"/>
                </a:solidFill>
              </a:rPr>
              <a:t>El mismo razonamiento se repite hacia atrás. Cada período queda contaminado por la conclusión del período siguiente.</a:t>
            </a:r>
            <a:endParaRPr lang="en-US" sz="1150" dirty="0"/>
          </a:p>
        </p:txBody>
      </p:sp>
      <p:sp>
        <p:nvSpPr>
          <p:cNvPr id="15" name="Shape 13"/>
          <p:cNvSpPr/>
          <p:nvPr/>
        </p:nvSpPr>
        <p:spPr>
          <a:xfrm>
            <a:off x="320040" y="4242815"/>
            <a:ext cx="8503920" cy="832099"/>
          </a:xfrm>
          <a:prstGeom prst="rect">
            <a:avLst/>
          </a:prstGeom>
          <a:solidFill>
            <a:srgbClr val="162840"/>
          </a:solidFill>
          <a:ln w="12700">
            <a:solidFill>
              <a:srgbClr val="C0392B"/>
            </a:solidFill>
            <a:prstDash val="solid"/>
          </a:ln>
        </p:spPr>
        <p:txBody>
          <a:bodyPr/>
          <a:lstStyle/>
          <a:p>
            <a:endParaRPr lang="es-AR"/>
          </a:p>
        </p:txBody>
      </p:sp>
      <p:sp>
        <p:nvSpPr>
          <p:cNvPr id="16" name="Text 14"/>
          <p:cNvSpPr/>
          <p:nvPr/>
        </p:nvSpPr>
        <p:spPr>
          <a:xfrm>
            <a:off x="502920" y="4306824"/>
            <a:ext cx="2743200" cy="274320"/>
          </a:xfrm>
          <a:prstGeom prst="rect">
            <a:avLst/>
          </a:prstGeom>
          <a:noFill/>
          <a:ln/>
        </p:spPr>
        <p:txBody>
          <a:bodyPr wrap="square" lIns="0" tIns="0" rIns="0" bIns="0" rtlCol="0" anchor="ctr"/>
          <a:lstStyle/>
          <a:p>
            <a:pPr marL="0" indent="0">
              <a:buNone/>
            </a:pPr>
            <a:r>
              <a:rPr lang="en-US" sz="1200" b="1" dirty="0">
                <a:solidFill>
                  <a:srgbClr val="FFFFFF"/>
                </a:solidFill>
              </a:rPr>
              <a:t>Período 1</a:t>
            </a:r>
            <a:endParaRPr lang="en-US" sz="1200" dirty="0"/>
          </a:p>
        </p:txBody>
      </p:sp>
      <p:sp>
        <p:nvSpPr>
          <p:cNvPr id="17" name="Text 15"/>
          <p:cNvSpPr/>
          <p:nvPr/>
        </p:nvSpPr>
        <p:spPr>
          <a:xfrm>
            <a:off x="502920" y="4590288"/>
            <a:ext cx="8138160" cy="274320"/>
          </a:xfrm>
          <a:prstGeom prst="rect">
            <a:avLst/>
          </a:prstGeom>
          <a:noFill/>
          <a:ln/>
        </p:spPr>
        <p:txBody>
          <a:bodyPr wrap="square" lIns="0" tIns="0" rIns="0" bIns="0" rtlCol="0" anchor="ctr"/>
          <a:lstStyle/>
          <a:p>
            <a:pPr marL="0" indent="0">
              <a:buNone/>
            </a:pPr>
            <a:r>
              <a:rPr lang="en-US" sz="1150" dirty="0">
                <a:solidFill>
                  <a:srgbClr val="C8A0A0"/>
                </a:solidFill>
              </a:rPr>
              <a:t>Por inducción hacia atrás completa: también se </a:t>
            </a:r>
            <a:r>
              <a:rPr lang="en-US" sz="1150" dirty="0" err="1">
                <a:solidFill>
                  <a:srgbClr val="C8A0A0"/>
                </a:solidFill>
              </a:rPr>
              <a:t>juega</a:t>
            </a:r>
            <a:r>
              <a:rPr lang="en-US" sz="1150" dirty="0">
                <a:solidFill>
                  <a:srgbClr val="C8A0A0"/>
                </a:solidFill>
              </a:rPr>
              <a:t> NC. RESULTADO: No hay cooperación en ningún período del juego.</a:t>
            </a:r>
            <a:endParaRPr lang="en-US" sz="1150" dirty="0"/>
          </a:p>
        </p:txBody>
      </p:sp>
      <p:sp>
        <p:nvSpPr>
          <p:cNvPr id="18" name="Shape 16"/>
          <p:cNvSpPr/>
          <p:nvPr/>
        </p:nvSpPr>
        <p:spPr>
          <a:xfrm>
            <a:off x="320040" y="5074920"/>
            <a:ext cx="8503920" cy="0"/>
          </a:xfrm>
          <a:prstGeom prst="rect">
            <a:avLst/>
          </a:prstGeom>
          <a:solidFill>
            <a:srgbClr val="0F7B6C"/>
          </a:solidFill>
          <a:ln w="12700">
            <a:solidFill>
              <a:srgbClr val="0F7B6C"/>
            </a:solidFill>
            <a:prstDash val="solid"/>
          </a:ln>
        </p:spPr>
        <p:txBody>
          <a:bodyPr/>
          <a:lstStyle/>
          <a:p>
            <a:endParaRPr lang="es-AR"/>
          </a:p>
        </p:txBody>
      </p:sp>
      <p:sp>
        <p:nvSpPr>
          <p:cNvPr id="19" name="Text 17"/>
          <p:cNvSpPr/>
          <p:nvPr/>
        </p:nvSpPr>
        <p:spPr>
          <a:xfrm>
            <a:off x="320040" y="4983480"/>
            <a:ext cx="8503920" cy="0"/>
          </a:xfrm>
          <a:prstGeom prst="rect">
            <a:avLst/>
          </a:prstGeom>
          <a:noFill/>
          <a:ln/>
        </p:spPr>
        <p:txBody>
          <a:bodyPr wrap="square" rtlCol="0" anchor="ctr"/>
          <a:lstStyle/>
          <a:p>
            <a:pPr marL="0" indent="0">
              <a:buNone/>
            </a:pPr>
            <a:r>
              <a:rPr lang="en-US" sz="1200" b="1" i="1" dirty="0">
                <a:solidFill>
                  <a:srgbClr val="F5A623"/>
                </a:solidFill>
              </a:rPr>
              <a:t>NOMBRE DEL FENÓMENO: 'Problema del último período'. El último turno contamina hacia atrás toda la secuencia.</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9">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Juego con Fin Incierto — La Probabilidad p</a:t>
            </a:r>
            <a:endParaRPr lang="en-US" sz="2200" dirty="0"/>
          </a:p>
        </p:txBody>
      </p:sp>
      <p:sp>
        <p:nvSpPr>
          <p:cNvPr id="4" name="Shape 2"/>
          <p:cNvSpPr/>
          <p:nvPr/>
        </p:nvSpPr>
        <p:spPr>
          <a:xfrm>
            <a:off x="320040" y="960120"/>
            <a:ext cx="8503920" cy="731520"/>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640080"/>
          </a:xfrm>
          <a:prstGeom prst="rect">
            <a:avLst/>
          </a:prstGeom>
          <a:noFill/>
          <a:ln/>
        </p:spPr>
        <p:txBody>
          <a:bodyPr wrap="square" lIns="0" tIns="0" rIns="0" bIns="0" rtlCol="0" anchor="ctr"/>
          <a:lstStyle/>
          <a:p>
            <a:pPr marL="0" indent="0">
              <a:buNone/>
            </a:pPr>
            <a:r>
              <a:rPr lang="en-US" sz="1300" i="1" dirty="0">
                <a:solidFill>
                  <a:srgbClr val="FFFFFF"/>
                </a:solidFill>
              </a:rPr>
              <a:t>MODIFICACIÓN CLAVE: Los jugadores NO conocen la fecha de fin. En cada período, el juego continúa con probabilidad p y termina con probabilidad (1−p).</a:t>
            </a:r>
            <a:endParaRPr lang="en-US" sz="1300" dirty="0"/>
          </a:p>
        </p:txBody>
      </p:sp>
      <p:sp>
        <p:nvSpPr>
          <p:cNvPr id="6" name="Shape 4"/>
          <p:cNvSpPr/>
          <p:nvPr/>
        </p:nvSpPr>
        <p:spPr>
          <a:xfrm>
            <a:off x="320040" y="1828800"/>
            <a:ext cx="4069080" cy="3108960"/>
          </a:xfrm>
          <a:prstGeom prst="rect">
            <a:avLst/>
          </a:prstGeom>
          <a:solidFill>
            <a:srgbClr val="132235"/>
          </a:solidFill>
          <a:ln w="12700">
            <a:solidFill>
              <a:srgbClr val="0F7B6C"/>
            </a:solidFill>
            <a:prstDash val="solid"/>
          </a:ln>
        </p:spPr>
        <p:txBody>
          <a:bodyPr/>
          <a:lstStyle/>
          <a:p>
            <a:endParaRPr lang="es-AR"/>
          </a:p>
        </p:txBody>
      </p:sp>
      <p:sp>
        <p:nvSpPr>
          <p:cNvPr id="7" name="Text 5"/>
          <p:cNvSpPr/>
          <p:nvPr/>
        </p:nvSpPr>
        <p:spPr>
          <a:xfrm>
            <a:off x="502920" y="1901952"/>
            <a:ext cx="3703320" cy="502920"/>
          </a:xfrm>
          <a:prstGeom prst="rect">
            <a:avLst/>
          </a:prstGeom>
          <a:noFill/>
          <a:ln/>
        </p:spPr>
        <p:txBody>
          <a:bodyPr wrap="square" lIns="0" tIns="0" rIns="0" bIns="0" rtlCol="0" anchor="ctr"/>
          <a:lstStyle/>
          <a:p>
            <a:pPr marL="0" indent="0">
              <a:buNone/>
            </a:pPr>
            <a:r>
              <a:rPr lang="en-US" sz="1300" b="1" dirty="0">
                <a:solidFill>
                  <a:srgbClr val="FFFFFF"/>
                </a:solidFill>
              </a:rPr>
              <a:t>UTILIDAD ESPERADA</a:t>
            </a:r>
            <a:endParaRPr lang="en-US" sz="1300" dirty="0"/>
          </a:p>
          <a:p>
            <a:pPr marL="0" indent="0">
              <a:buNone/>
            </a:pPr>
            <a:r>
              <a:rPr lang="en-US" sz="1300" b="1" dirty="0">
                <a:solidFill>
                  <a:srgbClr val="FFFFFF"/>
                </a:solidFill>
              </a:rPr>
              <a:t>de Cooperar (trigger)</a:t>
            </a:r>
            <a:endParaRPr lang="en-US" sz="1300" dirty="0"/>
          </a:p>
        </p:txBody>
      </p:sp>
      <p:sp>
        <p:nvSpPr>
          <p:cNvPr id="8" name="Text 6"/>
          <p:cNvSpPr/>
          <p:nvPr/>
        </p:nvSpPr>
        <p:spPr>
          <a:xfrm>
            <a:off x="502920" y="2487168"/>
            <a:ext cx="3703320" cy="914400"/>
          </a:xfrm>
          <a:prstGeom prst="rect">
            <a:avLst/>
          </a:prstGeom>
          <a:noFill/>
          <a:ln/>
        </p:spPr>
        <p:txBody>
          <a:bodyPr wrap="square" lIns="0" tIns="0" rIns="0" bIns="0" rtlCol="0" anchor="ctr"/>
          <a:lstStyle/>
          <a:p>
            <a:pPr marL="0" indent="0">
              <a:buNone/>
            </a:pPr>
            <a:r>
              <a:rPr lang="en-US" sz="1250" dirty="0">
                <a:solidFill>
                  <a:srgbClr val="F5A623"/>
                </a:solidFill>
              </a:rPr>
              <a:t>Cada período gana 2. El juego sigue con prob. p:</a:t>
            </a:r>
            <a:endParaRPr lang="en-US" sz="1250" dirty="0"/>
          </a:p>
          <a:p>
            <a:pPr marL="0" indent="0">
              <a:buNone/>
            </a:pPr>
            <a:r>
              <a:rPr lang="en-US" sz="1250" dirty="0">
                <a:solidFill>
                  <a:srgbClr val="F5A623"/>
                </a:solidFill>
              </a:rPr>
              <a:t>UE(coop) = 2 + 2p + 2p² + ... = 2/(1−p)</a:t>
            </a:r>
            <a:endParaRPr lang="en-US" sz="1250" dirty="0"/>
          </a:p>
        </p:txBody>
      </p:sp>
      <p:sp>
        <p:nvSpPr>
          <p:cNvPr id="9" name="Shape 7"/>
          <p:cNvSpPr/>
          <p:nvPr/>
        </p:nvSpPr>
        <p:spPr>
          <a:xfrm>
            <a:off x="320040" y="3520440"/>
            <a:ext cx="4069080" cy="1298448"/>
          </a:xfrm>
          <a:prstGeom prst="rect">
            <a:avLst/>
          </a:prstGeom>
          <a:solidFill>
            <a:srgbClr val="162840"/>
          </a:solidFill>
          <a:ln w="12700">
            <a:solidFill>
              <a:srgbClr val="14A896"/>
            </a:solidFill>
            <a:prstDash val="solid"/>
          </a:ln>
        </p:spPr>
        <p:txBody>
          <a:bodyPr/>
          <a:lstStyle/>
          <a:p>
            <a:endParaRPr lang="es-AR"/>
          </a:p>
        </p:txBody>
      </p:sp>
      <p:sp>
        <p:nvSpPr>
          <p:cNvPr id="10" name="Text 8"/>
          <p:cNvSpPr/>
          <p:nvPr/>
        </p:nvSpPr>
        <p:spPr>
          <a:xfrm>
            <a:off x="502920" y="3593592"/>
            <a:ext cx="3703320" cy="502920"/>
          </a:xfrm>
          <a:prstGeom prst="rect">
            <a:avLst/>
          </a:prstGeom>
          <a:noFill/>
          <a:ln/>
        </p:spPr>
        <p:txBody>
          <a:bodyPr wrap="square" lIns="0" tIns="0" rIns="0" bIns="0" rtlCol="0" anchor="ctr"/>
          <a:lstStyle/>
          <a:p>
            <a:pPr marL="0" indent="0">
              <a:buNone/>
            </a:pPr>
            <a:r>
              <a:rPr lang="en-US" sz="1300" b="1" dirty="0">
                <a:solidFill>
                  <a:srgbClr val="FFFFFF"/>
                </a:solidFill>
              </a:rPr>
              <a:t>UTILIDAD ESPERADA</a:t>
            </a:r>
            <a:endParaRPr lang="en-US" sz="1300" dirty="0"/>
          </a:p>
          <a:p>
            <a:pPr marL="0" indent="0">
              <a:buNone/>
            </a:pPr>
            <a:r>
              <a:rPr lang="en-US" sz="1300" b="1" dirty="0">
                <a:solidFill>
                  <a:srgbClr val="FFFFFF"/>
                </a:solidFill>
              </a:rPr>
              <a:t>de Desviarse (hoy: 3, luego castigo: 1)</a:t>
            </a:r>
            <a:endParaRPr lang="en-US" sz="1300" dirty="0"/>
          </a:p>
        </p:txBody>
      </p:sp>
      <p:sp>
        <p:nvSpPr>
          <p:cNvPr id="11" name="Text 9"/>
          <p:cNvSpPr/>
          <p:nvPr/>
        </p:nvSpPr>
        <p:spPr>
          <a:xfrm>
            <a:off x="502920" y="4114800"/>
            <a:ext cx="3703320" cy="566928"/>
          </a:xfrm>
          <a:prstGeom prst="rect">
            <a:avLst/>
          </a:prstGeom>
          <a:noFill/>
          <a:ln/>
        </p:spPr>
        <p:txBody>
          <a:bodyPr wrap="square" lIns="0" tIns="0" rIns="0" bIns="0" rtlCol="0" anchor="ctr"/>
          <a:lstStyle/>
          <a:p>
            <a:pPr marL="0" indent="0">
              <a:buNone/>
            </a:pPr>
            <a:r>
              <a:rPr lang="en-US" sz="1300" dirty="0">
                <a:solidFill>
                  <a:srgbClr val="C0392B"/>
                </a:solidFill>
              </a:rPr>
              <a:t>UE(dev) = 3 + p/(1−p)</a:t>
            </a:r>
            <a:endParaRPr lang="en-US" sz="1300" dirty="0"/>
          </a:p>
        </p:txBody>
      </p:sp>
      <p:sp>
        <p:nvSpPr>
          <p:cNvPr id="12" name="Shape 10"/>
          <p:cNvSpPr/>
          <p:nvPr/>
        </p:nvSpPr>
        <p:spPr>
          <a:xfrm>
            <a:off x="4754880" y="1828800"/>
            <a:ext cx="4069080" cy="3108960"/>
          </a:xfrm>
          <a:prstGeom prst="rect">
            <a:avLst/>
          </a:prstGeom>
          <a:solidFill>
            <a:srgbClr val="132235"/>
          </a:solidFill>
          <a:ln w="12700">
            <a:solidFill>
              <a:srgbClr val="F5A623"/>
            </a:solidFill>
            <a:prstDash val="solid"/>
          </a:ln>
        </p:spPr>
        <p:txBody>
          <a:bodyPr/>
          <a:lstStyle/>
          <a:p>
            <a:endParaRPr lang="es-AR"/>
          </a:p>
        </p:txBody>
      </p:sp>
      <p:sp>
        <p:nvSpPr>
          <p:cNvPr id="13" name="Text 11"/>
          <p:cNvSpPr/>
          <p:nvPr/>
        </p:nvSpPr>
        <p:spPr>
          <a:xfrm>
            <a:off x="4937760" y="1901952"/>
            <a:ext cx="3703320" cy="347472"/>
          </a:xfrm>
          <a:prstGeom prst="rect">
            <a:avLst/>
          </a:prstGeom>
          <a:noFill/>
          <a:ln/>
        </p:spPr>
        <p:txBody>
          <a:bodyPr wrap="square" lIns="0" tIns="0" rIns="0" bIns="0" rtlCol="0" anchor="ctr"/>
          <a:lstStyle/>
          <a:p>
            <a:pPr marL="0" indent="0">
              <a:buNone/>
            </a:pPr>
            <a:r>
              <a:rPr lang="en-US" sz="1200" b="1" dirty="0">
                <a:solidFill>
                  <a:srgbClr val="FFFFFF"/>
                </a:solidFill>
              </a:rPr>
              <a:t>CONDICIÓN PARA COOPERAR</a:t>
            </a:r>
            <a:endParaRPr lang="en-US" sz="1200" dirty="0"/>
          </a:p>
        </p:txBody>
      </p:sp>
      <p:sp>
        <p:nvSpPr>
          <p:cNvPr id="14" name="Text 12"/>
          <p:cNvSpPr/>
          <p:nvPr/>
        </p:nvSpPr>
        <p:spPr>
          <a:xfrm>
            <a:off x="4937760" y="2304288"/>
            <a:ext cx="3703320" cy="1828800"/>
          </a:xfrm>
          <a:prstGeom prst="rect">
            <a:avLst/>
          </a:prstGeom>
          <a:noFill/>
          <a:ln/>
        </p:spPr>
        <p:txBody>
          <a:bodyPr wrap="square" lIns="0" tIns="0" rIns="0" bIns="0" rtlCol="0" anchor="ctr"/>
          <a:lstStyle/>
          <a:p>
            <a:pPr marL="0" indent="0">
              <a:buNone/>
            </a:pPr>
            <a:r>
              <a:rPr lang="en-US" sz="1250" dirty="0">
                <a:solidFill>
                  <a:srgbClr val="C8D8E8"/>
                </a:solidFill>
              </a:rPr>
              <a:t>UE(coop) ≥ UE(dev)</a:t>
            </a:r>
            <a:endParaRPr lang="en-US" sz="1250" dirty="0"/>
          </a:p>
          <a:p>
            <a:pPr marL="0" indent="0">
              <a:buNone/>
            </a:pPr>
            <a:endParaRPr lang="en-US" sz="1250" dirty="0"/>
          </a:p>
          <a:p>
            <a:pPr marL="0" indent="0">
              <a:buNone/>
            </a:pPr>
            <a:r>
              <a:rPr lang="en-US" sz="1250" dirty="0">
                <a:solidFill>
                  <a:srgbClr val="C8D8E8"/>
                </a:solidFill>
              </a:rPr>
              <a:t>2/(1−p) ≥ 3 + p/(1−p)</a:t>
            </a:r>
            <a:endParaRPr lang="en-US" sz="1250" dirty="0"/>
          </a:p>
          <a:p>
            <a:pPr marL="0" indent="0">
              <a:buNone/>
            </a:pPr>
            <a:endParaRPr lang="en-US" sz="1250" dirty="0"/>
          </a:p>
          <a:p>
            <a:pPr marL="0" indent="0">
              <a:buNone/>
            </a:pPr>
            <a:r>
              <a:rPr lang="en-US" sz="1250" dirty="0">
                <a:solidFill>
                  <a:srgbClr val="C8D8E8"/>
                </a:solidFill>
              </a:rPr>
              <a:t>Resolviendo la desigualdad:</a:t>
            </a:r>
            <a:endParaRPr lang="en-US" sz="1250" dirty="0"/>
          </a:p>
          <a:p>
            <a:pPr marL="0" indent="0">
              <a:buNone/>
            </a:pPr>
            <a:endParaRPr lang="en-US" sz="1250" dirty="0"/>
          </a:p>
          <a:p>
            <a:pPr marL="0" indent="0">
              <a:buNone/>
            </a:pPr>
            <a:r>
              <a:rPr lang="en-US" sz="1250" dirty="0">
                <a:solidFill>
                  <a:srgbClr val="C8D8E8"/>
                </a:solidFill>
              </a:rPr>
              <a:t>2 ≥ 3(1−p) + p = 3 − 2p</a:t>
            </a:r>
            <a:endParaRPr lang="en-US" sz="1250" dirty="0"/>
          </a:p>
          <a:p>
            <a:pPr marL="0" indent="0">
              <a:buNone/>
            </a:pPr>
            <a:endParaRPr lang="en-US" sz="1250" dirty="0"/>
          </a:p>
          <a:p>
            <a:pPr marL="0" indent="0">
              <a:buNone/>
            </a:pPr>
            <a:r>
              <a:rPr lang="en-US" sz="1250" dirty="0">
                <a:solidFill>
                  <a:srgbClr val="C8D8E8"/>
                </a:solidFill>
              </a:rPr>
              <a:t>2p ≥ 1</a:t>
            </a:r>
            <a:endParaRPr lang="en-US" sz="1250" dirty="0"/>
          </a:p>
        </p:txBody>
      </p:sp>
      <p:sp>
        <p:nvSpPr>
          <p:cNvPr id="15" name="Shape 13"/>
          <p:cNvSpPr/>
          <p:nvPr/>
        </p:nvSpPr>
        <p:spPr>
          <a:xfrm>
            <a:off x="4754880" y="4206240"/>
            <a:ext cx="4069080" cy="621792"/>
          </a:xfrm>
          <a:prstGeom prst="rect">
            <a:avLst/>
          </a:prstGeom>
          <a:solidFill>
            <a:srgbClr val="0F7B6C"/>
          </a:solidFill>
          <a:ln w="12700">
            <a:solidFill>
              <a:srgbClr val="0F7B6C"/>
            </a:solidFill>
            <a:prstDash val="solid"/>
          </a:ln>
        </p:spPr>
        <p:txBody>
          <a:bodyPr/>
          <a:lstStyle/>
          <a:p>
            <a:endParaRPr lang="es-AR"/>
          </a:p>
        </p:txBody>
      </p:sp>
      <p:sp>
        <p:nvSpPr>
          <p:cNvPr id="16" name="Text 14"/>
          <p:cNvSpPr/>
          <p:nvPr/>
        </p:nvSpPr>
        <p:spPr>
          <a:xfrm>
            <a:off x="4937760" y="4251960"/>
            <a:ext cx="3703320" cy="512064"/>
          </a:xfrm>
          <a:prstGeom prst="rect">
            <a:avLst/>
          </a:prstGeom>
          <a:noFill/>
          <a:ln/>
        </p:spPr>
        <p:txBody>
          <a:bodyPr wrap="square" lIns="0" tIns="0" rIns="0" bIns="0" rtlCol="0" anchor="ctr"/>
          <a:lstStyle/>
          <a:p>
            <a:pPr marL="0" indent="0" algn="ctr">
              <a:buNone/>
            </a:pPr>
            <a:r>
              <a:rPr lang="en-US" sz="1400" b="1" dirty="0">
                <a:solidFill>
                  <a:srgbClr val="FFFFFF"/>
                </a:solidFill>
              </a:rPr>
              <a:t>→  p ≥ 1/2  (condición de cooperación)</a:t>
            </a:r>
            <a:endParaRPr lang="en-US" sz="1400" dirty="0"/>
          </a:p>
        </p:txBody>
      </p:sp>
      <p:sp>
        <p:nvSpPr>
          <p:cNvPr id="17" name="Text 15"/>
          <p:cNvSpPr/>
          <p:nvPr/>
        </p:nvSpPr>
        <p:spPr>
          <a:xfrm>
            <a:off x="320040" y="5047488"/>
            <a:ext cx="8503920" cy="0"/>
          </a:xfrm>
          <a:prstGeom prst="rect">
            <a:avLst/>
          </a:prstGeom>
          <a:noFill/>
          <a:ln/>
        </p:spPr>
        <p:txBody>
          <a:bodyPr wrap="square" rtlCol="0" anchor="ctr"/>
          <a:lstStyle/>
          <a:p>
            <a:pPr marL="0" indent="0">
              <a:buNone/>
            </a:pPr>
            <a:r>
              <a:rPr lang="en-US" sz="1100" i="1" dirty="0">
                <a:solidFill>
                  <a:srgbClr val="14A896"/>
                </a:solidFill>
              </a:rPr>
              <a:t>Conclusión: si la prob. de que el juego continúe es &gt; ½, el jugador prefiere cooperar.</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0">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Juego Repetido INFINITO — El Factor δ</a:t>
            </a:r>
            <a:endParaRPr lang="en-US" sz="2200" dirty="0"/>
          </a:p>
        </p:txBody>
      </p:sp>
      <p:sp>
        <p:nvSpPr>
          <p:cNvPr id="4" name="Shape 2"/>
          <p:cNvSpPr/>
          <p:nvPr/>
        </p:nvSpPr>
        <p:spPr>
          <a:xfrm>
            <a:off x="320040" y="960120"/>
            <a:ext cx="8503920" cy="685800"/>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300" i="1" dirty="0">
                <a:solidFill>
                  <a:srgbClr val="FFFFFF"/>
                </a:solidFill>
              </a:rPr>
              <a:t>El juego dura PARA SIEMPRE. Se abandona la Utilidad Esperada y se usa Valor Presente (VP). δ es la impaciencia del jugador, no una probabilidad.</a:t>
            </a:r>
            <a:endParaRPr lang="en-US" sz="1300" dirty="0"/>
          </a:p>
        </p:txBody>
      </p:sp>
      <p:sp>
        <p:nvSpPr>
          <p:cNvPr id="6" name="Shape 4"/>
          <p:cNvSpPr/>
          <p:nvPr/>
        </p:nvSpPr>
        <p:spPr>
          <a:xfrm>
            <a:off x="320040" y="1828800"/>
            <a:ext cx="8503920" cy="804672"/>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1892808"/>
            <a:ext cx="4114800" cy="320040"/>
          </a:xfrm>
          <a:prstGeom prst="rect">
            <a:avLst/>
          </a:prstGeom>
          <a:noFill/>
          <a:ln/>
        </p:spPr>
        <p:txBody>
          <a:bodyPr wrap="square" lIns="0" tIns="0" rIns="0" bIns="0" rtlCol="0" anchor="ctr"/>
          <a:lstStyle/>
          <a:p>
            <a:pPr marL="0" indent="0">
              <a:buNone/>
            </a:pPr>
            <a:r>
              <a:rPr lang="en-US" sz="1300" b="1" dirty="0">
                <a:solidFill>
                  <a:srgbClr val="FFFFFF"/>
                </a:solidFill>
              </a:rPr>
              <a:t>VP de Cooperar siempre</a:t>
            </a:r>
            <a:endParaRPr lang="en-US" sz="1300" dirty="0"/>
          </a:p>
        </p:txBody>
      </p:sp>
      <p:sp>
        <p:nvSpPr>
          <p:cNvPr id="8" name="Text 6"/>
          <p:cNvSpPr/>
          <p:nvPr/>
        </p:nvSpPr>
        <p:spPr>
          <a:xfrm>
            <a:off x="502920" y="2221992"/>
            <a:ext cx="8229600" cy="320040"/>
          </a:xfrm>
          <a:prstGeom prst="rect">
            <a:avLst/>
          </a:prstGeom>
          <a:noFill/>
          <a:ln/>
        </p:spPr>
        <p:txBody>
          <a:bodyPr wrap="square" lIns="0" tIns="0" rIns="0" bIns="0" rtlCol="0" anchor="ctr"/>
          <a:lstStyle/>
          <a:p>
            <a:pPr marL="0" indent="0">
              <a:buNone/>
            </a:pPr>
            <a:r>
              <a:rPr lang="en-US" sz="1400" b="1" dirty="0">
                <a:solidFill>
                  <a:srgbClr val="0F7B6C"/>
                </a:solidFill>
              </a:rPr>
              <a:t>2 + 2δ + 2δ² + ... = 2/(1−δ)</a:t>
            </a:r>
            <a:endParaRPr lang="en-US" sz="1400" dirty="0"/>
          </a:p>
        </p:txBody>
      </p:sp>
      <p:sp>
        <p:nvSpPr>
          <p:cNvPr id="9" name="Shape 7"/>
          <p:cNvSpPr/>
          <p:nvPr/>
        </p:nvSpPr>
        <p:spPr>
          <a:xfrm>
            <a:off x="320040" y="2788920"/>
            <a:ext cx="8503920" cy="804672"/>
          </a:xfrm>
          <a:prstGeom prst="rect">
            <a:avLst/>
          </a:prstGeom>
          <a:solidFill>
            <a:srgbClr val="132235"/>
          </a:solidFill>
          <a:ln w="12700">
            <a:solidFill>
              <a:srgbClr val="C0392B"/>
            </a:solidFill>
            <a:prstDash val="solid"/>
          </a:ln>
          <a:effectLst>
            <a:outerShdw blurRad="101600" dist="38100" dir="8100000" algn="bl" rotWithShape="0">
              <a:srgbClr val="000000">
                <a:alpha val="13000"/>
              </a:srgbClr>
            </a:outerShdw>
          </a:effectLst>
        </p:spPr>
        <p:txBody>
          <a:bodyPr/>
          <a:lstStyle/>
          <a:p>
            <a:endParaRPr lang="es-AR"/>
          </a:p>
        </p:txBody>
      </p:sp>
      <p:sp>
        <p:nvSpPr>
          <p:cNvPr id="10" name="Text 8"/>
          <p:cNvSpPr/>
          <p:nvPr/>
        </p:nvSpPr>
        <p:spPr>
          <a:xfrm>
            <a:off x="502920" y="2852928"/>
            <a:ext cx="4114800" cy="320040"/>
          </a:xfrm>
          <a:prstGeom prst="rect">
            <a:avLst/>
          </a:prstGeom>
          <a:noFill/>
          <a:ln/>
        </p:spPr>
        <p:txBody>
          <a:bodyPr wrap="square" lIns="0" tIns="0" rIns="0" bIns="0" rtlCol="0" anchor="ctr"/>
          <a:lstStyle/>
          <a:p>
            <a:pPr marL="0" indent="0">
              <a:buNone/>
            </a:pPr>
            <a:r>
              <a:rPr lang="en-US" sz="1300" b="1" dirty="0">
                <a:solidFill>
                  <a:srgbClr val="FFFFFF"/>
                </a:solidFill>
              </a:rPr>
              <a:t>VP de Desviarse (trampear hoy, castigo eterno)</a:t>
            </a:r>
            <a:endParaRPr lang="en-US" sz="1300" dirty="0"/>
          </a:p>
        </p:txBody>
      </p:sp>
      <p:sp>
        <p:nvSpPr>
          <p:cNvPr id="11" name="Text 9"/>
          <p:cNvSpPr/>
          <p:nvPr/>
        </p:nvSpPr>
        <p:spPr>
          <a:xfrm>
            <a:off x="502920" y="3182112"/>
            <a:ext cx="8229600" cy="320040"/>
          </a:xfrm>
          <a:prstGeom prst="rect">
            <a:avLst/>
          </a:prstGeom>
          <a:noFill/>
          <a:ln/>
        </p:spPr>
        <p:txBody>
          <a:bodyPr wrap="square" lIns="0" tIns="0" rIns="0" bIns="0" rtlCol="0" anchor="ctr"/>
          <a:lstStyle/>
          <a:p>
            <a:pPr marL="0" indent="0">
              <a:buNone/>
            </a:pPr>
            <a:r>
              <a:rPr lang="en-US" sz="1400" b="1" dirty="0">
                <a:solidFill>
                  <a:srgbClr val="C0392B"/>
                </a:solidFill>
              </a:rPr>
              <a:t>3 + δ/(1−δ)</a:t>
            </a:r>
            <a:endParaRPr lang="en-US" sz="1400" dirty="0"/>
          </a:p>
        </p:txBody>
      </p:sp>
      <p:sp>
        <p:nvSpPr>
          <p:cNvPr id="12" name="Shape 10"/>
          <p:cNvSpPr/>
          <p:nvPr/>
        </p:nvSpPr>
        <p:spPr>
          <a:xfrm>
            <a:off x="320040" y="3749040"/>
            <a:ext cx="8503920" cy="804672"/>
          </a:xfrm>
          <a:prstGeom prst="rect">
            <a:avLst/>
          </a:prstGeom>
          <a:solidFill>
            <a:srgbClr val="132235"/>
          </a:solidFill>
          <a:ln w="12700">
            <a:solidFill>
              <a:srgbClr val="F5A623"/>
            </a:solidFill>
            <a:prstDash val="solid"/>
          </a:ln>
          <a:effectLst>
            <a:outerShdw blurRad="101600" dist="38100" dir="8100000" algn="bl" rotWithShape="0">
              <a:srgbClr val="000000">
                <a:alpha val="13000"/>
              </a:srgbClr>
            </a:outerShdw>
          </a:effectLst>
        </p:spPr>
        <p:txBody>
          <a:bodyPr/>
          <a:lstStyle/>
          <a:p>
            <a:endParaRPr lang="es-AR"/>
          </a:p>
        </p:txBody>
      </p:sp>
      <p:sp>
        <p:nvSpPr>
          <p:cNvPr id="13" name="Text 11"/>
          <p:cNvSpPr/>
          <p:nvPr/>
        </p:nvSpPr>
        <p:spPr>
          <a:xfrm>
            <a:off x="502920" y="3813048"/>
            <a:ext cx="4114800" cy="320040"/>
          </a:xfrm>
          <a:prstGeom prst="rect">
            <a:avLst/>
          </a:prstGeom>
          <a:noFill/>
          <a:ln/>
        </p:spPr>
        <p:txBody>
          <a:bodyPr wrap="square" lIns="0" tIns="0" rIns="0" bIns="0" rtlCol="0" anchor="ctr"/>
          <a:lstStyle/>
          <a:p>
            <a:pPr marL="0" indent="0">
              <a:buNone/>
            </a:pPr>
            <a:r>
              <a:rPr lang="en-US" sz="1300" b="1" dirty="0">
                <a:solidFill>
                  <a:srgbClr val="FFFFFF"/>
                </a:solidFill>
              </a:rPr>
              <a:t>Condición: VP(coop) ≥ VP(dev)</a:t>
            </a:r>
            <a:endParaRPr lang="en-US" sz="1300" dirty="0"/>
          </a:p>
        </p:txBody>
      </p:sp>
      <p:sp>
        <p:nvSpPr>
          <p:cNvPr id="14" name="Text 12"/>
          <p:cNvSpPr/>
          <p:nvPr/>
        </p:nvSpPr>
        <p:spPr>
          <a:xfrm>
            <a:off x="502920" y="4142232"/>
            <a:ext cx="8229600" cy="320040"/>
          </a:xfrm>
          <a:prstGeom prst="rect">
            <a:avLst/>
          </a:prstGeom>
          <a:noFill/>
          <a:ln/>
        </p:spPr>
        <p:txBody>
          <a:bodyPr wrap="square" lIns="0" tIns="0" rIns="0" bIns="0" rtlCol="0" anchor="ctr"/>
          <a:lstStyle/>
          <a:p>
            <a:pPr marL="0" indent="0">
              <a:buNone/>
            </a:pPr>
            <a:r>
              <a:rPr lang="en-US" sz="1400" b="1" dirty="0">
                <a:solidFill>
                  <a:srgbClr val="F5A623"/>
                </a:solidFill>
              </a:rPr>
              <a:t>2/(1−δ) ≥ 3 + δ/(1−δ)  →  δ ≥ 1/2</a:t>
            </a:r>
            <a:endParaRPr lang="en-US" sz="1400" dirty="0"/>
          </a:p>
        </p:txBody>
      </p:sp>
      <p:sp>
        <p:nvSpPr>
          <p:cNvPr id="15" name="Shape 13"/>
          <p:cNvSpPr/>
          <p:nvPr/>
        </p:nvSpPr>
        <p:spPr>
          <a:xfrm>
            <a:off x="320040" y="4754880"/>
            <a:ext cx="8503920" cy="320040"/>
          </a:xfrm>
          <a:prstGeom prst="rect">
            <a:avLst/>
          </a:prstGeom>
          <a:solidFill>
            <a:srgbClr val="162840"/>
          </a:solidFill>
          <a:ln w="12700">
            <a:solidFill>
              <a:srgbClr val="14A896"/>
            </a:solidFill>
            <a:prstDash val="solid"/>
          </a:ln>
        </p:spPr>
        <p:txBody>
          <a:bodyPr/>
          <a:lstStyle/>
          <a:p>
            <a:endParaRPr lang="es-AR"/>
          </a:p>
        </p:txBody>
      </p:sp>
      <p:sp>
        <p:nvSpPr>
          <p:cNvPr id="16" name="Text 14"/>
          <p:cNvSpPr/>
          <p:nvPr/>
        </p:nvSpPr>
        <p:spPr>
          <a:xfrm>
            <a:off x="502920" y="4773168"/>
            <a:ext cx="8138160" cy="274320"/>
          </a:xfrm>
          <a:prstGeom prst="rect">
            <a:avLst/>
          </a:prstGeom>
          <a:noFill/>
          <a:ln/>
        </p:spPr>
        <p:txBody>
          <a:bodyPr wrap="square" lIns="0" tIns="0" rIns="0" bIns="0" rtlCol="0" anchor="ctr"/>
          <a:lstStyle/>
          <a:p>
            <a:pPr marL="0" indent="0">
              <a:buNone/>
            </a:pPr>
            <a:r>
              <a:rPr lang="en-US" sz="1050" i="1" dirty="0">
                <a:solidFill>
                  <a:srgbClr val="A8C0D0"/>
                </a:solidFill>
              </a:rPr>
              <a:t>ANALOGÍA: δ se comporta matemáticamente igual que p, pero conceptualmente son distintos. p = probabilidad de continuación. δ = preferencia temporal (paciencia).</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0060" y="377190"/>
            <a:ext cx="4114800" cy="205740"/>
          </a:xfrm>
          <a:prstGeom prst="rect">
            <a:avLst/>
          </a:prstGeom>
          <a:noFill/>
          <a:ln/>
        </p:spPr>
        <p:txBody>
          <a:bodyPr wrap="square" lIns="0" tIns="0" rIns="0" bIns="0" rtlCol="0" anchor="ctr"/>
          <a:lstStyle/>
          <a:p>
            <a:r>
              <a:rPr lang="en-US" sz="750" b="1" kern="0" spc="300" dirty="0">
                <a:solidFill>
                  <a:srgbClr val="C2410C"/>
                </a:solidFill>
                <a:latin typeface="Calibri" pitchFamily="34" charset="0"/>
                <a:ea typeface="Calibri" pitchFamily="34" charset="-122"/>
                <a:cs typeface="Calibri" pitchFamily="34" charset="-120"/>
              </a:rPr>
              <a:t>JUEGOS REPETIDOS</a:t>
            </a:r>
            <a:endParaRPr lang="en-US" sz="750" dirty="0"/>
          </a:p>
        </p:txBody>
      </p:sp>
      <p:sp>
        <p:nvSpPr>
          <p:cNvPr id="3" name="Text 1"/>
          <p:cNvSpPr/>
          <p:nvPr/>
        </p:nvSpPr>
        <p:spPr>
          <a:xfrm>
            <a:off x="480060" y="582930"/>
            <a:ext cx="5486400" cy="480060"/>
          </a:xfrm>
          <a:prstGeom prst="rect">
            <a:avLst/>
          </a:prstGeom>
          <a:noFill/>
          <a:ln/>
        </p:spPr>
        <p:txBody>
          <a:bodyPr wrap="square" lIns="0" tIns="0" rIns="0" bIns="0" rtlCol="0" anchor="ctr"/>
          <a:lstStyle/>
          <a:p>
            <a:r>
              <a:rPr lang="en-US" sz="2550" dirty="0">
                <a:solidFill>
                  <a:srgbClr val="1A1A1A"/>
                </a:solidFill>
                <a:latin typeface="Georgia" pitchFamily="34" charset="0"/>
                <a:ea typeface="Georgia" pitchFamily="34" charset="-122"/>
                <a:cs typeface="Georgia" pitchFamily="34" charset="-120"/>
              </a:rPr>
              <a:t>Estrategia trigger</a:t>
            </a:r>
            <a:endParaRPr lang="en-US" sz="2550" dirty="0"/>
          </a:p>
        </p:txBody>
      </p:sp>
      <p:sp>
        <p:nvSpPr>
          <p:cNvPr id="4" name="Text 2"/>
          <p:cNvSpPr/>
          <p:nvPr/>
        </p:nvSpPr>
        <p:spPr>
          <a:xfrm>
            <a:off x="480060" y="1028700"/>
            <a:ext cx="6858000" cy="274320"/>
          </a:xfrm>
          <a:prstGeom prst="rect">
            <a:avLst/>
          </a:prstGeom>
          <a:noFill/>
          <a:ln/>
        </p:spPr>
        <p:txBody>
          <a:bodyPr wrap="square" lIns="0" tIns="0" rIns="0" bIns="0" rtlCol="0" anchor="ctr"/>
          <a:lstStyle/>
          <a:p>
            <a:r>
              <a:rPr lang="en-US" sz="1050" i="1" dirty="0">
                <a:solidFill>
                  <a:srgbClr val="6B7280"/>
                </a:solidFill>
                <a:latin typeface="Calibri" pitchFamily="34" charset="0"/>
                <a:ea typeface="Calibri" pitchFamily="34" charset="-122"/>
                <a:cs typeface="Calibri" pitchFamily="34" charset="-120"/>
              </a:rPr>
              <a:t>Dos modos de jugar, una amenaza que los sostiene</a:t>
            </a:r>
            <a:endParaRPr lang="en-US" sz="1050" dirty="0"/>
          </a:p>
        </p:txBody>
      </p:sp>
      <p:sp>
        <p:nvSpPr>
          <p:cNvPr id="5" name="Shape 3"/>
          <p:cNvSpPr/>
          <p:nvPr/>
        </p:nvSpPr>
        <p:spPr>
          <a:xfrm>
            <a:off x="480060" y="1543050"/>
            <a:ext cx="4011930" cy="1474470"/>
          </a:xfrm>
          <a:prstGeom prst="rect">
            <a:avLst/>
          </a:prstGeom>
          <a:solidFill>
            <a:srgbClr val="F8F5F2"/>
          </a:solidFill>
          <a:ln/>
        </p:spPr>
        <p:txBody>
          <a:bodyPr/>
          <a:lstStyle/>
          <a:p>
            <a:endParaRPr lang="es-AR" sz="1350"/>
          </a:p>
        </p:txBody>
      </p:sp>
      <p:sp>
        <p:nvSpPr>
          <p:cNvPr id="6" name="Shape 4"/>
          <p:cNvSpPr/>
          <p:nvPr/>
        </p:nvSpPr>
        <p:spPr>
          <a:xfrm>
            <a:off x="480060" y="1543050"/>
            <a:ext cx="41148" cy="1474470"/>
          </a:xfrm>
          <a:prstGeom prst="rect">
            <a:avLst/>
          </a:prstGeom>
          <a:solidFill>
            <a:srgbClr val="C2410C"/>
          </a:solidFill>
          <a:ln/>
        </p:spPr>
        <p:txBody>
          <a:bodyPr/>
          <a:lstStyle/>
          <a:p>
            <a:endParaRPr lang="es-AR" sz="1350"/>
          </a:p>
        </p:txBody>
      </p:sp>
      <p:sp>
        <p:nvSpPr>
          <p:cNvPr id="7" name="Text 5"/>
          <p:cNvSpPr/>
          <p:nvPr/>
        </p:nvSpPr>
        <p:spPr>
          <a:xfrm>
            <a:off x="788670" y="1748790"/>
            <a:ext cx="685800" cy="240030"/>
          </a:xfrm>
          <a:prstGeom prst="rect">
            <a:avLst/>
          </a:prstGeom>
          <a:noFill/>
          <a:ln/>
        </p:spPr>
        <p:txBody>
          <a:bodyPr wrap="square" lIns="0" tIns="0" rIns="0" bIns="0" rtlCol="0" anchor="ctr"/>
          <a:lstStyle/>
          <a:p>
            <a:r>
              <a:rPr lang="en-US" sz="975" i="1" dirty="0">
                <a:solidFill>
                  <a:srgbClr val="C2410C"/>
                </a:solidFill>
                <a:latin typeface="Georgia" pitchFamily="34" charset="0"/>
                <a:ea typeface="Georgia" pitchFamily="34" charset="-122"/>
                <a:cs typeface="Georgia" pitchFamily="34" charset="-120"/>
              </a:rPr>
              <a:t>01</a:t>
            </a:r>
            <a:endParaRPr lang="en-US" sz="975" dirty="0"/>
          </a:p>
        </p:txBody>
      </p:sp>
      <p:sp>
        <p:nvSpPr>
          <p:cNvPr id="8" name="Text 6"/>
          <p:cNvSpPr/>
          <p:nvPr/>
        </p:nvSpPr>
        <p:spPr>
          <a:xfrm>
            <a:off x="788670" y="1954530"/>
            <a:ext cx="3429000" cy="377190"/>
          </a:xfrm>
          <a:prstGeom prst="rect">
            <a:avLst/>
          </a:prstGeom>
          <a:noFill/>
          <a:ln/>
        </p:spPr>
        <p:txBody>
          <a:bodyPr wrap="square" lIns="0" tIns="0" rIns="0" bIns="0" rtlCol="0" anchor="ctr"/>
          <a:lstStyle/>
          <a:p>
            <a:r>
              <a:rPr lang="en-US" sz="1950" dirty="0">
                <a:solidFill>
                  <a:srgbClr val="1A1A1A"/>
                </a:solidFill>
                <a:latin typeface="Georgia" pitchFamily="34" charset="0"/>
                <a:ea typeface="Georgia" pitchFamily="34" charset="-122"/>
                <a:cs typeface="Georgia" pitchFamily="34" charset="-120"/>
              </a:rPr>
              <a:t>Cooperar</a:t>
            </a:r>
            <a:endParaRPr lang="en-US" sz="1950" dirty="0"/>
          </a:p>
        </p:txBody>
      </p:sp>
      <p:sp>
        <p:nvSpPr>
          <p:cNvPr id="9" name="Text 7"/>
          <p:cNvSpPr/>
          <p:nvPr/>
        </p:nvSpPr>
        <p:spPr>
          <a:xfrm>
            <a:off x="788670" y="2400300"/>
            <a:ext cx="3531870" cy="582930"/>
          </a:xfrm>
          <a:prstGeom prst="rect">
            <a:avLst/>
          </a:prstGeom>
          <a:noFill/>
          <a:ln/>
        </p:spPr>
        <p:txBody>
          <a:bodyPr wrap="square" lIns="0" tIns="0" rIns="0" bIns="0" rtlCol="0" anchor="ctr"/>
          <a:lstStyle/>
          <a:p>
            <a:pPr>
              <a:lnSpc>
                <a:spcPct val="125000"/>
              </a:lnSpc>
            </a:pPr>
            <a:r>
              <a:rPr lang="en-US" sz="1050" dirty="0">
                <a:solidFill>
                  <a:srgbClr val="1A1A1A"/>
                </a:solidFill>
                <a:latin typeface="Calibri" pitchFamily="34" charset="0"/>
                <a:ea typeface="Calibri" pitchFamily="34" charset="-122"/>
                <a:cs typeface="Calibri" pitchFamily="34" charset="-120"/>
              </a:rPr>
              <a:t>Jugar el </a:t>
            </a:r>
            <a:r>
              <a:rPr lang="en-US" sz="1050" b="1" dirty="0">
                <a:solidFill>
                  <a:srgbClr val="1A1A1A"/>
                </a:solidFill>
                <a:latin typeface="Calibri" pitchFamily="34" charset="0"/>
                <a:ea typeface="Calibri" pitchFamily="34" charset="-122"/>
                <a:cs typeface="Calibri" pitchFamily="34" charset="-120"/>
              </a:rPr>
              <a:t>óptimo de Pareto</a:t>
            </a:r>
            <a:r>
              <a:rPr lang="en-US" sz="1050" dirty="0">
                <a:solidFill>
                  <a:srgbClr val="1A1A1A"/>
                </a:solidFill>
                <a:latin typeface="Calibri" pitchFamily="34" charset="0"/>
                <a:ea typeface="Calibri" pitchFamily="34" charset="-122"/>
                <a:cs typeface="Calibri" pitchFamily="34" charset="-120"/>
              </a:rPr>
              <a:t> — el acuerdo eficiente que ambos jugadores preferirían sostener.</a:t>
            </a:r>
            <a:endParaRPr lang="en-US" sz="1050" dirty="0"/>
          </a:p>
        </p:txBody>
      </p:sp>
      <p:sp>
        <p:nvSpPr>
          <p:cNvPr id="10" name="Shape 8"/>
          <p:cNvSpPr/>
          <p:nvPr/>
        </p:nvSpPr>
        <p:spPr>
          <a:xfrm>
            <a:off x="4697730" y="1543050"/>
            <a:ext cx="4011930" cy="1474470"/>
          </a:xfrm>
          <a:prstGeom prst="rect">
            <a:avLst/>
          </a:prstGeom>
          <a:solidFill>
            <a:srgbClr val="F4F4F5"/>
          </a:solidFill>
          <a:ln/>
        </p:spPr>
        <p:txBody>
          <a:bodyPr/>
          <a:lstStyle/>
          <a:p>
            <a:endParaRPr lang="es-AR" sz="1350"/>
          </a:p>
        </p:txBody>
      </p:sp>
      <p:sp>
        <p:nvSpPr>
          <p:cNvPr id="11" name="Shape 9"/>
          <p:cNvSpPr/>
          <p:nvPr/>
        </p:nvSpPr>
        <p:spPr>
          <a:xfrm>
            <a:off x="4697730" y="1543050"/>
            <a:ext cx="41148" cy="1474470"/>
          </a:xfrm>
          <a:prstGeom prst="rect">
            <a:avLst/>
          </a:prstGeom>
          <a:solidFill>
            <a:srgbClr val="1A1A1A"/>
          </a:solidFill>
          <a:ln/>
        </p:spPr>
        <p:txBody>
          <a:bodyPr/>
          <a:lstStyle/>
          <a:p>
            <a:endParaRPr lang="es-AR" sz="1350"/>
          </a:p>
        </p:txBody>
      </p:sp>
      <p:sp>
        <p:nvSpPr>
          <p:cNvPr id="12" name="Text 10"/>
          <p:cNvSpPr/>
          <p:nvPr/>
        </p:nvSpPr>
        <p:spPr>
          <a:xfrm>
            <a:off x="5006340" y="1748790"/>
            <a:ext cx="685800" cy="240030"/>
          </a:xfrm>
          <a:prstGeom prst="rect">
            <a:avLst/>
          </a:prstGeom>
          <a:noFill/>
          <a:ln/>
        </p:spPr>
        <p:txBody>
          <a:bodyPr wrap="square" lIns="0" tIns="0" rIns="0" bIns="0" rtlCol="0" anchor="ctr"/>
          <a:lstStyle/>
          <a:p>
            <a:r>
              <a:rPr lang="en-US" sz="975" i="1" dirty="0">
                <a:solidFill>
                  <a:srgbClr val="1A1A1A"/>
                </a:solidFill>
                <a:latin typeface="Georgia" pitchFamily="34" charset="0"/>
                <a:ea typeface="Georgia" pitchFamily="34" charset="-122"/>
                <a:cs typeface="Georgia" pitchFamily="34" charset="-120"/>
              </a:rPr>
              <a:t>02</a:t>
            </a:r>
            <a:endParaRPr lang="en-US" sz="975" dirty="0"/>
          </a:p>
        </p:txBody>
      </p:sp>
      <p:sp>
        <p:nvSpPr>
          <p:cNvPr id="13" name="Text 11"/>
          <p:cNvSpPr/>
          <p:nvPr/>
        </p:nvSpPr>
        <p:spPr>
          <a:xfrm>
            <a:off x="5006340" y="1954530"/>
            <a:ext cx="3771900" cy="377190"/>
          </a:xfrm>
          <a:prstGeom prst="rect">
            <a:avLst/>
          </a:prstGeom>
          <a:noFill/>
          <a:ln/>
        </p:spPr>
        <p:txBody>
          <a:bodyPr wrap="square" lIns="0" tIns="0" rIns="0" bIns="0" rtlCol="0" anchor="ctr"/>
          <a:lstStyle/>
          <a:p>
            <a:r>
              <a:rPr lang="en-US" sz="1950" dirty="0">
                <a:solidFill>
                  <a:srgbClr val="1A1A1A"/>
                </a:solidFill>
                <a:latin typeface="Georgia" pitchFamily="34" charset="0"/>
                <a:ea typeface="Georgia" pitchFamily="34" charset="-122"/>
                <a:cs typeface="Georgia" pitchFamily="34" charset="-120"/>
              </a:rPr>
              <a:t>No cooperar  /  castigo</a:t>
            </a:r>
            <a:endParaRPr lang="en-US" sz="1950" dirty="0"/>
          </a:p>
        </p:txBody>
      </p:sp>
      <p:sp>
        <p:nvSpPr>
          <p:cNvPr id="14" name="Text 12"/>
          <p:cNvSpPr/>
          <p:nvPr/>
        </p:nvSpPr>
        <p:spPr>
          <a:xfrm>
            <a:off x="5006340" y="2400300"/>
            <a:ext cx="3531870" cy="582930"/>
          </a:xfrm>
          <a:prstGeom prst="rect">
            <a:avLst/>
          </a:prstGeom>
          <a:noFill/>
          <a:ln/>
        </p:spPr>
        <p:txBody>
          <a:bodyPr wrap="square" lIns="0" tIns="0" rIns="0" bIns="0" rtlCol="0" anchor="ctr"/>
          <a:lstStyle/>
          <a:p>
            <a:pPr>
              <a:lnSpc>
                <a:spcPct val="125000"/>
              </a:lnSpc>
            </a:pPr>
            <a:r>
              <a:rPr lang="en-US" sz="1050" dirty="0">
                <a:solidFill>
                  <a:srgbClr val="1A1A1A"/>
                </a:solidFill>
                <a:latin typeface="Calibri" pitchFamily="34" charset="0"/>
                <a:ea typeface="Calibri" pitchFamily="34" charset="-122"/>
                <a:cs typeface="Calibri" pitchFamily="34" charset="-120"/>
              </a:rPr>
              <a:t>Jugar el </a:t>
            </a:r>
            <a:r>
              <a:rPr lang="en-US" sz="1050" b="1" dirty="0">
                <a:solidFill>
                  <a:srgbClr val="1A1A1A"/>
                </a:solidFill>
                <a:latin typeface="Calibri" pitchFamily="34" charset="0"/>
                <a:ea typeface="Calibri" pitchFamily="34" charset="-122"/>
                <a:cs typeface="Calibri" pitchFamily="34" charset="-120"/>
              </a:rPr>
              <a:t>equilibrio de Nash</a:t>
            </a:r>
            <a:r>
              <a:rPr lang="en-US" sz="1050" dirty="0">
                <a:solidFill>
                  <a:srgbClr val="1A1A1A"/>
                </a:solidFill>
                <a:latin typeface="Calibri" pitchFamily="34" charset="0"/>
                <a:ea typeface="Calibri" pitchFamily="34" charset="-122"/>
                <a:cs typeface="Calibri" pitchFamily="34" charset="-120"/>
              </a:rPr>
              <a:t> del juego estático — lo que ocurriría sin acuerdo.</a:t>
            </a:r>
            <a:endParaRPr lang="en-US" sz="1050" dirty="0"/>
          </a:p>
        </p:txBody>
      </p:sp>
      <p:sp>
        <p:nvSpPr>
          <p:cNvPr id="15" name="Text 13"/>
          <p:cNvSpPr/>
          <p:nvPr/>
        </p:nvSpPr>
        <p:spPr>
          <a:xfrm>
            <a:off x="480060" y="3326130"/>
            <a:ext cx="3429000" cy="205740"/>
          </a:xfrm>
          <a:prstGeom prst="rect">
            <a:avLst/>
          </a:prstGeom>
          <a:noFill/>
          <a:ln/>
        </p:spPr>
        <p:txBody>
          <a:bodyPr wrap="square" lIns="0" tIns="0" rIns="0" bIns="0" rtlCol="0" anchor="ctr"/>
          <a:lstStyle/>
          <a:p>
            <a:r>
              <a:rPr lang="en-US" sz="750" b="1" kern="0" spc="300" dirty="0">
                <a:solidFill>
                  <a:srgbClr val="C2410C"/>
                </a:solidFill>
                <a:latin typeface="Calibri" pitchFamily="34" charset="0"/>
                <a:ea typeface="Calibri" pitchFamily="34" charset="-122"/>
                <a:cs typeface="Calibri" pitchFamily="34" charset="-120"/>
              </a:rPr>
              <a:t>LA LÓGICA DEL TRIGGER</a:t>
            </a:r>
            <a:endParaRPr lang="en-US" sz="750" dirty="0"/>
          </a:p>
        </p:txBody>
      </p:sp>
      <p:sp>
        <p:nvSpPr>
          <p:cNvPr id="16" name="Text 14"/>
          <p:cNvSpPr/>
          <p:nvPr/>
        </p:nvSpPr>
        <p:spPr>
          <a:xfrm>
            <a:off x="480060" y="3566160"/>
            <a:ext cx="8161020" cy="822960"/>
          </a:xfrm>
          <a:prstGeom prst="rect">
            <a:avLst/>
          </a:prstGeom>
          <a:noFill/>
          <a:ln/>
        </p:spPr>
        <p:txBody>
          <a:bodyPr wrap="square" lIns="0" tIns="0" rIns="0" bIns="0" rtlCol="0" anchor="t"/>
          <a:lstStyle/>
          <a:p>
            <a:pPr>
              <a:lnSpc>
                <a:spcPct val="120000"/>
              </a:lnSpc>
            </a:pPr>
            <a:r>
              <a:rPr lang="en-US" sz="1650" i="1" dirty="0">
                <a:solidFill>
                  <a:srgbClr val="1A1A1A"/>
                </a:solidFill>
                <a:latin typeface="Georgia" pitchFamily="34" charset="0"/>
                <a:ea typeface="Georgia" pitchFamily="34" charset="-122"/>
                <a:cs typeface="Georgia" pitchFamily="34" charset="-120"/>
              </a:rPr>
              <a:t>“Si cooperás, nos quedamos en el Pareto;
si te desviás, caemos al Nash </a:t>
            </a:r>
            <a:r>
              <a:rPr lang="en-US" sz="1650" i="1" dirty="0">
                <a:solidFill>
                  <a:srgbClr val="C2410C"/>
                </a:solidFill>
                <a:latin typeface="Georgia" pitchFamily="34" charset="0"/>
                <a:ea typeface="Georgia" pitchFamily="34" charset="-122"/>
                <a:cs typeface="Georgia" pitchFamily="34" charset="-120"/>
              </a:rPr>
              <a:t>para siempre</a:t>
            </a:r>
            <a:r>
              <a:rPr lang="en-US" sz="1650" i="1" dirty="0">
                <a:solidFill>
                  <a:srgbClr val="1A1A1A"/>
                </a:solidFill>
                <a:latin typeface="Georgia" pitchFamily="34" charset="0"/>
                <a:ea typeface="Georgia" pitchFamily="34" charset="-122"/>
                <a:cs typeface="Georgia" pitchFamily="34" charset="-120"/>
              </a:rPr>
              <a:t>.”</a:t>
            </a:r>
            <a:endParaRPr lang="en-US" sz="1650" dirty="0"/>
          </a:p>
        </p:txBody>
      </p:sp>
      <p:sp>
        <p:nvSpPr>
          <p:cNvPr id="17" name="Text 15"/>
          <p:cNvSpPr/>
          <p:nvPr/>
        </p:nvSpPr>
        <p:spPr>
          <a:xfrm>
            <a:off x="480060" y="4457700"/>
            <a:ext cx="8161020" cy="240030"/>
          </a:xfrm>
          <a:prstGeom prst="rect">
            <a:avLst/>
          </a:prstGeom>
          <a:noFill/>
          <a:ln/>
        </p:spPr>
        <p:txBody>
          <a:bodyPr wrap="square" lIns="0" tIns="0" rIns="0" bIns="0" rtlCol="0" anchor="ctr"/>
          <a:lstStyle/>
          <a:p>
            <a:r>
              <a:rPr lang="en-US" sz="975" dirty="0">
                <a:solidFill>
                  <a:srgbClr val="6B7280"/>
                </a:solidFill>
                <a:latin typeface="Calibri" pitchFamily="34" charset="0"/>
                <a:ea typeface="Calibri" pitchFamily="34" charset="-122"/>
                <a:cs typeface="Calibri" pitchFamily="34" charset="-120"/>
              </a:rPr>
              <a:t>Esa amenaza es lo que hace sostenible el acuerdo.</a:t>
            </a:r>
            <a:endParaRPr lang="en-US" sz="9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0060" y="308610"/>
            <a:ext cx="4114800" cy="205740"/>
          </a:xfrm>
          <a:prstGeom prst="rect">
            <a:avLst/>
          </a:prstGeom>
          <a:noFill/>
          <a:ln/>
        </p:spPr>
        <p:txBody>
          <a:bodyPr wrap="square" lIns="0" tIns="0" rIns="0" bIns="0" rtlCol="0" anchor="ctr"/>
          <a:lstStyle/>
          <a:p>
            <a:r>
              <a:rPr lang="en-US" sz="750" b="1" kern="0" spc="300" dirty="0">
                <a:solidFill>
                  <a:srgbClr val="C2410C"/>
                </a:solidFill>
                <a:latin typeface="Calibri" pitchFamily="34" charset="0"/>
                <a:ea typeface="Calibri" pitchFamily="34" charset="-122"/>
                <a:cs typeface="Calibri" pitchFamily="34" charset="-120"/>
              </a:rPr>
              <a:t>JUEGOS REPETIDOS</a:t>
            </a:r>
            <a:endParaRPr lang="en-US" sz="750" dirty="0"/>
          </a:p>
        </p:txBody>
      </p:sp>
      <p:sp>
        <p:nvSpPr>
          <p:cNvPr id="3" name="Text 1"/>
          <p:cNvSpPr/>
          <p:nvPr/>
        </p:nvSpPr>
        <p:spPr>
          <a:xfrm>
            <a:off x="480060" y="514350"/>
            <a:ext cx="8229600" cy="480060"/>
          </a:xfrm>
          <a:prstGeom prst="rect">
            <a:avLst/>
          </a:prstGeom>
          <a:noFill/>
          <a:ln/>
        </p:spPr>
        <p:txBody>
          <a:bodyPr wrap="square" lIns="0" tIns="0" rIns="0" bIns="0" rtlCol="0" anchor="ctr"/>
          <a:lstStyle/>
          <a:p>
            <a:r>
              <a:rPr lang="en-US" sz="2400" dirty="0">
                <a:solidFill>
                  <a:srgbClr val="1A1A1A"/>
                </a:solidFill>
                <a:latin typeface="Georgia" pitchFamily="34" charset="0"/>
                <a:ea typeface="Georgia" pitchFamily="34" charset="-122"/>
                <a:cs typeface="Georgia" pitchFamily="34" charset="-120"/>
              </a:rPr>
              <a:t>Paciencia y la tasa de descuento  δ</a:t>
            </a:r>
            <a:endParaRPr lang="en-US" sz="2400" dirty="0"/>
          </a:p>
        </p:txBody>
      </p:sp>
      <p:sp>
        <p:nvSpPr>
          <p:cNvPr id="4" name="Text 2"/>
          <p:cNvSpPr/>
          <p:nvPr/>
        </p:nvSpPr>
        <p:spPr>
          <a:xfrm>
            <a:off x="480060" y="960120"/>
            <a:ext cx="8229600" cy="274320"/>
          </a:xfrm>
          <a:prstGeom prst="rect">
            <a:avLst/>
          </a:prstGeom>
          <a:noFill/>
          <a:ln/>
        </p:spPr>
        <p:txBody>
          <a:bodyPr wrap="square" lIns="0" tIns="0" rIns="0" bIns="0" rtlCol="0" anchor="ctr"/>
          <a:lstStyle/>
          <a:p>
            <a:r>
              <a:rPr lang="en-US" sz="1050" i="1" dirty="0">
                <a:solidFill>
                  <a:srgbClr val="6B7280"/>
                </a:solidFill>
                <a:latin typeface="Calibri" pitchFamily="34" charset="0"/>
                <a:ea typeface="Calibri" pitchFamily="34" charset="-122"/>
                <a:cs typeface="Calibri" pitchFamily="34" charset="-120"/>
              </a:rPr>
              <a:t>δ refleja cuánto valorás </a:t>
            </a:r>
            <a:r>
              <a:rPr lang="en-US" sz="1050" b="1" i="1" dirty="0">
                <a:solidFill>
                  <a:srgbClr val="1A1A1A"/>
                </a:solidFill>
                <a:latin typeface="Calibri" pitchFamily="34" charset="0"/>
                <a:ea typeface="Calibri" pitchFamily="34" charset="-122"/>
                <a:cs typeface="Calibri" pitchFamily="34" charset="-120"/>
              </a:rPr>
              <a:t>hoy</a:t>
            </a:r>
            <a:r>
              <a:rPr lang="en-US" sz="1050" i="1" dirty="0">
                <a:solidFill>
                  <a:srgbClr val="6B7280"/>
                </a:solidFill>
                <a:latin typeface="Calibri" pitchFamily="34" charset="0"/>
                <a:ea typeface="Calibri" pitchFamily="34" charset="-122"/>
                <a:cs typeface="Calibri" pitchFamily="34" charset="-120"/>
              </a:rPr>
              <a:t>  versus  </a:t>
            </a:r>
            <a:r>
              <a:rPr lang="en-US" sz="1050" b="1" i="1" dirty="0">
                <a:solidFill>
                  <a:srgbClr val="1A1A1A"/>
                </a:solidFill>
                <a:latin typeface="Calibri" pitchFamily="34" charset="0"/>
                <a:ea typeface="Calibri" pitchFamily="34" charset="-122"/>
                <a:cs typeface="Calibri" pitchFamily="34" charset="-120"/>
              </a:rPr>
              <a:t>mañana</a:t>
            </a:r>
            <a:r>
              <a:rPr lang="en-US" sz="1050" i="1" dirty="0">
                <a:solidFill>
                  <a:srgbClr val="6B7280"/>
                </a:solidFill>
                <a:latin typeface="Calibri" pitchFamily="34" charset="0"/>
                <a:ea typeface="Calibri" pitchFamily="34" charset="-122"/>
                <a:cs typeface="Calibri" pitchFamily="34" charset="-120"/>
              </a:rPr>
              <a:t>.</a:t>
            </a:r>
            <a:endParaRPr lang="en-US" sz="1050" dirty="0"/>
          </a:p>
        </p:txBody>
      </p:sp>
      <p:sp>
        <p:nvSpPr>
          <p:cNvPr id="5" name="Shape 3"/>
          <p:cNvSpPr/>
          <p:nvPr/>
        </p:nvSpPr>
        <p:spPr>
          <a:xfrm>
            <a:off x="822960" y="1611630"/>
            <a:ext cx="7475220" cy="0"/>
          </a:xfrm>
          <a:prstGeom prst="line">
            <a:avLst/>
          </a:prstGeom>
          <a:noFill/>
          <a:ln w="12700">
            <a:solidFill>
              <a:srgbClr val="9CA3AF"/>
            </a:solidFill>
            <a:prstDash val="solid"/>
          </a:ln>
        </p:spPr>
        <p:txBody>
          <a:bodyPr/>
          <a:lstStyle/>
          <a:p>
            <a:endParaRPr lang="es-AR" sz="1350"/>
          </a:p>
        </p:txBody>
      </p:sp>
      <p:sp>
        <p:nvSpPr>
          <p:cNvPr id="6" name="Shape 4"/>
          <p:cNvSpPr/>
          <p:nvPr/>
        </p:nvSpPr>
        <p:spPr>
          <a:xfrm>
            <a:off x="761238" y="1549908"/>
            <a:ext cx="123444" cy="123444"/>
          </a:xfrm>
          <a:prstGeom prst="ellipse">
            <a:avLst/>
          </a:prstGeom>
          <a:solidFill>
            <a:srgbClr val="9A3412"/>
          </a:solidFill>
          <a:ln/>
        </p:spPr>
        <p:txBody>
          <a:bodyPr/>
          <a:lstStyle/>
          <a:p>
            <a:endParaRPr lang="es-AR" sz="1350"/>
          </a:p>
        </p:txBody>
      </p:sp>
      <p:sp>
        <p:nvSpPr>
          <p:cNvPr id="7" name="Shape 5"/>
          <p:cNvSpPr/>
          <p:nvPr/>
        </p:nvSpPr>
        <p:spPr>
          <a:xfrm>
            <a:off x="8236458" y="1549908"/>
            <a:ext cx="123444" cy="123444"/>
          </a:xfrm>
          <a:prstGeom prst="ellipse">
            <a:avLst/>
          </a:prstGeom>
          <a:solidFill>
            <a:srgbClr val="065F46"/>
          </a:solidFill>
          <a:ln/>
        </p:spPr>
        <p:txBody>
          <a:bodyPr/>
          <a:lstStyle/>
          <a:p>
            <a:endParaRPr lang="es-AR" sz="1350"/>
          </a:p>
        </p:txBody>
      </p:sp>
      <p:sp>
        <p:nvSpPr>
          <p:cNvPr id="8" name="Text 6"/>
          <p:cNvSpPr/>
          <p:nvPr/>
        </p:nvSpPr>
        <p:spPr>
          <a:xfrm>
            <a:off x="274320" y="1323594"/>
            <a:ext cx="1097280" cy="205740"/>
          </a:xfrm>
          <a:prstGeom prst="rect">
            <a:avLst/>
          </a:prstGeom>
          <a:noFill/>
          <a:ln/>
        </p:spPr>
        <p:txBody>
          <a:bodyPr wrap="square" lIns="0" tIns="0" rIns="0" bIns="0" rtlCol="0" anchor="ctr"/>
          <a:lstStyle/>
          <a:p>
            <a:pPr algn="ctr"/>
            <a:r>
              <a:rPr lang="en-US" sz="975" i="1" dirty="0">
                <a:solidFill>
                  <a:srgbClr val="9A3412"/>
                </a:solidFill>
                <a:latin typeface="Georgia" pitchFamily="34" charset="0"/>
                <a:ea typeface="Georgia" pitchFamily="34" charset="-122"/>
                <a:cs typeface="Georgia" pitchFamily="34" charset="-120"/>
              </a:rPr>
              <a:t>δ → 0</a:t>
            </a:r>
            <a:endParaRPr lang="en-US" sz="975" dirty="0"/>
          </a:p>
        </p:txBody>
      </p:sp>
      <p:sp>
        <p:nvSpPr>
          <p:cNvPr id="9" name="Text 7"/>
          <p:cNvSpPr/>
          <p:nvPr/>
        </p:nvSpPr>
        <p:spPr>
          <a:xfrm>
            <a:off x="7749540" y="1323594"/>
            <a:ext cx="1097280" cy="205740"/>
          </a:xfrm>
          <a:prstGeom prst="rect">
            <a:avLst/>
          </a:prstGeom>
          <a:noFill/>
          <a:ln/>
        </p:spPr>
        <p:txBody>
          <a:bodyPr wrap="square" lIns="0" tIns="0" rIns="0" bIns="0" rtlCol="0" anchor="ctr"/>
          <a:lstStyle/>
          <a:p>
            <a:pPr algn="ctr"/>
            <a:r>
              <a:rPr lang="en-US" sz="975" i="1" dirty="0">
                <a:solidFill>
                  <a:srgbClr val="065F46"/>
                </a:solidFill>
                <a:latin typeface="Georgia" pitchFamily="34" charset="0"/>
                <a:ea typeface="Georgia" pitchFamily="34" charset="-122"/>
                <a:cs typeface="Georgia" pitchFamily="34" charset="-120"/>
              </a:rPr>
              <a:t>δ → 1</a:t>
            </a:r>
            <a:endParaRPr lang="en-US" sz="975" dirty="0"/>
          </a:p>
        </p:txBody>
      </p:sp>
      <p:sp>
        <p:nvSpPr>
          <p:cNvPr id="10" name="Shape 8"/>
          <p:cNvSpPr/>
          <p:nvPr/>
        </p:nvSpPr>
        <p:spPr>
          <a:xfrm>
            <a:off x="480060" y="1851660"/>
            <a:ext cx="1062990" cy="274320"/>
          </a:xfrm>
          <a:prstGeom prst="roundRect">
            <a:avLst>
              <a:gd name="adj" fmla="val 50000"/>
            </a:avLst>
          </a:prstGeom>
          <a:solidFill>
            <a:srgbClr val="FEE4D6"/>
          </a:solidFill>
          <a:ln/>
        </p:spPr>
        <p:txBody>
          <a:bodyPr/>
          <a:lstStyle/>
          <a:p>
            <a:endParaRPr lang="es-AR" sz="1350"/>
          </a:p>
        </p:txBody>
      </p:sp>
      <p:sp>
        <p:nvSpPr>
          <p:cNvPr id="11" name="Text 9"/>
          <p:cNvSpPr/>
          <p:nvPr/>
        </p:nvSpPr>
        <p:spPr>
          <a:xfrm>
            <a:off x="480060" y="1851660"/>
            <a:ext cx="1062990" cy="274320"/>
          </a:xfrm>
          <a:prstGeom prst="rect">
            <a:avLst/>
          </a:prstGeom>
          <a:noFill/>
          <a:ln/>
        </p:spPr>
        <p:txBody>
          <a:bodyPr wrap="square" lIns="0" tIns="0" rIns="0" bIns="0" rtlCol="0" anchor="ctr"/>
          <a:lstStyle/>
          <a:p>
            <a:pPr algn="ctr"/>
            <a:r>
              <a:rPr lang="en-US" sz="825" b="1" dirty="0">
                <a:solidFill>
                  <a:srgbClr val="9A3412"/>
                </a:solidFill>
                <a:latin typeface="Calibri" pitchFamily="34" charset="0"/>
                <a:ea typeface="Calibri" pitchFamily="34" charset="-122"/>
                <a:cs typeface="Calibri" pitchFamily="34" charset="-120"/>
              </a:rPr>
              <a:t>Impaciente</a:t>
            </a:r>
            <a:endParaRPr lang="en-US" sz="825" dirty="0"/>
          </a:p>
        </p:txBody>
      </p:sp>
      <p:sp>
        <p:nvSpPr>
          <p:cNvPr id="12" name="Text 10"/>
          <p:cNvSpPr/>
          <p:nvPr/>
        </p:nvSpPr>
        <p:spPr>
          <a:xfrm>
            <a:off x="480060" y="2228850"/>
            <a:ext cx="3737610" cy="377190"/>
          </a:xfrm>
          <a:prstGeom prst="rect">
            <a:avLst/>
          </a:prstGeom>
          <a:noFill/>
          <a:ln/>
        </p:spPr>
        <p:txBody>
          <a:bodyPr wrap="square" lIns="0" tIns="0" rIns="0" bIns="0" rtlCol="0" anchor="ctr"/>
          <a:lstStyle/>
          <a:p>
            <a:r>
              <a:rPr lang="en-US" sz="1650" dirty="0">
                <a:solidFill>
                  <a:srgbClr val="9A3412"/>
                </a:solidFill>
                <a:latin typeface="Georgia" pitchFamily="34" charset="0"/>
                <a:ea typeface="Georgia" pitchFamily="34" charset="-122"/>
                <a:cs typeface="Georgia" pitchFamily="34" charset="-120"/>
              </a:rPr>
              <a:t>Importa el ahora</a:t>
            </a:r>
            <a:endParaRPr lang="en-US" sz="1650" dirty="0"/>
          </a:p>
        </p:txBody>
      </p:sp>
      <p:sp>
        <p:nvSpPr>
          <p:cNvPr id="13" name="Text 11"/>
          <p:cNvSpPr/>
          <p:nvPr/>
        </p:nvSpPr>
        <p:spPr>
          <a:xfrm>
            <a:off x="480060" y="2640330"/>
            <a:ext cx="3737610" cy="822960"/>
          </a:xfrm>
          <a:prstGeom prst="rect">
            <a:avLst/>
          </a:prstGeom>
          <a:noFill/>
          <a:ln/>
        </p:spPr>
        <p:txBody>
          <a:bodyPr wrap="square" lIns="0" tIns="0" rIns="0" bIns="0" rtlCol="0" anchor="t"/>
          <a:lstStyle/>
          <a:p>
            <a:pPr>
              <a:lnSpc>
                <a:spcPct val="140000"/>
              </a:lnSpc>
            </a:pPr>
            <a:r>
              <a:rPr lang="en-US" sz="975" dirty="0">
                <a:solidFill>
                  <a:srgbClr val="1A1A1A"/>
                </a:solidFill>
                <a:latin typeface="Calibri" pitchFamily="34" charset="0"/>
                <a:ea typeface="Calibri" pitchFamily="34" charset="-122"/>
                <a:cs typeface="Calibri" pitchFamily="34" charset="-120"/>
              </a:rPr>
              <a:t>Preferís ganancias </a:t>
            </a:r>
            <a:r>
              <a:rPr lang="en-US" sz="975" b="1" dirty="0">
                <a:solidFill>
                  <a:srgbClr val="1A1A1A"/>
                </a:solidFill>
                <a:latin typeface="Calibri" pitchFamily="34" charset="0"/>
                <a:ea typeface="Calibri" pitchFamily="34" charset="-122"/>
                <a:cs typeface="Calibri" pitchFamily="34" charset="-120"/>
              </a:rPr>
              <a:t>hoy</a:t>
            </a:r>
            <a:r>
              <a:rPr lang="en-US" sz="975" dirty="0">
                <a:solidFill>
                  <a:srgbClr val="1A1A1A"/>
                </a:solidFill>
                <a:latin typeface="Calibri" pitchFamily="34" charset="0"/>
                <a:ea typeface="Calibri" pitchFamily="34" charset="-122"/>
                <a:cs typeface="Calibri" pitchFamily="34" charset="-120"/>
              </a:rPr>
              <a:t>; el futuro pesa poco.
</a:t>
            </a:r>
            <a:r>
              <a:rPr lang="en-US" sz="975" dirty="0">
                <a:solidFill>
                  <a:srgbClr val="6B7280"/>
                </a:solidFill>
                <a:latin typeface="Calibri" pitchFamily="34" charset="0"/>
                <a:ea typeface="Calibri" pitchFamily="34" charset="-122"/>
                <a:cs typeface="Calibri" pitchFamily="34" charset="-120"/>
              </a:rPr>
              <a:t>Un país impaciente </a:t>
            </a:r>
            <a:r>
              <a:rPr lang="en-US" sz="975" b="1" dirty="0">
                <a:solidFill>
                  <a:srgbClr val="1A1A1A"/>
                </a:solidFill>
                <a:latin typeface="Calibri" pitchFamily="34" charset="0"/>
                <a:ea typeface="Calibri" pitchFamily="34" charset="-122"/>
                <a:cs typeface="Calibri" pitchFamily="34" charset="-120"/>
              </a:rPr>
              <a:t>prefiere producir 4 hoy </a:t>
            </a:r>
            <a:r>
              <a:rPr lang="en-US" sz="975" dirty="0">
                <a:solidFill>
                  <a:srgbClr val="6B7280"/>
                </a:solidFill>
                <a:latin typeface="Calibri" pitchFamily="34" charset="0"/>
                <a:ea typeface="Calibri" pitchFamily="34" charset="-122"/>
                <a:cs typeface="Calibri" pitchFamily="34" charset="-120"/>
              </a:rPr>
              <a:t>y ganar más ahora, aunque eso destruya la cooperación futura.</a:t>
            </a:r>
            <a:endParaRPr lang="en-US" sz="975" dirty="0"/>
          </a:p>
        </p:txBody>
      </p:sp>
      <p:sp>
        <p:nvSpPr>
          <p:cNvPr id="14" name="Shape 12"/>
          <p:cNvSpPr/>
          <p:nvPr/>
        </p:nvSpPr>
        <p:spPr>
          <a:xfrm>
            <a:off x="4903470" y="1851660"/>
            <a:ext cx="1062990" cy="274320"/>
          </a:xfrm>
          <a:prstGeom prst="roundRect">
            <a:avLst>
              <a:gd name="adj" fmla="val 50000"/>
            </a:avLst>
          </a:prstGeom>
          <a:solidFill>
            <a:srgbClr val="D1FAE5"/>
          </a:solidFill>
          <a:ln/>
        </p:spPr>
        <p:txBody>
          <a:bodyPr/>
          <a:lstStyle/>
          <a:p>
            <a:endParaRPr lang="es-AR" sz="1350"/>
          </a:p>
        </p:txBody>
      </p:sp>
      <p:sp>
        <p:nvSpPr>
          <p:cNvPr id="15" name="Text 13"/>
          <p:cNvSpPr/>
          <p:nvPr/>
        </p:nvSpPr>
        <p:spPr>
          <a:xfrm>
            <a:off x="4903470" y="1851660"/>
            <a:ext cx="1062990" cy="274320"/>
          </a:xfrm>
          <a:prstGeom prst="rect">
            <a:avLst/>
          </a:prstGeom>
          <a:noFill/>
          <a:ln/>
        </p:spPr>
        <p:txBody>
          <a:bodyPr wrap="square" lIns="0" tIns="0" rIns="0" bIns="0" rtlCol="0" anchor="ctr"/>
          <a:lstStyle/>
          <a:p>
            <a:pPr algn="ctr"/>
            <a:r>
              <a:rPr lang="en-US" sz="825" b="1" dirty="0">
                <a:solidFill>
                  <a:srgbClr val="065F46"/>
                </a:solidFill>
                <a:latin typeface="Calibri" pitchFamily="34" charset="0"/>
                <a:ea typeface="Calibri" pitchFamily="34" charset="-122"/>
                <a:cs typeface="Calibri" pitchFamily="34" charset="-120"/>
              </a:rPr>
              <a:t>Paciente</a:t>
            </a:r>
            <a:endParaRPr lang="en-US" sz="825" dirty="0"/>
          </a:p>
        </p:txBody>
      </p:sp>
      <p:sp>
        <p:nvSpPr>
          <p:cNvPr id="16" name="Text 14"/>
          <p:cNvSpPr/>
          <p:nvPr/>
        </p:nvSpPr>
        <p:spPr>
          <a:xfrm>
            <a:off x="4903470" y="2228850"/>
            <a:ext cx="3737610" cy="377190"/>
          </a:xfrm>
          <a:prstGeom prst="rect">
            <a:avLst/>
          </a:prstGeom>
          <a:noFill/>
          <a:ln/>
        </p:spPr>
        <p:txBody>
          <a:bodyPr wrap="square" lIns="0" tIns="0" rIns="0" bIns="0" rtlCol="0" anchor="ctr"/>
          <a:lstStyle/>
          <a:p>
            <a:r>
              <a:rPr lang="en-US" sz="1650" dirty="0">
                <a:solidFill>
                  <a:srgbClr val="065F46"/>
                </a:solidFill>
                <a:latin typeface="Georgia" pitchFamily="34" charset="0"/>
                <a:ea typeface="Georgia" pitchFamily="34" charset="-122"/>
                <a:cs typeface="Georgia" pitchFamily="34" charset="-120"/>
              </a:rPr>
              <a:t>Importa el futuro</a:t>
            </a:r>
            <a:endParaRPr lang="en-US" sz="1650" dirty="0"/>
          </a:p>
        </p:txBody>
      </p:sp>
      <p:sp>
        <p:nvSpPr>
          <p:cNvPr id="17" name="Text 15"/>
          <p:cNvSpPr/>
          <p:nvPr/>
        </p:nvSpPr>
        <p:spPr>
          <a:xfrm>
            <a:off x="4903470" y="2640330"/>
            <a:ext cx="3737610" cy="822960"/>
          </a:xfrm>
          <a:prstGeom prst="rect">
            <a:avLst/>
          </a:prstGeom>
          <a:noFill/>
          <a:ln/>
        </p:spPr>
        <p:txBody>
          <a:bodyPr wrap="square" lIns="0" tIns="0" rIns="0" bIns="0" rtlCol="0" anchor="t"/>
          <a:lstStyle/>
          <a:p>
            <a:pPr>
              <a:lnSpc>
                <a:spcPct val="140000"/>
              </a:lnSpc>
            </a:pPr>
            <a:r>
              <a:rPr lang="en-US" sz="975" dirty="0">
                <a:solidFill>
                  <a:srgbClr val="1A1A1A"/>
                </a:solidFill>
                <a:latin typeface="Calibri" pitchFamily="34" charset="0"/>
                <a:ea typeface="Calibri" pitchFamily="34" charset="-122"/>
                <a:cs typeface="Calibri" pitchFamily="34" charset="-120"/>
              </a:rPr>
              <a:t>Valorás mucho lo que viene; los próximos períodos pesan.
</a:t>
            </a:r>
            <a:r>
              <a:rPr lang="en-US" sz="975" dirty="0">
                <a:solidFill>
                  <a:srgbClr val="6B7280"/>
                </a:solidFill>
                <a:latin typeface="Calibri" pitchFamily="34" charset="0"/>
                <a:ea typeface="Calibri" pitchFamily="34" charset="-122"/>
                <a:cs typeface="Calibri" pitchFamily="34" charset="-120"/>
              </a:rPr>
              <a:t>Un país paciente </a:t>
            </a:r>
            <a:r>
              <a:rPr lang="en-US" sz="975" b="1" dirty="0">
                <a:solidFill>
                  <a:srgbClr val="1A1A1A"/>
                </a:solidFill>
                <a:latin typeface="Calibri" pitchFamily="34" charset="0"/>
                <a:ea typeface="Calibri" pitchFamily="34" charset="-122"/>
                <a:cs typeface="Calibri" pitchFamily="34" charset="-120"/>
              </a:rPr>
              <a:t>mantiene la cooperación </a:t>
            </a:r>
            <a:r>
              <a:rPr lang="en-US" sz="975" dirty="0">
                <a:solidFill>
                  <a:srgbClr val="6B7280"/>
                </a:solidFill>
                <a:latin typeface="Calibri" pitchFamily="34" charset="0"/>
                <a:ea typeface="Calibri" pitchFamily="34" charset="-122"/>
                <a:cs typeface="Calibri" pitchFamily="34" charset="-120"/>
              </a:rPr>
              <a:t>porque le importa lo que gana en todos los períodos por venir.</a:t>
            </a:r>
            <a:endParaRPr lang="en-US" sz="975" dirty="0"/>
          </a:p>
        </p:txBody>
      </p:sp>
      <p:sp>
        <p:nvSpPr>
          <p:cNvPr id="18" name="Shape 16"/>
          <p:cNvSpPr/>
          <p:nvPr/>
        </p:nvSpPr>
        <p:spPr>
          <a:xfrm>
            <a:off x="480060" y="4320540"/>
            <a:ext cx="274320" cy="20574"/>
          </a:xfrm>
          <a:prstGeom prst="rect">
            <a:avLst/>
          </a:prstGeom>
          <a:solidFill>
            <a:srgbClr val="C2410C"/>
          </a:solidFill>
          <a:ln/>
        </p:spPr>
        <p:txBody>
          <a:bodyPr/>
          <a:lstStyle/>
          <a:p>
            <a:endParaRPr lang="es-AR" sz="1350"/>
          </a:p>
        </p:txBody>
      </p:sp>
      <p:sp>
        <p:nvSpPr>
          <p:cNvPr id="19" name="Text 17"/>
          <p:cNvSpPr/>
          <p:nvPr/>
        </p:nvSpPr>
        <p:spPr>
          <a:xfrm>
            <a:off x="480060" y="4423410"/>
            <a:ext cx="8366760" cy="411480"/>
          </a:xfrm>
          <a:prstGeom prst="rect">
            <a:avLst/>
          </a:prstGeom>
          <a:noFill/>
          <a:ln/>
        </p:spPr>
        <p:txBody>
          <a:bodyPr wrap="square" lIns="0" tIns="0" rIns="0" bIns="0" rtlCol="0" anchor="ctr"/>
          <a:lstStyle/>
          <a:p>
            <a:pPr>
              <a:lnSpc>
                <a:spcPct val="125000"/>
              </a:lnSpc>
            </a:pPr>
            <a:r>
              <a:rPr lang="en-US" sz="975" b="1" dirty="0">
                <a:solidFill>
                  <a:srgbClr val="1A1A1A"/>
                </a:solidFill>
                <a:latin typeface="Calibri" pitchFamily="34" charset="0"/>
                <a:ea typeface="Calibri" pitchFamily="34" charset="-122"/>
                <a:cs typeface="Calibri" pitchFamily="34" charset="-120"/>
              </a:rPr>
              <a:t>Condición para cooperar  ·  </a:t>
            </a:r>
            <a:r>
              <a:rPr lang="en-US" sz="975" dirty="0">
                <a:solidFill>
                  <a:srgbClr val="6B7280"/>
                </a:solidFill>
                <a:latin typeface="Calibri" pitchFamily="34" charset="0"/>
                <a:ea typeface="Calibri" pitchFamily="34" charset="-122"/>
                <a:cs typeface="Calibri" pitchFamily="34" charset="-120"/>
              </a:rPr>
              <a:t>δ debe ser </a:t>
            </a:r>
            <a:r>
              <a:rPr lang="en-US" sz="975" b="1" dirty="0">
                <a:solidFill>
                  <a:srgbClr val="C2410C"/>
                </a:solidFill>
                <a:latin typeface="Calibri" pitchFamily="34" charset="0"/>
                <a:ea typeface="Calibri" pitchFamily="34" charset="-122"/>
                <a:cs typeface="Calibri" pitchFamily="34" charset="-120"/>
              </a:rPr>
              <a:t>suficientemente alto</a:t>
            </a:r>
            <a:r>
              <a:rPr lang="en-US" sz="975" dirty="0">
                <a:solidFill>
                  <a:srgbClr val="6B7280"/>
                </a:solidFill>
                <a:latin typeface="Calibri" pitchFamily="34" charset="0"/>
                <a:ea typeface="Calibri" pitchFamily="34" charset="-122"/>
                <a:cs typeface="Calibri" pitchFamily="34" charset="-120"/>
              </a:rPr>
              <a:t> para que a ambos jugadores les importe el futuro lo bastante como para no desviarse hoy.</a:t>
            </a:r>
            <a:endParaRPr lang="en-US" sz="9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Estrategia Toma y Daka (Tit-for-Tat)</a:t>
            </a:r>
            <a:endParaRPr lang="en-US" sz="2200" dirty="0"/>
          </a:p>
        </p:txBody>
      </p:sp>
      <p:sp>
        <p:nvSpPr>
          <p:cNvPr id="4" name="Shape 2"/>
          <p:cNvSpPr/>
          <p:nvPr/>
        </p:nvSpPr>
        <p:spPr>
          <a:xfrm>
            <a:off x="320040" y="960120"/>
            <a:ext cx="8503920" cy="658368"/>
          </a:xfrm>
          <a:prstGeom prst="rect">
            <a:avLst/>
          </a:prstGeom>
          <a:solidFill>
            <a:srgbClr val="1A2744"/>
          </a:solidFill>
          <a:ln w="12700">
            <a:solidFill>
              <a:srgbClr val="1A2744"/>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250" dirty="0">
                <a:solidFill>
                  <a:srgbClr val="FFFFFF"/>
                </a:solidFill>
              </a:rPr>
              <a:t>Diferencia fundamental: el castigo dura solo UN período (el siguiente), no para siempre como en el trigger.</a:t>
            </a:r>
            <a:endParaRPr lang="en-US" sz="1250" dirty="0"/>
          </a:p>
        </p:txBody>
      </p:sp>
      <p:sp>
        <p:nvSpPr>
          <p:cNvPr id="6" name="Shape 4"/>
          <p:cNvSpPr/>
          <p:nvPr/>
        </p:nvSpPr>
        <p:spPr>
          <a:xfrm>
            <a:off x="320040" y="1737360"/>
            <a:ext cx="8503920" cy="594360"/>
          </a:xfrm>
          <a:prstGeom prst="rect">
            <a:avLst/>
          </a:prstGeom>
          <a:solidFill>
            <a:srgbClr val="EBF3F8"/>
          </a:solidFill>
          <a:ln w="12700">
            <a:solidFill>
              <a:srgbClr val="C0D8E8"/>
            </a:solidFill>
            <a:prstDash val="solid"/>
          </a:ln>
        </p:spPr>
        <p:txBody>
          <a:bodyPr/>
          <a:lstStyle/>
          <a:p>
            <a:endParaRPr lang="es-AR"/>
          </a:p>
        </p:txBody>
      </p:sp>
      <p:sp>
        <p:nvSpPr>
          <p:cNvPr id="7" name="Shape 5"/>
          <p:cNvSpPr/>
          <p:nvPr/>
        </p:nvSpPr>
        <p:spPr>
          <a:xfrm>
            <a:off x="320040" y="1737360"/>
            <a:ext cx="914400" cy="594360"/>
          </a:xfrm>
          <a:prstGeom prst="rect">
            <a:avLst/>
          </a:prstGeom>
          <a:solidFill>
            <a:srgbClr val="1A2744"/>
          </a:solidFill>
          <a:ln w="12700">
            <a:solidFill>
              <a:srgbClr val="1A2744"/>
            </a:solidFill>
            <a:prstDash val="solid"/>
          </a:ln>
        </p:spPr>
        <p:txBody>
          <a:bodyPr/>
          <a:lstStyle/>
          <a:p>
            <a:endParaRPr lang="es-AR"/>
          </a:p>
        </p:txBody>
      </p:sp>
      <p:sp>
        <p:nvSpPr>
          <p:cNvPr id="8" name="Text 6"/>
          <p:cNvSpPr/>
          <p:nvPr/>
        </p:nvSpPr>
        <p:spPr>
          <a:xfrm>
            <a:off x="329184" y="1737360"/>
            <a:ext cx="896112" cy="594360"/>
          </a:xfrm>
          <a:prstGeom prst="rect">
            <a:avLst/>
          </a:prstGeom>
          <a:noFill/>
          <a:ln/>
        </p:spPr>
        <p:txBody>
          <a:bodyPr wrap="square" lIns="0" tIns="0" rIns="0" bIns="0" rtlCol="0" anchor="ctr"/>
          <a:lstStyle/>
          <a:p>
            <a:pPr marL="0" indent="0" algn="ctr">
              <a:buNone/>
            </a:pPr>
            <a:r>
              <a:rPr lang="en-US" sz="1000" b="1" dirty="0">
                <a:solidFill>
                  <a:srgbClr val="FFFFFF"/>
                </a:solidFill>
              </a:rPr>
              <a:t>INICIO</a:t>
            </a:r>
            <a:endParaRPr lang="en-US" sz="1000" dirty="0"/>
          </a:p>
        </p:txBody>
      </p:sp>
      <p:sp>
        <p:nvSpPr>
          <p:cNvPr id="9" name="Text 7"/>
          <p:cNvSpPr/>
          <p:nvPr/>
        </p:nvSpPr>
        <p:spPr>
          <a:xfrm>
            <a:off x="1371600" y="1783080"/>
            <a:ext cx="7269480" cy="457200"/>
          </a:xfrm>
          <a:prstGeom prst="rect">
            <a:avLst/>
          </a:prstGeom>
          <a:noFill/>
          <a:ln/>
        </p:spPr>
        <p:txBody>
          <a:bodyPr wrap="square" lIns="0" tIns="0" rIns="0" bIns="0" rtlCol="0" anchor="ctr"/>
          <a:lstStyle/>
          <a:p>
            <a:pPr marL="0" indent="0">
              <a:buNone/>
            </a:pPr>
            <a:r>
              <a:rPr lang="en-US" sz="1250" dirty="0">
                <a:solidFill>
                  <a:srgbClr val="102030"/>
                </a:solidFill>
              </a:rPr>
              <a:t>Empezar cooperando: jugar C en el período 1.</a:t>
            </a:r>
            <a:endParaRPr lang="en-US" sz="1250" dirty="0"/>
          </a:p>
        </p:txBody>
      </p:sp>
      <p:sp>
        <p:nvSpPr>
          <p:cNvPr id="10" name="Shape 8"/>
          <p:cNvSpPr/>
          <p:nvPr/>
        </p:nvSpPr>
        <p:spPr>
          <a:xfrm>
            <a:off x="320040" y="2450592"/>
            <a:ext cx="8503920" cy="594360"/>
          </a:xfrm>
          <a:prstGeom prst="rect">
            <a:avLst/>
          </a:prstGeom>
          <a:solidFill>
            <a:srgbClr val="DDEEF6"/>
          </a:solidFill>
          <a:ln w="12700">
            <a:solidFill>
              <a:srgbClr val="C0D8E8"/>
            </a:solidFill>
            <a:prstDash val="solid"/>
          </a:ln>
        </p:spPr>
        <p:txBody>
          <a:bodyPr/>
          <a:lstStyle/>
          <a:p>
            <a:endParaRPr lang="es-AR"/>
          </a:p>
        </p:txBody>
      </p:sp>
      <p:sp>
        <p:nvSpPr>
          <p:cNvPr id="11" name="Shape 9"/>
          <p:cNvSpPr/>
          <p:nvPr/>
        </p:nvSpPr>
        <p:spPr>
          <a:xfrm>
            <a:off x="320040" y="2450592"/>
            <a:ext cx="914400" cy="594360"/>
          </a:xfrm>
          <a:prstGeom prst="rect">
            <a:avLst/>
          </a:prstGeom>
          <a:solidFill>
            <a:srgbClr val="1A2744"/>
          </a:solidFill>
          <a:ln w="12700">
            <a:solidFill>
              <a:srgbClr val="1A2744"/>
            </a:solidFill>
            <a:prstDash val="solid"/>
          </a:ln>
        </p:spPr>
        <p:txBody>
          <a:bodyPr/>
          <a:lstStyle/>
          <a:p>
            <a:endParaRPr lang="es-AR"/>
          </a:p>
        </p:txBody>
      </p:sp>
      <p:sp>
        <p:nvSpPr>
          <p:cNvPr id="12" name="Text 10"/>
          <p:cNvSpPr/>
          <p:nvPr/>
        </p:nvSpPr>
        <p:spPr>
          <a:xfrm>
            <a:off x="329184" y="2450592"/>
            <a:ext cx="896112" cy="594360"/>
          </a:xfrm>
          <a:prstGeom prst="rect">
            <a:avLst/>
          </a:prstGeom>
          <a:noFill/>
          <a:ln/>
        </p:spPr>
        <p:txBody>
          <a:bodyPr wrap="square" lIns="0" tIns="0" rIns="0" bIns="0" rtlCol="0" anchor="ctr"/>
          <a:lstStyle/>
          <a:p>
            <a:pPr marL="0" indent="0" algn="ctr">
              <a:buNone/>
            </a:pPr>
            <a:r>
              <a:rPr lang="en-US" sz="1000" b="1" dirty="0">
                <a:solidFill>
                  <a:srgbClr val="FFFFFF"/>
                </a:solidFill>
              </a:rPr>
              <a:t>CADA T</a:t>
            </a:r>
            <a:endParaRPr lang="en-US" sz="1000" dirty="0"/>
          </a:p>
        </p:txBody>
      </p:sp>
      <p:sp>
        <p:nvSpPr>
          <p:cNvPr id="13" name="Text 11"/>
          <p:cNvSpPr/>
          <p:nvPr/>
        </p:nvSpPr>
        <p:spPr>
          <a:xfrm>
            <a:off x="1371600" y="2496312"/>
            <a:ext cx="7269480" cy="457200"/>
          </a:xfrm>
          <a:prstGeom prst="rect">
            <a:avLst/>
          </a:prstGeom>
          <a:noFill/>
          <a:ln/>
        </p:spPr>
        <p:txBody>
          <a:bodyPr wrap="square" lIns="0" tIns="0" rIns="0" bIns="0" rtlCol="0" anchor="ctr"/>
          <a:lstStyle/>
          <a:p>
            <a:r>
              <a:rPr lang="en-US" sz="1250" dirty="0">
                <a:solidFill>
                  <a:srgbClr val="102030"/>
                </a:solidFill>
              </a:rPr>
              <a:t>Si el otro jugó C en el período anterior → yo juego C hoy. Si el otro </a:t>
            </a:r>
            <a:r>
              <a:rPr lang="en-US" sz="1250" dirty="0" err="1">
                <a:solidFill>
                  <a:srgbClr val="102030"/>
                </a:solidFill>
              </a:rPr>
              <a:t>jugó</a:t>
            </a:r>
            <a:r>
              <a:rPr lang="en-US" sz="1250" dirty="0">
                <a:solidFill>
                  <a:srgbClr val="102030"/>
                </a:solidFill>
              </a:rPr>
              <a:t> NC en el período anterior → </a:t>
            </a:r>
            <a:r>
              <a:rPr lang="en-US" sz="1250" dirty="0" err="1">
                <a:solidFill>
                  <a:srgbClr val="102030"/>
                </a:solidFill>
              </a:rPr>
              <a:t>yo</a:t>
            </a:r>
            <a:r>
              <a:rPr lang="en-US" sz="1250" dirty="0">
                <a:solidFill>
                  <a:srgbClr val="102030"/>
                </a:solidFill>
              </a:rPr>
              <a:t> juego NC hoy.</a:t>
            </a:r>
            <a:endParaRPr lang="en-US" sz="1250" dirty="0"/>
          </a:p>
        </p:txBody>
      </p:sp>
      <p:sp>
        <p:nvSpPr>
          <p:cNvPr id="14" name="Shape 12"/>
          <p:cNvSpPr/>
          <p:nvPr/>
        </p:nvSpPr>
        <p:spPr>
          <a:xfrm>
            <a:off x="320040" y="3163824"/>
            <a:ext cx="8503920" cy="594360"/>
          </a:xfrm>
          <a:prstGeom prst="rect">
            <a:avLst/>
          </a:prstGeom>
          <a:solidFill>
            <a:srgbClr val="EBF3F8"/>
          </a:solidFill>
          <a:ln w="12700">
            <a:solidFill>
              <a:srgbClr val="C0D8E8"/>
            </a:solidFill>
            <a:prstDash val="solid"/>
          </a:ln>
        </p:spPr>
        <p:txBody>
          <a:bodyPr/>
          <a:lstStyle/>
          <a:p>
            <a:endParaRPr lang="es-AR"/>
          </a:p>
        </p:txBody>
      </p:sp>
      <p:sp>
        <p:nvSpPr>
          <p:cNvPr id="15" name="Shape 13"/>
          <p:cNvSpPr/>
          <p:nvPr/>
        </p:nvSpPr>
        <p:spPr>
          <a:xfrm>
            <a:off x="320040" y="3163824"/>
            <a:ext cx="914400" cy="594360"/>
          </a:xfrm>
          <a:prstGeom prst="rect">
            <a:avLst/>
          </a:prstGeom>
          <a:solidFill>
            <a:srgbClr val="1A2744"/>
          </a:solidFill>
          <a:ln w="12700">
            <a:solidFill>
              <a:srgbClr val="1A2744"/>
            </a:solidFill>
            <a:prstDash val="solid"/>
          </a:ln>
        </p:spPr>
        <p:txBody>
          <a:bodyPr/>
          <a:lstStyle/>
          <a:p>
            <a:endParaRPr lang="es-AR"/>
          </a:p>
        </p:txBody>
      </p:sp>
      <p:sp>
        <p:nvSpPr>
          <p:cNvPr id="16" name="Text 14"/>
          <p:cNvSpPr/>
          <p:nvPr/>
        </p:nvSpPr>
        <p:spPr>
          <a:xfrm>
            <a:off x="329184" y="3163824"/>
            <a:ext cx="896112" cy="594360"/>
          </a:xfrm>
          <a:prstGeom prst="rect">
            <a:avLst/>
          </a:prstGeom>
          <a:noFill/>
          <a:ln/>
        </p:spPr>
        <p:txBody>
          <a:bodyPr wrap="square" lIns="0" tIns="0" rIns="0" bIns="0" rtlCol="0" anchor="ctr"/>
          <a:lstStyle/>
          <a:p>
            <a:pPr marL="0" indent="0" algn="ctr">
              <a:buNone/>
            </a:pPr>
            <a:r>
              <a:rPr lang="en-US" sz="1000" b="1" dirty="0">
                <a:solidFill>
                  <a:srgbClr val="FFFFFF"/>
                </a:solidFill>
              </a:rPr>
              <a:t>CASTIGO</a:t>
            </a:r>
            <a:endParaRPr lang="en-US" sz="1000" dirty="0"/>
          </a:p>
        </p:txBody>
      </p:sp>
      <p:sp>
        <p:nvSpPr>
          <p:cNvPr id="17" name="Text 15"/>
          <p:cNvSpPr/>
          <p:nvPr/>
        </p:nvSpPr>
        <p:spPr>
          <a:xfrm>
            <a:off x="1371600" y="3209544"/>
            <a:ext cx="7269480" cy="457200"/>
          </a:xfrm>
          <a:prstGeom prst="rect">
            <a:avLst/>
          </a:prstGeom>
          <a:noFill/>
          <a:ln/>
        </p:spPr>
        <p:txBody>
          <a:bodyPr wrap="square" lIns="0" tIns="0" rIns="0" bIns="0" rtlCol="0" anchor="ctr"/>
          <a:lstStyle/>
          <a:p>
            <a:pPr marL="0" indent="0">
              <a:buNone/>
            </a:pPr>
            <a:r>
              <a:rPr lang="en-US" sz="1250" dirty="0">
                <a:solidFill>
                  <a:srgbClr val="102030"/>
                </a:solidFill>
              </a:rPr>
              <a:t>El castigo es exactamente UN período. Después, si el otro vuelve a cooperar, yo también coopero.</a:t>
            </a:r>
            <a:endParaRPr lang="en-US" sz="1250" dirty="0"/>
          </a:p>
        </p:txBody>
      </p:sp>
      <p:sp>
        <p:nvSpPr>
          <p:cNvPr id="18" name="Text 16"/>
          <p:cNvSpPr/>
          <p:nvPr/>
        </p:nvSpPr>
        <p:spPr>
          <a:xfrm>
            <a:off x="320040" y="3950208"/>
            <a:ext cx="8503920" cy="320040"/>
          </a:xfrm>
          <a:prstGeom prst="rect">
            <a:avLst/>
          </a:prstGeom>
          <a:noFill/>
          <a:ln/>
        </p:spPr>
        <p:txBody>
          <a:bodyPr wrap="square" lIns="0" tIns="0" rIns="0" bIns="0" rtlCol="0" anchor="ctr"/>
          <a:lstStyle/>
          <a:p>
            <a:pPr marL="0" indent="0">
              <a:buNone/>
            </a:pPr>
            <a:r>
              <a:rPr lang="en-US" sz="1200" b="1" dirty="0">
                <a:solidFill>
                  <a:srgbClr val="1A2744"/>
                </a:solidFill>
              </a:rPr>
              <a:t>DOS OPCIONES AL DESVIARSE:</a:t>
            </a:r>
            <a:endParaRPr lang="en-US" sz="1200" dirty="0"/>
          </a:p>
        </p:txBody>
      </p:sp>
      <p:sp>
        <p:nvSpPr>
          <p:cNvPr id="19" name="Shape 17"/>
          <p:cNvSpPr/>
          <p:nvPr/>
        </p:nvSpPr>
        <p:spPr>
          <a:xfrm>
            <a:off x="320040" y="4279392"/>
            <a:ext cx="4069080" cy="777240"/>
          </a:xfrm>
          <a:prstGeom prst="rect">
            <a:avLst/>
          </a:prstGeom>
          <a:solidFill>
            <a:srgbClr val="F8E8E8"/>
          </a:solidFill>
          <a:ln w="12700">
            <a:solidFill>
              <a:srgbClr val="C05050"/>
            </a:solidFill>
            <a:prstDash val="solid"/>
          </a:ln>
        </p:spPr>
        <p:txBody>
          <a:bodyPr/>
          <a:lstStyle/>
          <a:p>
            <a:endParaRPr lang="es-AR"/>
          </a:p>
        </p:txBody>
      </p:sp>
      <p:sp>
        <p:nvSpPr>
          <p:cNvPr id="20" name="Text 18"/>
          <p:cNvSpPr/>
          <p:nvPr/>
        </p:nvSpPr>
        <p:spPr>
          <a:xfrm>
            <a:off x="502920" y="4325112"/>
            <a:ext cx="3703320" cy="274320"/>
          </a:xfrm>
          <a:prstGeom prst="rect">
            <a:avLst/>
          </a:prstGeom>
          <a:noFill/>
          <a:ln/>
        </p:spPr>
        <p:txBody>
          <a:bodyPr wrap="square" lIns="0" tIns="0" rIns="0" bIns="0" rtlCol="0" anchor="ctr"/>
          <a:lstStyle/>
          <a:p>
            <a:pPr marL="0" indent="0">
              <a:buNone/>
            </a:pPr>
            <a:r>
              <a:rPr lang="en-US" sz="1150" b="1" dirty="0">
                <a:solidFill>
                  <a:srgbClr val="1A2744"/>
                </a:solidFill>
              </a:rPr>
              <a:t>Opción 1: Desviarse y ALTERNAR (NC,C,NC,C...</a:t>
            </a:r>
            <a:endParaRPr lang="en-US" sz="1150" dirty="0"/>
          </a:p>
        </p:txBody>
      </p:sp>
      <p:sp>
        <p:nvSpPr>
          <p:cNvPr id="21" name="Text 19"/>
          <p:cNvSpPr/>
          <p:nvPr/>
        </p:nvSpPr>
        <p:spPr>
          <a:xfrm>
            <a:off x="502920" y="4617720"/>
            <a:ext cx="3703320" cy="365760"/>
          </a:xfrm>
          <a:prstGeom prst="rect">
            <a:avLst/>
          </a:prstGeom>
          <a:noFill/>
          <a:ln/>
        </p:spPr>
        <p:txBody>
          <a:bodyPr wrap="square" lIns="0" tIns="0" rIns="0" bIns="0" rtlCol="0" anchor="ctr"/>
          <a:lstStyle/>
          <a:p>
            <a:pPr marL="0" indent="0">
              <a:buNone/>
            </a:pPr>
            <a:r>
              <a:rPr lang="en-US" sz="1100" dirty="0">
                <a:solidFill>
                  <a:srgbClr val="102030"/>
                </a:solidFill>
              </a:rPr>
              <a:t>Pagos: 3, 0, 3, 0, ...</a:t>
            </a:r>
            <a:endParaRPr lang="en-US" sz="1100" dirty="0"/>
          </a:p>
          <a:p>
            <a:pPr marL="0" indent="0">
              <a:buNone/>
            </a:pPr>
            <a:r>
              <a:rPr lang="en-US" sz="1100" dirty="0">
                <a:solidFill>
                  <a:srgbClr val="102030"/>
                </a:solidFill>
              </a:rPr>
              <a:t>VP = 3/(1−δ²)  (usando δ' = δ²)</a:t>
            </a:r>
            <a:endParaRPr lang="en-US" sz="1100" dirty="0"/>
          </a:p>
        </p:txBody>
      </p:sp>
      <p:sp>
        <p:nvSpPr>
          <p:cNvPr id="22" name="Shape 20"/>
          <p:cNvSpPr/>
          <p:nvPr/>
        </p:nvSpPr>
        <p:spPr>
          <a:xfrm>
            <a:off x="4754880" y="4279392"/>
            <a:ext cx="4069080" cy="777240"/>
          </a:xfrm>
          <a:prstGeom prst="rect">
            <a:avLst/>
          </a:prstGeom>
          <a:solidFill>
            <a:srgbClr val="F8E8E8"/>
          </a:solidFill>
          <a:ln w="12700">
            <a:solidFill>
              <a:srgbClr val="C0392B"/>
            </a:solidFill>
            <a:prstDash val="solid"/>
          </a:ln>
        </p:spPr>
        <p:txBody>
          <a:bodyPr/>
          <a:lstStyle/>
          <a:p>
            <a:endParaRPr lang="es-AR"/>
          </a:p>
        </p:txBody>
      </p:sp>
      <p:sp>
        <p:nvSpPr>
          <p:cNvPr id="23" name="Text 21"/>
          <p:cNvSpPr/>
          <p:nvPr/>
        </p:nvSpPr>
        <p:spPr>
          <a:xfrm>
            <a:off x="4937760" y="4325112"/>
            <a:ext cx="3703320" cy="274320"/>
          </a:xfrm>
          <a:prstGeom prst="rect">
            <a:avLst/>
          </a:prstGeom>
          <a:noFill/>
          <a:ln/>
        </p:spPr>
        <p:txBody>
          <a:bodyPr wrap="square" lIns="0" tIns="0" rIns="0" bIns="0" rtlCol="0" anchor="ctr"/>
          <a:lstStyle/>
          <a:p>
            <a:pPr marL="0" indent="0">
              <a:buNone/>
            </a:pPr>
            <a:r>
              <a:rPr lang="en-US" sz="1150" b="1" dirty="0">
                <a:solidFill>
                  <a:srgbClr val="1A2744"/>
                </a:solidFill>
              </a:rPr>
              <a:t>Opción 2: </a:t>
            </a:r>
            <a:r>
              <a:rPr lang="es-MX" sz="1150" b="1" dirty="0">
                <a:solidFill>
                  <a:srgbClr val="1A2744"/>
                </a:solidFill>
              </a:rPr>
              <a:t>Desviarse y jugar NC SIEMPRE</a:t>
            </a:r>
            <a:endParaRPr lang="en-US" sz="1150" dirty="0"/>
          </a:p>
        </p:txBody>
      </p:sp>
      <p:sp>
        <p:nvSpPr>
          <p:cNvPr id="24" name="Text 22"/>
          <p:cNvSpPr/>
          <p:nvPr/>
        </p:nvSpPr>
        <p:spPr>
          <a:xfrm>
            <a:off x="4937760" y="4617720"/>
            <a:ext cx="3703320" cy="365760"/>
          </a:xfrm>
          <a:prstGeom prst="rect">
            <a:avLst/>
          </a:prstGeom>
          <a:noFill/>
          <a:ln/>
        </p:spPr>
        <p:txBody>
          <a:bodyPr wrap="square" lIns="0" tIns="0" rIns="0" bIns="0" rtlCol="0" anchor="ctr"/>
          <a:lstStyle/>
          <a:p>
            <a:pPr marL="0" indent="0">
              <a:buNone/>
            </a:pPr>
            <a:r>
              <a:rPr lang="en-US" sz="1100" dirty="0">
                <a:solidFill>
                  <a:srgbClr val="102030"/>
                </a:solidFill>
              </a:rPr>
              <a:t>Pagos: 3, 1, 1, 1, ...</a:t>
            </a:r>
            <a:endParaRPr lang="en-US" sz="1100" dirty="0"/>
          </a:p>
          <a:p>
            <a:pPr marL="0" indent="0">
              <a:buNone/>
            </a:pPr>
            <a:r>
              <a:rPr lang="en-US" sz="1100" dirty="0">
                <a:solidFill>
                  <a:srgbClr val="102030"/>
                </a:solidFill>
              </a:rPr>
              <a:t>VP = 3 + δ/(1−δ)</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0060" y="377190"/>
            <a:ext cx="4114800" cy="205740"/>
          </a:xfrm>
          <a:prstGeom prst="rect">
            <a:avLst/>
          </a:prstGeom>
          <a:noFill/>
          <a:ln/>
        </p:spPr>
        <p:txBody>
          <a:bodyPr wrap="square" lIns="0" tIns="0" rIns="0" bIns="0" rtlCol="0" anchor="ctr"/>
          <a:lstStyle/>
          <a:p>
            <a:r>
              <a:rPr lang="en-US" sz="750" b="1" kern="0" spc="300" dirty="0">
                <a:solidFill>
                  <a:srgbClr val="C2410C"/>
                </a:solidFill>
                <a:latin typeface="Calibri" pitchFamily="34" charset="0"/>
                <a:ea typeface="Calibri" pitchFamily="34" charset="-122"/>
                <a:cs typeface="Calibri" pitchFamily="34" charset="-120"/>
              </a:rPr>
              <a:t>JUEGOS REPETIDOS</a:t>
            </a:r>
            <a:endParaRPr lang="en-US" sz="750" dirty="0"/>
          </a:p>
        </p:txBody>
      </p:sp>
      <p:sp>
        <p:nvSpPr>
          <p:cNvPr id="3" name="Text 1"/>
          <p:cNvSpPr/>
          <p:nvPr/>
        </p:nvSpPr>
        <p:spPr>
          <a:xfrm>
            <a:off x="480060" y="582930"/>
            <a:ext cx="6858000" cy="480060"/>
          </a:xfrm>
          <a:prstGeom prst="rect">
            <a:avLst/>
          </a:prstGeom>
          <a:noFill/>
          <a:ln/>
        </p:spPr>
        <p:txBody>
          <a:bodyPr wrap="square" lIns="0" tIns="0" rIns="0" bIns="0" rtlCol="0" anchor="ctr"/>
          <a:lstStyle/>
          <a:p>
            <a:r>
              <a:rPr lang="en-US" sz="2550" dirty="0">
                <a:solidFill>
                  <a:srgbClr val="1A1A1A"/>
                </a:solidFill>
                <a:latin typeface="Georgia" pitchFamily="34" charset="0"/>
                <a:ea typeface="Georgia" pitchFamily="34" charset="-122"/>
                <a:cs typeface="Georgia" pitchFamily="34" charset="-120"/>
              </a:rPr>
              <a:t>Simetría de la matriz</a:t>
            </a:r>
            <a:endParaRPr lang="en-US" sz="2550" dirty="0"/>
          </a:p>
        </p:txBody>
      </p:sp>
      <p:sp>
        <p:nvSpPr>
          <p:cNvPr id="4" name="Text 2"/>
          <p:cNvSpPr/>
          <p:nvPr/>
        </p:nvSpPr>
        <p:spPr>
          <a:xfrm>
            <a:off x="480060" y="1028700"/>
            <a:ext cx="7543800" cy="274320"/>
          </a:xfrm>
          <a:prstGeom prst="rect">
            <a:avLst/>
          </a:prstGeom>
          <a:noFill/>
          <a:ln/>
        </p:spPr>
        <p:txBody>
          <a:bodyPr wrap="square" lIns="0" tIns="0" rIns="0" bIns="0" rtlCol="0" anchor="ctr"/>
          <a:lstStyle/>
          <a:p>
            <a:r>
              <a:rPr lang="en-US" sz="1050" i="1" dirty="0">
                <a:solidFill>
                  <a:srgbClr val="6B7280"/>
                </a:solidFill>
                <a:latin typeface="Calibri" pitchFamily="34" charset="0"/>
                <a:ea typeface="Calibri" pitchFamily="34" charset="-122"/>
                <a:cs typeface="Calibri" pitchFamily="34" charset="-120"/>
              </a:rPr>
              <a:t>¿Una sola condición sobre δ, o una para cada jugador?</a:t>
            </a:r>
            <a:endParaRPr lang="en-US" sz="1050" dirty="0"/>
          </a:p>
        </p:txBody>
      </p:sp>
      <p:sp>
        <p:nvSpPr>
          <p:cNvPr id="5" name="Shape 3"/>
          <p:cNvSpPr/>
          <p:nvPr/>
        </p:nvSpPr>
        <p:spPr>
          <a:xfrm>
            <a:off x="480060" y="1645920"/>
            <a:ext cx="4011930" cy="2125980"/>
          </a:xfrm>
          <a:prstGeom prst="roundRect">
            <a:avLst>
              <a:gd name="adj" fmla="val 3871"/>
            </a:avLst>
          </a:prstGeom>
          <a:solidFill>
            <a:srgbClr val="FAFAF9"/>
          </a:solidFill>
          <a:ln w="9525">
            <a:solidFill>
              <a:srgbClr val="E7E5E4"/>
            </a:solidFill>
            <a:prstDash val="solid"/>
          </a:ln>
        </p:spPr>
        <p:txBody>
          <a:bodyPr/>
          <a:lstStyle/>
          <a:p>
            <a:endParaRPr lang="es-AR" sz="1350"/>
          </a:p>
        </p:txBody>
      </p:sp>
      <p:sp>
        <p:nvSpPr>
          <p:cNvPr id="6" name="Shape 4"/>
          <p:cNvSpPr/>
          <p:nvPr/>
        </p:nvSpPr>
        <p:spPr>
          <a:xfrm>
            <a:off x="788670" y="1920240"/>
            <a:ext cx="1062990" cy="274320"/>
          </a:xfrm>
          <a:prstGeom prst="roundRect">
            <a:avLst>
              <a:gd name="adj" fmla="val 50000"/>
            </a:avLst>
          </a:prstGeom>
          <a:solidFill>
            <a:srgbClr val="D1FAE5"/>
          </a:solidFill>
          <a:ln/>
        </p:spPr>
        <p:txBody>
          <a:bodyPr/>
          <a:lstStyle/>
          <a:p>
            <a:endParaRPr lang="es-AR" sz="1350"/>
          </a:p>
        </p:txBody>
      </p:sp>
      <p:sp>
        <p:nvSpPr>
          <p:cNvPr id="7" name="Text 5"/>
          <p:cNvSpPr/>
          <p:nvPr/>
        </p:nvSpPr>
        <p:spPr>
          <a:xfrm>
            <a:off x="788670" y="1920240"/>
            <a:ext cx="1062990" cy="274320"/>
          </a:xfrm>
          <a:prstGeom prst="rect">
            <a:avLst/>
          </a:prstGeom>
          <a:noFill/>
          <a:ln/>
        </p:spPr>
        <p:txBody>
          <a:bodyPr wrap="square" lIns="0" tIns="0" rIns="0" bIns="0" rtlCol="0" anchor="ctr"/>
          <a:lstStyle/>
          <a:p>
            <a:pPr algn="ctr"/>
            <a:r>
              <a:rPr lang="en-US" sz="825" b="1" dirty="0">
                <a:solidFill>
                  <a:srgbClr val="065F46"/>
                </a:solidFill>
                <a:latin typeface="Calibri" pitchFamily="34" charset="0"/>
                <a:ea typeface="Calibri" pitchFamily="34" charset="-122"/>
                <a:cs typeface="Calibri" pitchFamily="34" charset="-120"/>
              </a:rPr>
              <a:t>Simétrica</a:t>
            </a:r>
            <a:endParaRPr lang="en-US" sz="825" dirty="0"/>
          </a:p>
        </p:txBody>
      </p:sp>
      <p:sp>
        <p:nvSpPr>
          <p:cNvPr id="8" name="Text 6"/>
          <p:cNvSpPr/>
          <p:nvPr/>
        </p:nvSpPr>
        <p:spPr>
          <a:xfrm>
            <a:off x="788670" y="2366010"/>
            <a:ext cx="3394710" cy="1234440"/>
          </a:xfrm>
          <a:prstGeom prst="rect">
            <a:avLst/>
          </a:prstGeom>
          <a:noFill/>
          <a:ln/>
        </p:spPr>
        <p:txBody>
          <a:bodyPr wrap="square" lIns="0" tIns="0" rIns="0" bIns="0" rtlCol="0" anchor="t"/>
          <a:lstStyle/>
          <a:p>
            <a:pPr>
              <a:lnSpc>
                <a:spcPct val="140000"/>
              </a:lnSpc>
            </a:pPr>
            <a:r>
              <a:rPr lang="en-US" sz="1125" dirty="0">
                <a:solidFill>
                  <a:srgbClr val="1A1A1A"/>
                </a:solidFill>
                <a:latin typeface="Calibri" pitchFamily="34" charset="0"/>
                <a:ea typeface="Calibri" pitchFamily="34" charset="-122"/>
                <a:cs typeface="Calibri" pitchFamily="34" charset="-120"/>
              </a:rPr>
              <a:t>Pagos iguales para ambos jugadores → el análisis de </a:t>
            </a:r>
            <a:r>
              <a:rPr lang="en-US" sz="1125" b="1" dirty="0">
                <a:solidFill>
                  <a:srgbClr val="1A1A1A"/>
                </a:solidFill>
                <a:latin typeface="Calibri" pitchFamily="34" charset="0"/>
                <a:ea typeface="Calibri" pitchFamily="34" charset="-122"/>
                <a:cs typeface="Calibri" pitchFamily="34" charset="-120"/>
              </a:rPr>
              <a:t>VP(C)</a:t>
            </a:r>
            <a:r>
              <a:rPr lang="en-US" sz="1125" dirty="0">
                <a:solidFill>
                  <a:srgbClr val="1A1A1A"/>
                </a:solidFill>
                <a:latin typeface="Calibri" pitchFamily="34" charset="0"/>
                <a:ea typeface="Calibri" pitchFamily="34" charset="-122"/>
                <a:cs typeface="Calibri" pitchFamily="34" charset="-120"/>
              </a:rPr>
              <a:t> y </a:t>
            </a:r>
            <a:r>
              <a:rPr lang="en-US" sz="1125" b="1" dirty="0">
                <a:solidFill>
                  <a:srgbClr val="1A1A1A"/>
                </a:solidFill>
                <a:latin typeface="Calibri" pitchFamily="34" charset="0"/>
                <a:ea typeface="Calibri" pitchFamily="34" charset="-122"/>
                <a:cs typeface="Calibri" pitchFamily="34" charset="-120"/>
              </a:rPr>
              <a:t>VP(D)</a:t>
            </a:r>
            <a:r>
              <a:rPr lang="en-US" sz="1125" dirty="0">
                <a:solidFill>
                  <a:srgbClr val="1A1A1A"/>
                </a:solidFill>
                <a:latin typeface="Calibri" pitchFamily="34" charset="0"/>
                <a:ea typeface="Calibri" pitchFamily="34" charset="-122"/>
                <a:cs typeface="Calibri" pitchFamily="34" charset="-120"/>
              </a:rPr>
              <a:t> es </a:t>
            </a:r>
            <a:r>
              <a:rPr lang="en-US" sz="1125" b="1" dirty="0">
                <a:solidFill>
                  <a:srgbClr val="1A1A1A"/>
                </a:solidFill>
                <a:latin typeface="Calibri" pitchFamily="34" charset="0"/>
                <a:ea typeface="Calibri" pitchFamily="34" charset="-122"/>
                <a:cs typeface="Calibri" pitchFamily="34" charset="-120"/>
              </a:rPr>
              <a:t>idéntico para los dos</a:t>
            </a:r>
            <a:r>
              <a:rPr lang="en-US" sz="1125" dirty="0">
                <a:solidFill>
                  <a:srgbClr val="1A1A1A"/>
                </a:solidFill>
                <a:latin typeface="Calibri" pitchFamily="34" charset="0"/>
                <a:ea typeface="Calibri" pitchFamily="34" charset="-122"/>
                <a:cs typeface="Calibri" pitchFamily="34" charset="-120"/>
              </a:rPr>
              <a:t>.</a:t>
            </a:r>
            <a:endParaRPr lang="en-US" sz="1125" dirty="0"/>
          </a:p>
          <a:p>
            <a:pPr>
              <a:lnSpc>
                <a:spcPct val="140000"/>
              </a:lnSpc>
            </a:pPr>
            <a:endParaRPr lang="en-US" sz="1125" dirty="0"/>
          </a:p>
          <a:p>
            <a:pPr>
              <a:lnSpc>
                <a:spcPct val="140000"/>
              </a:lnSpc>
            </a:pPr>
            <a:r>
              <a:rPr lang="en-US" sz="1125" dirty="0">
                <a:solidFill>
                  <a:srgbClr val="1A1A1A"/>
                </a:solidFill>
                <a:latin typeface="Calibri" pitchFamily="34" charset="0"/>
                <a:ea typeface="Calibri" pitchFamily="34" charset="-122"/>
                <a:cs typeface="Calibri" pitchFamily="34" charset="-120"/>
              </a:rPr>
              <a:t>Basta con calcular la condición sobre δ una sola vez.</a:t>
            </a:r>
            <a:endParaRPr lang="en-US" sz="1125" dirty="0"/>
          </a:p>
        </p:txBody>
      </p:sp>
      <p:sp>
        <p:nvSpPr>
          <p:cNvPr id="9" name="Shape 7"/>
          <p:cNvSpPr/>
          <p:nvPr/>
        </p:nvSpPr>
        <p:spPr>
          <a:xfrm>
            <a:off x="4697730" y="1645920"/>
            <a:ext cx="4011930" cy="2125980"/>
          </a:xfrm>
          <a:prstGeom prst="roundRect">
            <a:avLst>
              <a:gd name="adj" fmla="val 3871"/>
            </a:avLst>
          </a:prstGeom>
          <a:solidFill>
            <a:srgbClr val="FAFAF9"/>
          </a:solidFill>
          <a:ln w="9525">
            <a:solidFill>
              <a:srgbClr val="E7E5E4"/>
            </a:solidFill>
            <a:prstDash val="solid"/>
          </a:ln>
        </p:spPr>
        <p:txBody>
          <a:bodyPr/>
          <a:lstStyle/>
          <a:p>
            <a:endParaRPr lang="es-AR" sz="1350"/>
          </a:p>
        </p:txBody>
      </p:sp>
      <p:sp>
        <p:nvSpPr>
          <p:cNvPr id="10" name="Shape 8"/>
          <p:cNvSpPr/>
          <p:nvPr/>
        </p:nvSpPr>
        <p:spPr>
          <a:xfrm>
            <a:off x="5006340" y="1920240"/>
            <a:ext cx="1062990" cy="274320"/>
          </a:xfrm>
          <a:prstGeom prst="roundRect">
            <a:avLst>
              <a:gd name="adj" fmla="val 50000"/>
            </a:avLst>
          </a:prstGeom>
          <a:solidFill>
            <a:srgbClr val="FEE4D6"/>
          </a:solidFill>
          <a:ln/>
        </p:spPr>
        <p:txBody>
          <a:bodyPr/>
          <a:lstStyle/>
          <a:p>
            <a:endParaRPr lang="es-AR" sz="1350"/>
          </a:p>
        </p:txBody>
      </p:sp>
      <p:sp>
        <p:nvSpPr>
          <p:cNvPr id="11" name="Text 9"/>
          <p:cNvSpPr/>
          <p:nvPr/>
        </p:nvSpPr>
        <p:spPr>
          <a:xfrm>
            <a:off x="5006340" y="1920240"/>
            <a:ext cx="1062990" cy="274320"/>
          </a:xfrm>
          <a:prstGeom prst="rect">
            <a:avLst/>
          </a:prstGeom>
          <a:noFill/>
          <a:ln/>
        </p:spPr>
        <p:txBody>
          <a:bodyPr wrap="square" lIns="0" tIns="0" rIns="0" bIns="0" rtlCol="0" anchor="ctr"/>
          <a:lstStyle/>
          <a:p>
            <a:pPr algn="ctr"/>
            <a:r>
              <a:rPr lang="en-US" sz="825" b="1" dirty="0">
                <a:solidFill>
                  <a:srgbClr val="9A3412"/>
                </a:solidFill>
                <a:latin typeface="Calibri" pitchFamily="34" charset="0"/>
                <a:ea typeface="Calibri" pitchFamily="34" charset="-122"/>
                <a:cs typeface="Calibri" pitchFamily="34" charset="-120"/>
              </a:rPr>
              <a:t>No simétrica</a:t>
            </a:r>
            <a:endParaRPr lang="en-US" sz="825" dirty="0"/>
          </a:p>
        </p:txBody>
      </p:sp>
      <p:sp>
        <p:nvSpPr>
          <p:cNvPr id="12" name="Text 10"/>
          <p:cNvSpPr/>
          <p:nvPr/>
        </p:nvSpPr>
        <p:spPr>
          <a:xfrm>
            <a:off x="5006340" y="2366010"/>
            <a:ext cx="3394710" cy="1234440"/>
          </a:xfrm>
          <a:prstGeom prst="rect">
            <a:avLst/>
          </a:prstGeom>
          <a:noFill/>
          <a:ln/>
        </p:spPr>
        <p:txBody>
          <a:bodyPr wrap="square" lIns="0" tIns="0" rIns="0" bIns="0" rtlCol="0" anchor="t"/>
          <a:lstStyle/>
          <a:p>
            <a:pPr>
              <a:lnSpc>
                <a:spcPct val="140000"/>
              </a:lnSpc>
            </a:pPr>
            <a:r>
              <a:rPr lang="en-US" sz="1125" dirty="0">
                <a:solidFill>
                  <a:srgbClr val="1A1A1A"/>
                </a:solidFill>
                <a:latin typeface="Calibri" pitchFamily="34" charset="0"/>
                <a:ea typeface="Calibri" pitchFamily="34" charset="-122"/>
                <a:cs typeface="Calibri" pitchFamily="34" charset="-120"/>
              </a:rPr>
              <a:t>Pagos distintos → cada jugador tiene </a:t>
            </a:r>
            <a:r>
              <a:rPr lang="en-US" sz="1125" b="1" dirty="0">
                <a:solidFill>
                  <a:srgbClr val="1A1A1A"/>
                </a:solidFill>
                <a:latin typeface="Calibri" pitchFamily="34" charset="0"/>
                <a:ea typeface="Calibri" pitchFamily="34" charset="-122"/>
                <a:cs typeface="Calibri" pitchFamily="34" charset="-120"/>
              </a:rPr>
              <a:t>su propia condición</a:t>
            </a:r>
            <a:r>
              <a:rPr lang="en-US" sz="1125" dirty="0">
                <a:solidFill>
                  <a:srgbClr val="1A1A1A"/>
                </a:solidFill>
                <a:latin typeface="Calibri" pitchFamily="34" charset="0"/>
                <a:ea typeface="Calibri" pitchFamily="34" charset="-122"/>
                <a:cs typeface="Calibri" pitchFamily="34" charset="-120"/>
              </a:rPr>
              <a:t> sobre δ.</a:t>
            </a:r>
            <a:endParaRPr lang="en-US" sz="1125" dirty="0"/>
          </a:p>
          <a:p>
            <a:pPr>
              <a:lnSpc>
                <a:spcPct val="140000"/>
              </a:lnSpc>
            </a:pPr>
            <a:endParaRPr lang="en-US" sz="1125" dirty="0"/>
          </a:p>
          <a:p>
            <a:pPr>
              <a:lnSpc>
                <a:spcPct val="140000"/>
              </a:lnSpc>
            </a:pPr>
            <a:r>
              <a:rPr lang="en-US" sz="1125" dirty="0">
                <a:solidFill>
                  <a:srgbClr val="1A1A1A"/>
                </a:solidFill>
                <a:latin typeface="Calibri" pitchFamily="34" charset="0"/>
                <a:ea typeface="Calibri" pitchFamily="34" charset="-122"/>
                <a:cs typeface="Calibri" pitchFamily="34" charset="-120"/>
              </a:rPr>
              <a:t>Hay que analizarlas por separado y tomar el </a:t>
            </a:r>
            <a:endParaRPr lang="en-US" sz="1125" dirty="0"/>
          </a:p>
          <a:p>
            <a:pPr>
              <a:lnSpc>
                <a:spcPct val="140000"/>
              </a:lnSpc>
            </a:pPr>
            <a:r>
              <a:rPr lang="en-US" sz="1125" b="1" dirty="0">
                <a:solidFill>
                  <a:srgbClr val="1A1A1A"/>
                </a:solidFill>
                <a:latin typeface="Calibri" pitchFamily="34" charset="0"/>
                <a:ea typeface="Calibri" pitchFamily="34" charset="-122"/>
                <a:cs typeface="Calibri" pitchFamily="34" charset="-120"/>
              </a:rPr>
              <a:t>δ mínimo más restrictivo</a:t>
            </a:r>
            <a:r>
              <a:rPr lang="en-US" sz="1125" dirty="0">
                <a:solidFill>
                  <a:srgbClr val="1A1A1A"/>
                </a:solidFill>
                <a:latin typeface="Calibri" pitchFamily="34" charset="0"/>
                <a:ea typeface="Calibri" pitchFamily="34" charset="-122"/>
                <a:cs typeface="Calibri" pitchFamily="34" charset="-120"/>
              </a:rPr>
              <a:t>.</a:t>
            </a:r>
            <a:endParaRPr lang="en-US" sz="1125" dirty="0"/>
          </a:p>
        </p:txBody>
      </p:sp>
      <p:sp>
        <p:nvSpPr>
          <p:cNvPr id="13" name="Shape 11"/>
          <p:cNvSpPr/>
          <p:nvPr/>
        </p:nvSpPr>
        <p:spPr>
          <a:xfrm>
            <a:off x="480060" y="4183380"/>
            <a:ext cx="274320" cy="20574"/>
          </a:xfrm>
          <a:prstGeom prst="rect">
            <a:avLst/>
          </a:prstGeom>
          <a:solidFill>
            <a:srgbClr val="C2410C"/>
          </a:solidFill>
          <a:ln/>
        </p:spPr>
        <p:txBody>
          <a:bodyPr/>
          <a:lstStyle/>
          <a:p>
            <a:endParaRPr lang="es-AR" sz="1350"/>
          </a:p>
        </p:txBody>
      </p:sp>
      <p:sp>
        <p:nvSpPr>
          <p:cNvPr id="14" name="Text 12"/>
          <p:cNvSpPr/>
          <p:nvPr/>
        </p:nvSpPr>
        <p:spPr>
          <a:xfrm>
            <a:off x="480060" y="4286250"/>
            <a:ext cx="8229600" cy="342900"/>
          </a:xfrm>
          <a:prstGeom prst="rect">
            <a:avLst/>
          </a:prstGeom>
          <a:noFill/>
          <a:ln/>
        </p:spPr>
        <p:txBody>
          <a:bodyPr wrap="square" lIns="0" tIns="0" rIns="0" bIns="0" rtlCol="0" anchor="ctr"/>
          <a:lstStyle/>
          <a:p>
            <a:r>
              <a:rPr lang="en-US" sz="900" b="1" dirty="0">
                <a:solidFill>
                  <a:srgbClr val="1A1A1A"/>
                </a:solidFill>
                <a:latin typeface="Calibri" pitchFamily="34" charset="0"/>
                <a:ea typeface="Calibri" pitchFamily="34" charset="-122"/>
                <a:cs typeface="Calibri" pitchFamily="34" charset="-120"/>
              </a:rPr>
              <a:t>Regla práctica  ·  </a:t>
            </a:r>
            <a:r>
              <a:rPr lang="en-US" sz="900" dirty="0">
                <a:solidFill>
                  <a:srgbClr val="6B7280"/>
                </a:solidFill>
                <a:latin typeface="Calibri" pitchFamily="34" charset="0"/>
                <a:ea typeface="Calibri" pitchFamily="34" charset="-122"/>
                <a:cs typeface="Calibri" pitchFamily="34" charset="-120"/>
              </a:rPr>
              <a:t>el equilibrio cooperativo sólo se sostiene si </a:t>
            </a:r>
            <a:r>
              <a:rPr lang="en-US" sz="900" i="1" dirty="0">
                <a:solidFill>
                  <a:srgbClr val="1A1A1A"/>
                </a:solidFill>
                <a:latin typeface="Calibri" pitchFamily="34" charset="0"/>
                <a:ea typeface="Calibri" pitchFamily="34" charset="-122"/>
                <a:cs typeface="Calibri" pitchFamily="34" charset="-120"/>
              </a:rPr>
              <a:t>todos</a:t>
            </a:r>
            <a:r>
              <a:rPr lang="en-US" sz="900" dirty="0">
                <a:solidFill>
                  <a:srgbClr val="6B7280"/>
                </a:solidFill>
                <a:latin typeface="Calibri" pitchFamily="34" charset="0"/>
                <a:ea typeface="Calibri" pitchFamily="34" charset="-122"/>
                <a:cs typeface="Calibri" pitchFamily="34" charset="-120"/>
              </a:rPr>
              <a:t> los jugadores cumplen su condición sobre δ.</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Toma y Daka — Verificación de las dos condiciones</a:t>
            </a:r>
            <a:endParaRPr lang="en-US" sz="2200" dirty="0"/>
          </a:p>
        </p:txBody>
      </p:sp>
      <p:sp>
        <p:nvSpPr>
          <p:cNvPr id="4" name="Shape 2"/>
          <p:cNvSpPr/>
          <p:nvPr/>
        </p:nvSpPr>
        <p:spPr>
          <a:xfrm>
            <a:off x="320040" y="960120"/>
            <a:ext cx="8503920" cy="658368"/>
          </a:xfrm>
          <a:prstGeom prst="rect">
            <a:avLst/>
          </a:prstGeom>
          <a:solidFill>
            <a:srgbClr val="162840"/>
          </a:solidFill>
          <a:ln w="12700">
            <a:solidFill>
              <a:srgbClr val="F5A623"/>
            </a:solidFill>
            <a:prstDash val="solid"/>
          </a:ln>
        </p:spPr>
        <p:txBody>
          <a:bodyPr/>
          <a:lstStyle/>
          <a:p>
            <a:endParaRPr lang="es-AR"/>
          </a:p>
        </p:txBody>
      </p:sp>
      <p:sp>
        <p:nvSpPr>
          <p:cNvPr id="5" name="Text 3"/>
          <p:cNvSpPr/>
          <p:nvPr/>
        </p:nvSpPr>
        <p:spPr>
          <a:xfrm>
            <a:off x="502920" y="1005840"/>
            <a:ext cx="8138160" cy="566928"/>
          </a:xfrm>
          <a:prstGeom prst="rect">
            <a:avLst/>
          </a:prstGeom>
          <a:noFill/>
          <a:ln/>
        </p:spPr>
        <p:txBody>
          <a:bodyPr wrap="square" lIns="0" tIns="0" rIns="0" bIns="0" rtlCol="0" anchor="ctr"/>
          <a:lstStyle/>
          <a:p>
            <a:pPr marL="0" indent="0">
              <a:buNone/>
            </a:pPr>
            <a:r>
              <a:rPr lang="en-US" sz="1300" b="1" dirty="0">
                <a:solidFill>
                  <a:srgbClr val="FFFFFF"/>
                </a:solidFill>
              </a:rPr>
              <a:t>Para que Toma y Daka sea equilibrio, ninguna de las dos formas de desviarse debe ser rentable. HAY QUE VERIFICAR AMBAS.</a:t>
            </a:r>
            <a:endParaRPr lang="en-US" sz="1300" dirty="0"/>
          </a:p>
        </p:txBody>
      </p:sp>
      <p:sp>
        <p:nvSpPr>
          <p:cNvPr id="6" name="Shape 4"/>
          <p:cNvSpPr/>
          <p:nvPr/>
        </p:nvSpPr>
        <p:spPr>
          <a:xfrm>
            <a:off x="320040" y="1783080"/>
            <a:ext cx="4023360" cy="1481328"/>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7" name="Text 5"/>
          <p:cNvSpPr/>
          <p:nvPr/>
        </p:nvSpPr>
        <p:spPr>
          <a:xfrm>
            <a:off x="502920" y="1856232"/>
            <a:ext cx="3657600" cy="347472"/>
          </a:xfrm>
          <a:prstGeom prst="rect">
            <a:avLst/>
          </a:prstGeom>
          <a:noFill/>
          <a:ln/>
        </p:spPr>
        <p:txBody>
          <a:bodyPr wrap="square" lIns="0" tIns="0" rIns="0" bIns="0" rtlCol="0" anchor="ctr"/>
          <a:lstStyle/>
          <a:p>
            <a:pPr marL="0" indent="0">
              <a:buNone/>
            </a:pPr>
            <a:r>
              <a:rPr lang="en-US" sz="1200" b="1" dirty="0">
                <a:solidFill>
                  <a:srgbClr val="FFFFFF"/>
                </a:solidFill>
              </a:rPr>
              <a:t>CASO 1: Desviarse y alternar (3,0,3,0...)</a:t>
            </a:r>
            <a:endParaRPr lang="en-US" sz="1200" dirty="0"/>
          </a:p>
        </p:txBody>
      </p:sp>
      <p:sp>
        <p:nvSpPr>
          <p:cNvPr id="8" name="Text 6"/>
          <p:cNvSpPr/>
          <p:nvPr/>
        </p:nvSpPr>
        <p:spPr>
          <a:xfrm>
            <a:off x="502920" y="2212848"/>
            <a:ext cx="3657600" cy="868680"/>
          </a:xfrm>
          <a:prstGeom prst="rect">
            <a:avLst/>
          </a:prstGeom>
          <a:noFill/>
          <a:ln/>
        </p:spPr>
        <p:txBody>
          <a:bodyPr wrap="square" lIns="0" tIns="0" rIns="0" bIns="0" rtlCol="0" anchor="ctr"/>
          <a:lstStyle/>
          <a:p>
            <a:pPr marL="0" indent="0">
              <a:buNone/>
            </a:pPr>
            <a:r>
              <a:rPr lang="en-US" sz="1150" dirty="0">
                <a:solidFill>
                  <a:srgbClr val="B8D0E4"/>
                </a:solidFill>
              </a:rPr>
              <a:t>2/(1−δ) ≥ 3/(1−δ²)</a:t>
            </a:r>
            <a:endParaRPr lang="en-US" sz="1150" dirty="0"/>
          </a:p>
          <a:p>
            <a:pPr marL="0" indent="0">
              <a:buNone/>
            </a:pPr>
            <a:endParaRPr lang="en-US" sz="1150" dirty="0"/>
          </a:p>
          <a:p>
            <a:pPr marL="0" indent="0">
              <a:buNone/>
            </a:pPr>
            <a:r>
              <a:rPr lang="en-US" sz="1150" dirty="0">
                <a:solidFill>
                  <a:srgbClr val="B8D0E4"/>
                </a:solidFill>
              </a:rPr>
              <a:t>Usando 1−δ² = (1−δ)(1+δ):</a:t>
            </a:r>
            <a:endParaRPr lang="en-US" sz="1150" dirty="0"/>
          </a:p>
          <a:p>
            <a:pPr marL="0" indent="0">
              <a:buNone/>
            </a:pPr>
            <a:r>
              <a:rPr lang="en-US" sz="1150" dirty="0">
                <a:solidFill>
                  <a:srgbClr val="B8D0E4"/>
                </a:solidFill>
              </a:rPr>
              <a:t>2/(1−δ) ≥ 3/[(1−δ)(1+δ)]</a:t>
            </a:r>
            <a:endParaRPr lang="en-US" sz="1150" dirty="0"/>
          </a:p>
          <a:p>
            <a:pPr marL="0" indent="0">
              <a:buNone/>
            </a:pPr>
            <a:r>
              <a:rPr lang="en-US" sz="1150" dirty="0">
                <a:solidFill>
                  <a:srgbClr val="B8D0E4"/>
                </a:solidFill>
              </a:rPr>
              <a:t>Cancelando (1−δ):</a:t>
            </a:r>
            <a:endParaRPr lang="en-US" sz="1150" dirty="0"/>
          </a:p>
          <a:p>
            <a:pPr marL="0" indent="0">
              <a:buNone/>
            </a:pPr>
            <a:r>
              <a:rPr lang="en-US" sz="1150" dirty="0">
                <a:solidFill>
                  <a:srgbClr val="B8D0E4"/>
                </a:solidFill>
              </a:rPr>
              <a:t>2 ≥ 3/(1+δ)  →  2(1+δ) ≥ 3  →  2δ ≥ 1</a:t>
            </a:r>
            <a:endParaRPr lang="en-US" sz="1150" dirty="0"/>
          </a:p>
        </p:txBody>
      </p:sp>
      <p:sp>
        <p:nvSpPr>
          <p:cNvPr id="9" name="Shape 7"/>
          <p:cNvSpPr/>
          <p:nvPr/>
        </p:nvSpPr>
        <p:spPr>
          <a:xfrm>
            <a:off x="4434840" y="1783080"/>
            <a:ext cx="4434840" cy="1481328"/>
          </a:xfrm>
          <a:prstGeom prst="rect">
            <a:avLst/>
          </a:prstGeom>
          <a:solidFill>
            <a:srgbClr val="132235"/>
          </a:solidFill>
          <a:ln w="12700">
            <a:solidFill>
              <a:srgbClr val="F5A623"/>
            </a:solidFill>
            <a:prstDash val="solid"/>
          </a:ln>
        </p:spPr>
        <p:txBody>
          <a:bodyPr/>
          <a:lstStyle/>
          <a:p>
            <a:endParaRPr lang="es-AR"/>
          </a:p>
        </p:txBody>
      </p:sp>
      <p:sp>
        <p:nvSpPr>
          <p:cNvPr id="10" name="Text 8"/>
          <p:cNvSpPr/>
          <p:nvPr/>
        </p:nvSpPr>
        <p:spPr>
          <a:xfrm>
            <a:off x="4617720" y="1856232"/>
            <a:ext cx="4069080" cy="320040"/>
          </a:xfrm>
          <a:prstGeom prst="rect">
            <a:avLst/>
          </a:prstGeom>
          <a:noFill/>
          <a:ln/>
        </p:spPr>
        <p:txBody>
          <a:bodyPr wrap="square" lIns="0" tIns="0" rIns="0" bIns="0" rtlCol="0" anchor="ctr"/>
          <a:lstStyle/>
          <a:p>
            <a:pPr marL="0" indent="0">
              <a:buNone/>
            </a:pPr>
            <a:r>
              <a:rPr lang="en-US" sz="1200" b="1" dirty="0">
                <a:solidFill>
                  <a:srgbClr val="F5A623"/>
                </a:solidFill>
              </a:rPr>
              <a:t>RESULTADO:</a:t>
            </a:r>
            <a:endParaRPr lang="en-US" sz="1200" dirty="0"/>
          </a:p>
        </p:txBody>
      </p:sp>
      <p:sp>
        <p:nvSpPr>
          <p:cNvPr id="11" name="Text 9"/>
          <p:cNvSpPr/>
          <p:nvPr/>
        </p:nvSpPr>
        <p:spPr>
          <a:xfrm>
            <a:off x="4617720" y="2212848"/>
            <a:ext cx="4069080" cy="566928"/>
          </a:xfrm>
          <a:prstGeom prst="rect">
            <a:avLst/>
          </a:prstGeom>
          <a:noFill/>
          <a:ln/>
        </p:spPr>
        <p:txBody>
          <a:bodyPr wrap="square" lIns="0" tIns="0" rIns="0" bIns="0" rtlCol="0" anchor="ctr"/>
          <a:lstStyle/>
          <a:p>
            <a:pPr marL="0" indent="0">
              <a:buNone/>
            </a:pPr>
            <a:r>
              <a:rPr lang="en-US" sz="1600" b="1" dirty="0">
                <a:solidFill>
                  <a:srgbClr val="0F7B6C"/>
                </a:solidFill>
              </a:rPr>
              <a:t>→  δ ≥ 1/2  ✓</a:t>
            </a:r>
            <a:endParaRPr lang="en-US" sz="1600" dirty="0"/>
          </a:p>
        </p:txBody>
      </p:sp>
      <p:sp>
        <p:nvSpPr>
          <p:cNvPr id="12" name="Text 10"/>
          <p:cNvSpPr/>
          <p:nvPr/>
        </p:nvSpPr>
        <p:spPr>
          <a:xfrm>
            <a:off x="4617720" y="2788920"/>
            <a:ext cx="4069080" cy="411480"/>
          </a:xfrm>
          <a:prstGeom prst="rect">
            <a:avLst/>
          </a:prstGeom>
          <a:noFill/>
          <a:ln/>
        </p:spPr>
        <p:txBody>
          <a:bodyPr wrap="square" lIns="0" tIns="0" rIns="0" bIns="0" rtlCol="0" anchor="ctr"/>
          <a:lstStyle/>
          <a:p>
            <a:pPr marL="0" indent="0">
              <a:buNone/>
            </a:pPr>
            <a:r>
              <a:rPr lang="en-US" sz="1050" i="1" dirty="0">
                <a:solidFill>
                  <a:srgbClr val="A8C0D0"/>
                </a:solidFill>
              </a:rPr>
              <a:t>Ambas condiciones dan el MISMO umbral que el trigger. La cooperación se sostiene con la misma paciencia mínima, aunque el castigo sea más corto.</a:t>
            </a:r>
            <a:endParaRPr lang="en-US" sz="1050" dirty="0"/>
          </a:p>
        </p:txBody>
      </p:sp>
      <p:sp>
        <p:nvSpPr>
          <p:cNvPr id="13" name="Shape 11"/>
          <p:cNvSpPr/>
          <p:nvPr/>
        </p:nvSpPr>
        <p:spPr>
          <a:xfrm>
            <a:off x="320040" y="3383280"/>
            <a:ext cx="4023360" cy="1481328"/>
          </a:xfrm>
          <a:prstGeom prst="rect">
            <a:avLst/>
          </a:prstGeom>
          <a:solidFill>
            <a:srgbClr val="132235"/>
          </a:solidFill>
          <a:ln w="12700">
            <a:solidFill>
              <a:srgbClr val="0F7B6C"/>
            </a:solidFill>
            <a:prstDash val="solid"/>
          </a:ln>
          <a:effectLst>
            <a:outerShdw blurRad="101600" dist="38100" dir="8100000" algn="bl" rotWithShape="0">
              <a:srgbClr val="000000">
                <a:alpha val="13000"/>
              </a:srgbClr>
            </a:outerShdw>
          </a:effectLst>
        </p:spPr>
        <p:txBody>
          <a:bodyPr/>
          <a:lstStyle/>
          <a:p>
            <a:endParaRPr lang="es-AR"/>
          </a:p>
        </p:txBody>
      </p:sp>
      <p:sp>
        <p:nvSpPr>
          <p:cNvPr id="14" name="Text 12"/>
          <p:cNvSpPr/>
          <p:nvPr/>
        </p:nvSpPr>
        <p:spPr>
          <a:xfrm>
            <a:off x="502920" y="3456432"/>
            <a:ext cx="3657600" cy="347472"/>
          </a:xfrm>
          <a:prstGeom prst="rect">
            <a:avLst/>
          </a:prstGeom>
          <a:noFill/>
          <a:ln/>
        </p:spPr>
        <p:txBody>
          <a:bodyPr wrap="square" lIns="0" tIns="0" rIns="0" bIns="0" rtlCol="0" anchor="ctr"/>
          <a:lstStyle/>
          <a:p>
            <a:pPr marL="0" indent="0">
              <a:buNone/>
            </a:pPr>
            <a:r>
              <a:rPr lang="en-US" sz="1200" b="1" dirty="0">
                <a:solidFill>
                  <a:srgbClr val="FFFFFF"/>
                </a:solidFill>
              </a:rPr>
              <a:t>CASO 2: Desviarse y jugar C̄ para siempre (3,1,1...)</a:t>
            </a:r>
            <a:endParaRPr lang="en-US" sz="1200" dirty="0"/>
          </a:p>
        </p:txBody>
      </p:sp>
      <p:sp>
        <p:nvSpPr>
          <p:cNvPr id="15" name="Text 13"/>
          <p:cNvSpPr/>
          <p:nvPr/>
        </p:nvSpPr>
        <p:spPr>
          <a:xfrm>
            <a:off x="502920" y="3813048"/>
            <a:ext cx="3657600" cy="868680"/>
          </a:xfrm>
          <a:prstGeom prst="rect">
            <a:avLst/>
          </a:prstGeom>
          <a:noFill/>
          <a:ln/>
        </p:spPr>
        <p:txBody>
          <a:bodyPr wrap="square" lIns="0" tIns="0" rIns="0" bIns="0" rtlCol="0" anchor="ctr"/>
          <a:lstStyle/>
          <a:p>
            <a:pPr marL="0" indent="0">
              <a:buNone/>
            </a:pPr>
            <a:r>
              <a:rPr lang="en-US" sz="1150" dirty="0">
                <a:solidFill>
                  <a:srgbClr val="B8D0E4"/>
                </a:solidFill>
              </a:rPr>
              <a:t>2/(1−δ) ≥ 3 + δ/(1−δ)</a:t>
            </a:r>
            <a:endParaRPr lang="en-US" sz="1150" dirty="0"/>
          </a:p>
          <a:p>
            <a:pPr marL="0" indent="0">
              <a:buNone/>
            </a:pPr>
            <a:endParaRPr lang="en-US" sz="1150" dirty="0"/>
          </a:p>
          <a:p>
            <a:pPr marL="0" indent="0">
              <a:buNone/>
            </a:pPr>
            <a:r>
              <a:rPr lang="en-US" sz="1150" dirty="0">
                <a:solidFill>
                  <a:srgbClr val="B8D0E4"/>
                </a:solidFill>
              </a:rPr>
              <a:t>2/(1−δ) ≥ [3(1−δ)+δ]/(1−δ)</a:t>
            </a:r>
            <a:endParaRPr lang="en-US" sz="1150" dirty="0"/>
          </a:p>
          <a:p>
            <a:pPr marL="0" indent="0">
              <a:buNone/>
            </a:pPr>
            <a:r>
              <a:rPr lang="en-US" sz="1150" dirty="0">
                <a:solidFill>
                  <a:srgbClr val="B8D0E4"/>
                </a:solidFill>
              </a:rPr>
              <a:t>Cancelando (1−δ):</a:t>
            </a:r>
            <a:endParaRPr lang="en-US" sz="1150" dirty="0"/>
          </a:p>
          <a:p>
            <a:pPr marL="0" indent="0">
              <a:buNone/>
            </a:pPr>
            <a:r>
              <a:rPr lang="en-US" sz="1150" dirty="0">
                <a:solidFill>
                  <a:srgbClr val="B8D0E4"/>
                </a:solidFill>
              </a:rPr>
              <a:t>2 ≥ 3 − 3δ + δ = 3 − 2δ  →  2δ ≥ 1</a:t>
            </a:r>
            <a:endParaRPr lang="en-US" sz="1150" dirty="0"/>
          </a:p>
        </p:txBody>
      </p:sp>
      <p:sp>
        <p:nvSpPr>
          <p:cNvPr id="16" name="Shape 14"/>
          <p:cNvSpPr/>
          <p:nvPr/>
        </p:nvSpPr>
        <p:spPr>
          <a:xfrm>
            <a:off x="4434840" y="3383280"/>
            <a:ext cx="4434840" cy="1481328"/>
          </a:xfrm>
          <a:prstGeom prst="rect">
            <a:avLst/>
          </a:prstGeom>
          <a:solidFill>
            <a:srgbClr val="132235"/>
          </a:solidFill>
          <a:ln w="12700">
            <a:solidFill>
              <a:srgbClr val="F5A623"/>
            </a:solidFill>
            <a:prstDash val="solid"/>
          </a:ln>
        </p:spPr>
        <p:txBody>
          <a:bodyPr/>
          <a:lstStyle/>
          <a:p>
            <a:endParaRPr lang="es-AR"/>
          </a:p>
        </p:txBody>
      </p:sp>
      <p:sp>
        <p:nvSpPr>
          <p:cNvPr id="17" name="Text 15"/>
          <p:cNvSpPr/>
          <p:nvPr/>
        </p:nvSpPr>
        <p:spPr>
          <a:xfrm>
            <a:off x="4617720" y="3456432"/>
            <a:ext cx="4069080" cy="320040"/>
          </a:xfrm>
          <a:prstGeom prst="rect">
            <a:avLst/>
          </a:prstGeom>
          <a:noFill/>
          <a:ln/>
        </p:spPr>
        <p:txBody>
          <a:bodyPr wrap="square" lIns="0" tIns="0" rIns="0" bIns="0" rtlCol="0" anchor="ctr"/>
          <a:lstStyle/>
          <a:p>
            <a:pPr marL="0" indent="0">
              <a:buNone/>
            </a:pPr>
            <a:r>
              <a:rPr lang="en-US" sz="1200" b="1" dirty="0">
                <a:solidFill>
                  <a:srgbClr val="F5A623"/>
                </a:solidFill>
              </a:rPr>
              <a:t>RESULTADO:</a:t>
            </a:r>
            <a:endParaRPr lang="en-US" sz="1200" dirty="0"/>
          </a:p>
        </p:txBody>
      </p:sp>
      <p:sp>
        <p:nvSpPr>
          <p:cNvPr id="18" name="Text 16"/>
          <p:cNvSpPr/>
          <p:nvPr/>
        </p:nvSpPr>
        <p:spPr>
          <a:xfrm>
            <a:off x="4617720" y="3813048"/>
            <a:ext cx="4069080" cy="566928"/>
          </a:xfrm>
          <a:prstGeom prst="rect">
            <a:avLst/>
          </a:prstGeom>
          <a:noFill/>
          <a:ln/>
        </p:spPr>
        <p:txBody>
          <a:bodyPr wrap="square" lIns="0" tIns="0" rIns="0" bIns="0" rtlCol="0" anchor="ctr"/>
          <a:lstStyle/>
          <a:p>
            <a:pPr marL="0" indent="0">
              <a:buNone/>
            </a:pPr>
            <a:r>
              <a:rPr lang="en-US" sz="1600" b="1" dirty="0">
                <a:solidFill>
                  <a:srgbClr val="0F7B6C"/>
                </a:solidFill>
              </a:rPr>
              <a:t>→  δ ≥ 1/2  ✓</a:t>
            </a:r>
            <a:endParaRPr lang="en-US" sz="1600" dirty="0"/>
          </a:p>
        </p:txBody>
      </p:sp>
      <p:sp>
        <p:nvSpPr>
          <p:cNvPr id="19" name="Text 17"/>
          <p:cNvSpPr/>
          <p:nvPr/>
        </p:nvSpPr>
        <p:spPr>
          <a:xfrm>
            <a:off x="4617720" y="4389120"/>
            <a:ext cx="4069080" cy="411480"/>
          </a:xfrm>
          <a:prstGeom prst="rect">
            <a:avLst/>
          </a:prstGeom>
          <a:noFill/>
          <a:ln/>
        </p:spPr>
        <p:txBody>
          <a:bodyPr wrap="square" lIns="0" tIns="0" rIns="0" bIns="0" rtlCol="0" anchor="ctr"/>
          <a:lstStyle/>
          <a:p>
            <a:pPr marL="0" indent="0">
              <a:buNone/>
            </a:pPr>
            <a:r>
              <a:rPr lang="en-US" sz="1050" i="1" dirty="0">
                <a:solidFill>
                  <a:srgbClr val="A8C0D0"/>
                </a:solidFill>
              </a:rPr>
              <a:t>Ambas condiciones dan el MISMO umbral que el trigger. La cooperación se sostiene con la misma paciencia mínima, aunque el castigo sea más corto.</a:t>
            </a:r>
            <a:endParaRPr lang="en-US" sz="1050" dirty="0"/>
          </a:p>
        </p:txBody>
      </p:sp>
      <p:sp>
        <p:nvSpPr>
          <p:cNvPr id="20" name="Shape 18"/>
          <p:cNvSpPr/>
          <p:nvPr/>
        </p:nvSpPr>
        <p:spPr>
          <a:xfrm>
            <a:off x="320040" y="4983480"/>
            <a:ext cx="8503920" cy="137160"/>
          </a:xfrm>
          <a:prstGeom prst="rect">
            <a:avLst/>
          </a:prstGeom>
          <a:solidFill>
            <a:srgbClr val="0F7B6C"/>
          </a:solidFill>
          <a:ln w="12700">
            <a:solidFill>
              <a:srgbClr val="0F7B6C"/>
            </a:solidFill>
            <a:prstDash val="solid"/>
          </a:ln>
        </p:spPr>
        <p:txBody>
          <a:bodyPr/>
          <a:lstStyle/>
          <a:p>
            <a:endParaRPr lang="es-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0060" y="582930"/>
            <a:ext cx="5486400" cy="480060"/>
          </a:xfrm>
          <a:prstGeom prst="rect">
            <a:avLst/>
          </a:prstGeom>
          <a:noFill/>
          <a:ln/>
        </p:spPr>
        <p:txBody>
          <a:bodyPr wrap="square" lIns="0" tIns="0" rIns="0" bIns="0" rtlCol="0" anchor="ctr"/>
          <a:lstStyle/>
          <a:p>
            <a:r>
              <a:rPr lang="en-US" sz="2550" dirty="0">
                <a:solidFill>
                  <a:srgbClr val="1A1A1A"/>
                </a:solidFill>
                <a:latin typeface="Georgia" pitchFamily="34" charset="0"/>
                <a:ea typeface="Georgia" pitchFamily="34" charset="-122"/>
                <a:cs typeface="Georgia" pitchFamily="34" charset="-120"/>
              </a:rPr>
              <a:t>Valor presente</a:t>
            </a:r>
            <a:endParaRPr lang="en-US" sz="2550" dirty="0"/>
          </a:p>
        </p:txBody>
      </p:sp>
      <p:sp>
        <p:nvSpPr>
          <p:cNvPr id="4" name="Text 2"/>
          <p:cNvSpPr/>
          <p:nvPr/>
        </p:nvSpPr>
        <p:spPr>
          <a:xfrm>
            <a:off x="480060" y="1028700"/>
            <a:ext cx="6172200" cy="274320"/>
          </a:xfrm>
          <a:prstGeom prst="rect">
            <a:avLst/>
          </a:prstGeom>
          <a:noFill/>
          <a:ln/>
        </p:spPr>
        <p:txBody>
          <a:bodyPr wrap="square" lIns="0" tIns="0" rIns="0" bIns="0" rtlCol="0" anchor="ctr"/>
          <a:lstStyle/>
          <a:p>
            <a:r>
              <a:rPr lang="en-US" sz="1050" i="1" dirty="0">
                <a:solidFill>
                  <a:srgbClr val="6B7280"/>
                </a:solidFill>
                <a:latin typeface="Calibri" pitchFamily="34" charset="0"/>
                <a:ea typeface="Calibri" pitchFamily="34" charset="-122"/>
                <a:cs typeface="Calibri" pitchFamily="34" charset="-120"/>
              </a:rPr>
              <a:t>Secuencias de pagos infinitas, factor de descuento δ</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485738124"/>
              </p:ext>
            </p:extLst>
          </p:nvPr>
        </p:nvGraphicFramePr>
        <p:xfrm>
          <a:off x="480060" y="1474470"/>
          <a:ext cx="8161020" cy="3337560"/>
        </p:xfrm>
        <a:graphic>
          <a:graphicData uri="http://schemas.openxmlformats.org/drawingml/2006/table">
            <a:tbl>
              <a:tblPr/>
              <a:tblGrid>
                <a:gridCol w="3566160">
                  <a:extLst>
                    <a:ext uri="{9D8B030D-6E8A-4147-A177-3AD203B41FA5}">
                      <a16:colId xmlns:a16="http://schemas.microsoft.com/office/drawing/2014/main" val="20000"/>
                    </a:ext>
                  </a:extLst>
                </a:gridCol>
                <a:gridCol w="4594860">
                  <a:extLst>
                    <a:ext uri="{9D8B030D-6E8A-4147-A177-3AD203B41FA5}">
                      <a16:colId xmlns:a16="http://schemas.microsoft.com/office/drawing/2014/main" val="20001"/>
                    </a:ext>
                  </a:extLst>
                </a:gridCol>
              </a:tblGrid>
              <a:tr h="289560">
                <a:tc>
                  <a:txBody>
                    <a:bodyPr/>
                    <a:lstStyle/>
                    <a:p>
                      <a:pPr marL="0" indent="0">
                        <a:buNone/>
                      </a:pPr>
                      <a:r>
                        <a:rPr lang="en-US" sz="900" b="1" dirty="0">
                          <a:solidFill>
                            <a:srgbClr val="1A1A1A"/>
                          </a:solidFill>
                          <a:latin typeface="Calibri" pitchFamily="34" charset="0"/>
                          <a:ea typeface="Calibri" pitchFamily="34" charset="-122"/>
                          <a:cs typeface="Calibri" pitchFamily="34" charset="-120"/>
                        </a:rPr>
                        <a:t>Secuencia de pagos</a:t>
                      </a:r>
                      <a:endParaRPr lang="en-US" sz="900" dirty="0">
                        <a:latin typeface="Calibri" charset="0"/>
                        <a:ea typeface="Calibri" charset="0"/>
                        <a:cs typeface="Calibri" charset="0"/>
                      </a:endParaRPr>
                    </a:p>
                  </a:txBody>
                  <a:tcPr marL="0" marR="76200" marT="57150" marB="95250" anchor="ctr">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solidFill>
                      <a:srgbClr val="FFFFFF"/>
                    </a:solidFill>
                  </a:tcPr>
                </a:tc>
                <a:tc>
                  <a:txBody>
                    <a:bodyPr/>
                    <a:lstStyle/>
                    <a:p>
                      <a:pPr marL="0" indent="0">
                        <a:buNone/>
                      </a:pPr>
                      <a:r>
                        <a:rPr lang="en-US" sz="900" b="1" dirty="0">
                          <a:solidFill>
                            <a:srgbClr val="1A1A1A"/>
                          </a:solidFill>
                          <a:latin typeface="Calibri" pitchFamily="34" charset="0"/>
                          <a:ea typeface="Calibri" pitchFamily="34" charset="-122"/>
                          <a:cs typeface="Calibri" pitchFamily="34" charset="-120"/>
                        </a:rPr>
                        <a:t>Valor presente</a:t>
                      </a:r>
                      <a:endParaRPr lang="en-US" sz="900" dirty="0">
                        <a:latin typeface="Calibri" charset="0"/>
                        <a:ea typeface="Calibri" charset="0"/>
                        <a:cs typeface="Calibri" charset="0"/>
                      </a:endParaRPr>
                    </a:p>
                  </a:txBody>
                  <a:tcPr marL="76200" marR="0" marT="57150" marB="95250" anchor="ctr">
                    <a:lnL w="0" cap="flat" cmpd="sng" algn="ctr">
                      <a:noFill/>
                    </a:lnL>
                    <a:lnR w="0" cap="flat" cmpd="sng" algn="ctr">
                      <a:noFill/>
                    </a:lnR>
                    <a:lnT w="0" cap="flat" cmpd="sng" algn="ctr">
                      <a:noFill/>
                    </a:lnT>
                    <a:lnB w="1587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a, a, a,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 (1 − δ)</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0, 0, 0,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1, 1, 1,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[a(1 − δ) + δ] / (1 − δ) = a + </a:t>
                      </a:r>
                      <a:r>
                        <a:rPr lang="el-GR" sz="1000" dirty="0">
                          <a:solidFill>
                            <a:srgbClr val="1A1A1A"/>
                          </a:solidFill>
                          <a:latin typeface="Calibri" pitchFamily="34" charset="0"/>
                          <a:ea typeface="Calibri" pitchFamily="34" charset="-122"/>
                          <a:cs typeface="Calibri" pitchFamily="34" charset="-120"/>
                        </a:rPr>
                        <a:t>δ/(1-δ)</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2, 2, 2,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[a(1 − δ) + 2δ] / (1 − δ) = a + 2</a:t>
                      </a:r>
                      <a:r>
                        <a:rPr lang="el-GR" sz="1000" dirty="0">
                          <a:solidFill>
                            <a:srgbClr val="1A1A1A"/>
                          </a:solidFill>
                          <a:latin typeface="Calibri" pitchFamily="34" charset="0"/>
                          <a:ea typeface="Calibri" pitchFamily="34" charset="-122"/>
                          <a:cs typeface="Calibri" pitchFamily="34" charset="-120"/>
                        </a:rPr>
                        <a:t>δ/(1-δ)</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0, a, 0,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 (1 − δ²)</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0, a, 0, a,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aδ / (1 − δ²)</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1, a, 1,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 δ) / (1 − δ²)</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1, a, 1, a,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(1 + aδ) / (1 − δ²)</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8"/>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2, a, 2,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(a + 2δ) / (1 − δ²)</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9"/>
                  </a:ext>
                </a:extLst>
              </a:tr>
              <a:tr h="300990">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2, a, 2, a, …</a:t>
                      </a:r>
                      <a:endParaRPr lang="en-US" sz="1000" dirty="0">
                        <a:latin typeface="Calibri" charset="0"/>
                        <a:ea typeface="Calibri" charset="0"/>
                        <a:cs typeface="Calibri" charset="0"/>
                      </a:endParaRPr>
                    </a:p>
                  </a:txBody>
                  <a:tcPr marL="0" marR="7620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A1A1A"/>
                          </a:solidFill>
                          <a:latin typeface="Calibri" pitchFamily="34" charset="0"/>
                          <a:ea typeface="Calibri" pitchFamily="34" charset="-122"/>
                          <a:cs typeface="Calibri" pitchFamily="34" charset="-120"/>
                        </a:rPr>
                        <a:t>(2 + aδ) / (1 − δ²)</a:t>
                      </a:r>
                      <a:endParaRPr lang="en-US" sz="1000" dirty="0">
                        <a:latin typeface="Calibri" charset="0"/>
                        <a:ea typeface="Calibri" charset="0"/>
                        <a:cs typeface="Calibri" charset="0"/>
                      </a:endParaRPr>
                    </a:p>
                  </a:txBody>
                  <a:tcPr marL="76200" marR="0" marT="76200" marB="76200" anchor="ctr">
                    <a:lnL w="0" cap="flat" cmpd="sng" algn="ctr">
                      <a:noFill/>
                    </a:lnL>
                    <a:lnR w="0" cap="flat" cmpd="sng" algn="ctr">
                      <a:noFill/>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Shape 3"/>
          <p:cNvSpPr/>
          <p:nvPr/>
        </p:nvSpPr>
        <p:spPr>
          <a:xfrm>
            <a:off x="480060" y="4937760"/>
            <a:ext cx="274320" cy="20574"/>
          </a:xfrm>
          <a:prstGeom prst="rect">
            <a:avLst/>
          </a:prstGeom>
          <a:solidFill>
            <a:srgbClr val="C2410C"/>
          </a:solidFill>
          <a:ln/>
        </p:spPr>
        <p:txBody>
          <a:bodyPr/>
          <a:lstStyle/>
          <a:p>
            <a:endParaRPr lang="es-AR" sz="1350"/>
          </a:p>
        </p:txBody>
      </p:sp>
      <p:sp>
        <p:nvSpPr>
          <p:cNvPr id="7" name="Text 4"/>
          <p:cNvSpPr/>
          <p:nvPr/>
        </p:nvSpPr>
        <p:spPr>
          <a:xfrm>
            <a:off x="857250" y="4848606"/>
            <a:ext cx="5486400" cy="205740"/>
          </a:xfrm>
          <a:prstGeom prst="rect">
            <a:avLst/>
          </a:prstGeom>
          <a:noFill/>
          <a:ln/>
        </p:spPr>
        <p:txBody>
          <a:bodyPr wrap="square" lIns="0" tIns="0" rIns="0" bIns="0" rtlCol="0" anchor="ctr"/>
          <a:lstStyle/>
          <a:p>
            <a:r>
              <a:rPr lang="en-US" sz="750" dirty="0">
                <a:solidFill>
                  <a:srgbClr val="6B7280"/>
                </a:solidFill>
                <a:latin typeface="Calibri" pitchFamily="34" charset="0"/>
                <a:ea typeface="Calibri" pitchFamily="34" charset="-122"/>
                <a:cs typeface="Calibri" pitchFamily="34" charset="-120"/>
              </a:rPr>
              <a:t>0 &lt; δ &lt; 1   ·   factor de descuento por período</a:t>
            </a:r>
            <a:endParaRPr lang="en-US" sz="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Estrategia de Castigo Limitado (K períodos)</a:t>
            </a:r>
            <a:endParaRPr lang="en-US" sz="2200" dirty="0"/>
          </a:p>
        </p:txBody>
      </p:sp>
      <p:sp>
        <p:nvSpPr>
          <p:cNvPr id="4" name="Shape 2"/>
          <p:cNvSpPr/>
          <p:nvPr/>
        </p:nvSpPr>
        <p:spPr>
          <a:xfrm>
            <a:off x="320040" y="960120"/>
            <a:ext cx="8503920" cy="731520"/>
          </a:xfrm>
          <a:prstGeom prst="rect">
            <a:avLst/>
          </a:prstGeom>
          <a:solidFill>
            <a:srgbClr val="0F3A2A"/>
          </a:solidFill>
          <a:ln w="12700">
            <a:solidFill>
              <a:srgbClr val="0F7B6C"/>
            </a:solidFill>
            <a:prstDash val="solid"/>
          </a:ln>
        </p:spPr>
        <p:txBody>
          <a:bodyPr/>
          <a:lstStyle/>
          <a:p>
            <a:endParaRPr lang="es-AR"/>
          </a:p>
        </p:txBody>
      </p:sp>
      <p:sp>
        <p:nvSpPr>
          <p:cNvPr id="5" name="Text 3"/>
          <p:cNvSpPr/>
          <p:nvPr/>
        </p:nvSpPr>
        <p:spPr>
          <a:xfrm>
            <a:off x="502920" y="1005840"/>
            <a:ext cx="8138160" cy="621792"/>
          </a:xfrm>
          <a:prstGeom prst="rect">
            <a:avLst/>
          </a:prstGeom>
          <a:noFill/>
          <a:ln/>
        </p:spPr>
        <p:txBody>
          <a:bodyPr wrap="square" lIns="0" tIns="0" rIns="0" bIns="0" rtlCol="0" anchor="ctr"/>
          <a:lstStyle/>
          <a:p>
            <a:pPr marL="0" indent="0">
              <a:buNone/>
            </a:pPr>
            <a:r>
              <a:rPr lang="en-US" sz="1300" i="1" dirty="0">
                <a:solidFill>
                  <a:srgbClr val="FFFFFF"/>
                </a:solidFill>
              </a:rPr>
              <a:t>Generalización entre Toma y Daka (K=1) y Trigger (K=∞). Se castiga durante exactamente K períodos, luego se perdona sin condición.</a:t>
            </a:r>
            <a:endParaRPr lang="en-US" sz="1300" dirty="0"/>
          </a:p>
        </p:txBody>
      </p:sp>
      <p:sp>
        <p:nvSpPr>
          <p:cNvPr id="6" name="Shape 4"/>
          <p:cNvSpPr/>
          <p:nvPr/>
        </p:nvSpPr>
        <p:spPr>
          <a:xfrm>
            <a:off x="822960" y="1901952"/>
            <a:ext cx="7498080" cy="137160"/>
          </a:xfrm>
          <a:prstGeom prst="rect">
            <a:avLst/>
          </a:prstGeom>
          <a:solidFill>
            <a:srgbClr val="2A4060"/>
          </a:solidFill>
          <a:ln w="12700">
            <a:solidFill>
              <a:srgbClr val="2A4060"/>
            </a:solidFill>
            <a:prstDash val="solid"/>
          </a:ln>
        </p:spPr>
        <p:txBody>
          <a:bodyPr/>
          <a:lstStyle/>
          <a:p>
            <a:endParaRPr lang="es-AR"/>
          </a:p>
        </p:txBody>
      </p:sp>
      <p:sp>
        <p:nvSpPr>
          <p:cNvPr id="7" name="Shape 5"/>
          <p:cNvSpPr/>
          <p:nvPr/>
        </p:nvSpPr>
        <p:spPr>
          <a:xfrm>
            <a:off x="713232" y="1847088"/>
            <a:ext cx="219456" cy="256032"/>
          </a:xfrm>
          <a:prstGeom prst="ellipse">
            <a:avLst/>
          </a:prstGeom>
          <a:solidFill>
            <a:srgbClr val="0F7B6C"/>
          </a:solidFill>
          <a:ln w="12700">
            <a:solidFill>
              <a:srgbClr val="0F7B6C"/>
            </a:solidFill>
            <a:prstDash val="solid"/>
          </a:ln>
        </p:spPr>
        <p:txBody>
          <a:bodyPr/>
          <a:lstStyle/>
          <a:p>
            <a:endParaRPr lang="es-AR"/>
          </a:p>
        </p:txBody>
      </p:sp>
      <p:sp>
        <p:nvSpPr>
          <p:cNvPr id="8" name="Text 6"/>
          <p:cNvSpPr/>
          <p:nvPr/>
        </p:nvSpPr>
        <p:spPr>
          <a:xfrm>
            <a:off x="365760" y="2148840"/>
            <a:ext cx="914400" cy="292608"/>
          </a:xfrm>
          <a:prstGeom prst="rect">
            <a:avLst/>
          </a:prstGeom>
          <a:noFill/>
          <a:ln/>
        </p:spPr>
        <p:txBody>
          <a:bodyPr wrap="square" lIns="0" tIns="0" rIns="0" bIns="0" rtlCol="0" anchor="ctr"/>
          <a:lstStyle/>
          <a:p>
            <a:pPr marL="0" indent="0" algn="ctr">
              <a:buNone/>
            </a:pPr>
            <a:r>
              <a:rPr lang="en-US" sz="1300" b="1" dirty="0">
                <a:solidFill>
                  <a:srgbClr val="0F7B6C"/>
                </a:solidFill>
              </a:rPr>
              <a:t>K = 1</a:t>
            </a:r>
            <a:endParaRPr lang="en-US" sz="1300" dirty="0"/>
          </a:p>
        </p:txBody>
      </p:sp>
      <p:sp>
        <p:nvSpPr>
          <p:cNvPr id="9" name="Text 7"/>
          <p:cNvSpPr/>
          <p:nvPr/>
        </p:nvSpPr>
        <p:spPr>
          <a:xfrm>
            <a:off x="228600" y="2450592"/>
            <a:ext cx="1188720" cy="475488"/>
          </a:xfrm>
          <a:prstGeom prst="rect">
            <a:avLst/>
          </a:prstGeom>
          <a:noFill/>
          <a:ln/>
        </p:spPr>
        <p:txBody>
          <a:bodyPr wrap="square" lIns="0" tIns="0" rIns="0" bIns="0" rtlCol="0" anchor="ctr"/>
          <a:lstStyle/>
          <a:p>
            <a:pPr marL="0" indent="0" algn="ctr">
              <a:buNone/>
            </a:pPr>
            <a:r>
              <a:rPr lang="en-US" sz="1000" dirty="0">
                <a:solidFill>
                  <a:srgbClr val="A8C0D0"/>
                </a:solidFill>
              </a:rPr>
              <a:t>Toma y Daka</a:t>
            </a:r>
            <a:endParaRPr lang="en-US" sz="1000" dirty="0"/>
          </a:p>
          <a:p>
            <a:pPr marL="0" indent="0" algn="ctr">
              <a:buNone/>
            </a:pPr>
            <a:r>
              <a:rPr lang="en-US" sz="1000" dirty="0">
                <a:solidFill>
                  <a:srgbClr val="A8C0D0"/>
                </a:solidFill>
              </a:rPr>
              <a:t>Castigo 1 período</a:t>
            </a:r>
            <a:endParaRPr lang="en-US" sz="1000" dirty="0"/>
          </a:p>
        </p:txBody>
      </p:sp>
      <p:sp>
        <p:nvSpPr>
          <p:cNvPr id="10" name="Shape 8"/>
          <p:cNvSpPr/>
          <p:nvPr/>
        </p:nvSpPr>
        <p:spPr>
          <a:xfrm>
            <a:off x="4462272" y="1847088"/>
            <a:ext cx="219456" cy="256032"/>
          </a:xfrm>
          <a:prstGeom prst="ellipse">
            <a:avLst/>
          </a:prstGeom>
          <a:solidFill>
            <a:srgbClr val="F5A623"/>
          </a:solidFill>
          <a:ln w="12700">
            <a:solidFill>
              <a:srgbClr val="F5A623"/>
            </a:solidFill>
            <a:prstDash val="solid"/>
          </a:ln>
        </p:spPr>
        <p:txBody>
          <a:bodyPr/>
          <a:lstStyle/>
          <a:p>
            <a:endParaRPr lang="es-AR"/>
          </a:p>
        </p:txBody>
      </p:sp>
      <p:sp>
        <p:nvSpPr>
          <p:cNvPr id="11" name="Text 9"/>
          <p:cNvSpPr/>
          <p:nvPr/>
        </p:nvSpPr>
        <p:spPr>
          <a:xfrm>
            <a:off x="4114800" y="2148840"/>
            <a:ext cx="914400" cy="292608"/>
          </a:xfrm>
          <a:prstGeom prst="rect">
            <a:avLst/>
          </a:prstGeom>
          <a:noFill/>
          <a:ln/>
        </p:spPr>
        <p:txBody>
          <a:bodyPr wrap="square" lIns="0" tIns="0" rIns="0" bIns="0" rtlCol="0" anchor="ctr"/>
          <a:lstStyle/>
          <a:p>
            <a:pPr marL="0" indent="0" algn="ctr">
              <a:buNone/>
            </a:pPr>
            <a:r>
              <a:rPr lang="en-US" sz="1300" b="1" dirty="0">
                <a:solidFill>
                  <a:srgbClr val="F5A623"/>
                </a:solidFill>
              </a:rPr>
              <a:t>K = N</a:t>
            </a:r>
            <a:endParaRPr lang="en-US" sz="1300" dirty="0"/>
          </a:p>
        </p:txBody>
      </p:sp>
      <p:sp>
        <p:nvSpPr>
          <p:cNvPr id="12" name="Text 10"/>
          <p:cNvSpPr/>
          <p:nvPr/>
        </p:nvSpPr>
        <p:spPr>
          <a:xfrm>
            <a:off x="3977640" y="2450592"/>
            <a:ext cx="1188720" cy="475488"/>
          </a:xfrm>
          <a:prstGeom prst="rect">
            <a:avLst/>
          </a:prstGeom>
          <a:noFill/>
          <a:ln/>
        </p:spPr>
        <p:txBody>
          <a:bodyPr wrap="square" lIns="0" tIns="0" rIns="0" bIns="0" rtlCol="0" anchor="ctr"/>
          <a:lstStyle/>
          <a:p>
            <a:pPr marL="0" indent="0" algn="ctr">
              <a:buNone/>
            </a:pPr>
            <a:r>
              <a:rPr lang="en-US" sz="1000" dirty="0">
                <a:solidFill>
                  <a:srgbClr val="A8C0D0"/>
                </a:solidFill>
              </a:rPr>
              <a:t>Castigo Limitado</a:t>
            </a:r>
            <a:endParaRPr lang="en-US" sz="1000" dirty="0"/>
          </a:p>
          <a:p>
            <a:pPr marL="0" indent="0" algn="ctr">
              <a:buNone/>
            </a:pPr>
            <a:r>
              <a:rPr lang="en-US" sz="1000" dirty="0">
                <a:solidFill>
                  <a:srgbClr val="A8C0D0"/>
                </a:solidFill>
              </a:rPr>
              <a:t>N períodos elegido</a:t>
            </a:r>
            <a:endParaRPr lang="en-US" sz="1000" dirty="0"/>
          </a:p>
        </p:txBody>
      </p:sp>
      <p:sp>
        <p:nvSpPr>
          <p:cNvPr id="13" name="Shape 11"/>
          <p:cNvSpPr/>
          <p:nvPr/>
        </p:nvSpPr>
        <p:spPr>
          <a:xfrm>
            <a:off x="7845552" y="1847088"/>
            <a:ext cx="219456" cy="256032"/>
          </a:xfrm>
          <a:prstGeom prst="ellipse">
            <a:avLst/>
          </a:prstGeom>
          <a:solidFill>
            <a:srgbClr val="C0392B"/>
          </a:solidFill>
          <a:ln w="12700">
            <a:solidFill>
              <a:srgbClr val="C0392B"/>
            </a:solidFill>
            <a:prstDash val="solid"/>
          </a:ln>
        </p:spPr>
        <p:txBody>
          <a:bodyPr/>
          <a:lstStyle/>
          <a:p>
            <a:endParaRPr lang="es-AR"/>
          </a:p>
        </p:txBody>
      </p:sp>
      <p:sp>
        <p:nvSpPr>
          <p:cNvPr id="14" name="Text 12"/>
          <p:cNvSpPr/>
          <p:nvPr/>
        </p:nvSpPr>
        <p:spPr>
          <a:xfrm>
            <a:off x="7498080" y="2148840"/>
            <a:ext cx="914400" cy="292608"/>
          </a:xfrm>
          <a:prstGeom prst="rect">
            <a:avLst/>
          </a:prstGeom>
          <a:noFill/>
          <a:ln/>
        </p:spPr>
        <p:txBody>
          <a:bodyPr wrap="square" lIns="0" tIns="0" rIns="0" bIns="0" rtlCol="0" anchor="ctr"/>
          <a:lstStyle/>
          <a:p>
            <a:pPr marL="0" indent="0" algn="ctr">
              <a:buNone/>
            </a:pPr>
            <a:r>
              <a:rPr lang="en-US" sz="1300" b="1" dirty="0">
                <a:solidFill>
                  <a:srgbClr val="C0392B"/>
                </a:solidFill>
              </a:rPr>
              <a:t>K = ∞</a:t>
            </a:r>
            <a:endParaRPr lang="en-US" sz="1300" dirty="0"/>
          </a:p>
        </p:txBody>
      </p:sp>
      <p:sp>
        <p:nvSpPr>
          <p:cNvPr id="15" name="Text 13"/>
          <p:cNvSpPr/>
          <p:nvPr/>
        </p:nvSpPr>
        <p:spPr>
          <a:xfrm>
            <a:off x="7360920" y="2450592"/>
            <a:ext cx="1188720" cy="475488"/>
          </a:xfrm>
          <a:prstGeom prst="rect">
            <a:avLst/>
          </a:prstGeom>
          <a:noFill/>
          <a:ln/>
        </p:spPr>
        <p:txBody>
          <a:bodyPr wrap="square" lIns="0" tIns="0" rIns="0" bIns="0" rtlCol="0" anchor="ctr"/>
          <a:lstStyle/>
          <a:p>
            <a:pPr marL="0" indent="0" algn="ctr">
              <a:buNone/>
            </a:pPr>
            <a:r>
              <a:rPr lang="en-US" sz="1000" dirty="0">
                <a:solidFill>
                  <a:srgbClr val="A8C0D0"/>
                </a:solidFill>
              </a:rPr>
              <a:t>Trigger</a:t>
            </a:r>
            <a:endParaRPr lang="en-US" sz="1000" dirty="0"/>
          </a:p>
          <a:p>
            <a:pPr marL="0" indent="0" algn="ctr">
              <a:buNone/>
            </a:pPr>
            <a:r>
              <a:rPr lang="en-US" sz="1000" dirty="0">
                <a:solidFill>
                  <a:srgbClr val="A8C0D0"/>
                </a:solidFill>
              </a:rPr>
              <a:t>Castigo eterno</a:t>
            </a:r>
            <a:endParaRPr lang="en-US" sz="1000" dirty="0"/>
          </a:p>
        </p:txBody>
      </p:sp>
      <p:sp>
        <p:nvSpPr>
          <p:cNvPr id="16" name="Shape 14"/>
          <p:cNvSpPr/>
          <p:nvPr/>
        </p:nvSpPr>
        <p:spPr>
          <a:xfrm>
            <a:off x="320040" y="3108960"/>
            <a:ext cx="8503920" cy="566928"/>
          </a:xfrm>
          <a:prstGeom prst="rect">
            <a:avLst/>
          </a:prstGeom>
          <a:solidFill>
            <a:srgbClr val="132235"/>
          </a:solidFill>
          <a:ln w="12700">
            <a:solidFill>
              <a:srgbClr val="14A896"/>
            </a:solidFill>
            <a:prstDash val="solid"/>
          </a:ln>
        </p:spPr>
        <p:txBody>
          <a:bodyPr/>
          <a:lstStyle/>
          <a:p>
            <a:endParaRPr lang="es-AR"/>
          </a:p>
        </p:txBody>
      </p:sp>
      <p:sp>
        <p:nvSpPr>
          <p:cNvPr id="17" name="Text 15"/>
          <p:cNvSpPr/>
          <p:nvPr/>
        </p:nvSpPr>
        <p:spPr>
          <a:xfrm>
            <a:off x="502920" y="3154680"/>
            <a:ext cx="2560320" cy="256032"/>
          </a:xfrm>
          <a:prstGeom prst="rect">
            <a:avLst/>
          </a:prstGeom>
          <a:noFill/>
          <a:ln/>
        </p:spPr>
        <p:txBody>
          <a:bodyPr wrap="square" lIns="0" tIns="0" rIns="0" bIns="0" rtlCol="0" anchor="ctr"/>
          <a:lstStyle/>
          <a:p>
            <a:pPr marL="0" indent="0">
              <a:buNone/>
            </a:pPr>
            <a:r>
              <a:rPr lang="en-US" sz="1200" b="1" dirty="0">
                <a:solidFill>
                  <a:srgbClr val="FFFFFF"/>
                </a:solidFill>
              </a:rPr>
              <a:t>¿Por qué es útil?</a:t>
            </a:r>
            <a:endParaRPr lang="en-US" sz="1200" dirty="0"/>
          </a:p>
        </p:txBody>
      </p:sp>
      <p:sp>
        <p:nvSpPr>
          <p:cNvPr id="18" name="Text 16"/>
          <p:cNvSpPr/>
          <p:nvPr/>
        </p:nvSpPr>
        <p:spPr>
          <a:xfrm>
            <a:off x="3108960" y="3154680"/>
            <a:ext cx="5577840" cy="457200"/>
          </a:xfrm>
          <a:prstGeom prst="rect">
            <a:avLst/>
          </a:prstGeom>
          <a:noFill/>
          <a:ln/>
        </p:spPr>
        <p:txBody>
          <a:bodyPr wrap="square" lIns="0" tIns="0" rIns="0" bIns="0" rtlCol="0" anchor="ctr"/>
          <a:lstStyle/>
          <a:p>
            <a:pPr marL="0" indent="0">
              <a:buNone/>
            </a:pPr>
            <a:r>
              <a:rPr lang="en-US" sz="1150" dirty="0">
                <a:solidFill>
                  <a:srgbClr val="B8D0E4"/>
                </a:solidFill>
              </a:rPr>
              <a:t>Permite modelar diferentes grados de 'dureza' del castigo. En la vida real, los acuerdos coercitivos tienen duraciones específicas, no infinitas ni de un solo período.</a:t>
            </a:r>
            <a:endParaRPr lang="en-US" sz="1150" dirty="0"/>
          </a:p>
        </p:txBody>
      </p:sp>
      <p:sp>
        <p:nvSpPr>
          <p:cNvPr id="19" name="Shape 17"/>
          <p:cNvSpPr/>
          <p:nvPr/>
        </p:nvSpPr>
        <p:spPr>
          <a:xfrm>
            <a:off x="320040" y="3767328"/>
            <a:ext cx="8503920" cy="566928"/>
          </a:xfrm>
          <a:prstGeom prst="rect">
            <a:avLst/>
          </a:prstGeom>
          <a:solidFill>
            <a:srgbClr val="132235"/>
          </a:solidFill>
          <a:ln w="12700">
            <a:solidFill>
              <a:srgbClr val="14A896"/>
            </a:solidFill>
            <a:prstDash val="solid"/>
          </a:ln>
        </p:spPr>
        <p:txBody>
          <a:bodyPr/>
          <a:lstStyle/>
          <a:p>
            <a:endParaRPr lang="es-AR"/>
          </a:p>
        </p:txBody>
      </p:sp>
      <p:sp>
        <p:nvSpPr>
          <p:cNvPr id="20" name="Text 18"/>
          <p:cNvSpPr/>
          <p:nvPr/>
        </p:nvSpPr>
        <p:spPr>
          <a:xfrm>
            <a:off x="502920" y="3813048"/>
            <a:ext cx="2560320" cy="256032"/>
          </a:xfrm>
          <a:prstGeom prst="rect">
            <a:avLst/>
          </a:prstGeom>
          <a:noFill/>
          <a:ln/>
        </p:spPr>
        <p:txBody>
          <a:bodyPr wrap="square" lIns="0" tIns="0" rIns="0" bIns="0" rtlCol="0" anchor="ctr"/>
          <a:lstStyle/>
          <a:p>
            <a:pPr marL="0" indent="0">
              <a:buNone/>
            </a:pPr>
            <a:r>
              <a:rPr lang="en-US" sz="1200" b="1" dirty="0">
                <a:solidFill>
                  <a:srgbClr val="FFFFFF"/>
                </a:solidFill>
              </a:rPr>
              <a:t>Condición para cooperar</a:t>
            </a:r>
            <a:endParaRPr lang="en-US" sz="1200" dirty="0"/>
          </a:p>
        </p:txBody>
      </p:sp>
      <p:sp>
        <p:nvSpPr>
          <p:cNvPr id="21" name="Text 19"/>
          <p:cNvSpPr/>
          <p:nvPr/>
        </p:nvSpPr>
        <p:spPr>
          <a:xfrm>
            <a:off x="3108960" y="3813048"/>
            <a:ext cx="5577840" cy="457200"/>
          </a:xfrm>
          <a:prstGeom prst="rect">
            <a:avLst/>
          </a:prstGeom>
          <a:noFill/>
          <a:ln/>
        </p:spPr>
        <p:txBody>
          <a:bodyPr wrap="square" lIns="0" tIns="0" rIns="0" bIns="0" rtlCol="0" anchor="ctr"/>
          <a:lstStyle/>
          <a:p>
            <a:pPr marL="0" indent="0">
              <a:buNone/>
            </a:pPr>
            <a:r>
              <a:rPr lang="en-US" sz="1150" dirty="0">
                <a:solidFill>
                  <a:srgbClr val="B8D0E4"/>
                </a:solidFill>
              </a:rPr>
              <a:t>Similar a trigger y Toma y Daka: depende de δ (paciencia). A mayor K, el castigo es más severo → se puede sostener cooperación con menor δ mínimo.</a:t>
            </a:r>
            <a:endParaRPr lang="en-US" sz="1150" dirty="0"/>
          </a:p>
        </p:txBody>
      </p:sp>
      <p:sp>
        <p:nvSpPr>
          <p:cNvPr id="22" name="Shape 20"/>
          <p:cNvSpPr/>
          <p:nvPr/>
        </p:nvSpPr>
        <p:spPr>
          <a:xfrm>
            <a:off x="320040" y="4425696"/>
            <a:ext cx="8503920" cy="566928"/>
          </a:xfrm>
          <a:prstGeom prst="rect">
            <a:avLst/>
          </a:prstGeom>
          <a:solidFill>
            <a:srgbClr val="132235"/>
          </a:solidFill>
          <a:ln w="12700">
            <a:solidFill>
              <a:srgbClr val="14A896"/>
            </a:solidFill>
            <a:prstDash val="solid"/>
          </a:ln>
        </p:spPr>
        <p:txBody>
          <a:bodyPr/>
          <a:lstStyle/>
          <a:p>
            <a:endParaRPr lang="es-AR"/>
          </a:p>
        </p:txBody>
      </p:sp>
      <p:sp>
        <p:nvSpPr>
          <p:cNvPr id="23" name="Text 21"/>
          <p:cNvSpPr/>
          <p:nvPr/>
        </p:nvSpPr>
        <p:spPr>
          <a:xfrm>
            <a:off x="502920" y="4471416"/>
            <a:ext cx="2560320" cy="256032"/>
          </a:xfrm>
          <a:prstGeom prst="rect">
            <a:avLst/>
          </a:prstGeom>
          <a:noFill/>
          <a:ln/>
        </p:spPr>
        <p:txBody>
          <a:bodyPr wrap="square" lIns="0" tIns="0" rIns="0" bIns="0" rtlCol="0" anchor="ctr"/>
          <a:lstStyle/>
          <a:p>
            <a:pPr marL="0" indent="0">
              <a:buNone/>
            </a:pPr>
            <a:r>
              <a:rPr lang="en-US" sz="1200" b="1" dirty="0">
                <a:solidFill>
                  <a:srgbClr val="FFFFFF"/>
                </a:solidFill>
              </a:rPr>
              <a:t>Mensaje de fondo</a:t>
            </a:r>
            <a:endParaRPr lang="en-US" sz="1200" dirty="0"/>
          </a:p>
        </p:txBody>
      </p:sp>
      <p:sp>
        <p:nvSpPr>
          <p:cNvPr id="24" name="Text 22"/>
          <p:cNvSpPr/>
          <p:nvPr/>
        </p:nvSpPr>
        <p:spPr>
          <a:xfrm>
            <a:off x="3108960" y="4471416"/>
            <a:ext cx="5577840" cy="457200"/>
          </a:xfrm>
          <a:prstGeom prst="rect">
            <a:avLst/>
          </a:prstGeom>
          <a:noFill/>
          <a:ln/>
        </p:spPr>
        <p:txBody>
          <a:bodyPr wrap="square" lIns="0" tIns="0" rIns="0" bIns="0" rtlCol="0" anchor="ctr"/>
          <a:lstStyle/>
          <a:p>
            <a:pPr marL="0" indent="0">
              <a:buNone/>
            </a:pPr>
            <a:r>
              <a:rPr lang="en-US" sz="1150" dirty="0">
                <a:solidFill>
                  <a:srgbClr val="B8D0E4"/>
                </a:solidFill>
              </a:rPr>
              <a:t>No existe una única forma de sostener cooperación. Importa: la paciencia (δ ≥ ½), la credibilidad del castigo, y la longitud del castigo. La pregunta relevante no es '¿hay cooperación?' sino '¿qué tan severo debe ser el castigo?'</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4">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1463040"/>
            <a:ext cx="164592" cy="2194560"/>
          </a:xfrm>
          <a:prstGeom prst="rect">
            <a:avLst/>
          </a:prstGeom>
          <a:solidFill>
            <a:srgbClr val="F5A623"/>
          </a:solidFill>
          <a:ln w="12700">
            <a:solidFill>
              <a:srgbClr val="F5A623"/>
            </a:solidFill>
            <a:prstDash val="solid"/>
          </a:ln>
        </p:spPr>
        <p:txBody>
          <a:bodyPr/>
          <a:lstStyle/>
          <a:p>
            <a:endParaRPr lang="es-AR"/>
          </a:p>
        </p:txBody>
      </p:sp>
      <p:sp>
        <p:nvSpPr>
          <p:cNvPr id="3" name="Text 1"/>
          <p:cNvSpPr/>
          <p:nvPr/>
        </p:nvSpPr>
        <p:spPr>
          <a:xfrm>
            <a:off x="411480" y="1554480"/>
            <a:ext cx="8229600" cy="457200"/>
          </a:xfrm>
          <a:prstGeom prst="rect">
            <a:avLst/>
          </a:prstGeom>
          <a:noFill/>
          <a:ln/>
        </p:spPr>
        <p:txBody>
          <a:bodyPr wrap="square" lIns="0" tIns="0" rIns="0" bIns="0" rtlCol="0" anchor="ctr"/>
          <a:lstStyle/>
          <a:p>
            <a:pPr marL="0" indent="0">
              <a:buNone/>
            </a:pPr>
            <a:r>
              <a:rPr lang="en-US" sz="1200" b="1" kern="0" spc="400" dirty="0">
                <a:solidFill>
                  <a:srgbClr val="F5A623"/>
                </a:solidFill>
              </a:rPr>
              <a:t>SECCIÓN 6</a:t>
            </a:r>
            <a:endParaRPr lang="en-US" sz="1200" dirty="0"/>
          </a:p>
        </p:txBody>
      </p:sp>
      <p:sp>
        <p:nvSpPr>
          <p:cNvPr id="4" name="Text 2"/>
          <p:cNvSpPr/>
          <p:nvPr/>
        </p:nvSpPr>
        <p:spPr>
          <a:xfrm>
            <a:off x="411480" y="1920240"/>
            <a:ext cx="8229600" cy="914400"/>
          </a:xfrm>
          <a:prstGeom prst="rect">
            <a:avLst/>
          </a:prstGeom>
          <a:noFill/>
          <a:ln/>
        </p:spPr>
        <p:txBody>
          <a:bodyPr wrap="square" lIns="0" tIns="0" rIns="0" bIns="0" rtlCol="0" anchor="ctr"/>
          <a:lstStyle/>
          <a:p>
            <a:pPr marL="0" indent="0">
              <a:buNone/>
            </a:pPr>
            <a:r>
              <a:rPr lang="en-US" sz="3400" b="1" dirty="0">
                <a:solidFill>
                  <a:srgbClr val="FFFFFF"/>
                </a:solidFill>
              </a:rPr>
              <a:t>Errores Comunes y Conceptos Trampa</a:t>
            </a:r>
            <a:endParaRPr lang="en-US" sz="3400" dirty="0"/>
          </a:p>
        </p:txBody>
      </p:sp>
      <p:sp>
        <p:nvSpPr>
          <p:cNvPr id="5" name="Text 3"/>
          <p:cNvSpPr/>
          <p:nvPr/>
        </p:nvSpPr>
        <p:spPr>
          <a:xfrm>
            <a:off x="411480" y="2880360"/>
            <a:ext cx="7772400" cy="731520"/>
          </a:xfrm>
          <a:prstGeom prst="rect">
            <a:avLst/>
          </a:prstGeom>
          <a:noFill/>
          <a:ln/>
        </p:spPr>
        <p:txBody>
          <a:bodyPr wrap="square" lIns="0" tIns="0" rIns="0" bIns="0" rtlCol="0" anchor="ctr"/>
          <a:lstStyle/>
          <a:p>
            <a:pPr marL="0" indent="0">
              <a:buNone/>
            </a:pPr>
            <a:r>
              <a:rPr lang="en-US" sz="1400" i="1" dirty="0">
                <a:solidFill>
                  <a:srgbClr val="A8C0D0"/>
                </a:solidFill>
              </a:rPr>
              <a:t>Los puntos donde más se equivocan en los exámenes</a:t>
            </a:r>
            <a:endParaRPr lang="en-US" sz="1400" dirty="0"/>
          </a:p>
        </p:txBody>
      </p:sp>
      <p:sp>
        <p:nvSpPr>
          <p:cNvPr id="6" name="Shape 4"/>
          <p:cNvSpPr/>
          <p:nvPr/>
        </p:nvSpPr>
        <p:spPr>
          <a:xfrm>
            <a:off x="0" y="4754880"/>
            <a:ext cx="9144000" cy="393192"/>
          </a:xfrm>
          <a:prstGeom prst="rect">
            <a:avLst/>
          </a:prstGeom>
          <a:solidFill>
            <a:srgbClr val="0F7B6C"/>
          </a:solidFill>
          <a:ln w="12700">
            <a:solidFill>
              <a:srgbClr val="0F7B6C"/>
            </a:solidFill>
            <a:prstDash val="solid"/>
          </a:ln>
        </p:spPr>
        <p:txBody>
          <a:bodyPr/>
          <a:lstStyle/>
          <a:p>
            <a:endParaRPr lang="es-AR"/>
          </a:p>
        </p:txBody>
      </p:sp>
      <p:sp>
        <p:nvSpPr>
          <p:cNvPr id="7" name="Text 5"/>
          <p:cNvSpPr/>
          <p:nvPr/>
        </p:nvSpPr>
        <p:spPr>
          <a:xfrm>
            <a:off x="365760" y="4754880"/>
            <a:ext cx="8229600" cy="393192"/>
          </a:xfrm>
          <a:prstGeom prst="rect">
            <a:avLst/>
          </a:prstGeom>
          <a:noFill/>
          <a:ln/>
        </p:spPr>
        <p:txBody>
          <a:bodyPr wrap="square" lIns="0" tIns="0" rIns="0" bIns="0" rtlCol="0" anchor="ctr"/>
          <a:lstStyle/>
          <a:p>
            <a:pPr marL="0" indent="0">
              <a:buNone/>
            </a:pPr>
            <a:r>
              <a:rPr lang="en-US" sz="1000" dirty="0">
                <a:solidFill>
                  <a:srgbClr val="FFFFFF"/>
                </a:solidFill>
              </a:rPr>
              <a:t>Teoría de Juegos  •  Juegos Dinámicos y Repetidos</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  Errores Comunes en Examen</a:t>
            </a:r>
            <a:endParaRPr lang="en-US" sz="2200" dirty="0"/>
          </a:p>
        </p:txBody>
      </p:sp>
      <p:sp>
        <p:nvSpPr>
          <p:cNvPr id="4" name="Shape 2"/>
          <p:cNvSpPr/>
          <p:nvPr/>
        </p:nvSpPr>
        <p:spPr>
          <a:xfrm>
            <a:off x="320040" y="960120"/>
            <a:ext cx="8503920" cy="594360"/>
          </a:xfrm>
          <a:prstGeom prst="rect">
            <a:avLst/>
          </a:prstGeom>
          <a:solidFill>
            <a:srgbClr val="1C1C2E"/>
          </a:solidFill>
          <a:ln w="12700">
            <a:solidFill>
              <a:srgbClr val="C0392B"/>
            </a:solidFill>
            <a:prstDash val="solid"/>
          </a:ln>
        </p:spPr>
        <p:txBody>
          <a:bodyPr/>
          <a:lstStyle/>
          <a:p>
            <a:endParaRPr lang="es-AR"/>
          </a:p>
        </p:txBody>
      </p:sp>
      <p:sp>
        <p:nvSpPr>
          <p:cNvPr id="5" name="Shape 3"/>
          <p:cNvSpPr/>
          <p:nvPr/>
        </p:nvSpPr>
        <p:spPr>
          <a:xfrm>
            <a:off x="320040" y="960120"/>
            <a:ext cx="228600" cy="594360"/>
          </a:xfrm>
          <a:prstGeom prst="rect">
            <a:avLst/>
          </a:prstGeom>
          <a:solidFill>
            <a:srgbClr val="C0392B"/>
          </a:solidFill>
          <a:ln w="12700">
            <a:solidFill>
              <a:srgbClr val="C0392B"/>
            </a:solidFill>
            <a:prstDash val="solid"/>
          </a:ln>
        </p:spPr>
        <p:txBody>
          <a:bodyPr/>
          <a:lstStyle/>
          <a:p>
            <a:endParaRPr lang="es-AR"/>
          </a:p>
        </p:txBody>
      </p:sp>
      <p:sp>
        <p:nvSpPr>
          <p:cNvPr id="6" name="Text 4"/>
          <p:cNvSpPr/>
          <p:nvPr/>
        </p:nvSpPr>
        <p:spPr>
          <a:xfrm>
            <a:off x="685800" y="1005840"/>
            <a:ext cx="3200400" cy="256032"/>
          </a:xfrm>
          <a:prstGeom prst="rect">
            <a:avLst/>
          </a:prstGeom>
          <a:noFill/>
          <a:ln/>
        </p:spPr>
        <p:txBody>
          <a:bodyPr wrap="square" lIns="0" tIns="0" rIns="0" bIns="0" rtlCol="0" anchor="ctr"/>
          <a:lstStyle/>
          <a:p>
            <a:pPr marL="0" indent="0">
              <a:buNone/>
            </a:pPr>
            <a:r>
              <a:rPr lang="en-US" sz="1150" b="1" dirty="0">
                <a:solidFill>
                  <a:srgbClr val="FF9090"/>
                </a:solidFill>
              </a:rPr>
              <a:t>✗  Confundir ENPS con RPS</a:t>
            </a:r>
            <a:endParaRPr lang="en-US" sz="1150" dirty="0"/>
          </a:p>
        </p:txBody>
      </p:sp>
      <p:sp>
        <p:nvSpPr>
          <p:cNvPr id="7" name="Text 5"/>
          <p:cNvSpPr/>
          <p:nvPr/>
        </p:nvSpPr>
        <p:spPr>
          <a:xfrm>
            <a:off x="685800" y="1261872"/>
            <a:ext cx="7909560" cy="228600"/>
          </a:xfrm>
          <a:prstGeom prst="rect">
            <a:avLst/>
          </a:prstGeom>
          <a:noFill/>
          <a:ln/>
        </p:spPr>
        <p:txBody>
          <a:bodyPr wrap="square" lIns="0" tIns="0" rIns="0" bIns="0" rtlCol="0" anchor="ctr"/>
          <a:lstStyle/>
          <a:p>
            <a:pPr marL="0" indent="0">
              <a:buNone/>
            </a:pPr>
            <a:r>
              <a:rPr lang="en-US" sz="1100" dirty="0">
                <a:solidFill>
                  <a:srgbClr val="A0FFCC"/>
                </a:solidFill>
              </a:rPr>
              <a:t>✓  ENPS = perfil completo de estrategias (función). RPS = lo que efectivamente ocurre (números concretos).</a:t>
            </a:r>
            <a:endParaRPr lang="en-US" sz="1100" dirty="0"/>
          </a:p>
        </p:txBody>
      </p:sp>
      <p:sp>
        <p:nvSpPr>
          <p:cNvPr id="8" name="Shape 6"/>
          <p:cNvSpPr/>
          <p:nvPr/>
        </p:nvSpPr>
        <p:spPr>
          <a:xfrm>
            <a:off x="320040" y="1645920"/>
            <a:ext cx="8503920" cy="594360"/>
          </a:xfrm>
          <a:prstGeom prst="rect">
            <a:avLst/>
          </a:prstGeom>
          <a:solidFill>
            <a:srgbClr val="1C1C2E"/>
          </a:solidFill>
          <a:ln w="12700">
            <a:solidFill>
              <a:srgbClr val="C0392B"/>
            </a:solidFill>
            <a:prstDash val="solid"/>
          </a:ln>
        </p:spPr>
        <p:txBody>
          <a:bodyPr/>
          <a:lstStyle/>
          <a:p>
            <a:endParaRPr lang="es-AR"/>
          </a:p>
        </p:txBody>
      </p:sp>
      <p:sp>
        <p:nvSpPr>
          <p:cNvPr id="9" name="Shape 7"/>
          <p:cNvSpPr/>
          <p:nvPr/>
        </p:nvSpPr>
        <p:spPr>
          <a:xfrm>
            <a:off x="320040" y="1645920"/>
            <a:ext cx="228600" cy="594360"/>
          </a:xfrm>
          <a:prstGeom prst="rect">
            <a:avLst/>
          </a:prstGeom>
          <a:solidFill>
            <a:srgbClr val="C0392B"/>
          </a:solidFill>
          <a:ln w="12700">
            <a:solidFill>
              <a:srgbClr val="C0392B"/>
            </a:solidFill>
            <a:prstDash val="solid"/>
          </a:ln>
        </p:spPr>
        <p:txBody>
          <a:bodyPr/>
          <a:lstStyle/>
          <a:p>
            <a:endParaRPr lang="es-AR"/>
          </a:p>
        </p:txBody>
      </p:sp>
      <p:sp>
        <p:nvSpPr>
          <p:cNvPr id="10" name="Text 8"/>
          <p:cNvSpPr/>
          <p:nvPr/>
        </p:nvSpPr>
        <p:spPr>
          <a:xfrm>
            <a:off x="685800" y="1691640"/>
            <a:ext cx="3200400" cy="256032"/>
          </a:xfrm>
          <a:prstGeom prst="rect">
            <a:avLst/>
          </a:prstGeom>
          <a:noFill/>
          <a:ln/>
        </p:spPr>
        <p:txBody>
          <a:bodyPr wrap="square" lIns="0" tIns="0" rIns="0" bIns="0" rtlCol="0" anchor="ctr"/>
          <a:lstStyle/>
          <a:p>
            <a:pPr marL="0" indent="0">
              <a:buNone/>
            </a:pPr>
            <a:r>
              <a:rPr lang="en-US" sz="1150" b="1" dirty="0">
                <a:solidFill>
                  <a:srgbClr val="FF9090"/>
                </a:solidFill>
              </a:rPr>
              <a:t>✗  Decir que 'todo EN es ENPS'</a:t>
            </a:r>
            <a:endParaRPr lang="en-US" sz="1150" dirty="0"/>
          </a:p>
        </p:txBody>
      </p:sp>
      <p:sp>
        <p:nvSpPr>
          <p:cNvPr id="11" name="Text 9"/>
          <p:cNvSpPr/>
          <p:nvPr/>
        </p:nvSpPr>
        <p:spPr>
          <a:xfrm>
            <a:off x="685800" y="1947672"/>
            <a:ext cx="7909560" cy="228600"/>
          </a:xfrm>
          <a:prstGeom prst="rect">
            <a:avLst/>
          </a:prstGeom>
          <a:noFill/>
          <a:ln/>
        </p:spPr>
        <p:txBody>
          <a:bodyPr wrap="square" lIns="0" tIns="0" rIns="0" bIns="0" rtlCol="0" anchor="ctr"/>
          <a:lstStyle/>
          <a:p>
            <a:pPr marL="0" indent="0">
              <a:buNone/>
            </a:pPr>
            <a:r>
              <a:rPr lang="en-US" sz="1100" dirty="0">
                <a:solidFill>
                  <a:srgbClr val="A0FFCC"/>
                </a:solidFill>
              </a:rPr>
              <a:t>✓  FALSO. ENPS ⊂ EN. Todo ENPS es EN, pero no al revés. El ENPS descarta amenazas no creíbles.</a:t>
            </a:r>
            <a:endParaRPr lang="en-US" sz="1100" dirty="0"/>
          </a:p>
        </p:txBody>
      </p:sp>
      <p:sp>
        <p:nvSpPr>
          <p:cNvPr id="12" name="Shape 10"/>
          <p:cNvSpPr/>
          <p:nvPr/>
        </p:nvSpPr>
        <p:spPr>
          <a:xfrm>
            <a:off x="320040" y="2331720"/>
            <a:ext cx="8503920" cy="594360"/>
          </a:xfrm>
          <a:prstGeom prst="rect">
            <a:avLst/>
          </a:prstGeom>
          <a:solidFill>
            <a:srgbClr val="1C1C2E"/>
          </a:solidFill>
          <a:ln w="12700">
            <a:solidFill>
              <a:srgbClr val="C0392B"/>
            </a:solidFill>
            <a:prstDash val="solid"/>
          </a:ln>
        </p:spPr>
        <p:txBody>
          <a:bodyPr/>
          <a:lstStyle/>
          <a:p>
            <a:endParaRPr lang="es-AR"/>
          </a:p>
        </p:txBody>
      </p:sp>
      <p:sp>
        <p:nvSpPr>
          <p:cNvPr id="13" name="Shape 11"/>
          <p:cNvSpPr/>
          <p:nvPr/>
        </p:nvSpPr>
        <p:spPr>
          <a:xfrm>
            <a:off x="320040" y="2331720"/>
            <a:ext cx="228600" cy="594360"/>
          </a:xfrm>
          <a:prstGeom prst="rect">
            <a:avLst/>
          </a:prstGeom>
          <a:solidFill>
            <a:srgbClr val="C0392B"/>
          </a:solidFill>
          <a:ln w="12700">
            <a:solidFill>
              <a:srgbClr val="C0392B"/>
            </a:solidFill>
            <a:prstDash val="solid"/>
          </a:ln>
        </p:spPr>
        <p:txBody>
          <a:bodyPr/>
          <a:lstStyle/>
          <a:p>
            <a:endParaRPr lang="es-AR"/>
          </a:p>
        </p:txBody>
      </p:sp>
      <p:sp>
        <p:nvSpPr>
          <p:cNvPr id="14" name="Text 12"/>
          <p:cNvSpPr/>
          <p:nvPr/>
        </p:nvSpPr>
        <p:spPr>
          <a:xfrm>
            <a:off x="685800" y="2377440"/>
            <a:ext cx="3200400" cy="256032"/>
          </a:xfrm>
          <a:prstGeom prst="rect">
            <a:avLst/>
          </a:prstGeom>
          <a:noFill/>
          <a:ln/>
        </p:spPr>
        <p:txBody>
          <a:bodyPr wrap="square" lIns="0" tIns="0" rIns="0" bIns="0" rtlCol="0" anchor="ctr"/>
          <a:lstStyle/>
          <a:p>
            <a:pPr marL="0" indent="0">
              <a:buNone/>
            </a:pPr>
            <a:r>
              <a:rPr lang="en-US" sz="1150" b="1" dirty="0">
                <a:solidFill>
                  <a:srgbClr val="FF9090"/>
                </a:solidFill>
              </a:rPr>
              <a:t>✗  Afirmar 'quien mueve primero siempre gana'</a:t>
            </a:r>
            <a:endParaRPr lang="en-US" sz="1150" dirty="0"/>
          </a:p>
        </p:txBody>
      </p:sp>
      <p:sp>
        <p:nvSpPr>
          <p:cNvPr id="15" name="Text 13"/>
          <p:cNvSpPr/>
          <p:nvPr/>
        </p:nvSpPr>
        <p:spPr>
          <a:xfrm>
            <a:off x="685800" y="2633472"/>
            <a:ext cx="7909560" cy="228600"/>
          </a:xfrm>
          <a:prstGeom prst="rect">
            <a:avLst/>
          </a:prstGeom>
          <a:noFill/>
          <a:ln/>
        </p:spPr>
        <p:txBody>
          <a:bodyPr wrap="square" lIns="0" tIns="0" rIns="0" bIns="0" rtlCol="0" anchor="ctr"/>
          <a:lstStyle/>
          <a:p>
            <a:pPr marL="0" indent="0">
              <a:buNone/>
            </a:pPr>
            <a:r>
              <a:rPr lang="en-US" sz="1100" dirty="0">
                <a:solidFill>
                  <a:srgbClr val="A0FFCC"/>
                </a:solidFill>
              </a:rPr>
              <a:t>✓  Depende del contexto. En Doble Ultimátum, mover segundo (con contraoferta) da más poder. En Stackelberg, moverse primero sí es ventaja.</a:t>
            </a:r>
            <a:endParaRPr lang="en-US" sz="1100" dirty="0"/>
          </a:p>
        </p:txBody>
      </p:sp>
      <p:sp>
        <p:nvSpPr>
          <p:cNvPr id="16" name="Shape 14"/>
          <p:cNvSpPr/>
          <p:nvPr/>
        </p:nvSpPr>
        <p:spPr>
          <a:xfrm>
            <a:off x="320040" y="3017520"/>
            <a:ext cx="8503920" cy="594360"/>
          </a:xfrm>
          <a:prstGeom prst="rect">
            <a:avLst/>
          </a:prstGeom>
          <a:solidFill>
            <a:srgbClr val="1C1C2E"/>
          </a:solidFill>
          <a:ln w="12700">
            <a:solidFill>
              <a:srgbClr val="C0392B"/>
            </a:solidFill>
            <a:prstDash val="solid"/>
          </a:ln>
        </p:spPr>
        <p:txBody>
          <a:bodyPr/>
          <a:lstStyle/>
          <a:p>
            <a:endParaRPr lang="es-AR"/>
          </a:p>
        </p:txBody>
      </p:sp>
      <p:sp>
        <p:nvSpPr>
          <p:cNvPr id="17" name="Shape 15"/>
          <p:cNvSpPr/>
          <p:nvPr/>
        </p:nvSpPr>
        <p:spPr>
          <a:xfrm>
            <a:off x="320040" y="3017520"/>
            <a:ext cx="228600" cy="594360"/>
          </a:xfrm>
          <a:prstGeom prst="rect">
            <a:avLst/>
          </a:prstGeom>
          <a:solidFill>
            <a:srgbClr val="C0392B"/>
          </a:solidFill>
          <a:ln w="12700">
            <a:solidFill>
              <a:srgbClr val="C0392B"/>
            </a:solidFill>
            <a:prstDash val="solid"/>
          </a:ln>
        </p:spPr>
        <p:txBody>
          <a:bodyPr/>
          <a:lstStyle/>
          <a:p>
            <a:endParaRPr lang="es-AR"/>
          </a:p>
        </p:txBody>
      </p:sp>
      <p:sp>
        <p:nvSpPr>
          <p:cNvPr id="18" name="Text 16"/>
          <p:cNvSpPr/>
          <p:nvPr/>
        </p:nvSpPr>
        <p:spPr>
          <a:xfrm>
            <a:off x="685800" y="3063240"/>
            <a:ext cx="3200400" cy="256032"/>
          </a:xfrm>
          <a:prstGeom prst="rect">
            <a:avLst/>
          </a:prstGeom>
          <a:noFill/>
          <a:ln/>
        </p:spPr>
        <p:txBody>
          <a:bodyPr wrap="square" lIns="0" tIns="0" rIns="0" bIns="0" rtlCol="0" anchor="ctr"/>
          <a:lstStyle/>
          <a:p>
            <a:pPr marL="0" indent="0">
              <a:buNone/>
            </a:pPr>
            <a:r>
              <a:rPr lang="en-US" sz="1150" b="1" dirty="0">
                <a:solidFill>
                  <a:srgbClr val="FF9090"/>
                </a:solidFill>
              </a:rPr>
              <a:t>✗  Usar backward induction en juego con info imperfecta</a:t>
            </a:r>
            <a:endParaRPr lang="en-US" sz="1150" dirty="0"/>
          </a:p>
        </p:txBody>
      </p:sp>
      <p:sp>
        <p:nvSpPr>
          <p:cNvPr id="19" name="Text 17"/>
          <p:cNvSpPr/>
          <p:nvPr/>
        </p:nvSpPr>
        <p:spPr>
          <a:xfrm>
            <a:off x="685800" y="3319272"/>
            <a:ext cx="7909560" cy="228600"/>
          </a:xfrm>
          <a:prstGeom prst="rect">
            <a:avLst/>
          </a:prstGeom>
          <a:noFill/>
          <a:ln/>
        </p:spPr>
        <p:txBody>
          <a:bodyPr wrap="square" lIns="0" tIns="0" rIns="0" bIns="0" rtlCol="0" anchor="ctr"/>
          <a:lstStyle/>
          <a:p>
            <a:pPr marL="0" indent="0">
              <a:buNone/>
            </a:pPr>
            <a:r>
              <a:rPr lang="en-US" sz="1100" dirty="0">
                <a:solidFill>
                  <a:srgbClr val="A0FFCC"/>
                </a:solidFill>
              </a:rPr>
              <a:t>✓  Backward induction solo funciona directamente en juegos con INFORMACIÓN PERFECTA (todos los conjuntos son unitarios).</a:t>
            </a:r>
            <a:endParaRPr lang="en-US" sz="1100" dirty="0"/>
          </a:p>
        </p:txBody>
      </p:sp>
      <p:sp>
        <p:nvSpPr>
          <p:cNvPr id="20" name="Shape 18"/>
          <p:cNvSpPr/>
          <p:nvPr/>
        </p:nvSpPr>
        <p:spPr>
          <a:xfrm>
            <a:off x="320040" y="3703320"/>
            <a:ext cx="8503920" cy="594360"/>
          </a:xfrm>
          <a:prstGeom prst="rect">
            <a:avLst/>
          </a:prstGeom>
          <a:solidFill>
            <a:srgbClr val="1C1C2E"/>
          </a:solidFill>
          <a:ln w="12700">
            <a:solidFill>
              <a:srgbClr val="C0392B"/>
            </a:solidFill>
            <a:prstDash val="solid"/>
          </a:ln>
        </p:spPr>
        <p:txBody>
          <a:bodyPr/>
          <a:lstStyle/>
          <a:p>
            <a:endParaRPr lang="es-AR"/>
          </a:p>
        </p:txBody>
      </p:sp>
      <p:sp>
        <p:nvSpPr>
          <p:cNvPr id="21" name="Shape 19"/>
          <p:cNvSpPr/>
          <p:nvPr/>
        </p:nvSpPr>
        <p:spPr>
          <a:xfrm>
            <a:off x="320040" y="3703320"/>
            <a:ext cx="228600" cy="594360"/>
          </a:xfrm>
          <a:prstGeom prst="rect">
            <a:avLst/>
          </a:prstGeom>
          <a:solidFill>
            <a:srgbClr val="C0392B"/>
          </a:solidFill>
          <a:ln w="12700">
            <a:solidFill>
              <a:srgbClr val="C0392B"/>
            </a:solidFill>
            <a:prstDash val="solid"/>
          </a:ln>
        </p:spPr>
        <p:txBody>
          <a:bodyPr/>
          <a:lstStyle/>
          <a:p>
            <a:endParaRPr lang="es-AR"/>
          </a:p>
        </p:txBody>
      </p:sp>
      <p:sp>
        <p:nvSpPr>
          <p:cNvPr id="22" name="Text 20"/>
          <p:cNvSpPr/>
          <p:nvPr/>
        </p:nvSpPr>
        <p:spPr>
          <a:xfrm>
            <a:off x="685800" y="3749040"/>
            <a:ext cx="3200400" cy="256032"/>
          </a:xfrm>
          <a:prstGeom prst="rect">
            <a:avLst/>
          </a:prstGeom>
          <a:noFill/>
          <a:ln/>
        </p:spPr>
        <p:txBody>
          <a:bodyPr wrap="square" lIns="0" tIns="0" rIns="0" bIns="0" rtlCol="0" anchor="ctr"/>
          <a:lstStyle/>
          <a:p>
            <a:pPr marL="0" indent="0">
              <a:buNone/>
            </a:pPr>
            <a:r>
              <a:rPr lang="en-US" sz="1150" b="1" dirty="0">
                <a:solidFill>
                  <a:srgbClr val="FF9090"/>
                </a:solidFill>
              </a:rPr>
              <a:t>✗  Omitir verificar AMBAS desviaciones en Toma y Daka</a:t>
            </a:r>
            <a:endParaRPr lang="en-US" sz="1150" dirty="0"/>
          </a:p>
        </p:txBody>
      </p:sp>
      <p:sp>
        <p:nvSpPr>
          <p:cNvPr id="23" name="Text 21"/>
          <p:cNvSpPr/>
          <p:nvPr/>
        </p:nvSpPr>
        <p:spPr>
          <a:xfrm>
            <a:off x="685800" y="4005072"/>
            <a:ext cx="7909560" cy="228600"/>
          </a:xfrm>
          <a:prstGeom prst="rect">
            <a:avLst/>
          </a:prstGeom>
          <a:noFill/>
          <a:ln/>
        </p:spPr>
        <p:txBody>
          <a:bodyPr wrap="square" lIns="0" tIns="0" rIns="0" bIns="0" rtlCol="0" anchor="ctr"/>
          <a:lstStyle/>
          <a:p>
            <a:pPr marL="0" indent="0">
              <a:buNone/>
            </a:pPr>
            <a:r>
              <a:rPr lang="en-US" sz="1100" dirty="0">
                <a:solidFill>
                  <a:srgbClr val="A0FFCC"/>
                </a:solidFill>
              </a:rPr>
              <a:t>✓  Hay dos caminos de desviación (alternar o jugar C̄ siempre). Hay que verificar que cooperar es mejor que AMBOS.</a:t>
            </a:r>
            <a:endParaRPr lang="en-US" sz="1100" dirty="0"/>
          </a:p>
        </p:txBody>
      </p:sp>
      <p:sp>
        <p:nvSpPr>
          <p:cNvPr id="24" name="Shape 22"/>
          <p:cNvSpPr/>
          <p:nvPr/>
        </p:nvSpPr>
        <p:spPr>
          <a:xfrm>
            <a:off x="320040" y="4389120"/>
            <a:ext cx="8503920" cy="594360"/>
          </a:xfrm>
          <a:prstGeom prst="rect">
            <a:avLst/>
          </a:prstGeom>
          <a:solidFill>
            <a:srgbClr val="1C1C2E"/>
          </a:solidFill>
          <a:ln w="12700">
            <a:solidFill>
              <a:srgbClr val="C0392B"/>
            </a:solidFill>
            <a:prstDash val="solid"/>
          </a:ln>
        </p:spPr>
        <p:txBody>
          <a:bodyPr/>
          <a:lstStyle/>
          <a:p>
            <a:endParaRPr lang="es-AR"/>
          </a:p>
        </p:txBody>
      </p:sp>
      <p:sp>
        <p:nvSpPr>
          <p:cNvPr id="25" name="Shape 23"/>
          <p:cNvSpPr/>
          <p:nvPr/>
        </p:nvSpPr>
        <p:spPr>
          <a:xfrm>
            <a:off x="320040" y="4389120"/>
            <a:ext cx="228600" cy="594360"/>
          </a:xfrm>
          <a:prstGeom prst="rect">
            <a:avLst/>
          </a:prstGeom>
          <a:solidFill>
            <a:srgbClr val="C0392B"/>
          </a:solidFill>
          <a:ln w="12700">
            <a:solidFill>
              <a:srgbClr val="C0392B"/>
            </a:solidFill>
            <a:prstDash val="solid"/>
          </a:ln>
        </p:spPr>
        <p:txBody>
          <a:bodyPr/>
          <a:lstStyle/>
          <a:p>
            <a:endParaRPr lang="es-AR"/>
          </a:p>
        </p:txBody>
      </p:sp>
      <p:sp>
        <p:nvSpPr>
          <p:cNvPr id="26" name="Text 24"/>
          <p:cNvSpPr/>
          <p:nvPr/>
        </p:nvSpPr>
        <p:spPr>
          <a:xfrm>
            <a:off x="685800" y="4434840"/>
            <a:ext cx="3200400" cy="256032"/>
          </a:xfrm>
          <a:prstGeom prst="rect">
            <a:avLst/>
          </a:prstGeom>
          <a:noFill/>
          <a:ln/>
        </p:spPr>
        <p:txBody>
          <a:bodyPr wrap="square" lIns="0" tIns="0" rIns="0" bIns="0" rtlCol="0" anchor="ctr"/>
          <a:lstStyle/>
          <a:p>
            <a:pPr marL="0" indent="0">
              <a:buNone/>
            </a:pPr>
            <a:r>
              <a:rPr lang="en-US" sz="1150" b="1" dirty="0">
                <a:solidFill>
                  <a:srgbClr val="FF9090"/>
                </a:solidFill>
              </a:rPr>
              <a:t>✗  Confundir δ (impaciencia) con p (probabilidad de continuación)</a:t>
            </a:r>
            <a:endParaRPr lang="en-US" sz="1150" dirty="0"/>
          </a:p>
        </p:txBody>
      </p:sp>
      <p:sp>
        <p:nvSpPr>
          <p:cNvPr id="27" name="Text 25"/>
          <p:cNvSpPr/>
          <p:nvPr/>
        </p:nvSpPr>
        <p:spPr>
          <a:xfrm>
            <a:off x="685800" y="4690872"/>
            <a:ext cx="7909560" cy="228600"/>
          </a:xfrm>
          <a:prstGeom prst="rect">
            <a:avLst/>
          </a:prstGeom>
          <a:noFill/>
          <a:ln/>
        </p:spPr>
        <p:txBody>
          <a:bodyPr wrap="square" lIns="0" tIns="0" rIns="0" bIns="0" rtlCol="0" anchor="ctr"/>
          <a:lstStyle/>
          <a:p>
            <a:pPr marL="0" indent="0">
              <a:buNone/>
            </a:pPr>
            <a:r>
              <a:rPr lang="en-US" sz="1100" dirty="0">
                <a:solidFill>
                  <a:srgbClr val="A0FFCC"/>
                </a:solidFill>
              </a:rPr>
              <a:t>✓  Matemáticamente se comportan igual, pero conceptualmente son distintos. δ es preferencia temporal; p es incertidumbre.</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w="12700">
            <a:solidFill>
              <a:srgbClr val="1A2744"/>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Preguntas de Examen Probables</a:t>
            </a:r>
            <a:endParaRPr lang="en-US" sz="2200" dirty="0"/>
          </a:p>
        </p:txBody>
      </p:sp>
      <p:sp>
        <p:nvSpPr>
          <p:cNvPr id="4" name="Shape 2"/>
          <p:cNvSpPr/>
          <p:nvPr/>
        </p:nvSpPr>
        <p:spPr>
          <a:xfrm>
            <a:off x="320040" y="987552"/>
            <a:ext cx="4114800" cy="1188720"/>
          </a:xfrm>
          <a:prstGeom prst="rect">
            <a:avLst/>
          </a:prstGeom>
          <a:solidFill>
            <a:srgbClr val="EBF3F8"/>
          </a:solidFill>
          <a:ln w="12700">
            <a:solidFill>
              <a:srgbClr val="1A2744"/>
            </a:solidFill>
            <a:prstDash val="solid"/>
          </a:ln>
          <a:effectLst>
            <a:outerShdw blurRad="101600" dist="38100" dir="8100000" algn="bl" rotWithShape="0">
              <a:srgbClr val="000000">
                <a:alpha val="13000"/>
              </a:srgbClr>
            </a:outerShdw>
          </a:effectLst>
        </p:spPr>
        <p:txBody>
          <a:bodyPr/>
          <a:lstStyle/>
          <a:p>
            <a:endParaRPr lang="es-AR"/>
          </a:p>
        </p:txBody>
      </p:sp>
      <p:sp>
        <p:nvSpPr>
          <p:cNvPr id="5" name="Shape 3"/>
          <p:cNvSpPr/>
          <p:nvPr/>
        </p:nvSpPr>
        <p:spPr>
          <a:xfrm>
            <a:off x="320040" y="987552"/>
            <a:ext cx="548640" cy="1188720"/>
          </a:xfrm>
          <a:prstGeom prst="rect">
            <a:avLst/>
          </a:prstGeom>
          <a:solidFill>
            <a:srgbClr val="1A2744"/>
          </a:solidFill>
          <a:ln w="12700">
            <a:solidFill>
              <a:srgbClr val="1A2744"/>
            </a:solidFill>
            <a:prstDash val="solid"/>
          </a:ln>
        </p:spPr>
        <p:txBody>
          <a:bodyPr/>
          <a:lstStyle/>
          <a:p>
            <a:endParaRPr lang="es-AR"/>
          </a:p>
        </p:txBody>
      </p:sp>
      <p:sp>
        <p:nvSpPr>
          <p:cNvPr id="6" name="Text 4"/>
          <p:cNvSpPr/>
          <p:nvPr/>
        </p:nvSpPr>
        <p:spPr>
          <a:xfrm>
            <a:off x="329184" y="987552"/>
            <a:ext cx="530352" cy="1188720"/>
          </a:xfrm>
          <a:prstGeom prst="rect">
            <a:avLst/>
          </a:prstGeom>
          <a:noFill/>
          <a:ln/>
        </p:spPr>
        <p:txBody>
          <a:bodyPr wrap="square" lIns="0" tIns="0" rIns="0" bIns="0" rtlCol="0" anchor="ctr"/>
          <a:lstStyle/>
          <a:p>
            <a:pPr marL="0" indent="0" algn="ctr">
              <a:buNone/>
            </a:pPr>
            <a:r>
              <a:rPr lang="en-US" sz="1200" b="1" dirty="0">
                <a:solidFill>
                  <a:srgbClr val="FFFFFF"/>
                </a:solidFill>
              </a:rPr>
              <a:t>P1</a:t>
            </a:r>
            <a:endParaRPr lang="en-US" sz="1200" dirty="0"/>
          </a:p>
        </p:txBody>
      </p:sp>
      <p:sp>
        <p:nvSpPr>
          <p:cNvPr id="7" name="Text 5"/>
          <p:cNvSpPr/>
          <p:nvPr/>
        </p:nvSpPr>
        <p:spPr>
          <a:xfrm>
            <a:off x="1005840" y="1060704"/>
            <a:ext cx="3291840" cy="640080"/>
          </a:xfrm>
          <a:prstGeom prst="rect">
            <a:avLst/>
          </a:prstGeom>
          <a:noFill/>
          <a:ln/>
        </p:spPr>
        <p:txBody>
          <a:bodyPr wrap="square" lIns="0" tIns="0" rIns="0" bIns="0" rtlCol="0" anchor="ctr"/>
          <a:lstStyle/>
          <a:p>
            <a:pPr marL="0" indent="0">
              <a:buNone/>
            </a:pPr>
            <a:r>
              <a:rPr lang="en-US" sz="1150" b="1" dirty="0">
                <a:solidFill>
                  <a:srgbClr val="1A2744"/>
                </a:solidFill>
              </a:rPr>
              <a:t>¿Cuál es la diferencia entre ENPS y EN? Dé un ejemplo de un EN que NO sea ENPS.</a:t>
            </a:r>
            <a:endParaRPr lang="en-US" sz="1150" dirty="0"/>
          </a:p>
        </p:txBody>
      </p:sp>
      <p:sp>
        <p:nvSpPr>
          <p:cNvPr id="8" name="Text 6"/>
          <p:cNvSpPr/>
          <p:nvPr/>
        </p:nvSpPr>
        <p:spPr>
          <a:xfrm>
            <a:off x="1005840" y="1737360"/>
            <a:ext cx="3291840" cy="347472"/>
          </a:xfrm>
          <a:prstGeom prst="rect">
            <a:avLst/>
          </a:prstGeom>
          <a:noFill/>
          <a:ln/>
        </p:spPr>
        <p:txBody>
          <a:bodyPr wrap="square" lIns="0" tIns="0" rIns="0" bIns="0" rtlCol="0" anchor="ctr"/>
          <a:lstStyle/>
          <a:p>
            <a:pPr marL="0" indent="0">
              <a:buNone/>
            </a:pPr>
            <a:r>
              <a:rPr lang="en-US" sz="1000" i="1" dirty="0">
                <a:solidFill>
                  <a:srgbClr val="6B7A8D"/>
                </a:solidFill>
              </a:rPr>
              <a:t>💡 Responder con: amenazas no creíbles en subjuegos fuera del equilibrio.</a:t>
            </a:r>
            <a:endParaRPr lang="en-US" sz="1000" dirty="0"/>
          </a:p>
        </p:txBody>
      </p:sp>
      <p:sp>
        <p:nvSpPr>
          <p:cNvPr id="9" name="Shape 7"/>
          <p:cNvSpPr/>
          <p:nvPr/>
        </p:nvSpPr>
        <p:spPr>
          <a:xfrm>
            <a:off x="4754880" y="987552"/>
            <a:ext cx="4114800" cy="1188720"/>
          </a:xfrm>
          <a:prstGeom prst="rect">
            <a:avLst/>
          </a:prstGeom>
          <a:solidFill>
            <a:srgbClr val="EBF3F8"/>
          </a:solidFill>
          <a:ln w="12700">
            <a:solidFill>
              <a:srgbClr val="1A2744"/>
            </a:solidFill>
            <a:prstDash val="solid"/>
          </a:ln>
          <a:effectLst>
            <a:outerShdw blurRad="101600" dist="38100" dir="8100000" algn="bl" rotWithShape="0">
              <a:srgbClr val="000000">
                <a:alpha val="13000"/>
              </a:srgbClr>
            </a:outerShdw>
          </a:effectLst>
        </p:spPr>
        <p:txBody>
          <a:bodyPr/>
          <a:lstStyle/>
          <a:p>
            <a:endParaRPr lang="es-AR"/>
          </a:p>
        </p:txBody>
      </p:sp>
      <p:sp>
        <p:nvSpPr>
          <p:cNvPr id="10" name="Shape 8"/>
          <p:cNvSpPr/>
          <p:nvPr/>
        </p:nvSpPr>
        <p:spPr>
          <a:xfrm>
            <a:off x="4754880" y="987552"/>
            <a:ext cx="548640" cy="1188720"/>
          </a:xfrm>
          <a:prstGeom prst="rect">
            <a:avLst/>
          </a:prstGeom>
          <a:solidFill>
            <a:srgbClr val="1A2744"/>
          </a:solidFill>
          <a:ln w="12700">
            <a:solidFill>
              <a:srgbClr val="1A2744"/>
            </a:solidFill>
            <a:prstDash val="solid"/>
          </a:ln>
        </p:spPr>
        <p:txBody>
          <a:bodyPr/>
          <a:lstStyle/>
          <a:p>
            <a:endParaRPr lang="es-AR"/>
          </a:p>
        </p:txBody>
      </p:sp>
      <p:sp>
        <p:nvSpPr>
          <p:cNvPr id="11" name="Text 9"/>
          <p:cNvSpPr/>
          <p:nvPr/>
        </p:nvSpPr>
        <p:spPr>
          <a:xfrm>
            <a:off x="4764024" y="987552"/>
            <a:ext cx="530352" cy="1188720"/>
          </a:xfrm>
          <a:prstGeom prst="rect">
            <a:avLst/>
          </a:prstGeom>
          <a:noFill/>
          <a:ln/>
        </p:spPr>
        <p:txBody>
          <a:bodyPr wrap="square" lIns="0" tIns="0" rIns="0" bIns="0" rtlCol="0" anchor="ctr"/>
          <a:lstStyle/>
          <a:p>
            <a:pPr marL="0" indent="0" algn="ctr">
              <a:buNone/>
            </a:pPr>
            <a:r>
              <a:rPr lang="en-US" sz="1200" b="1" dirty="0">
                <a:solidFill>
                  <a:srgbClr val="FFFFFF"/>
                </a:solidFill>
              </a:rPr>
              <a:t>P2</a:t>
            </a:r>
            <a:endParaRPr lang="en-US" sz="1200" dirty="0"/>
          </a:p>
        </p:txBody>
      </p:sp>
      <p:sp>
        <p:nvSpPr>
          <p:cNvPr id="12" name="Text 10"/>
          <p:cNvSpPr/>
          <p:nvPr/>
        </p:nvSpPr>
        <p:spPr>
          <a:xfrm>
            <a:off x="5440680" y="1060704"/>
            <a:ext cx="3291840" cy="640080"/>
          </a:xfrm>
          <a:prstGeom prst="rect">
            <a:avLst/>
          </a:prstGeom>
          <a:noFill/>
          <a:ln/>
        </p:spPr>
        <p:txBody>
          <a:bodyPr wrap="square" lIns="0" tIns="0" rIns="0" bIns="0" rtlCol="0" anchor="ctr"/>
          <a:lstStyle/>
          <a:p>
            <a:pPr marL="0" indent="0">
              <a:buNone/>
            </a:pPr>
            <a:r>
              <a:rPr lang="en-US" sz="1150" b="1" dirty="0">
                <a:solidFill>
                  <a:srgbClr val="1A2744"/>
                </a:solidFill>
              </a:rPr>
              <a:t>Resuelva el juego del ultimátum con $100 por backward induction. ¿Qué recibe cada jugador?</a:t>
            </a:r>
            <a:endParaRPr lang="en-US" sz="1150" dirty="0"/>
          </a:p>
        </p:txBody>
      </p:sp>
      <p:sp>
        <p:nvSpPr>
          <p:cNvPr id="13" name="Text 11"/>
          <p:cNvSpPr/>
          <p:nvPr/>
        </p:nvSpPr>
        <p:spPr>
          <a:xfrm>
            <a:off x="5440680" y="1737360"/>
            <a:ext cx="3291840" cy="347472"/>
          </a:xfrm>
          <a:prstGeom prst="rect">
            <a:avLst/>
          </a:prstGeom>
          <a:noFill/>
          <a:ln/>
        </p:spPr>
        <p:txBody>
          <a:bodyPr wrap="square" lIns="0" tIns="0" rIns="0" bIns="0" rtlCol="0" anchor="ctr"/>
          <a:lstStyle/>
          <a:p>
            <a:pPr marL="0" indent="0">
              <a:buNone/>
            </a:pPr>
            <a:r>
              <a:rPr lang="en-US" sz="1000" i="1" dirty="0">
                <a:solidFill>
                  <a:srgbClr val="6B7A8D"/>
                </a:solidFill>
              </a:rPr>
              <a:t>💡 J1 ofrece el mínimo ($1), J2 acepta porque 1 &gt; 0.</a:t>
            </a:r>
            <a:endParaRPr lang="en-US" sz="1000" dirty="0"/>
          </a:p>
        </p:txBody>
      </p:sp>
      <p:sp>
        <p:nvSpPr>
          <p:cNvPr id="14" name="Shape 12"/>
          <p:cNvSpPr/>
          <p:nvPr/>
        </p:nvSpPr>
        <p:spPr>
          <a:xfrm>
            <a:off x="320040" y="2359152"/>
            <a:ext cx="4114800" cy="1188720"/>
          </a:xfrm>
          <a:prstGeom prst="rect">
            <a:avLst/>
          </a:prstGeom>
          <a:solidFill>
            <a:srgbClr val="EBF3F8"/>
          </a:solidFill>
          <a:ln w="12700">
            <a:solidFill>
              <a:srgbClr val="1A2744"/>
            </a:solidFill>
            <a:prstDash val="solid"/>
          </a:ln>
          <a:effectLst>
            <a:outerShdw blurRad="101600" dist="38100" dir="8100000" algn="bl" rotWithShape="0">
              <a:srgbClr val="000000">
                <a:alpha val="13000"/>
              </a:srgbClr>
            </a:outerShdw>
          </a:effectLst>
        </p:spPr>
        <p:txBody>
          <a:bodyPr/>
          <a:lstStyle/>
          <a:p>
            <a:endParaRPr lang="es-AR"/>
          </a:p>
        </p:txBody>
      </p:sp>
      <p:sp>
        <p:nvSpPr>
          <p:cNvPr id="15" name="Shape 13"/>
          <p:cNvSpPr/>
          <p:nvPr/>
        </p:nvSpPr>
        <p:spPr>
          <a:xfrm>
            <a:off x="320040" y="2359152"/>
            <a:ext cx="548640" cy="1188720"/>
          </a:xfrm>
          <a:prstGeom prst="rect">
            <a:avLst/>
          </a:prstGeom>
          <a:solidFill>
            <a:srgbClr val="1A2744"/>
          </a:solidFill>
          <a:ln w="12700">
            <a:solidFill>
              <a:srgbClr val="1A2744"/>
            </a:solidFill>
            <a:prstDash val="solid"/>
          </a:ln>
        </p:spPr>
        <p:txBody>
          <a:bodyPr/>
          <a:lstStyle/>
          <a:p>
            <a:endParaRPr lang="es-AR"/>
          </a:p>
        </p:txBody>
      </p:sp>
      <p:sp>
        <p:nvSpPr>
          <p:cNvPr id="16" name="Text 14"/>
          <p:cNvSpPr/>
          <p:nvPr/>
        </p:nvSpPr>
        <p:spPr>
          <a:xfrm>
            <a:off x="329184" y="2359152"/>
            <a:ext cx="530352" cy="1188720"/>
          </a:xfrm>
          <a:prstGeom prst="rect">
            <a:avLst/>
          </a:prstGeom>
          <a:noFill/>
          <a:ln/>
        </p:spPr>
        <p:txBody>
          <a:bodyPr wrap="square" lIns="0" tIns="0" rIns="0" bIns="0" rtlCol="0" anchor="ctr"/>
          <a:lstStyle/>
          <a:p>
            <a:pPr marL="0" indent="0" algn="ctr">
              <a:buNone/>
            </a:pPr>
            <a:r>
              <a:rPr lang="en-US" sz="1200" b="1" dirty="0">
                <a:solidFill>
                  <a:srgbClr val="FFFFFF"/>
                </a:solidFill>
              </a:rPr>
              <a:t>P3</a:t>
            </a:r>
            <a:endParaRPr lang="en-US" sz="1200" dirty="0"/>
          </a:p>
        </p:txBody>
      </p:sp>
      <p:sp>
        <p:nvSpPr>
          <p:cNvPr id="17" name="Text 15"/>
          <p:cNvSpPr/>
          <p:nvPr/>
        </p:nvSpPr>
        <p:spPr>
          <a:xfrm>
            <a:off x="1005840" y="2432304"/>
            <a:ext cx="3291840" cy="640080"/>
          </a:xfrm>
          <a:prstGeom prst="rect">
            <a:avLst/>
          </a:prstGeom>
          <a:noFill/>
          <a:ln/>
        </p:spPr>
        <p:txBody>
          <a:bodyPr wrap="square" lIns="0" tIns="0" rIns="0" bIns="0" rtlCol="0" anchor="ctr"/>
          <a:lstStyle/>
          <a:p>
            <a:pPr marL="0" indent="0">
              <a:buNone/>
            </a:pPr>
            <a:r>
              <a:rPr lang="en-US" sz="1150" b="1" dirty="0">
                <a:solidFill>
                  <a:srgbClr val="1A2744"/>
                </a:solidFill>
              </a:rPr>
              <a:t>En Stackelberg, ¿por qué la líder produce la cantidad monopólica? ¿Qué produce la seguidora?</a:t>
            </a:r>
            <a:endParaRPr lang="en-US" sz="1150" dirty="0"/>
          </a:p>
        </p:txBody>
      </p:sp>
      <p:sp>
        <p:nvSpPr>
          <p:cNvPr id="18" name="Text 16"/>
          <p:cNvSpPr/>
          <p:nvPr/>
        </p:nvSpPr>
        <p:spPr>
          <a:xfrm>
            <a:off x="1005840" y="3108960"/>
            <a:ext cx="3291840" cy="347472"/>
          </a:xfrm>
          <a:prstGeom prst="rect">
            <a:avLst/>
          </a:prstGeom>
          <a:noFill/>
          <a:ln/>
        </p:spPr>
        <p:txBody>
          <a:bodyPr wrap="square" lIns="0" tIns="0" rIns="0" bIns="0" rtlCol="0" anchor="ctr"/>
          <a:lstStyle/>
          <a:p>
            <a:pPr marL="0" indent="0">
              <a:buNone/>
            </a:pPr>
            <a:r>
              <a:rPr lang="en-US" sz="1000" i="1" dirty="0">
                <a:solidFill>
                  <a:srgbClr val="6B7A8D"/>
                </a:solidFill>
              </a:rPr>
              <a:t>💡 qL* = (a−c)/2b. qS* = (a−c)/4b. La líder explota la función de reacción de la seguidora.</a:t>
            </a:r>
            <a:endParaRPr lang="en-US" sz="1000" dirty="0"/>
          </a:p>
        </p:txBody>
      </p:sp>
      <p:sp>
        <p:nvSpPr>
          <p:cNvPr id="19" name="Shape 17"/>
          <p:cNvSpPr/>
          <p:nvPr/>
        </p:nvSpPr>
        <p:spPr>
          <a:xfrm>
            <a:off x="4754880" y="2359152"/>
            <a:ext cx="4114800" cy="1188720"/>
          </a:xfrm>
          <a:prstGeom prst="rect">
            <a:avLst/>
          </a:prstGeom>
          <a:solidFill>
            <a:srgbClr val="EBF3F8"/>
          </a:solidFill>
          <a:ln w="12700">
            <a:solidFill>
              <a:srgbClr val="1A2744"/>
            </a:solidFill>
            <a:prstDash val="solid"/>
          </a:ln>
          <a:effectLst>
            <a:outerShdw blurRad="101600" dist="38100" dir="8100000" algn="bl" rotWithShape="0">
              <a:srgbClr val="000000">
                <a:alpha val="13000"/>
              </a:srgbClr>
            </a:outerShdw>
          </a:effectLst>
        </p:spPr>
        <p:txBody>
          <a:bodyPr/>
          <a:lstStyle/>
          <a:p>
            <a:endParaRPr lang="es-AR"/>
          </a:p>
        </p:txBody>
      </p:sp>
      <p:sp>
        <p:nvSpPr>
          <p:cNvPr id="20" name="Shape 18"/>
          <p:cNvSpPr/>
          <p:nvPr/>
        </p:nvSpPr>
        <p:spPr>
          <a:xfrm>
            <a:off x="4754880" y="2359152"/>
            <a:ext cx="548640" cy="1188720"/>
          </a:xfrm>
          <a:prstGeom prst="rect">
            <a:avLst/>
          </a:prstGeom>
          <a:solidFill>
            <a:srgbClr val="1A2744"/>
          </a:solidFill>
          <a:ln w="12700">
            <a:solidFill>
              <a:srgbClr val="1A2744"/>
            </a:solidFill>
            <a:prstDash val="solid"/>
          </a:ln>
        </p:spPr>
        <p:txBody>
          <a:bodyPr/>
          <a:lstStyle/>
          <a:p>
            <a:endParaRPr lang="es-AR"/>
          </a:p>
        </p:txBody>
      </p:sp>
      <p:sp>
        <p:nvSpPr>
          <p:cNvPr id="21" name="Text 19"/>
          <p:cNvSpPr/>
          <p:nvPr/>
        </p:nvSpPr>
        <p:spPr>
          <a:xfrm>
            <a:off x="4764024" y="2359152"/>
            <a:ext cx="530352" cy="1188720"/>
          </a:xfrm>
          <a:prstGeom prst="rect">
            <a:avLst/>
          </a:prstGeom>
          <a:noFill/>
          <a:ln/>
        </p:spPr>
        <p:txBody>
          <a:bodyPr wrap="square" lIns="0" tIns="0" rIns="0" bIns="0" rtlCol="0" anchor="ctr"/>
          <a:lstStyle/>
          <a:p>
            <a:pPr marL="0" indent="0" algn="ctr">
              <a:buNone/>
            </a:pPr>
            <a:r>
              <a:rPr lang="en-US" sz="1200" b="1" dirty="0">
                <a:solidFill>
                  <a:srgbClr val="FFFFFF"/>
                </a:solidFill>
              </a:rPr>
              <a:t>P4</a:t>
            </a:r>
            <a:endParaRPr lang="en-US" sz="1200" dirty="0"/>
          </a:p>
        </p:txBody>
      </p:sp>
      <p:sp>
        <p:nvSpPr>
          <p:cNvPr id="22" name="Text 20"/>
          <p:cNvSpPr/>
          <p:nvPr/>
        </p:nvSpPr>
        <p:spPr>
          <a:xfrm>
            <a:off x="5440680" y="2432304"/>
            <a:ext cx="3291840" cy="640080"/>
          </a:xfrm>
          <a:prstGeom prst="rect">
            <a:avLst/>
          </a:prstGeom>
          <a:noFill/>
          <a:ln/>
        </p:spPr>
        <p:txBody>
          <a:bodyPr wrap="square" lIns="0" tIns="0" rIns="0" bIns="0" rtlCol="0" anchor="ctr"/>
          <a:lstStyle/>
          <a:p>
            <a:pPr marL="0" indent="0">
              <a:buNone/>
            </a:pPr>
            <a:r>
              <a:rPr lang="en-US" sz="1150" b="1" dirty="0">
                <a:solidFill>
                  <a:srgbClr val="1A2744"/>
                </a:solidFill>
              </a:rPr>
              <a:t>¿Por qué el trigger no funciona en un juego repetido finito con fin conocido?</a:t>
            </a:r>
            <a:endParaRPr lang="en-US" sz="1150" dirty="0"/>
          </a:p>
        </p:txBody>
      </p:sp>
      <p:sp>
        <p:nvSpPr>
          <p:cNvPr id="23" name="Text 21"/>
          <p:cNvSpPr/>
          <p:nvPr/>
        </p:nvSpPr>
        <p:spPr>
          <a:xfrm>
            <a:off x="5440680" y="3108960"/>
            <a:ext cx="3291840" cy="347472"/>
          </a:xfrm>
          <a:prstGeom prst="rect">
            <a:avLst/>
          </a:prstGeom>
          <a:noFill/>
          <a:ln/>
        </p:spPr>
        <p:txBody>
          <a:bodyPr wrap="square" lIns="0" tIns="0" rIns="0" bIns="0" rtlCol="0" anchor="ctr"/>
          <a:lstStyle/>
          <a:p>
            <a:pPr marL="0" indent="0">
              <a:buNone/>
            </a:pPr>
            <a:r>
              <a:rPr lang="en-US" sz="1000" i="1" dirty="0">
                <a:solidFill>
                  <a:srgbClr val="6B7A8D"/>
                </a:solidFill>
              </a:rPr>
              <a:t>💡 Problema del último período: inducción hacia atrás destruye la cooperación.</a:t>
            </a:r>
            <a:endParaRPr lang="en-US" sz="1000" dirty="0"/>
          </a:p>
        </p:txBody>
      </p:sp>
      <p:sp>
        <p:nvSpPr>
          <p:cNvPr id="24" name="Shape 22"/>
          <p:cNvSpPr/>
          <p:nvPr/>
        </p:nvSpPr>
        <p:spPr>
          <a:xfrm>
            <a:off x="320040" y="3730752"/>
            <a:ext cx="4114800" cy="1188720"/>
          </a:xfrm>
          <a:prstGeom prst="rect">
            <a:avLst/>
          </a:prstGeom>
          <a:solidFill>
            <a:srgbClr val="EBF3F8"/>
          </a:solidFill>
          <a:ln w="12700">
            <a:solidFill>
              <a:srgbClr val="1A2744"/>
            </a:solidFill>
            <a:prstDash val="solid"/>
          </a:ln>
          <a:effectLst>
            <a:outerShdw blurRad="101600" dist="38100" dir="8100000" algn="bl" rotWithShape="0">
              <a:srgbClr val="000000">
                <a:alpha val="13000"/>
              </a:srgbClr>
            </a:outerShdw>
          </a:effectLst>
        </p:spPr>
        <p:txBody>
          <a:bodyPr/>
          <a:lstStyle/>
          <a:p>
            <a:endParaRPr lang="es-AR"/>
          </a:p>
        </p:txBody>
      </p:sp>
      <p:sp>
        <p:nvSpPr>
          <p:cNvPr id="25" name="Shape 23"/>
          <p:cNvSpPr/>
          <p:nvPr/>
        </p:nvSpPr>
        <p:spPr>
          <a:xfrm>
            <a:off x="320040" y="3730752"/>
            <a:ext cx="548640" cy="1188720"/>
          </a:xfrm>
          <a:prstGeom prst="rect">
            <a:avLst/>
          </a:prstGeom>
          <a:solidFill>
            <a:srgbClr val="1A2744"/>
          </a:solidFill>
          <a:ln w="12700">
            <a:solidFill>
              <a:srgbClr val="1A2744"/>
            </a:solidFill>
            <a:prstDash val="solid"/>
          </a:ln>
        </p:spPr>
        <p:txBody>
          <a:bodyPr/>
          <a:lstStyle/>
          <a:p>
            <a:endParaRPr lang="es-AR"/>
          </a:p>
        </p:txBody>
      </p:sp>
      <p:sp>
        <p:nvSpPr>
          <p:cNvPr id="26" name="Text 24"/>
          <p:cNvSpPr/>
          <p:nvPr/>
        </p:nvSpPr>
        <p:spPr>
          <a:xfrm>
            <a:off x="329184" y="3730752"/>
            <a:ext cx="530352" cy="1188720"/>
          </a:xfrm>
          <a:prstGeom prst="rect">
            <a:avLst/>
          </a:prstGeom>
          <a:noFill/>
          <a:ln/>
        </p:spPr>
        <p:txBody>
          <a:bodyPr wrap="square" lIns="0" tIns="0" rIns="0" bIns="0" rtlCol="0" anchor="ctr"/>
          <a:lstStyle/>
          <a:p>
            <a:pPr marL="0" indent="0" algn="ctr">
              <a:buNone/>
            </a:pPr>
            <a:r>
              <a:rPr lang="en-US" sz="1200" b="1" dirty="0">
                <a:solidFill>
                  <a:srgbClr val="FFFFFF"/>
                </a:solidFill>
              </a:rPr>
              <a:t>P5</a:t>
            </a:r>
            <a:endParaRPr lang="en-US" sz="1200" dirty="0"/>
          </a:p>
        </p:txBody>
      </p:sp>
      <p:sp>
        <p:nvSpPr>
          <p:cNvPr id="27" name="Text 25"/>
          <p:cNvSpPr/>
          <p:nvPr/>
        </p:nvSpPr>
        <p:spPr>
          <a:xfrm>
            <a:off x="1005840" y="3803904"/>
            <a:ext cx="3291840" cy="640080"/>
          </a:xfrm>
          <a:prstGeom prst="rect">
            <a:avLst/>
          </a:prstGeom>
          <a:noFill/>
          <a:ln/>
        </p:spPr>
        <p:txBody>
          <a:bodyPr wrap="square" lIns="0" tIns="0" rIns="0" bIns="0" rtlCol="0" anchor="ctr"/>
          <a:lstStyle/>
          <a:p>
            <a:pPr marL="0" indent="0">
              <a:buNone/>
            </a:pPr>
            <a:r>
              <a:rPr lang="en-US" sz="1150" b="1" dirty="0">
                <a:solidFill>
                  <a:srgbClr val="1A2744"/>
                </a:solidFill>
              </a:rPr>
              <a:t>¿Bajo qué condición la estrategia trigger sostiene cooperación en un juego infinito?</a:t>
            </a:r>
            <a:endParaRPr lang="en-US" sz="1150" dirty="0"/>
          </a:p>
        </p:txBody>
      </p:sp>
      <p:sp>
        <p:nvSpPr>
          <p:cNvPr id="28" name="Text 26"/>
          <p:cNvSpPr/>
          <p:nvPr/>
        </p:nvSpPr>
        <p:spPr>
          <a:xfrm>
            <a:off x="1005840" y="4480560"/>
            <a:ext cx="3291840" cy="347472"/>
          </a:xfrm>
          <a:prstGeom prst="rect">
            <a:avLst/>
          </a:prstGeom>
          <a:noFill/>
          <a:ln/>
        </p:spPr>
        <p:txBody>
          <a:bodyPr wrap="square" lIns="0" tIns="0" rIns="0" bIns="0" rtlCol="0" anchor="ctr"/>
          <a:lstStyle/>
          <a:p>
            <a:pPr marL="0" indent="0">
              <a:buNone/>
            </a:pPr>
            <a:r>
              <a:rPr lang="en-US" sz="1000" i="1" dirty="0">
                <a:solidFill>
                  <a:srgbClr val="6B7A8D"/>
                </a:solidFill>
              </a:rPr>
              <a:t>💡 δ ≥ 1/2. Derivar mostrando VP(coop) ≥ VP(desviación).</a:t>
            </a:r>
            <a:endParaRPr lang="en-US" sz="1000" dirty="0"/>
          </a:p>
        </p:txBody>
      </p:sp>
      <p:sp>
        <p:nvSpPr>
          <p:cNvPr id="29" name="Shape 27"/>
          <p:cNvSpPr/>
          <p:nvPr/>
        </p:nvSpPr>
        <p:spPr>
          <a:xfrm>
            <a:off x="4754880" y="3730752"/>
            <a:ext cx="4114800" cy="1188720"/>
          </a:xfrm>
          <a:prstGeom prst="rect">
            <a:avLst/>
          </a:prstGeom>
          <a:solidFill>
            <a:srgbClr val="EBF3F8"/>
          </a:solidFill>
          <a:ln w="12700">
            <a:solidFill>
              <a:srgbClr val="1A2744"/>
            </a:solidFill>
            <a:prstDash val="solid"/>
          </a:ln>
          <a:effectLst>
            <a:outerShdw blurRad="101600" dist="38100" dir="8100000" algn="bl" rotWithShape="0">
              <a:srgbClr val="000000">
                <a:alpha val="13000"/>
              </a:srgbClr>
            </a:outerShdw>
          </a:effectLst>
        </p:spPr>
        <p:txBody>
          <a:bodyPr/>
          <a:lstStyle/>
          <a:p>
            <a:endParaRPr lang="es-AR"/>
          </a:p>
        </p:txBody>
      </p:sp>
      <p:sp>
        <p:nvSpPr>
          <p:cNvPr id="30" name="Shape 28"/>
          <p:cNvSpPr/>
          <p:nvPr/>
        </p:nvSpPr>
        <p:spPr>
          <a:xfrm>
            <a:off x="4754880" y="3730752"/>
            <a:ext cx="548640" cy="1188720"/>
          </a:xfrm>
          <a:prstGeom prst="rect">
            <a:avLst/>
          </a:prstGeom>
          <a:solidFill>
            <a:srgbClr val="1A2744"/>
          </a:solidFill>
          <a:ln w="12700">
            <a:solidFill>
              <a:srgbClr val="1A2744"/>
            </a:solidFill>
            <a:prstDash val="solid"/>
          </a:ln>
        </p:spPr>
        <p:txBody>
          <a:bodyPr/>
          <a:lstStyle/>
          <a:p>
            <a:endParaRPr lang="es-AR"/>
          </a:p>
        </p:txBody>
      </p:sp>
      <p:sp>
        <p:nvSpPr>
          <p:cNvPr id="31" name="Text 29"/>
          <p:cNvSpPr/>
          <p:nvPr/>
        </p:nvSpPr>
        <p:spPr>
          <a:xfrm>
            <a:off x="4764024" y="3730752"/>
            <a:ext cx="530352" cy="1188720"/>
          </a:xfrm>
          <a:prstGeom prst="rect">
            <a:avLst/>
          </a:prstGeom>
          <a:noFill/>
          <a:ln/>
        </p:spPr>
        <p:txBody>
          <a:bodyPr wrap="square" lIns="0" tIns="0" rIns="0" bIns="0" rtlCol="0" anchor="ctr"/>
          <a:lstStyle/>
          <a:p>
            <a:pPr marL="0" indent="0" algn="ctr">
              <a:buNone/>
            </a:pPr>
            <a:r>
              <a:rPr lang="en-US" sz="1200" b="1" dirty="0">
                <a:solidFill>
                  <a:srgbClr val="FFFFFF"/>
                </a:solidFill>
              </a:rPr>
              <a:t>P6</a:t>
            </a:r>
            <a:endParaRPr lang="en-US" sz="1200" dirty="0"/>
          </a:p>
        </p:txBody>
      </p:sp>
      <p:sp>
        <p:nvSpPr>
          <p:cNvPr id="32" name="Text 30"/>
          <p:cNvSpPr/>
          <p:nvPr/>
        </p:nvSpPr>
        <p:spPr>
          <a:xfrm>
            <a:off x="5440680" y="3803904"/>
            <a:ext cx="3291840" cy="640080"/>
          </a:xfrm>
          <a:prstGeom prst="rect">
            <a:avLst/>
          </a:prstGeom>
          <a:noFill/>
          <a:ln/>
        </p:spPr>
        <p:txBody>
          <a:bodyPr wrap="square" lIns="0" tIns="0" rIns="0" bIns="0" rtlCol="0" anchor="ctr"/>
          <a:lstStyle/>
          <a:p>
            <a:pPr marL="0" indent="0">
              <a:buNone/>
            </a:pPr>
            <a:r>
              <a:rPr lang="en-US" sz="1150" b="1" dirty="0">
                <a:solidFill>
                  <a:srgbClr val="1A2744"/>
                </a:solidFill>
              </a:rPr>
              <a:t>En Toma y Daka, ¿por qué hay que verificar DOS condiciones en lugar de una?</a:t>
            </a:r>
            <a:endParaRPr lang="en-US" sz="1150" dirty="0"/>
          </a:p>
        </p:txBody>
      </p:sp>
      <p:sp>
        <p:nvSpPr>
          <p:cNvPr id="33" name="Text 31"/>
          <p:cNvSpPr/>
          <p:nvPr/>
        </p:nvSpPr>
        <p:spPr>
          <a:xfrm>
            <a:off x="5440680" y="4480560"/>
            <a:ext cx="3291840" cy="347472"/>
          </a:xfrm>
          <a:prstGeom prst="rect">
            <a:avLst/>
          </a:prstGeom>
          <a:noFill/>
          <a:ln/>
        </p:spPr>
        <p:txBody>
          <a:bodyPr wrap="square" lIns="0" tIns="0" rIns="0" bIns="0" rtlCol="0" anchor="ctr"/>
          <a:lstStyle/>
          <a:p>
            <a:pPr marL="0" indent="0">
              <a:buNone/>
            </a:pPr>
            <a:r>
              <a:rPr lang="en-US" sz="1000" i="1" dirty="0">
                <a:solidFill>
                  <a:srgbClr val="6B7A8D"/>
                </a:solidFill>
              </a:rPr>
              <a:t>💡 Porque hay dos caminos de desviación: alternar (3,0,3,0...) o jugar C̄ siempre (3,1,1,1...).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7B6C"/>
          </a:solidFill>
          <a:ln w="12700">
            <a:solidFill>
              <a:srgbClr val="0F7B6C"/>
            </a:solidFill>
            <a:prstDash val="solid"/>
          </a:ln>
        </p:spPr>
        <p:txBody>
          <a:bodyPr/>
          <a:lstStyle/>
          <a:p>
            <a:endParaRPr lang="es-AR"/>
          </a:p>
        </p:txBody>
      </p:sp>
      <p:sp>
        <p:nvSpPr>
          <p:cNvPr id="3" name="Text 1"/>
          <p:cNvSpPr/>
          <p:nvPr/>
        </p:nvSpPr>
        <p:spPr>
          <a:xfrm>
            <a:off x="320040" y="0"/>
            <a:ext cx="8503920" cy="822960"/>
          </a:xfrm>
          <a:prstGeom prst="rect">
            <a:avLst/>
          </a:prstGeom>
          <a:noFill/>
          <a:ln/>
        </p:spPr>
        <p:txBody>
          <a:bodyPr wrap="square" lIns="0" tIns="0" rIns="0" bIns="0" rtlCol="0" anchor="ctr"/>
          <a:lstStyle/>
          <a:p>
            <a:pPr marL="0" indent="0">
              <a:buNone/>
            </a:pPr>
            <a:r>
              <a:rPr lang="en-US" sz="2200" b="1" dirty="0">
                <a:solidFill>
                  <a:srgbClr val="FFFFFF"/>
                </a:solidFill>
              </a:rPr>
              <a:t>Resumen Final de la Unidad</a:t>
            </a:r>
            <a:endParaRPr lang="en-US" sz="2200" dirty="0"/>
          </a:p>
        </p:txBody>
      </p:sp>
      <p:sp>
        <p:nvSpPr>
          <p:cNvPr id="4" name="Shape 2"/>
          <p:cNvSpPr/>
          <p:nvPr/>
        </p:nvSpPr>
        <p:spPr>
          <a:xfrm>
            <a:off x="320040" y="96012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5" name="Text 3"/>
          <p:cNvSpPr/>
          <p:nvPr/>
        </p:nvSpPr>
        <p:spPr>
          <a:xfrm>
            <a:off x="502920" y="103327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Forma Extensiva</a:t>
            </a:r>
            <a:endParaRPr lang="en-US" sz="1250" dirty="0"/>
          </a:p>
        </p:txBody>
      </p:sp>
      <p:sp>
        <p:nvSpPr>
          <p:cNvPr id="6" name="Text 4"/>
          <p:cNvSpPr/>
          <p:nvPr/>
        </p:nvSpPr>
        <p:spPr>
          <a:xfrm>
            <a:off x="502920" y="1344168"/>
            <a:ext cx="3749040" cy="384048"/>
          </a:xfrm>
          <a:prstGeom prst="rect">
            <a:avLst/>
          </a:prstGeom>
          <a:noFill/>
          <a:ln/>
        </p:spPr>
        <p:txBody>
          <a:bodyPr wrap="square" lIns="0" tIns="0" rIns="0" bIns="0" rtlCol="0" anchor="ctr"/>
          <a:lstStyle/>
          <a:p>
            <a:pPr marL="0" indent="0">
              <a:buNone/>
            </a:pPr>
            <a:r>
              <a:rPr lang="en-US" sz="1100" dirty="0">
                <a:solidFill>
                  <a:srgbClr val="A8C0D0"/>
                </a:solidFill>
              </a:rPr>
              <a:t>Árbol con nodos, ramas y conjuntos de información. Unitario = info perfecta.</a:t>
            </a:r>
            <a:endParaRPr lang="en-US" sz="1100" dirty="0"/>
          </a:p>
        </p:txBody>
      </p:sp>
      <p:sp>
        <p:nvSpPr>
          <p:cNvPr id="7" name="Shape 5"/>
          <p:cNvSpPr/>
          <p:nvPr/>
        </p:nvSpPr>
        <p:spPr>
          <a:xfrm>
            <a:off x="4754880" y="96012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8" name="Text 6"/>
          <p:cNvSpPr/>
          <p:nvPr/>
        </p:nvSpPr>
        <p:spPr>
          <a:xfrm>
            <a:off x="4937760" y="103327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Subjuego</a:t>
            </a:r>
            <a:endParaRPr lang="en-US" sz="1250" dirty="0"/>
          </a:p>
        </p:txBody>
      </p:sp>
      <p:sp>
        <p:nvSpPr>
          <p:cNvPr id="9" name="Text 7"/>
          <p:cNvSpPr/>
          <p:nvPr/>
        </p:nvSpPr>
        <p:spPr>
          <a:xfrm>
            <a:off x="4937760" y="1344168"/>
            <a:ext cx="3749040" cy="384048"/>
          </a:xfrm>
          <a:prstGeom prst="rect">
            <a:avLst/>
          </a:prstGeom>
          <a:noFill/>
          <a:ln/>
        </p:spPr>
        <p:txBody>
          <a:bodyPr wrap="square" lIns="0" tIns="0" rIns="0" bIns="0" rtlCol="0" anchor="ctr"/>
          <a:lstStyle/>
          <a:p>
            <a:pPr marL="0" indent="0">
              <a:buNone/>
            </a:pPr>
            <a:r>
              <a:rPr lang="en-US" sz="1100" dirty="0">
                <a:solidFill>
                  <a:srgbClr val="A8C0D0"/>
                </a:solidFill>
              </a:rPr>
              <a:t>Parte del árbol que empieza en nodo unitario, incluye todos los sucesores y no corta conjuntos.</a:t>
            </a:r>
            <a:endParaRPr lang="en-US" sz="1100" dirty="0"/>
          </a:p>
        </p:txBody>
      </p:sp>
      <p:sp>
        <p:nvSpPr>
          <p:cNvPr id="10" name="Shape 8"/>
          <p:cNvSpPr/>
          <p:nvPr/>
        </p:nvSpPr>
        <p:spPr>
          <a:xfrm>
            <a:off x="320040" y="196596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1" name="Text 9"/>
          <p:cNvSpPr/>
          <p:nvPr/>
        </p:nvSpPr>
        <p:spPr>
          <a:xfrm>
            <a:off x="502920" y="203911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ENPS</a:t>
            </a:r>
            <a:endParaRPr lang="en-US" sz="1250" dirty="0"/>
          </a:p>
        </p:txBody>
      </p:sp>
      <p:sp>
        <p:nvSpPr>
          <p:cNvPr id="12" name="Text 10"/>
          <p:cNvSpPr/>
          <p:nvPr/>
        </p:nvSpPr>
        <p:spPr>
          <a:xfrm>
            <a:off x="502920" y="2350008"/>
            <a:ext cx="3749040" cy="384048"/>
          </a:xfrm>
          <a:prstGeom prst="rect">
            <a:avLst/>
          </a:prstGeom>
          <a:noFill/>
          <a:ln/>
        </p:spPr>
        <p:txBody>
          <a:bodyPr wrap="square" lIns="0" tIns="0" rIns="0" bIns="0" rtlCol="0" anchor="ctr"/>
          <a:lstStyle/>
          <a:p>
            <a:pPr marL="0" indent="0">
              <a:buNone/>
            </a:pPr>
            <a:r>
              <a:rPr lang="en-US" sz="1100" dirty="0">
                <a:solidFill>
                  <a:srgbClr val="A8C0D0"/>
                </a:solidFill>
              </a:rPr>
              <a:t>Equilibrio de Nash en CADA subjuego. Elimina amenazas no creíbles. Se obtiene por backward induction.</a:t>
            </a:r>
            <a:endParaRPr lang="en-US" sz="1100" dirty="0"/>
          </a:p>
        </p:txBody>
      </p:sp>
      <p:sp>
        <p:nvSpPr>
          <p:cNvPr id="13" name="Shape 11"/>
          <p:cNvSpPr/>
          <p:nvPr/>
        </p:nvSpPr>
        <p:spPr>
          <a:xfrm>
            <a:off x="4754880" y="196596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4" name="Text 12"/>
          <p:cNvSpPr/>
          <p:nvPr/>
        </p:nvSpPr>
        <p:spPr>
          <a:xfrm>
            <a:off x="4937760" y="203911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Ultimátum → Doble Ultimátum</a:t>
            </a:r>
            <a:endParaRPr lang="en-US" sz="1250" dirty="0"/>
          </a:p>
        </p:txBody>
      </p:sp>
      <p:sp>
        <p:nvSpPr>
          <p:cNvPr id="15" name="Text 13"/>
          <p:cNvSpPr/>
          <p:nvPr/>
        </p:nvSpPr>
        <p:spPr>
          <a:xfrm>
            <a:off x="4937760" y="2350008"/>
            <a:ext cx="3749040" cy="384048"/>
          </a:xfrm>
          <a:prstGeom prst="rect">
            <a:avLst/>
          </a:prstGeom>
          <a:noFill/>
          <a:ln/>
        </p:spPr>
        <p:txBody>
          <a:bodyPr wrap="square" lIns="0" tIns="0" rIns="0" bIns="0" rtlCol="0" anchor="ctr"/>
          <a:lstStyle/>
          <a:p>
            <a:pPr marL="0" indent="0">
              <a:buNone/>
            </a:pPr>
            <a:r>
              <a:rPr lang="en-US" sz="1100" dirty="0">
                <a:solidFill>
                  <a:srgbClr val="A8C0D0"/>
                </a:solidFill>
              </a:rPr>
              <a:t>Más opciones para J2 → más poder para J2. Poder de negociación ≠ quién habla primero.</a:t>
            </a:r>
            <a:endParaRPr lang="en-US" sz="1100" dirty="0"/>
          </a:p>
        </p:txBody>
      </p:sp>
      <p:sp>
        <p:nvSpPr>
          <p:cNvPr id="16" name="Shape 14"/>
          <p:cNvSpPr/>
          <p:nvPr/>
        </p:nvSpPr>
        <p:spPr>
          <a:xfrm>
            <a:off x="320040" y="297180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17" name="Text 15"/>
          <p:cNvSpPr/>
          <p:nvPr/>
        </p:nvSpPr>
        <p:spPr>
          <a:xfrm>
            <a:off x="502920" y="304495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Rubinstein</a:t>
            </a:r>
            <a:endParaRPr lang="en-US" sz="1250" dirty="0"/>
          </a:p>
        </p:txBody>
      </p:sp>
      <p:sp>
        <p:nvSpPr>
          <p:cNvPr id="18" name="Text 16"/>
          <p:cNvSpPr/>
          <p:nvPr/>
        </p:nvSpPr>
        <p:spPr>
          <a:xfrm>
            <a:off x="502920" y="3355848"/>
            <a:ext cx="3749040" cy="384048"/>
          </a:xfrm>
          <a:prstGeom prst="rect">
            <a:avLst/>
          </a:prstGeom>
          <a:noFill/>
          <a:ln/>
        </p:spPr>
        <p:txBody>
          <a:bodyPr wrap="square" lIns="0" tIns="0" rIns="0" bIns="0" rtlCol="0" anchor="ctr"/>
          <a:lstStyle/>
          <a:p>
            <a:pPr marL="0" indent="0">
              <a:buNone/>
            </a:pPr>
            <a:r>
              <a:rPr lang="en-US" sz="1100" dirty="0">
                <a:solidFill>
                  <a:srgbClr val="A8C0D0"/>
                </a:solidFill>
              </a:rPr>
              <a:t>Negociación infinita. Poder = paciencia (δ). Resultado: 12δ₂ para J2, 12(1−δ₂) para J1.</a:t>
            </a:r>
            <a:endParaRPr lang="en-US" sz="1100" dirty="0"/>
          </a:p>
        </p:txBody>
      </p:sp>
      <p:sp>
        <p:nvSpPr>
          <p:cNvPr id="19" name="Shape 17"/>
          <p:cNvSpPr/>
          <p:nvPr/>
        </p:nvSpPr>
        <p:spPr>
          <a:xfrm>
            <a:off x="4754880" y="297180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20" name="Text 18"/>
          <p:cNvSpPr/>
          <p:nvPr/>
        </p:nvSpPr>
        <p:spPr>
          <a:xfrm>
            <a:off x="4937760" y="304495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Stackelberg</a:t>
            </a:r>
            <a:endParaRPr lang="en-US" sz="1250" dirty="0"/>
          </a:p>
        </p:txBody>
      </p:sp>
      <p:sp>
        <p:nvSpPr>
          <p:cNvPr id="21" name="Text 19"/>
          <p:cNvSpPr/>
          <p:nvPr/>
        </p:nvSpPr>
        <p:spPr>
          <a:xfrm>
            <a:off x="4937760" y="3355848"/>
            <a:ext cx="3749040" cy="384048"/>
          </a:xfrm>
          <a:prstGeom prst="rect">
            <a:avLst/>
          </a:prstGeom>
          <a:noFill/>
          <a:ln/>
        </p:spPr>
        <p:txBody>
          <a:bodyPr wrap="square" lIns="0" tIns="0" rIns="0" bIns="0" rtlCol="0" anchor="ctr"/>
          <a:lstStyle/>
          <a:p>
            <a:pPr marL="0" indent="0">
              <a:buNone/>
            </a:pPr>
            <a:r>
              <a:rPr lang="en-US" sz="1100" dirty="0">
                <a:solidFill>
                  <a:srgbClr val="A8C0D0"/>
                </a:solidFill>
              </a:rPr>
              <a:t>Cournot secuencial. qL* = (a−c)/2b, qS* = (a−c)/4b. Líder &gt; Cournot &gt; Seguidora.</a:t>
            </a:r>
            <a:endParaRPr lang="en-US" sz="1100" dirty="0"/>
          </a:p>
        </p:txBody>
      </p:sp>
      <p:sp>
        <p:nvSpPr>
          <p:cNvPr id="22" name="Shape 20"/>
          <p:cNvSpPr/>
          <p:nvPr/>
        </p:nvSpPr>
        <p:spPr>
          <a:xfrm>
            <a:off x="320040" y="397764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23" name="Text 21"/>
          <p:cNvSpPr/>
          <p:nvPr/>
        </p:nvSpPr>
        <p:spPr>
          <a:xfrm>
            <a:off x="502920" y="405079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Juegos Repetidos</a:t>
            </a:r>
            <a:endParaRPr lang="en-US" sz="1250" dirty="0"/>
          </a:p>
        </p:txBody>
      </p:sp>
      <p:sp>
        <p:nvSpPr>
          <p:cNvPr id="24" name="Text 22"/>
          <p:cNvSpPr/>
          <p:nvPr/>
        </p:nvSpPr>
        <p:spPr>
          <a:xfrm>
            <a:off x="502920" y="4361688"/>
            <a:ext cx="3749040" cy="384048"/>
          </a:xfrm>
          <a:prstGeom prst="rect">
            <a:avLst/>
          </a:prstGeom>
          <a:noFill/>
          <a:ln/>
        </p:spPr>
        <p:txBody>
          <a:bodyPr wrap="square" lIns="0" tIns="0" rIns="0" bIns="0" rtlCol="0" anchor="ctr"/>
          <a:lstStyle/>
          <a:p>
            <a:pPr marL="0" indent="0">
              <a:buNone/>
            </a:pPr>
            <a:r>
              <a:rPr lang="en-US" sz="1100" dirty="0">
                <a:solidFill>
                  <a:srgbClr val="A8C0D0"/>
                </a:solidFill>
              </a:rPr>
              <a:t>Finito + fin conocido → no cooperación (problema del último período). Infinito o p incierta → cooperación si δ ≥ ½.</a:t>
            </a:r>
            <a:endParaRPr lang="en-US" sz="1100" dirty="0"/>
          </a:p>
        </p:txBody>
      </p:sp>
      <p:sp>
        <p:nvSpPr>
          <p:cNvPr id="25" name="Shape 23"/>
          <p:cNvSpPr/>
          <p:nvPr/>
        </p:nvSpPr>
        <p:spPr>
          <a:xfrm>
            <a:off x="4754880" y="3977640"/>
            <a:ext cx="4114800" cy="841248"/>
          </a:xfrm>
          <a:prstGeom prst="rect">
            <a:avLst/>
          </a:prstGeom>
          <a:solidFill>
            <a:srgbClr val="132235"/>
          </a:solidFill>
          <a:ln w="12700">
            <a:solidFill>
              <a:srgbClr val="14A896"/>
            </a:solidFill>
            <a:prstDash val="solid"/>
          </a:ln>
          <a:effectLst>
            <a:outerShdw blurRad="101600" dist="38100" dir="8100000" algn="bl" rotWithShape="0">
              <a:srgbClr val="000000">
                <a:alpha val="13000"/>
              </a:srgbClr>
            </a:outerShdw>
          </a:effectLst>
        </p:spPr>
        <p:txBody>
          <a:bodyPr/>
          <a:lstStyle/>
          <a:p>
            <a:endParaRPr lang="es-AR"/>
          </a:p>
        </p:txBody>
      </p:sp>
      <p:sp>
        <p:nvSpPr>
          <p:cNvPr id="26" name="Text 24"/>
          <p:cNvSpPr/>
          <p:nvPr/>
        </p:nvSpPr>
        <p:spPr>
          <a:xfrm>
            <a:off x="4937760" y="4050792"/>
            <a:ext cx="3749040" cy="274320"/>
          </a:xfrm>
          <a:prstGeom prst="rect">
            <a:avLst/>
          </a:prstGeom>
          <a:noFill/>
          <a:ln/>
        </p:spPr>
        <p:txBody>
          <a:bodyPr wrap="square" lIns="0" tIns="0" rIns="0" bIns="0" rtlCol="0" anchor="ctr"/>
          <a:lstStyle/>
          <a:p>
            <a:pPr marL="0" indent="0">
              <a:buNone/>
            </a:pPr>
            <a:r>
              <a:rPr lang="en-US" sz="1250" b="1" dirty="0">
                <a:solidFill>
                  <a:srgbClr val="FFFFFF"/>
                </a:solidFill>
              </a:rPr>
              <a:t>Estrategias de Castigo</a:t>
            </a:r>
            <a:endParaRPr lang="en-US" sz="1250" dirty="0"/>
          </a:p>
        </p:txBody>
      </p:sp>
      <p:sp>
        <p:nvSpPr>
          <p:cNvPr id="27" name="Text 25"/>
          <p:cNvSpPr/>
          <p:nvPr/>
        </p:nvSpPr>
        <p:spPr>
          <a:xfrm>
            <a:off x="4937760" y="4361688"/>
            <a:ext cx="3749040" cy="384048"/>
          </a:xfrm>
          <a:prstGeom prst="rect">
            <a:avLst/>
          </a:prstGeom>
          <a:noFill/>
          <a:ln/>
        </p:spPr>
        <p:txBody>
          <a:bodyPr wrap="square" lIns="0" tIns="0" rIns="0" bIns="0" rtlCol="0" anchor="ctr"/>
          <a:lstStyle/>
          <a:p>
            <a:pPr marL="0" indent="0">
              <a:buNone/>
            </a:pPr>
            <a:r>
              <a:rPr lang="en-US" sz="1100" dirty="0">
                <a:solidFill>
                  <a:srgbClr val="A8C0D0"/>
                </a:solidFill>
              </a:rPr>
              <a:t>Trigger (∞), Toma y Daka (1 per.), Castigo Limitado (K per.). Todas: δ ≥ ½ para cooperar.</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8">
    <p:bg>
      <p:bgPr>
        <a:solidFill>
          <a:srgbClr val="0F7B6C"/>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lIns="0" tIns="0" rIns="0" bIns="0" rtlCol="0" anchor="ctr"/>
          <a:lstStyle/>
          <a:p>
            <a:pPr marL="0" indent="0" algn="ctr">
              <a:buNone/>
            </a:pPr>
            <a:r>
              <a:rPr lang="en-US" sz="1400" b="1" kern="0" spc="500" dirty="0">
                <a:solidFill>
                  <a:srgbClr val="FFFFFF"/>
                </a:solidFill>
              </a:rPr>
              <a:t>MINI REPASO RÁPIDO</a:t>
            </a:r>
            <a:endParaRPr lang="en-US" sz="1400" dirty="0"/>
          </a:p>
        </p:txBody>
      </p:sp>
      <p:sp>
        <p:nvSpPr>
          <p:cNvPr id="3" name="Text 1"/>
          <p:cNvSpPr/>
          <p:nvPr/>
        </p:nvSpPr>
        <p:spPr>
          <a:xfrm>
            <a:off x="457200" y="685800"/>
            <a:ext cx="8229600" cy="320040"/>
          </a:xfrm>
          <a:prstGeom prst="rect">
            <a:avLst/>
          </a:prstGeom>
          <a:noFill/>
          <a:ln/>
        </p:spPr>
        <p:txBody>
          <a:bodyPr wrap="square" lIns="0" tIns="0" rIns="0" bIns="0" rtlCol="0" anchor="ctr"/>
          <a:lstStyle/>
          <a:p>
            <a:pPr marL="0" indent="0" algn="ctr">
              <a:buNone/>
            </a:pPr>
            <a:r>
              <a:rPr lang="en-US" sz="1400" i="1" dirty="0">
                <a:solidFill>
                  <a:srgbClr val="D0F0EA"/>
                </a:solidFill>
              </a:rPr>
              <a:t>Flashcards clave</a:t>
            </a:r>
            <a:endParaRPr lang="en-US" sz="1400" dirty="0"/>
          </a:p>
        </p:txBody>
      </p:sp>
      <p:sp>
        <p:nvSpPr>
          <p:cNvPr id="4" name="Shape 2"/>
          <p:cNvSpPr/>
          <p:nvPr/>
        </p:nvSpPr>
        <p:spPr>
          <a:xfrm>
            <a:off x="320040" y="1097280"/>
            <a:ext cx="4114800" cy="1170432"/>
          </a:xfrm>
          <a:prstGeom prst="rect">
            <a:avLst/>
          </a:prstGeom>
          <a:solidFill>
            <a:srgbClr val="FFFFFF"/>
          </a:solidFill>
          <a:ln w="12700">
            <a:solidFill>
              <a:srgbClr val="D0F0EA"/>
            </a:solidFill>
            <a:prstDash val="solid"/>
          </a:ln>
          <a:effectLst>
            <a:outerShdw blurRad="101600" dist="38100" dir="8100000" algn="bl" rotWithShape="0">
              <a:srgbClr val="000000">
                <a:alpha val="13000"/>
              </a:srgbClr>
            </a:outerShdw>
          </a:effectLst>
        </p:spPr>
        <p:txBody>
          <a:bodyPr/>
          <a:lstStyle/>
          <a:p>
            <a:endParaRPr lang="es-AR"/>
          </a:p>
        </p:txBody>
      </p:sp>
      <p:sp>
        <p:nvSpPr>
          <p:cNvPr id="5" name="Text 3"/>
          <p:cNvSpPr/>
          <p:nvPr/>
        </p:nvSpPr>
        <p:spPr>
          <a:xfrm>
            <a:off x="502920" y="1188720"/>
            <a:ext cx="3749040" cy="457200"/>
          </a:xfrm>
          <a:prstGeom prst="rect">
            <a:avLst/>
          </a:prstGeom>
          <a:noFill/>
          <a:ln/>
        </p:spPr>
        <p:txBody>
          <a:bodyPr wrap="square" lIns="0" tIns="0" rIns="0" bIns="0" rtlCol="0" anchor="ctr"/>
          <a:lstStyle/>
          <a:p>
            <a:pPr marL="0" indent="0">
              <a:buNone/>
            </a:pPr>
            <a:r>
              <a:rPr lang="en-US" sz="1150" b="1" dirty="0">
                <a:solidFill>
                  <a:srgbClr val="1A2744"/>
                </a:solidFill>
              </a:rPr>
              <a:t>❓  ¿ENPS ⊂ EN o EN ⊂ ENPS?</a:t>
            </a:r>
            <a:endParaRPr lang="en-US" sz="1150" dirty="0"/>
          </a:p>
        </p:txBody>
      </p:sp>
      <p:sp>
        <p:nvSpPr>
          <p:cNvPr id="6" name="Shape 4"/>
          <p:cNvSpPr/>
          <p:nvPr/>
        </p:nvSpPr>
        <p:spPr>
          <a:xfrm>
            <a:off x="457200" y="1691640"/>
            <a:ext cx="3840480" cy="475488"/>
          </a:xfrm>
          <a:prstGeom prst="rect">
            <a:avLst/>
          </a:prstGeom>
          <a:solidFill>
            <a:srgbClr val="1A2744"/>
          </a:solidFill>
          <a:ln w="12700">
            <a:solidFill>
              <a:srgbClr val="1A2744"/>
            </a:solidFill>
            <a:prstDash val="solid"/>
          </a:ln>
        </p:spPr>
        <p:txBody>
          <a:bodyPr/>
          <a:lstStyle/>
          <a:p>
            <a:endParaRPr lang="es-AR"/>
          </a:p>
        </p:txBody>
      </p:sp>
      <p:sp>
        <p:nvSpPr>
          <p:cNvPr id="7" name="Text 5"/>
          <p:cNvSpPr/>
          <p:nvPr/>
        </p:nvSpPr>
        <p:spPr>
          <a:xfrm>
            <a:off x="594360" y="1709928"/>
            <a:ext cx="3657600" cy="438912"/>
          </a:xfrm>
          <a:prstGeom prst="rect">
            <a:avLst/>
          </a:prstGeom>
          <a:noFill/>
          <a:ln/>
        </p:spPr>
        <p:txBody>
          <a:bodyPr wrap="square" lIns="0" tIns="0" rIns="0" bIns="0" rtlCol="0" anchor="ctr"/>
          <a:lstStyle/>
          <a:p>
            <a:pPr marL="0" indent="0">
              <a:buNone/>
            </a:pPr>
            <a:r>
              <a:rPr lang="en-US" sz="1100" dirty="0">
                <a:solidFill>
                  <a:srgbClr val="FFFFFF"/>
                </a:solidFill>
              </a:rPr>
              <a:t>ENPS ⊂ EN (todo ENPS es EN, no al revés)</a:t>
            </a:r>
            <a:endParaRPr lang="en-US" sz="1100" dirty="0"/>
          </a:p>
        </p:txBody>
      </p:sp>
      <p:sp>
        <p:nvSpPr>
          <p:cNvPr id="8" name="Shape 6"/>
          <p:cNvSpPr/>
          <p:nvPr/>
        </p:nvSpPr>
        <p:spPr>
          <a:xfrm>
            <a:off x="4754880" y="1097280"/>
            <a:ext cx="4114800" cy="1170432"/>
          </a:xfrm>
          <a:prstGeom prst="rect">
            <a:avLst/>
          </a:prstGeom>
          <a:solidFill>
            <a:srgbClr val="FFFFFF"/>
          </a:solidFill>
          <a:ln w="12700">
            <a:solidFill>
              <a:srgbClr val="D0F0EA"/>
            </a:solidFill>
            <a:prstDash val="solid"/>
          </a:ln>
          <a:effectLst>
            <a:outerShdw blurRad="101600" dist="38100" dir="8100000" algn="bl" rotWithShape="0">
              <a:srgbClr val="000000">
                <a:alpha val="13000"/>
              </a:srgbClr>
            </a:outerShdw>
          </a:effectLst>
        </p:spPr>
        <p:txBody>
          <a:bodyPr/>
          <a:lstStyle/>
          <a:p>
            <a:endParaRPr lang="es-AR"/>
          </a:p>
        </p:txBody>
      </p:sp>
      <p:sp>
        <p:nvSpPr>
          <p:cNvPr id="9" name="Text 7"/>
          <p:cNvSpPr/>
          <p:nvPr/>
        </p:nvSpPr>
        <p:spPr>
          <a:xfrm>
            <a:off x="4937760" y="1188720"/>
            <a:ext cx="3749040" cy="457200"/>
          </a:xfrm>
          <a:prstGeom prst="rect">
            <a:avLst/>
          </a:prstGeom>
          <a:noFill/>
          <a:ln/>
        </p:spPr>
        <p:txBody>
          <a:bodyPr wrap="square" lIns="0" tIns="0" rIns="0" bIns="0" rtlCol="0" anchor="ctr"/>
          <a:lstStyle/>
          <a:p>
            <a:pPr marL="0" indent="0">
              <a:buNone/>
            </a:pPr>
            <a:r>
              <a:rPr lang="en-US" sz="1150" b="1" dirty="0">
                <a:solidFill>
                  <a:srgbClr val="1A2744"/>
                </a:solidFill>
              </a:rPr>
              <a:t>❓  ¿Qué necesita un subjuego para ser válido?</a:t>
            </a:r>
            <a:endParaRPr lang="en-US" sz="1150" dirty="0"/>
          </a:p>
        </p:txBody>
      </p:sp>
      <p:sp>
        <p:nvSpPr>
          <p:cNvPr id="10" name="Shape 8"/>
          <p:cNvSpPr/>
          <p:nvPr/>
        </p:nvSpPr>
        <p:spPr>
          <a:xfrm>
            <a:off x="4892040" y="1691640"/>
            <a:ext cx="3840480" cy="475488"/>
          </a:xfrm>
          <a:prstGeom prst="rect">
            <a:avLst/>
          </a:prstGeom>
          <a:solidFill>
            <a:srgbClr val="1A2744"/>
          </a:solidFill>
          <a:ln w="12700">
            <a:solidFill>
              <a:srgbClr val="1A2744"/>
            </a:solidFill>
            <a:prstDash val="solid"/>
          </a:ln>
        </p:spPr>
        <p:txBody>
          <a:bodyPr/>
          <a:lstStyle/>
          <a:p>
            <a:endParaRPr lang="es-AR"/>
          </a:p>
        </p:txBody>
      </p:sp>
      <p:sp>
        <p:nvSpPr>
          <p:cNvPr id="11" name="Text 9"/>
          <p:cNvSpPr/>
          <p:nvPr/>
        </p:nvSpPr>
        <p:spPr>
          <a:xfrm>
            <a:off x="5029200" y="1709928"/>
            <a:ext cx="3657600" cy="438912"/>
          </a:xfrm>
          <a:prstGeom prst="rect">
            <a:avLst/>
          </a:prstGeom>
          <a:noFill/>
          <a:ln/>
        </p:spPr>
        <p:txBody>
          <a:bodyPr wrap="square" lIns="0" tIns="0" rIns="0" bIns="0" rtlCol="0" anchor="ctr"/>
          <a:lstStyle/>
          <a:p>
            <a:pPr marL="0" indent="0">
              <a:buNone/>
            </a:pPr>
            <a:r>
              <a:rPr lang="en-US" sz="1100" dirty="0">
                <a:solidFill>
                  <a:srgbClr val="FFFFFF"/>
                </a:solidFill>
              </a:rPr>
              <a:t>Inicia en nodo unitario + incluye todos los sucesores + no corta conjuntos de información</a:t>
            </a:r>
            <a:endParaRPr lang="en-US" sz="1100" dirty="0"/>
          </a:p>
        </p:txBody>
      </p:sp>
      <p:sp>
        <p:nvSpPr>
          <p:cNvPr id="12" name="Shape 10"/>
          <p:cNvSpPr/>
          <p:nvPr/>
        </p:nvSpPr>
        <p:spPr>
          <a:xfrm>
            <a:off x="320040" y="2395728"/>
            <a:ext cx="4114800" cy="1170432"/>
          </a:xfrm>
          <a:prstGeom prst="rect">
            <a:avLst/>
          </a:prstGeom>
          <a:solidFill>
            <a:srgbClr val="FFFFFF"/>
          </a:solidFill>
          <a:ln w="12700">
            <a:solidFill>
              <a:srgbClr val="D0F0EA"/>
            </a:solidFill>
            <a:prstDash val="solid"/>
          </a:ln>
          <a:effectLst>
            <a:outerShdw blurRad="101600" dist="38100" dir="8100000" algn="bl" rotWithShape="0">
              <a:srgbClr val="000000">
                <a:alpha val="13000"/>
              </a:srgbClr>
            </a:outerShdw>
          </a:effectLst>
        </p:spPr>
        <p:txBody>
          <a:bodyPr/>
          <a:lstStyle/>
          <a:p>
            <a:endParaRPr lang="es-AR"/>
          </a:p>
        </p:txBody>
      </p:sp>
      <p:sp>
        <p:nvSpPr>
          <p:cNvPr id="13" name="Text 11"/>
          <p:cNvSpPr/>
          <p:nvPr/>
        </p:nvSpPr>
        <p:spPr>
          <a:xfrm>
            <a:off x="502920" y="2487168"/>
            <a:ext cx="3749040" cy="457200"/>
          </a:xfrm>
          <a:prstGeom prst="rect">
            <a:avLst/>
          </a:prstGeom>
          <a:noFill/>
          <a:ln/>
        </p:spPr>
        <p:txBody>
          <a:bodyPr wrap="square" lIns="0" tIns="0" rIns="0" bIns="0" rtlCol="0" anchor="ctr"/>
          <a:lstStyle/>
          <a:p>
            <a:pPr marL="0" indent="0">
              <a:buNone/>
            </a:pPr>
            <a:r>
              <a:rPr lang="en-US" sz="1150" b="1" dirty="0">
                <a:solidFill>
                  <a:srgbClr val="1A2744"/>
                </a:solidFill>
              </a:rPr>
              <a:t>❓  ¿En el ultimátum, qué recibe el proponente?</a:t>
            </a:r>
            <a:endParaRPr lang="en-US" sz="1150" dirty="0"/>
          </a:p>
        </p:txBody>
      </p:sp>
      <p:sp>
        <p:nvSpPr>
          <p:cNvPr id="14" name="Shape 12"/>
          <p:cNvSpPr/>
          <p:nvPr/>
        </p:nvSpPr>
        <p:spPr>
          <a:xfrm>
            <a:off x="457200" y="2990088"/>
            <a:ext cx="3840480" cy="475488"/>
          </a:xfrm>
          <a:prstGeom prst="rect">
            <a:avLst/>
          </a:prstGeom>
          <a:solidFill>
            <a:srgbClr val="1A2744"/>
          </a:solidFill>
          <a:ln w="12700">
            <a:solidFill>
              <a:srgbClr val="1A2744"/>
            </a:solidFill>
            <a:prstDash val="solid"/>
          </a:ln>
        </p:spPr>
        <p:txBody>
          <a:bodyPr/>
          <a:lstStyle/>
          <a:p>
            <a:endParaRPr lang="es-AR"/>
          </a:p>
        </p:txBody>
      </p:sp>
      <p:sp>
        <p:nvSpPr>
          <p:cNvPr id="15" name="Text 13"/>
          <p:cNvSpPr/>
          <p:nvPr/>
        </p:nvSpPr>
        <p:spPr>
          <a:xfrm>
            <a:off x="594360" y="3008376"/>
            <a:ext cx="3657600" cy="438912"/>
          </a:xfrm>
          <a:prstGeom prst="rect">
            <a:avLst/>
          </a:prstGeom>
          <a:noFill/>
          <a:ln/>
        </p:spPr>
        <p:txBody>
          <a:bodyPr wrap="square" lIns="0" tIns="0" rIns="0" bIns="0" rtlCol="0" anchor="ctr"/>
          <a:lstStyle/>
          <a:p>
            <a:pPr marL="0" indent="0">
              <a:buNone/>
            </a:pPr>
            <a:r>
              <a:rPr lang="en-US" sz="1100" dirty="0">
                <a:solidFill>
                  <a:srgbClr val="FFFFFF"/>
                </a:solidFill>
              </a:rPr>
              <a:t>Casi todo (11 de 12) porque el respondedor acepta cualquier oferta positiva</a:t>
            </a:r>
            <a:endParaRPr lang="en-US" sz="1100" dirty="0"/>
          </a:p>
        </p:txBody>
      </p:sp>
      <p:sp>
        <p:nvSpPr>
          <p:cNvPr id="16" name="Shape 14"/>
          <p:cNvSpPr/>
          <p:nvPr/>
        </p:nvSpPr>
        <p:spPr>
          <a:xfrm>
            <a:off x="4754880" y="2395728"/>
            <a:ext cx="4114800" cy="1170432"/>
          </a:xfrm>
          <a:prstGeom prst="rect">
            <a:avLst/>
          </a:prstGeom>
          <a:solidFill>
            <a:srgbClr val="FFFFFF"/>
          </a:solidFill>
          <a:ln w="12700">
            <a:solidFill>
              <a:srgbClr val="D0F0EA"/>
            </a:solidFill>
            <a:prstDash val="solid"/>
          </a:ln>
          <a:effectLst>
            <a:outerShdw blurRad="101600" dist="38100" dir="8100000" algn="bl" rotWithShape="0">
              <a:srgbClr val="000000">
                <a:alpha val="13000"/>
              </a:srgbClr>
            </a:outerShdw>
          </a:effectLst>
        </p:spPr>
        <p:txBody>
          <a:bodyPr/>
          <a:lstStyle/>
          <a:p>
            <a:endParaRPr lang="es-AR"/>
          </a:p>
        </p:txBody>
      </p:sp>
      <p:sp>
        <p:nvSpPr>
          <p:cNvPr id="17" name="Text 15"/>
          <p:cNvSpPr/>
          <p:nvPr/>
        </p:nvSpPr>
        <p:spPr>
          <a:xfrm>
            <a:off x="4937760" y="2487168"/>
            <a:ext cx="3749040" cy="457200"/>
          </a:xfrm>
          <a:prstGeom prst="rect">
            <a:avLst/>
          </a:prstGeom>
          <a:noFill/>
          <a:ln/>
        </p:spPr>
        <p:txBody>
          <a:bodyPr wrap="square" lIns="0" tIns="0" rIns="0" bIns="0" rtlCol="0" anchor="ctr"/>
          <a:lstStyle/>
          <a:p>
            <a:pPr marL="0" indent="0">
              <a:buNone/>
            </a:pPr>
            <a:r>
              <a:rPr lang="en-US" sz="1150" b="1" dirty="0">
                <a:solidFill>
                  <a:srgbClr val="1A2744"/>
                </a:solidFill>
              </a:rPr>
              <a:t>❓  ¿Quién gana más en Doble Ultimátum?</a:t>
            </a:r>
            <a:endParaRPr lang="en-US" sz="1150" dirty="0"/>
          </a:p>
        </p:txBody>
      </p:sp>
      <p:sp>
        <p:nvSpPr>
          <p:cNvPr id="18" name="Shape 16"/>
          <p:cNvSpPr/>
          <p:nvPr/>
        </p:nvSpPr>
        <p:spPr>
          <a:xfrm>
            <a:off x="4892040" y="2990088"/>
            <a:ext cx="3840480" cy="475488"/>
          </a:xfrm>
          <a:prstGeom prst="rect">
            <a:avLst/>
          </a:prstGeom>
          <a:solidFill>
            <a:srgbClr val="1A2744"/>
          </a:solidFill>
          <a:ln w="12700">
            <a:solidFill>
              <a:srgbClr val="1A2744"/>
            </a:solidFill>
            <a:prstDash val="solid"/>
          </a:ln>
        </p:spPr>
        <p:txBody>
          <a:bodyPr/>
          <a:lstStyle/>
          <a:p>
            <a:endParaRPr lang="es-AR"/>
          </a:p>
        </p:txBody>
      </p:sp>
      <p:sp>
        <p:nvSpPr>
          <p:cNvPr id="19" name="Text 17"/>
          <p:cNvSpPr/>
          <p:nvPr/>
        </p:nvSpPr>
        <p:spPr>
          <a:xfrm>
            <a:off x="5029200" y="3008376"/>
            <a:ext cx="3657600" cy="438912"/>
          </a:xfrm>
          <a:prstGeom prst="rect">
            <a:avLst/>
          </a:prstGeom>
          <a:noFill/>
          <a:ln/>
        </p:spPr>
        <p:txBody>
          <a:bodyPr wrap="square" lIns="0" tIns="0" rIns="0" bIns="0" rtlCol="0" anchor="ctr"/>
          <a:lstStyle/>
          <a:p>
            <a:pPr marL="0" indent="0">
              <a:buNone/>
            </a:pPr>
            <a:r>
              <a:rPr lang="en-US" sz="1100" dirty="0">
                <a:solidFill>
                  <a:srgbClr val="FFFFFF"/>
                </a:solidFill>
              </a:rPr>
              <a:t>El respondedor (Tommy) porque su contraoferta garantiza 11 — poder invertido</a:t>
            </a:r>
            <a:endParaRPr lang="en-US" sz="1100" dirty="0"/>
          </a:p>
        </p:txBody>
      </p:sp>
      <p:sp>
        <p:nvSpPr>
          <p:cNvPr id="20" name="Shape 18"/>
          <p:cNvSpPr/>
          <p:nvPr/>
        </p:nvSpPr>
        <p:spPr>
          <a:xfrm>
            <a:off x="320040" y="3694176"/>
            <a:ext cx="4114800" cy="1170432"/>
          </a:xfrm>
          <a:prstGeom prst="rect">
            <a:avLst/>
          </a:prstGeom>
          <a:solidFill>
            <a:srgbClr val="FFFFFF"/>
          </a:solidFill>
          <a:ln w="12700">
            <a:solidFill>
              <a:srgbClr val="D0F0EA"/>
            </a:solidFill>
            <a:prstDash val="solid"/>
          </a:ln>
          <a:effectLst>
            <a:outerShdw blurRad="101600" dist="38100" dir="8100000" algn="bl" rotWithShape="0">
              <a:srgbClr val="000000">
                <a:alpha val="13000"/>
              </a:srgbClr>
            </a:outerShdw>
          </a:effectLst>
        </p:spPr>
        <p:txBody>
          <a:bodyPr/>
          <a:lstStyle/>
          <a:p>
            <a:endParaRPr lang="es-AR"/>
          </a:p>
        </p:txBody>
      </p:sp>
      <p:sp>
        <p:nvSpPr>
          <p:cNvPr id="21" name="Text 19"/>
          <p:cNvSpPr/>
          <p:nvPr/>
        </p:nvSpPr>
        <p:spPr>
          <a:xfrm>
            <a:off x="502920" y="3785616"/>
            <a:ext cx="3749040" cy="457200"/>
          </a:xfrm>
          <a:prstGeom prst="rect">
            <a:avLst/>
          </a:prstGeom>
          <a:noFill/>
          <a:ln/>
        </p:spPr>
        <p:txBody>
          <a:bodyPr wrap="square" lIns="0" tIns="0" rIns="0" bIns="0" rtlCol="0" anchor="ctr"/>
          <a:lstStyle/>
          <a:p>
            <a:pPr marL="0" indent="0">
              <a:buNone/>
            </a:pPr>
            <a:r>
              <a:rPr lang="en-US" sz="1150" b="1" dirty="0">
                <a:solidFill>
                  <a:srgbClr val="1A2744"/>
                </a:solidFill>
              </a:rPr>
              <a:t>❓  Condición de cooperación (trigger, Toma y Daka, infinito)</a:t>
            </a:r>
            <a:endParaRPr lang="en-US" sz="1150" dirty="0"/>
          </a:p>
        </p:txBody>
      </p:sp>
      <p:sp>
        <p:nvSpPr>
          <p:cNvPr id="22" name="Shape 20"/>
          <p:cNvSpPr/>
          <p:nvPr/>
        </p:nvSpPr>
        <p:spPr>
          <a:xfrm>
            <a:off x="457200" y="4288536"/>
            <a:ext cx="3840480" cy="475488"/>
          </a:xfrm>
          <a:prstGeom prst="rect">
            <a:avLst/>
          </a:prstGeom>
          <a:solidFill>
            <a:srgbClr val="1A2744"/>
          </a:solidFill>
          <a:ln w="12700">
            <a:solidFill>
              <a:srgbClr val="1A2744"/>
            </a:solidFill>
            <a:prstDash val="solid"/>
          </a:ln>
        </p:spPr>
        <p:txBody>
          <a:bodyPr/>
          <a:lstStyle/>
          <a:p>
            <a:endParaRPr lang="es-AR"/>
          </a:p>
        </p:txBody>
      </p:sp>
      <p:sp>
        <p:nvSpPr>
          <p:cNvPr id="23" name="Text 21"/>
          <p:cNvSpPr/>
          <p:nvPr/>
        </p:nvSpPr>
        <p:spPr>
          <a:xfrm>
            <a:off x="594360" y="4306824"/>
            <a:ext cx="3657600" cy="438912"/>
          </a:xfrm>
          <a:prstGeom prst="rect">
            <a:avLst/>
          </a:prstGeom>
          <a:noFill/>
          <a:ln/>
        </p:spPr>
        <p:txBody>
          <a:bodyPr wrap="square" lIns="0" tIns="0" rIns="0" bIns="0" rtlCol="0" anchor="ctr"/>
          <a:lstStyle/>
          <a:p>
            <a:pPr marL="0" indent="0">
              <a:buNone/>
            </a:pPr>
            <a:r>
              <a:rPr lang="en-US" sz="1100" dirty="0">
                <a:solidFill>
                  <a:srgbClr val="FFFFFF"/>
                </a:solidFill>
              </a:rPr>
              <a:t>δ ≥ 1/2 (o p ≥ 1/2 para incertidumbre)</a:t>
            </a:r>
            <a:endParaRPr lang="en-US" sz="1100" dirty="0"/>
          </a:p>
        </p:txBody>
      </p:sp>
      <p:sp>
        <p:nvSpPr>
          <p:cNvPr id="24" name="Shape 22"/>
          <p:cNvSpPr/>
          <p:nvPr/>
        </p:nvSpPr>
        <p:spPr>
          <a:xfrm>
            <a:off x="4754880" y="3694176"/>
            <a:ext cx="4114800" cy="1170432"/>
          </a:xfrm>
          <a:prstGeom prst="rect">
            <a:avLst/>
          </a:prstGeom>
          <a:solidFill>
            <a:srgbClr val="FFFFFF"/>
          </a:solidFill>
          <a:ln w="12700">
            <a:solidFill>
              <a:srgbClr val="D0F0EA"/>
            </a:solidFill>
            <a:prstDash val="solid"/>
          </a:ln>
          <a:effectLst>
            <a:outerShdw blurRad="101600" dist="38100" dir="8100000" algn="bl" rotWithShape="0">
              <a:srgbClr val="000000">
                <a:alpha val="13000"/>
              </a:srgbClr>
            </a:outerShdw>
          </a:effectLst>
        </p:spPr>
        <p:txBody>
          <a:bodyPr/>
          <a:lstStyle/>
          <a:p>
            <a:endParaRPr lang="es-AR"/>
          </a:p>
        </p:txBody>
      </p:sp>
      <p:sp>
        <p:nvSpPr>
          <p:cNvPr id="25" name="Text 23"/>
          <p:cNvSpPr/>
          <p:nvPr/>
        </p:nvSpPr>
        <p:spPr>
          <a:xfrm>
            <a:off x="4937760" y="3785616"/>
            <a:ext cx="3749040" cy="457200"/>
          </a:xfrm>
          <a:prstGeom prst="rect">
            <a:avLst/>
          </a:prstGeom>
          <a:noFill/>
          <a:ln/>
        </p:spPr>
        <p:txBody>
          <a:bodyPr wrap="square" lIns="0" tIns="0" rIns="0" bIns="0" rtlCol="0" anchor="ctr"/>
          <a:lstStyle/>
          <a:p>
            <a:pPr marL="0" indent="0">
              <a:buNone/>
            </a:pPr>
            <a:r>
              <a:rPr lang="en-US" sz="1150" b="1" dirty="0">
                <a:solidFill>
                  <a:srgbClr val="1A2744"/>
                </a:solidFill>
              </a:rPr>
              <a:t>❓  ¿Por qué falla el trigger en juego finito con fin conocido?</a:t>
            </a:r>
            <a:endParaRPr lang="en-US" sz="1150" dirty="0"/>
          </a:p>
        </p:txBody>
      </p:sp>
      <p:sp>
        <p:nvSpPr>
          <p:cNvPr id="26" name="Shape 24"/>
          <p:cNvSpPr/>
          <p:nvPr/>
        </p:nvSpPr>
        <p:spPr>
          <a:xfrm>
            <a:off x="4892040" y="4288536"/>
            <a:ext cx="3840480" cy="475488"/>
          </a:xfrm>
          <a:prstGeom prst="rect">
            <a:avLst/>
          </a:prstGeom>
          <a:solidFill>
            <a:srgbClr val="1A2744"/>
          </a:solidFill>
          <a:ln w="12700">
            <a:solidFill>
              <a:srgbClr val="1A2744"/>
            </a:solidFill>
            <a:prstDash val="solid"/>
          </a:ln>
        </p:spPr>
        <p:txBody>
          <a:bodyPr/>
          <a:lstStyle/>
          <a:p>
            <a:endParaRPr lang="es-AR"/>
          </a:p>
        </p:txBody>
      </p:sp>
      <p:sp>
        <p:nvSpPr>
          <p:cNvPr id="27" name="Text 25"/>
          <p:cNvSpPr/>
          <p:nvPr/>
        </p:nvSpPr>
        <p:spPr>
          <a:xfrm>
            <a:off x="5029200" y="4306824"/>
            <a:ext cx="3657600" cy="438912"/>
          </a:xfrm>
          <a:prstGeom prst="rect">
            <a:avLst/>
          </a:prstGeom>
          <a:noFill/>
          <a:ln/>
        </p:spPr>
        <p:txBody>
          <a:bodyPr wrap="square" lIns="0" tIns="0" rIns="0" bIns="0" rtlCol="0" anchor="ctr"/>
          <a:lstStyle/>
          <a:p>
            <a:pPr marL="0" indent="0">
              <a:buNone/>
            </a:pPr>
            <a:r>
              <a:rPr lang="en-US" sz="1100" dirty="0">
                <a:solidFill>
                  <a:srgbClr val="FFFFFF"/>
                </a:solidFill>
              </a:rPr>
              <a:t>Problema del último período: backward induction destruye toda cooperación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521</TotalTime>
  <Words>5643</Words>
  <Application>Microsoft Office PowerPoint</Application>
  <PresentationFormat>Presentación en pantalla (16:9)</PresentationFormat>
  <Paragraphs>655</Paragraphs>
  <Slides>53</Slides>
  <Notes>43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53</vt:i4>
      </vt:variant>
    </vt:vector>
  </HeadingPairs>
  <TitlesOfParts>
    <vt:vector size="57"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Juegos Dinámicos y Juegos Repetidos</dc:title>
  <dc:subject>PptxGenJS Presentation</dc:subject>
  <dc:creator>PptxGenJS</dc:creator>
  <cp:lastModifiedBy>estefanny vasquez</cp:lastModifiedBy>
  <cp:revision>1</cp:revision>
  <dcterms:created xsi:type="dcterms:W3CDTF">2026-05-07T02:56:16Z</dcterms:created>
  <dcterms:modified xsi:type="dcterms:W3CDTF">2026-05-17T21:19:27Z</dcterms:modified>
</cp:coreProperties>
</file>